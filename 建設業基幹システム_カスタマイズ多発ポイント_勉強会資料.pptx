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皆さん、こんにちは。Harmonic Insightの勉強会にようこそお越しくださいました。</a:t>
            </a:r>
          </a:p>
          <a:p>
            <a:r>
              <a:t>本日は「建設業基幹システム リプレースにおけるカスタマイズ多発ポイント」について、業務担当者の皆さんにわかりやすく解説します。</a:t>
            </a:r>
          </a:p>
          <a:p>
            <a:r>
              <a:t>建設業のシステムリプレースでは、必ずと言っていいほどカスタマイズの問題が発生します。</a:t>
            </a:r>
          </a:p>
          <a:p>
            <a:r>
              <a:t>今日はその原因と解決策を一緒に考えていきましょう。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本日の勉強会の目的は大きく4つあります。</a:t>
            </a:r>
          </a:p>
          <a:p>
            <a:r>
              <a:t>まず、カスタマイズ地獄とは何か。なぜ建設業でカスタマイズが多発するのかを理解しましょう。</a:t>
            </a:r>
          </a:p>
          <a:p>
            <a:r>
              <a:t>次に、カスタマイズが集中する8つの業務領域を把握します。原価管理から帳票まで、具体的に見ていきます。</a:t>
            </a:r>
          </a:p>
          <a:p>
            <a:r>
              <a:t>そして、カスタマイズに頼らない標準化の考え方を学びます。</a:t>
            </a:r>
          </a:p>
          <a:p>
            <a:r>
              <a:t>最後に、明日から自社の業務で何ができるかを考えていただきます。</a:t>
            </a:r>
          </a:p>
          <a:p>
            <a:r>
              <a:t>右側に今日のゴールを書いています。「うちは特殊だから」という発想を「標準化で解決できる」に変えること。この発想の転換が最大の目標です。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なぜ建設業はカスタマイズ地獄に陥るのか。その悪循環の構造を見てみましょう。</a:t>
            </a:r>
          </a:p>
          <a:p>
            <a:r>
              <a:t>まず、パッケージシステムを導入します。しかしすぐに「うちは特殊だ」という声が現場から続出します。</a:t>
            </a:r>
          </a:p>
          <a:p>
            <a:r>
              <a:t>すると大量のカスタマイズ要求が発生し、費用と時間が大幅に超過。</a:t>
            </a:r>
          </a:p>
          <a:p>
            <a:r>
              <a:t>結果として、個別開発と変わらないシステムが出来上がり、次のリプレースでまた同じ問題が繰り返される。</a:t>
            </a:r>
          </a:p>
          <a:p>
            <a:r>
              <a:t>この悪循環を断ち切るのが「標準化戦略」です。</a:t>
            </a:r>
          </a:p>
          <a:p>
            <a:r>
              <a:t>大切なのは、「うちは特殊」と感じるその業務が、実は業界全体で共通の課題であるケースが非常に多いということ。</a:t>
            </a:r>
          </a:p>
          <a:p>
            <a:r>
              <a:t>それを今日の勉強会で実感していただきたいと思います。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建設業にはシステム標準化を難しくする6つの特有の複雑性があります。</a:t>
            </a:r>
          </a:p>
          <a:p>
            <a:r>
              <a:t>1つ目は工事の個別性。同じ工事は二つとない一品生産の世界です。工場のように同じ製品を大量生産するのとは根本的に違います。</a:t>
            </a:r>
          </a:p>
          <a:p>
            <a:r>
              <a:t>2つ目は現場と本社の壁。地理的・時間的な隔たりがあり、情報共有が困難です。</a:t>
            </a:r>
          </a:p>
          <a:p>
            <a:r>
              <a:t>3つ目は多様な契約形態。請負、単価、委託など、複雑な決済ルールが存在します。</a:t>
            </a:r>
          </a:p>
          <a:p>
            <a:r>
              <a:t>4つ目は法令・管理要件。建設業法や下請法など、厳格な法令対応が求められます。</a:t>
            </a:r>
          </a:p>
          <a:p>
            <a:r>
              <a:t>5つ目は業務の属人化。ベテランの経験と勘に頼っており、暗黙知を形式知にするのが困難です。</a:t>
            </a:r>
          </a:p>
          <a:p>
            <a:r>
              <a:t>6つ目は会計の複雑化。進行基準と完成基準の使い分け、未成工事の管理など、独特の会計処理があります。</a:t>
            </a:r>
          </a:p>
          <a:p>
            <a:r>
              <a:t>これらの特性が、標準機能では対応しきれないカスタマイズ要求を生み出しているのです。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ここからが本日のメインコンテンツです。</a:t>
            </a:r>
          </a:p>
          <a:p>
            <a:r>
              <a:t>カスタマイズが多発する8つの業務領域を、一つずつ見ていきます。</a:t>
            </a:r>
          </a:p>
          <a:p>
            <a:r>
              <a:t>各領域の「よくある課題」と「標準化の方向性」を、できるだけ分かりやすく解説します。</a:t>
            </a:r>
          </a:p>
          <a:p>
            <a:r>
              <a:t>業務担当者の皆さんにとって、「あるある」と感じる内容が多いと思います。</a:t>
            </a:r>
          </a:p>
          <a:p>
            <a:r>
              <a:t>ぜひ自社の状況と照らし合わせながら聞いてください。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カスタマイズが多発する8つの業務領域の全体マップです。</a:t>
            </a:r>
          </a:p>
          <a:p>
            <a:r>
              <a:t>第1が原価管理・工事採算。これが最重要領域で、カスタマイズ要望が最も多い分野です。</a:t>
            </a:r>
          </a:p>
          <a:p>
            <a:r>
              <a:t>第2が契約・請求・入金管理。複雑な取引形態への対応が求められます。</a:t>
            </a:r>
          </a:p>
          <a:p>
            <a:r>
              <a:t>第3が経費精算・現場管理。日常的に頻出する課題です。</a:t>
            </a:r>
          </a:p>
          <a:p>
            <a:r>
              <a:t>第4が購買・在庫・資材管理。現場に密着した処理が必要です。</a:t>
            </a:r>
          </a:p>
          <a:p>
            <a:r>
              <a:t>第5がワークフロー・承認プロセス。全社横断的な課題です。</a:t>
            </a:r>
          </a:p>
          <a:p>
            <a:r>
              <a:t>第6が出面管理・労務管理。法令関連の要件が厳しい分野です。</a:t>
            </a:r>
          </a:p>
          <a:p>
            <a:r>
              <a:t>第7が個別帳票・レポート。要望が非常に多い領域です。</a:t>
            </a:r>
          </a:p>
          <a:p>
            <a:r>
              <a:t>そして第8が標準化戦略。これが解決策となります。</a:t>
            </a:r>
          </a:p>
          <a:p>
            <a:r>
              <a:t>では、第1章から順に見ていきましょう。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第1章、原価管理・工事採算管理です。建設業の生命線とも言える領域です。</a:t>
            </a:r>
          </a:p>
          <a:p>
            <a:r>
              <a:t>左側に3つの主要な問題を挙げています。</a:t>
            </a:r>
          </a:p>
          <a:p>
            <a:r>
              <a:t>まず実行予算管理。設計変更のたびにExcelを作り直し、予算残高をリアルタイムで見たいというニーズが強くあります。</a:t>
            </a:r>
          </a:p>
          <a:p>
            <a:r>
              <a:t>次に共通費の配賦。間接費の按分ルールが複雑で、工事間で不公平感が生まれています。</a:t>
            </a:r>
          </a:p>
          <a:p>
            <a:r>
              <a:t>そして工事進行基準。進捗率の計算方法が統一されず、収益認識が企業ごとにバラバラになっています。</a:t>
            </a:r>
          </a:p>
          <a:p>
            <a:r>
              <a:t>右側に標準化の方向性を示しています。</a:t>
            </a:r>
          </a:p>
          <a:p>
            <a:r>
              <a:t>業界標準の原価分類マスタをベースに企業独自の費目を追加できる仕組み、配賦パターンのテンプレート化、進捗率の自動計算ロジックを複数パターンから選択可能にすること。</a:t>
            </a:r>
          </a:p>
          <a:p>
            <a:r>
              <a:t>こうした標準化により、カスタマイズを最小限に抑えられます。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実行予算管理のBefore/Afterを図解しています。</a:t>
            </a:r>
          </a:p>
          <a:p>
            <a:r>
              <a:t>左のBefore。設計変更が発生すると、まずExcelを作り直し、そして本社に電話で確認。時間がかかり、ミスが起きやすく、属人的な作業です。</a:t>
            </a:r>
          </a:p>
          <a:p>
            <a:r>
              <a:t>右のAfter。設計変更をシステムに入力すると、予算が自動で再計算され、タブレットで残高をその場で確認できます。リアルタイムで自動化され、誰でも操作できる世界です。</a:t>
            </a:r>
          </a:p>
          <a:p>
            <a:r>
              <a:t>下に現場の声を載せています。「設計変更のたびにExcelを作り直すのは時間がかかりすぎる」「タブレットで予算残高が見られれば無駄な発注も減るはずだ」。</a:t>
            </a:r>
          </a:p>
          <a:p>
            <a:r>
              <a:t>こうした声は、多くの建設会社で共通して聞かれるものです。つまり、カスタマイズしなくても標準機能で対応できる可能性が高い領域なのです。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第2章、契約・請求・入金管理です。</a:t>
            </a:r>
          </a:p>
          <a:p>
            <a:r>
              <a:t>建設業には請負契約、単価契約、業務委託と多様な契約形態があり、それぞれ支払方法も異なります。</a:t>
            </a:r>
          </a:p>
          <a:p>
            <a:r>
              <a:t>請負契約は出来高払いや完成払いですが、出来高の計算方法が企業ごとに異なるのが課題です。</a:t>
            </a:r>
          </a:p>
          <a:p>
            <a:r>
              <a:t>単価契約は月次精算ですが、単価改定や追加数量の処理が複雑になります。</a:t>
            </a:r>
          </a:p>
          <a:p>
            <a:r>
              <a:t>業務委託は月末締め翌月払いですが、労務実績との突合が手作業で行われています。</a:t>
            </a:r>
          </a:p>
          <a:p>
            <a:r>
              <a:t>左下の重要ポイントとして、建設業法・下請法への対応、建退共の証紙管理やCCUSとの連携も必要です。</a:t>
            </a:r>
          </a:p>
          <a:p>
            <a:r>
              <a:t>右下の標準化の方向性としては、契約パターンマスタで類型化して選択式にすること、出来高計算テンプレートの標準提供、そして法令チェック機能の標準実装が有効です。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第3章、経費精算・現場管理です。現場のリアルを捉える経費処理の最適化が課題です。</a:t>
            </a:r>
          </a:p>
          <a:p>
            <a:r>
              <a:t>左側に現場で起きていることを3つ挙げています。</a:t>
            </a:r>
          </a:p>
          <a:p>
            <a:r>
              <a:t>まず「現場経費と一般経費の区分」。どこまでが現場の費用なのか、分類基準が人によってバラバラです。</a:t>
            </a:r>
          </a:p>
          <a:p>
            <a:r>
              <a:t>次に「立替・仮払い」。現場監督が自腹で立て替え、精算が月末に集中してパンクする。よくある話ですね。</a:t>
            </a:r>
          </a:p>
          <a:p>
            <a:r>
              <a:t>そして「安全対策費」。安全大会や保護具の費用を工事原価に入れるのか入れないのか、判断が分かれます。</a:t>
            </a:r>
          </a:p>
          <a:p>
            <a:r>
              <a:t>右側の標準化アプローチでは3つの解決策を提示しています。</a:t>
            </a:r>
          </a:p>
          <a:p>
            <a:r>
              <a:t>1つ目、経費分類マスタの標準化で業界共通のルールを適用する。</a:t>
            </a:r>
          </a:p>
          <a:p>
            <a:r>
              <a:t>2つ目、モバイルアプリで現場から即時申請。写真やGPS情報を自動付与することで精度を上げる。</a:t>
            </a:r>
          </a:p>
          <a:p>
            <a:r>
              <a:t>3つ目、工事別・費目別の自動配賦を設定ベースで柔軟に対応する。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第4章、購買・在庫管理です。建設業の購買は、工場の製造業とは全く違う特徴があります。</a:t>
            </a:r>
          </a:p>
          <a:p>
            <a:r>
              <a:t>上部のフロー図をご覧ください。現場で資材が必要になると、倉庫を通さず現場に直送するケースが多い。都度購入が基本で、従来の在庫管理の概念が当てはまりません。</a:t>
            </a:r>
          </a:p>
          <a:p>
            <a:r>
              <a:t>左下の課題にある通り、「倉庫を通さないから在庫管理ができない」「現場で急に必要な資材をその場で発注したい」という声があります。発注イコール検収イコール原価計上の一気通貫処理が必要なのです。</a:t>
            </a:r>
          </a:p>
          <a:p>
            <a:r>
              <a:t>右下はレンタル・仮設材の課題です。重機レンタルの日割り計算が複雑だったり、仮設材を他の現場に転用したいというニーズがあります。</a:t>
            </a:r>
          </a:p>
          <a:p>
            <a:r>
              <a:t>レンタル期間の自動計算テンプレート、仮設材の現場間移動トラッキング、月額・日額の自動按分処理。これらを標準機能として提供することで、カスタマイズを減らせます。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第5章、ワークフロー・承認プロセスです。柔軟性と統制を両立させる電子化がテーマです。</a:t>
            </a:r>
          </a:p>
          <a:p>
            <a:r>
              <a:t>建設業の承認フローは特殊で、現場担当から現場所長、部門長、経理部、社長と多段階の承認が必要です。しかも、金額によって承認ルートが変わります。</a:t>
            </a:r>
          </a:p>
          <a:p>
            <a:r>
              <a:t>表に4つのよくある課題と標準化の方向性を示しています。</a:t>
            </a:r>
          </a:p>
          <a:p>
            <a:r>
              <a:t>金額や工種で承認ルートが変わる課題には、条件分岐テンプレートで対応。</a:t>
            </a:r>
          </a:p>
          <a:p>
            <a:r>
              <a:t>現場の承認者がなかなか承認できない問題には、モバイル承認と代理承認機能を標準搭載。</a:t>
            </a:r>
          </a:p>
          <a:p>
            <a:r>
              <a:t>緊急時の事後承認フローがない課題には、緊急承認ワークフローの標準パターンを提供。</a:t>
            </a:r>
          </a:p>
          <a:p>
            <a:r>
              <a:t>紙の稟議書とシステムの二重管理には、紙帳票の電子化テンプレートを提供。</a:t>
            </a:r>
          </a:p>
          <a:p>
            <a:r>
              <a:t>これらは多くの建設会社で共通する課題ですので、標準機能として実装すべき内容です。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第6章、出面管理・労務管理です。現場の勤怠を正確に把握し、法令遵守を支援する領域です。</a:t>
            </a:r>
          </a:p>
          <a:p>
            <a:r>
              <a:t>支払形態が多様なのが建設業の特徴です。常用は日当掛ける日数、月極は月額固定、出来高払いは作業量に応じて支払う。それぞれ異なる課題があります。</a:t>
            </a:r>
          </a:p>
          <a:p>
            <a:r>
              <a:t>右側の法令遵守のポイントは特に重要です。</a:t>
            </a:r>
          </a:p>
          <a:p>
            <a:r>
              <a:t>外国人労働者の在留資格管理では、期限アラート機能が必須です。これを見逃すと法令違反になります。</a:t>
            </a:r>
          </a:p>
          <a:p>
            <a:r>
              <a:t>建退共の掛金管理やCCUS連携では、就業実績から証紙枚数を自動計算する仕組みが必要です。</a:t>
            </a:r>
          </a:p>
          <a:p>
            <a:r>
              <a:t>そして労働時間の上限規制。2024年4月から建設業にも適用された残業規制に対応するため、残業時間の自動集計とアラートが不可欠です。</a:t>
            </a:r>
          </a:p>
          <a:p>
            <a:r>
              <a:t>下の標準化のポイントにある通り、GPSや顔認証、ICカードによる出退勤データの自動取得から、日報との連携、支払計算の自動化まで一気通貫で標準化すべきです。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第7章、個別帳票・レポートです。これはカスタマイズ要望が最も多い領域の一つです。</a:t>
            </a:r>
          </a:p>
          <a:p>
            <a:r>
              <a:t>帳票カスタマイズが多発する理由は4つあります。</a:t>
            </a:r>
          </a:p>
          <a:p>
            <a:r>
              <a:t>施主ごとに提出フォーマットが違う、社内の管理帳票が独自フォーマット、法定帳票の書式が頻繁に改定される、そして経営層が「この形で見たい」にこだわる。</a:t>
            </a:r>
          </a:p>
          <a:p>
            <a:r>
              <a:t>標準化アプローチとしては、BIツール連携でノーコードのレポート作成、業界標準の帳票テンプレートの標準搭載、自由な加工ができるExcel出力、そしてリアルタイムの経営指標ダッシュボードです。</a:t>
            </a:r>
          </a:p>
          <a:p>
            <a:r>
              <a:t>下のBefore/Afterを見てください。従来は工事月報、原価報告書、安全書類、施主報告と帳票ごとに個別開発していました。</a:t>
            </a:r>
          </a:p>
          <a:p>
            <a:r>
              <a:t>標準化後は、共通データ基盤からBIツールで自在に出力する形に変わります。</a:t>
            </a:r>
          </a:p>
          <a:p>
            <a:r>
              <a:t>「帳票はもう作るのではなく、選ぶ時代へ」。データさえあれば、見せ方は自由に変えられるのです。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ここからは第8章、標準化・テンプレート化への戦略的アプローチに入ります。</a:t>
            </a:r>
          </a:p>
          <a:p>
            <a:r>
              <a:t>7つの業務領域でカスタマイズが多発する課題を見てきましたが、ここからはその解決策です。</a:t>
            </a:r>
          </a:p>
          <a:p>
            <a:r>
              <a:t>カスタマイズ地獄から抜け出す5つの鍵をお伝えします。</a:t>
            </a:r>
          </a:p>
          <a:p>
            <a:r>
              <a:t>この考え方を身につければ、次のシステムリプレースでは全く違うアプローチが可能になります。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カスタマイズ地獄を脱出する5つの戦略です。</a:t>
            </a:r>
          </a:p>
          <a:p>
            <a:r>
              <a:t>第1に業界標準テンプレート。国交省基準をベースに、業界共通のマスタや帳票を整備します。</a:t>
            </a:r>
          </a:p>
          <a:p>
            <a:r>
              <a:t>第2にノーコード・ローコード活用。プログラミング不要で設定変更できる仕組みを最大限活用します。これにより、従来カスタマイズとして開発していた変更を、設定変更で対応できるようになります。</a:t>
            </a:r>
          </a:p>
          <a:p>
            <a:r>
              <a:t>第3にAPI連携の標準化。外部システムとのデータ連携を標準インターフェースで実現します。</a:t>
            </a:r>
          </a:p>
          <a:p>
            <a:r>
              <a:t>第4にFit&amp;Gap分析の革新。「できないこと」を探すのではなく、「どう合わせるか」を提案する発想の転換です。これが最も重要かもしれません。</a:t>
            </a:r>
          </a:p>
          <a:p>
            <a:r>
              <a:t>第5にモバイル活用。現場からの入力をスマホやタブレットで最適化します。</a:t>
            </a:r>
          </a:p>
          <a:p>
            <a:r>
              <a:t>この5つの戦略を組み合わせることで、カスタマイズを大幅に削減できます。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Fit&amp;Gap分析の新しい考え方について詳しく見ていきます。</a:t>
            </a:r>
          </a:p>
          <a:p>
            <a:r>
              <a:t>左側が従来のアプローチ。標準機能を見せて、「できないこと」を洗い出し、「できないならカスタマイズ」となり、費用が膨らむ。この流れに心当たりがある方も多いのではないでしょうか。</a:t>
            </a:r>
          </a:p>
          <a:p>
            <a:r>
              <a:t>右側が新しいアプローチ。まず業務プロセスを深く理解し、「本当に必要か」を問い直します。そして標準機能で「どう実現するか」を提案し、場合によっては業務の方を変える選択肢も提示します。</a:t>
            </a:r>
          </a:p>
          <a:p>
            <a:r>
              <a:t>下のFit&amp;Gap分析3段階アプローチが実践的なフレームワークです。</a:t>
            </a:r>
          </a:p>
          <a:p>
            <a:r>
              <a:t>レベル1は設定で対応。標準のパラメータ設定で解決できないかをまず検討します。</a:t>
            </a:r>
          </a:p>
          <a:p>
            <a:r>
              <a:t>レベル2は運用で対応。業務プロセスの見直しで標準に合わせられないかを考えます。</a:t>
            </a:r>
          </a:p>
          <a:p>
            <a:r>
              <a:t>レベル3がアドオンで対応。本当にカスタマイズが必要な最小限の範囲だけを特定します。</a:t>
            </a:r>
          </a:p>
          <a:p>
            <a:r>
              <a:t>この順番で検討することで、カスタマイズ量を劇的に減らせるのです。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カスタマイズ影響度マトリックスです。7つの業務領域を4つの軸で評価しています。</a:t>
            </a:r>
          </a:p>
          <a:p>
            <a:r>
              <a:t>カスタマイズ発生頻度、影響範囲、標準化の難易度、そして優先度です。</a:t>
            </a:r>
          </a:p>
          <a:p>
            <a:r>
              <a:t>原価管理・工事採算は発生頻度が非常に高く、経営判断に直結するため最優先です。ただし標準化難易度も高いので、段階的に取り組む必要があります。</a:t>
            </a:r>
          </a:p>
          <a:p>
            <a:r>
              <a:t>契約・請求・入金と出面・労務管理は優先度が高い。法令遵守や取引先との関係に影響するためです。</a:t>
            </a:r>
          </a:p>
          <a:p>
            <a:r>
              <a:t>経費精算・現場管理とワークフローは標準化難易度が低く、早期に着手すべき領域です。すぐに効果が出やすいところです。</a:t>
            </a:r>
          </a:p>
          <a:p>
            <a:r>
              <a:t>個別帳票は発生頻度が非常に高いですが、BIツールの活用で解決できます。</a:t>
            </a:r>
          </a:p>
          <a:p>
            <a:r>
              <a:t>下のメッセージの通り、標準化難易度が低い領域から着手し、段階的にシステム全体を標準化していくのが最も効果的なアプローチです。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最後のまとめです。3つのキーメッセージを確認しましょう。</a:t>
            </a:r>
          </a:p>
          <a:p>
            <a:r>
              <a:t>1つ目は「理解する」。建設業の特殊性は本当に特殊なのか。今日見てきた通り、多くは業界共通の課題です。自社だけの問題だと思っていたことが、実は他の建設会社でも同じように起きているのです。</a:t>
            </a:r>
          </a:p>
          <a:p>
            <a:r>
              <a:t>2つ目は「標準化する」。テンプレート、設定変更、BIツールの活用で、カスタマイズを最小限に抑えられます。設定で対応、運用で対応、最後の手段としてアドオンで対応。この3段階の考え方を忘れないでください。</a:t>
            </a:r>
          </a:p>
          <a:p>
            <a:r>
              <a:t>3つ目は「提案する」。カスタマイズありきではない、新しいシステム導入の形を提案していきましょう。業務を変える選択肢も含めた、より良い解決策を提示することが大切です。</a:t>
            </a:r>
          </a:p>
          <a:p>
            <a:r>
              <a:t>「うちは特殊だから」を「標準化で解決できる」に変える。これがITコンサルタントの真の価値です。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以上で本日の勉強会は終了です。ご清聴ありがとうございました。</a:t>
            </a:r>
          </a:p>
          <a:p>
            <a:r>
              <a:t>今日お伝えしたかったのは、建設業のシステムリプレースにおいて、カスタマイズは避けられないものではなく、戦略的に減らせるものだということです。</a:t>
            </a:r>
          </a:p>
          <a:p>
            <a:r>
              <a:t>明日からの業務で、「これは本当にカスタマイズが必要だろうか」「標準機能で代替できないだろうか」と一度立ち止まって考えていただければ幸いです。</a:t>
            </a:r>
          </a:p>
          <a:p>
            <a:r>
              <a:t>ご質問やご相談がありましたら、お気軽にお申し付けください。</a:t>
            </a:r>
          </a:p>
          <a:p>
            <a:r>
              <a:t>Harmonic Insightは、建設業DXの推進を、皆さんと共に歩んでまいります。</a:t>
            </a:r>
          </a:p>
          <a:p>
            <a:r>
              <a:t>本日はありがとうございました。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000" cy="514350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000" y="0"/>
            <a:ext cx="100000" cy="51435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371600"/>
            <a:ext cx="2743200" cy="914400"/>
          </a:xfrm>
          <a:prstGeom prst="rect">
            <a:avLst/>
          </a:prstGeom>
          <a:noFill/>
        </p:spPr>
        <p:txBody>
          <a:bodyPr wrap="square">
            <a:spAutoFit/>
          </a:bodyPr>
          <a:lstStyle/>
          <a:p>
            <a:pPr algn="l">
              <a:defRPr sz="2200" b="0">
                <a:solidFill>
                  <a:srgbClr val="C9A84C"/>
                </a:solidFill>
                <a:latin typeface="Calibri"/>
              </a:defRPr>
            </a:pPr>
            <a:r>
              <a:t>Hi</a:t>
            </a:r>
          </a:p>
        </p:txBody>
      </p:sp>
      <p:sp>
        <p:nvSpPr>
          <p:cNvPr id="6" name="TextBox 5"/>
          <p:cNvSpPr txBox="1"/>
          <p:nvPr/>
        </p:nvSpPr>
        <p:spPr>
          <a:xfrm>
            <a:off x="3474720" y="731520"/>
            <a:ext cx="5303520" cy="3200400"/>
          </a:xfrm>
          <a:prstGeom prst="rect">
            <a:avLst/>
          </a:prstGeom>
          <a:noFill/>
        </p:spPr>
        <p:txBody>
          <a:bodyPr wrap="square">
            <a:spAutoFit/>
          </a:bodyPr>
          <a:lstStyle/>
          <a:p>
            <a:pPr algn="l">
              <a:defRPr sz="3200" b="1">
                <a:solidFill>
                  <a:srgbClr val="3C2F1E"/>
                </a:solidFill>
              </a:defRPr>
            </a:pPr>
            <a:r>
              <a:t>建設業基幹システム</a:t>
            </a:r>
          </a:p>
          <a:p>
            <a:pPr algn="l">
              <a:defRPr sz="3200" b="1">
                <a:solidFill>
                  <a:srgbClr val="3C2F1E"/>
                </a:solidFill>
              </a:defRPr>
            </a:pPr>
            <a:r>
              <a:t>リプレースにおける</a:t>
            </a:r>
          </a:p>
          <a:p>
            <a:pPr algn="l">
              <a:defRPr sz="3200" b="1">
                <a:solidFill>
                  <a:srgbClr val="3C2F1E"/>
                </a:solidFill>
              </a:defRPr>
            </a:pPr>
            <a:r>
              <a:t>カスタマイズ多発ポイント</a:t>
            </a:r>
          </a:p>
          <a:p>
            <a:pPr algn="l">
              <a:defRPr sz="1200" b="0">
                <a:solidFill>
                  <a:srgbClr val="333333"/>
                </a:solidFill>
              </a:defRPr>
            </a:pPr>
          </a:p>
          <a:p>
            <a:pPr algn="l">
              <a:defRPr sz="1600" b="0">
                <a:solidFill>
                  <a:srgbClr val="8B7536"/>
                </a:solidFill>
              </a:defRPr>
            </a:pPr>
            <a:r>
              <a:t>～ 業務担当者のための わかりやすい解説 ～</a:t>
            </a:r>
          </a:p>
        </p:txBody>
      </p:sp>
      <p:sp>
        <p:nvSpPr>
          <p:cNvPr id="7" name="TextBox 6"/>
          <p:cNvSpPr txBox="1"/>
          <p:nvPr/>
        </p:nvSpPr>
        <p:spPr>
          <a:xfrm>
            <a:off x="3474720" y="3474720"/>
            <a:ext cx="2743200" cy="548640"/>
          </a:xfrm>
          <a:prstGeom prst="rect">
            <a:avLst/>
          </a:prstGeom>
          <a:noFill/>
        </p:spPr>
        <p:txBody>
          <a:bodyPr wrap="square">
            <a:spAutoFit/>
          </a:bodyPr>
          <a:lstStyle/>
          <a:p>
            <a:pPr algn="l">
              <a:defRPr sz="1400" b="0">
                <a:solidFill>
                  <a:srgbClr val="3C2F1E"/>
                </a:solidFill>
              </a:defRPr>
            </a:pPr>
            <a:r>
              <a:t>H A R M O N I C</a:t>
            </a:r>
          </a:p>
        </p:txBody>
      </p:sp>
      <p:sp>
        <p:nvSpPr>
          <p:cNvPr id="8" name="TextBox 7"/>
          <p:cNvSpPr txBox="1"/>
          <p:nvPr/>
        </p:nvSpPr>
        <p:spPr>
          <a:xfrm>
            <a:off x="5303520" y="3474720"/>
            <a:ext cx="2743200" cy="548640"/>
          </a:xfrm>
          <a:prstGeom prst="rect">
            <a:avLst/>
          </a:prstGeom>
          <a:noFill/>
        </p:spPr>
        <p:txBody>
          <a:bodyPr wrap="square">
            <a:spAutoFit/>
          </a:bodyPr>
          <a:lstStyle/>
          <a:p>
            <a:pPr algn="l">
              <a:defRPr sz="1400" b="0">
                <a:solidFill>
                  <a:srgbClr val="C9A84C"/>
                </a:solidFill>
              </a:defRPr>
            </a:pPr>
            <a:r>
              <a:t>i n s i g h t</a:t>
            </a:r>
          </a:p>
        </p:txBody>
      </p:sp>
      <p:sp>
        <p:nvSpPr>
          <p:cNvPr id="9" name="TextBox 8"/>
          <p:cNvSpPr txBox="1"/>
          <p:nvPr/>
        </p:nvSpPr>
        <p:spPr>
          <a:xfrm>
            <a:off x="3474720" y="4114800"/>
            <a:ext cx="4572000" cy="274320"/>
          </a:xfrm>
          <a:prstGeom prst="rect">
            <a:avLst/>
          </a:prstGeom>
          <a:noFill/>
        </p:spPr>
        <p:txBody>
          <a:bodyPr wrap="square">
            <a:spAutoFit/>
          </a:bodyPr>
          <a:lstStyle/>
          <a:p>
            <a:pPr algn="l">
              <a:defRPr sz="1000" b="0">
                <a:solidFill>
                  <a:srgbClr val="8B7355"/>
                </a:solidFill>
              </a:defRPr>
            </a:pPr>
            <a:r>
              <a:t>Harmonic Insight 2026年3月12日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今回の勉強会の目的</a:t>
            </a:r>
          </a:p>
        </p:txBody>
      </p:sp>
      <p:sp>
        <p:nvSpPr>
          <p:cNvPr id="5" name="Rounded Rectangle 4"/>
          <p:cNvSpPr/>
          <p:nvPr/>
        </p:nvSpPr>
        <p:spPr>
          <a:xfrm>
            <a:off x="457200" y="1097280"/>
            <a:ext cx="640080" cy="64008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147280"/>
            <a:ext cx="548640" cy="457200"/>
          </a:xfrm>
          <a:prstGeom prst="rect">
            <a:avLst/>
          </a:prstGeom>
          <a:noFill/>
        </p:spPr>
        <p:txBody>
          <a:bodyPr wrap="square">
            <a:spAutoFit/>
          </a:bodyPr>
          <a:lstStyle/>
          <a:p>
            <a:pPr algn="ctr">
              <a:defRPr sz="2000" b="1">
                <a:solidFill>
                  <a:srgbClr val="8B7536"/>
                </a:solidFill>
              </a:defRPr>
            </a:pPr>
            <a:r>
              <a:t>1</a:t>
            </a:r>
          </a:p>
        </p:txBody>
      </p:sp>
      <p:sp>
        <p:nvSpPr>
          <p:cNvPr id="7" name="TextBox 6"/>
          <p:cNvSpPr txBox="1"/>
          <p:nvPr/>
        </p:nvSpPr>
        <p:spPr>
          <a:xfrm>
            <a:off x="1371600" y="1097280"/>
            <a:ext cx="2743200" cy="365760"/>
          </a:xfrm>
          <a:prstGeom prst="rect">
            <a:avLst/>
          </a:prstGeom>
          <a:noFill/>
        </p:spPr>
        <p:txBody>
          <a:bodyPr wrap="square">
            <a:spAutoFit/>
          </a:bodyPr>
          <a:lstStyle/>
          <a:p>
            <a:pPr algn="l">
              <a:defRPr sz="1400" b="1">
                <a:solidFill>
                  <a:srgbClr val="333333"/>
                </a:solidFill>
              </a:defRPr>
            </a:pPr>
            <a:r>
              <a:t>カスタマイズ地獄とは?</a:t>
            </a:r>
          </a:p>
        </p:txBody>
      </p:sp>
      <p:sp>
        <p:nvSpPr>
          <p:cNvPr id="8" name="TextBox 7"/>
          <p:cNvSpPr txBox="1"/>
          <p:nvPr/>
        </p:nvSpPr>
        <p:spPr>
          <a:xfrm>
            <a:off x="1371600" y="1327280"/>
            <a:ext cx="3657600" cy="365760"/>
          </a:xfrm>
          <a:prstGeom prst="rect">
            <a:avLst/>
          </a:prstGeom>
          <a:noFill/>
        </p:spPr>
        <p:txBody>
          <a:bodyPr wrap="square">
            <a:spAutoFit/>
          </a:bodyPr>
          <a:lstStyle/>
          <a:p>
            <a:pPr algn="l">
              <a:defRPr sz="1100" b="0">
                <a:solidFill>
                  <a:srgbClr val="666666"/>
                </a:solidFill>
              </a:defRPr>
            </a:pPr>
            <a:r>
              <a:t>なぜ建設業でカスタマイズが多発するのかを理解する</a:t>
            </a:r>
          </a:p>
        </p:txBody>
      </p:sp>
      <p:sp>
        <p:nvSpPr>
          <p:cNvPr id="9" name="Rounded Rectangle 8"/>
          <p:cNvSpPr/>
          <p:nvPr/>
        </p:nvSpPr>
        <p:spPr>
          <a:xfrm>
            <a:off x="457200" y="2011680"/>
            <a:ext cx="640080" cy="64008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061680"/>
            <a:ext cx="548640" cy="457200"/>
          </a:xfrm>
          <a:prstGeom prst="rect">
            <a:avLst/>
          </a:prstGeom>
          <a:noFill/>
        </p:spPr>
        <p:txBody>
          <a:bodyPr wrap="square">
            <a:spAutoFit/>
          </a:bodyPr>
          <a:lstStyle/>
          <a:p>
            <a:pPr algn="ctr">
              <a:defRPr sz="2000" b="1">
                <a:solidFill>
                  <a:srgbClr val="8B7536"/>
                </a:solidFill>
              </a:defRPr>
            </a:pPr>
            <a:r>
              <a:t>2</a:t>
            </a:r>
          </a:p>
        </p:txBody>
      </p:sp>
      <p:sp>
        <p:nvSpPr>
          <p:cNvPr id="11" name="TextBox 10"/>
          <p:cNvSpPr txBox="1"/>
          <p:nvPr/>
        </p:nvSpPr>
        <p:spPr>
          <a:xfrm>
            <a:off x="1371600" y="2011680"/>
            <a:ext cx="2743200" cy="365760"/>
          </a:xfrm>
          <a:prstGeom prst="rect">
            <a:avLst/>
          </a:prstGeom>
          <a:noFill/>
        </p:spPr>
        <p:txBody>
          <a:bodyPr wrap="square">
            <a:spAutoFit/>
          </a:bodyPr>
          <a:lstStyle/>
          <a:p>
            <a:pPr algn="l">
              <a:defRPr sz="1400" b="1">
                <a:solidFill>
                  <a:srgbClr val="333333"/>
                </a:solidFill>
              </a:defRPr>
            </a:pPr>
            <a:r>
              <a:t>8つの業務領域</a:t>
            </a:r>
          </a:p>
        </p:txBody>
      </p:sp>
      <p:sp>
        <p:nvSpPr>
          <p:cNvPr id="12" name="TextBox 11"/>
          <p:cNvSpPr txBox="1"/>
          <p:nvPr/>
        </p:nvSpPr>
        <p:spPr>
          <a:xfrm>
            <a:off x="1371600" y="2241680"/>
            <a:ext cx="3657600" cy="365760"/>
          </a:xfrm>
          <a:prstGeom prst="rect">
            <a:avLst/>
          </a:prstGeom>
          <a:noFill/>
        </p:spPr>
        <p:txBody>
          <a:bodyPr wrap="square">
            <a:spAutoFit/>
          </a:bodyPr>
          <a:lstStyle/>
          <a:p>
            <a:pPr algn="l">
              <a:defRPr sz="1100" b="0">
                <a:solidFill>
                  <a:srgbClr val="666666"/>
                </a:solidFill>
              </a:defRPr>
            </a:pPr>
            <a:r>
              <a:t>カスタマイズが集中する業務領域を把握する</a:t>
            </a:r>
          </a:p>
        </p:txBody>
      </p:sp>
      <p:sp>
        <p:nvSpPr>
          <p:cNvPr id="13" name="Rounded Rectangle 12"/>
          <p:cNvSpPr/>
          <p:nvPr/>
        </p:nvSpPr>
        <p:spPr>
          <a:xfrm>
            <a:off x="457200" y="2926080"/>
            <a:ext cx="640080" cy="64008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976080"/>
            <a:ext cx="548640" cy="457200"/>
          </a:xfrm>
          <a:prstGeom prst="rect">
            <a:avLst/>
          </a:prstGeom>
          <a:noFill/>
        </p:spPr>
        <p:txBody>
          <a:bodyPr wrap="square">
            <a:spAutoFit/>
          </a:bodyPr>
          <a:lstStyle/>
          <a:p>
            <a:pPr algn="ctr">
              <a:defRPr sz="2000" b="1">
                <a:solidFill>
                  <a:srgbClr val="8B7536"/>
                </a:solidFill>
              </a:defRPr>
            </a:pPr>
            <a:r>
              <a:t>3</a:t>
            </a:r>
          </a:p>
        </p:txBody>
      </p:sp>
      <p:sp>
        <p:nvSpPr>
          <p:cNvPr id="15" name="TextBox 14"/>
          <p:cNvSpPr txBox="1"/>
          <p:nvPr/>
        </p:nvSpPr>
        <p:spPr>
          <a:xfrm>
            <a:off x="1371600" y="2926080"/>
            <a:ext cx="2743200" cy="365760"/>
          </a:xfrm>
          <a:prstGeom prst="rect">
            <a:avLst/>
          </a:prstGeom>
          <a:noFill/>
        </p:spPr>
        <p:txBody>
          <a:bodyPr wrap="square">
            <a:spAutoFit/>
          </a:bodyPr>
          <a:lstStyle/>
          <a:p>
            <a:pPr algn="l">
              <a:defRPr sz="1400" b="1">
                <a:solidFill>
                  <a:srgbClr val="333333"/>
                </a:solidFill>
              </a:defRPr>
            </a:pPr>
            <a:r>
              <a:t>標準化の考え方</a:t>
            </a:r>
          </a:p>
        </p:txBody>
      </p:sp>
      <p:sp>
        <p:nvSpPr>
          <p:cNvPr id="16" name="TextBox 15"/>
          <p:cNvSpPr txBox="1"/>
          <p:nvPr/>
        </p:nvSpPr>
        <p:spPr>
          <a:xfrm>
            <a:off x="1371600" y="3156080"/>
            <a:ext cx="3657600" cy="365760"/>
          </a:xfrm>
          <a:prstGeom prst="rect">
            <a:avLst/>
          </a:prstGeom>
          <a:noFill/>
        </p:spPr>
        <p:txBody>
          <a:bodyPr wrap="square">
            <a:spAutoFit/>
          </a:bodyPr>
          <a:lstStyle/>
          <a:p>
            <a:pPr algn="l">
              <a:defRPr sz="1100" b="0">
                <a:solidFill>
                  <a:srgbClr val="666666"/>
                </a:solidFill>
              </a:defRPr>
            </a:pPr>
            <a:r>
              <a:t>カスタマイズに頼らない解決策を知る</a:t>
            </a:r>
          </a:p>
        </p:txBody>
      </p:sp>
      <p:sp>
        <p:nvSpPr>
          <p:cNvPr id="17" name="Rounded Rectangle 16"/>
          <p:cNvSpPr/>
          <p:nvPr/>
        </p:nvSpPr>
        <p:spPr>
          <a:xfrm>
            <a:off x="457200" y="3840480"/>
            <a:ext cx="640080" cy="640080"/>
          </a:xfrm>
          <a:prstGeom prst="roundRect">
            <a:avLst/>
          </a:prstGeom>
          <a:solidFill>
            <a:srgbClr val="F5F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890480"/>
            <a:ext cx="548640" cy="457200"/>
          </a:xfrm>
          <a:prstGeom prst="rect">
            <a:avLst/>
          </a:prstGeom>
          <a:noFill/>
        </p:spPr>
        <p:txBody>
          <a:bodyPr wrap="square">
            <a:spAutoFit/>
          </a:bodyPr>
          <a:lstStyle/>
          <a:p>
            <a:pPr algn="ctr">
              <a:defRPr sz="2000" b="1">
                <a:solidFill>
                  <a:srgbClr val="8B7536"/>
                </a:solidFill>
              </a:defRPr>
            </a:pPr>
            <a:r>
              <a:t>4</a:t>
            </a:r>
          </a:p>
        </p:txBody>
      </p:sp>
      <p:sp>
        <p:nvSpPr>
          <p:cNvPr id="19" name="TextBox 18"/>
          <p:cNvSpPr txBox="1"/>
          <p:nvPr/>
        </p:nvSpPr>
        <p:spPr>
          <a:xfrm>
            <a:off x="1371600" y="3840480"/>
            <a:ext cx="2743200" cy="365760"/>
          </a:xfrm>
          <a:prstGeom prst="rect">
            <a:avLst/>
          </a:prstGeom>
          <a:noFill/>
        </p:spPr>
        <p:txBody>
          <a:bodyPr wrap="square">
            <a:spAutoFit/>
          </a:bodyPr>
          <a:lstStyle/>
          <a:p>
            <a:pPr algn="l">
              <a:defRPr sz="1400" b="1">
                <a:solidFill>
                  <a:srgbClr val="333333"/>
                </a:solidFill>
              </a:defRPr>
            </a:pPr>
            <a:r>
              <a:t>明日からの行動</a:t>
            </a:r>
          </a:p>
        </p:txBody>
      </p:sp>
      <p:sp>
        <p:nvSpPr>
          <p:cNvPr id="20" name="TextBox 19"/>
          <p:cNvSpPr txBox="1"/>
          <p:nvPr/>
        </p:nvSpPr>
        <p:spPr>
          <a:xfrm>
            <a:off x="1371600" y="4070480"/>
            <a:ext cx="3657600" cy="365760"/>
          </a:xfrm>
          <a:prstGeom prst="rect">
            <a:avLst/>
          </a:prstGeom>
          <a:noFill/>
        </p:spPr>
        <p:txBody>
          <a:bodyPr wrap="square">
            <a:spAutoFit/>
          </a:bodyPr>
          <a:lstStyle/>
          <a:p>
            <a:pPr algn="l">
              <a:defRPr sz="1100" b="0">
                <a:solidFill>
                  <a:srgbClr val="666666"/>
                </a:solidFill>
              </a:defRPr>
            </a:pPr>
            <a:r>
              <a:t>自社の業務で何ができるかを考える</a:t>
            </a:r>
          </a:p>
        </p:txBody>
      </p:sp>
      <p:sp>
        <p:nvSpPr>
          <p:cNvPr id="21" name="Rounded Rectangle 20"/>
          <p:cNvSpPr/>
          <p:nvPr/>
        </p:nvSpPr>
        <p:spPr>
          <a:xfrm>
            <a:off x="5303520" y="1097280"/>
            <a:ext cx="3474720" cy="34747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1280160"/>
            <a:ext cx="3108960" cy="457200"/>
          </a:xfrm>
          <a:prstGeom prst="rect">
            <a:avLst/>
          </a:prstGeom>
          <a:noFill/>
        </p:spPr>
        <p:txBody>
          <a:bodyPr wrap="square">
            <a:spAutoFit/>
          </a:bodyPr>
          <a:lstStyle/>
          <a:p>
            <a:pPr algn="ctr">
              <a:defRPr sz="1300" b="1">
                <a:solidFill>
                  <a:srgbClr val="8B7536"/>
                </a:solidFill>
              </a:defRPr>
            </a:pPr>
            <a:r>
              <a:t>本勉強会のゴール</a:t>
            </a:r>
          </a:p>
        </p:txBody>
      </p:sp>
      <p:sp>
        <p:nvSpPr>
          <p:cNvPr id="23" name="TextBox 22"/>
          <p:cNvSpPr txBox="1"/>
          <p:nvPr/>
        </p:nvSpPr>
        <p:spPr>
          <a:xfrm>
            <a:off x="5486400" y="1828800"/>
            <a:ext cx="3108960" cy="2286000"/>
          </a:xfrm>
          <a:prstGeom prst="rect">
            <a:avLst/>
          </a:prstGeom>
          <a:noFill/>
        </p:spPr>
        <p:txBody>
          <a:bodyPr wrap="square">
            <a:spAutoFit/>
          </a:bodyPr>
          <a:lstStyle/>
          <a:p>
            <a:pPr algn="l">
              <a:defRPr sz="1400" b="1">
                <a:solidFill>
                  <a:srgbClr val="333333"/>
                </a:solidFill>
              </a:defRPr>
            </a:pPr>
            <a:r>
              <a:t>「うちは特殊だから」</a:t>
            </a:r>
          </a:p>
          <a:p>
            <a:pPr algn="ctr">
              <a:defRPr sz="1800" b="1">
                <a:solidFill>
                  <a:srgbClr val="8B7536"/>
                </a:solidFill>
              </a:defRPr>
            </a:pPr>
            <a:r>
              <a:t>↓</a:t>
            </a:r>
          </a:p>
          <a:p>
            <a:pPr algn="l">
              <a:defRPr sz="1400" b="1">
                <a:solidFill>
                  <a:srgbClr val="27AE60"/>
                </a:solidFill>
              </a:defRPr>
            </a:pPr>
            <a:r>
              <a:t>「標準化で解決できる」</a:t>
            </a:r>
          </a:p>
          <a:p>
            <a:pPr algn="l">
              <a:defRPr sz="1000" b="0">
                <a:solidFill>
                  <a:srgbClr val="333333"/>
                </a:solidFill>
              </a:defRPr>
            </a:pPr>
          </a:p>
          <a:p>
            <a:pPr algn="l">
              <a:defRPr sz="1100" b="0">
                <a:solidFill>
                  <a:srgbClr val="666666"/>
                </a:solidFill>
              </a:defRPr>
            </a:pPr>
            <a:r>
              <a:t>この発想の転換が</a:t>
            </a:r>
          </a:p>
          <a:p>
            <a:pPr algn="l">
              <a:defRPr sz="1100" b="0">
                <a:solidFill>
                  <a:srgbClr val="666666"/>
                </a:solidFill>
              </a:defRPr>
            </a:pPr>
            <a:r>
              <a:t>最大の目標です</a:t>
            </a:r>
          </a:p>
        </p:txBody>
      </p:sp>
      <p:sp>
        <p:nvSpPr>
          <p:cNvPr id="24" name="TextBox 2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25" name="TextBox 2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a:t>
            </a:r>
          </a:p>
        </p:txBody>
      </p:sp>
      <p:sp>
        <p:nvSpPr>
          <p:cNvPr id="26" name="Rectangle 25"/>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なぜ建設業は「カスタマイズ地獄」に陥るのか?</a:t>
            </a:r>
          </a:p>
        </p:txBody>
      </p:sp>
      <p:sp>
        <p:nvSpPr>
          <p:cNvPr id="5" name="Rounded Rectangle 4"/>
          <p:cNvSpPr/>
          <p:nvPr/>
        </p:nvSpPr>
        <p:spPr>
          <a:xfrm>
            <a:off x="1371600" y="1188720"/>
            <a:ext cx="2011680" cy="10972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21600" y="1338720"/>
            <a:ext cx="1828800" cy="365760"/>
          </a:xfrm>
          <a:prstGeom prst="rect">
            <a:avLst/>
          </a:prstGeom>
          <a:noFill/>
        </p:spPr>
        <p:txBody>
          <a:bodyPr wrap="square">
            <a:spAutoFit/>
          </a:bodyPr>
          <a:lstStyle/>
          <a:p>
            <a:pPr algn="ctr">
              <a:defRPr sz="1200" b="1">
                <a:solidFill>
                  <a:srgbClr val="333333"/>
                </a:solidFill>
              </a:defRPr>
            </a:pPr>
            <a:r>
              <a:t>パッケージ</a:t>
            </a:r>
          </a:p>
        </p:txBody>
      </p:sp>
      <p:sp>
        <p:nvSpPr>
          <p:cNvPr id="7" name="TextBox 6"/>
          <p:cNvSpPr txBox="1"/>
          <p:nvPr/>
        </p:nvSpPr>
        <p:spPr>
          <a:xfrm>
            <a:off x="1421600" y="1588720"/>
            <a:ext cx="1828800" cy="365760"/>
          </a:xfrm>
          <a:prstGeom prst="rect">
            <a:avLst/>
          </a:prstGeom>
          <a:noFill/>
        </p:spPr>
        <p:txBody>
          <a:bodyPr wrap="square">
            <a:spAutoFit/>
          </a:bodyPr>
          <a:lstStyle/>
          <a:p>
            <a:pPr algn="ctr">
              <a:defRPr sz="1200" b="1">
                <a:solidFill>
                  <a:srgbClr val="333333"/>
                </a:solidFill>
              </a:defRPr>
            </a:pPr>
            <a:r>
              <a:t>システム導入</a:t>
            </a:r>
          </a:p>
        </p:txBody>
      </p:sp>
      <p:sp>
        <p:nvSpPr>
          <p:cNvPr id="8" name="Rounded Rectangle 7"/>
          <p:cNvSpPr/>
          <p:nvPr/>
        </p:nvSpPr>
        <p:spPr>
          <a:xfrm>
            <a:off x="3840480" y="1188720"/>
            <a:ext cx="2011680" cy="1097280"/>
          </a:xfrm>
          <a:prstGeom prst="roundRect">
            <a:avLst/>
          </a:prstGeom>
          <a:solidFill>
            <a:srgbClr val="FF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90480" y="1338720"/>
            <a:ext cx="1828800" cy="365760"/>
          </a:xfrm>
          <a:prstGeom prst="rect">
            <a:avLst/>
          </a:prstGeom>
          <a:noFill/>
        </p:spPr>
        <p:txBody>
          <a:bodyPr wrap="square">
            <a:spAutoFit/>
          </a:bodyPr>
          <a:lstStyle/>
          <a:p>
            <a:pPr algn="ctr">
              <a:defRPr sz="1200" b="1">
                <a:solidFill>
                  <a:srgbClr val="333333"/>
                </a:solidFill>
              </a:defRPr>
            </a:pPr>
            <a:r>
              <a:t>「うちは特殊」</a:t>
            </a:r>
          </a:p>
        </p:txBody>
      </p:sp>
      <p:sp>
        <p:nvSpPr>
          <p:cNvPr id="10" name="TextBox 9"/>
          <p:cNvSpPr txBox="1"/>
          <p:nvPr/>
        </p:nvSpPr>
        <p:spPr>
          <a:xfrm>
            <a:off x="3890480" y="1588720"/>
            <a:ext cx="1828800" cy="365760"/>
          </a:xfrm>
          <a:prstGeom prst="rect">
            <a:avLst/>
          </a:prstGeom>
          <a:noFill/>
        </p:spPr>
        <p:txBody>
          <a:bodyPr wrap="square">
            <a:spAutoFit/>
          </a:bodyPr>
          <a:lstStyle/>
          <a:p>
            <a:pPr algn="ctr">
              <a:defRPr sz="1200" b="1">
                <a:solidFill>
                  <a:srgbClr val="333333"/>
                </a:solidFill>
              </a:defRPr>
            </a:pPr>
            <a:r>
              <a:t>の声が続出</a:t>
            </a:r>
          </a:p>
        </p:txBody>
      </p:sp>
      <p:sp>
        <p:nvSpPr>
          <p:cNvPr id="11" name="Rounded Rectangle 10"/>
          <p:cNvSpPr/>
          <p:nvPr/>
        </p:nvSpPr>
        <p:spPr>
          <a:xfrm>
            <a:off x="6400800" y="1188720"/>
            <a:ext cx="2011680" cy="1097280"/>
          </a:xfrm>
          <a:prstGeom prst="round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0800" y="1338720"/>
            <a:ext cx="1828800" cy="365760"/>
          </a:xfrm>
          <a:prstGeom prst="rect">
            <a:avLst/>
          </a:prstGeom>
          <a:noFill/>
        </p:spPr>
        <p:txBody>
          <a:bodyPr wrap="square">
            <a:spAutoFit/>
          </a:bodyPr>
          <a:lstStyle/>
          <a:p>
            <a:pPr algn="ctr">
              <a:defRPr sz="1200" b="1">
                <a:solidFill>
                  <a:srgbClr val="333333"/>
                </a:solidFill>
              </a:defRPr>
            </a:pPr>
            <a:r>
              <a:t>大量の</a:t>
            </a:r>
          </a:p>
        </p:txBody>
      </p:sp>
      <p:sp>
        <p:nvSpPr>
          <p:cNvPr id="13" name="TextBox 12"/>
          <p:cNvSpPr txBox="1"/>
          <p:nvPr/>
        </p:nvSpPr>
        <p:spPr>
          <a:xfrm>
            <a:off x="6450800" y="1588720"/>
            <a:ext cx="1828800" cy="365760"/>
          </a:xfrm>
          <a:prstGeom prst="rect">
            <a:avLst/>
          </a:prstGeom>
          <a:noFill/>
        </p:spPr>
        <p:txBody>
          <a:bodyPr wrap="square">
            <a:spAutoFit/>
          </a:bodyPr>
          <a:lstStyle/>
          <a:p>
            <a:pPr algn="ctr">
              <a:defRPr sz="1200" b="1">
                <a:solidFill>
                  <a:srgbClr val="333333"/>
                </a:solidFill>
              </a:defRPr>
            </a:pPr>
            <a:r>
              <a:t>カスタマイズ要求</a:t>
            </a:r>
          </a:p>
        </p:txBody>
      </p:sp>
      <p:sp>
        <p:nvSpPr>
          <p:cNvPr id="14" name="Rounded Rectangle 13"/>
          <p:cNvSpPr/>
          <p:nvPr/>
        </p:nvSpPr>
        <p:spPr>
          <a:xfrm>
            <a:off x="6400800" y="3017520"/>
            <a:ext cx="2011680" cy="1097280"/>
          </a:xfrm>
          <a:prstGeom prst="roundRect">
            <a:avLst/>
          </a:prstGeom>
          <a:solidFill>
            <a:srgbClr val="FF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0800" y="3167520"/>
            <a:ext cx="1828800" cy="365760"/>
          </a:xfrm>
          <a:prstGeom prst="rect">
            <a:avLst/>
          </a:prstGeom>
          <a:noFill/>
        </p:spPr>
        <p:txBody>
          <a:bodyPr wrap="square">
            <a:spAutoFit/>
          </a:bodyPr>
          <a:lstStyle/>
          <a:p>
            <a:pPr algn="ctr">
              <a:defRPr sz="1200" b="1">
                <a:solidFill>
                  <a:srgbClr val="333333"/>
                </a:solidFill>
              </a:defRPr>
            </a:pPr>
            <a:r>
              <a:t>費用・時間が</a:t>
            </a:r>
          </a:p>
        </p:txBody>
      </p:sp>
      <p:sp>
        <p:nvSpPr>
          <p:cNvPr id="16" name="TextBox 15"/>
          <p:cNvSpPr txBox="1"/>
          <p:nvPr/>
        </p:nvSpPr>
        <p:spPr>
          <a:xfrm>
            <a:off x="6450800" y="3417520"/>
            <a:ext cx="1828800" cy="365760"/>
          </a:xfrm>
          <a:prstGeom prst="rect">
            <a:avLst/>
          </a:prstGeom>
          <a:noFill/>
        </p:spPr>
        <p:txBody>
          <a:bodyPr wrap="square">
            <a:spAutoFit/>
          </a:bodyPr>
          <a:lstStyle/>
          <a:p>
            <a:pPr algn="ctr">
              <a:defRPr sz="1200" b="1">
                <a:solidFill>
                  <a:srgbClr val="333333"/>
                </a:solidFill>
              </a:defRPr>
            </a:pPr>
            <a:r>
              <a:t>大幅に超過</a:t>
            </a:r>
          </a:p>
        </p:txBody>
      </p:sp>
      <p:sp>
        <p:nvSpPr>
          <p:cNvPr id="17" name="Rounded Rectangle 16"/>
          <p:cNvSpPr/>
          <p:nvPr/>
        </p:nvSpPr>
        <p:spPr>
          <a:xfrm>
            <a:off x="3840480" y="3017520"/>
            <a:ext cx="2011680" cy="1097280"/>
          </a:xfrm>
          <a:prstGeom prst="roundRect">
            <a:avLst/>
          </a:prstGeom>
          <a:solidFill>
            <a:srgbClr val="FFCA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90480" y="3167520"/>
            <a:ext cx="1828800" cy="365760"/>
          </a:xfrm>
          <a:prstGeom prst="rect">
            <a:avLst/>
          </a:prstGeom>
          <a:noFill/>
        </p:spPr>
        <p:txBody>
          <a:bodyPr wrap="square">
            <a:spAutoFit/>
          </a:bodyPr>
          <a:lstStyle/>
          <a:p>
            <a:pPr algn="ctr">
              <a:defRPr sz="1200" b="1">
                <a:solidFill>
                  <a:srgbClr val="333333"/>
                </a:solidFill>
              </a:defRPr>
            </a:pPr>
            <a:r>
              <a:t>個別開発と</a:t>
            </a:r>
          </a:p>
        </p:txBody>
      </p:sp>
      <p:sp>
        <p:nvSpPr>
          <p:cNvPr id="19" name="TextBox 18"/>
          <p:cNvSpPr txBox="1"/>
          <p:nvPr/>
        </p:nvSpPr>
        <p:spPr>
          <a:xfrm>
            <a:off x="3890480" y="3417520"/>
            <a:ext cx="1828800" cy="365760"/>
          </a:xfrm>
          <a:prstGeom prst="rect">
            <a:avLst/>
          </a:prstGeom>
          <a:noFill/>
        </p:spPr>
        <p:txBody>
          <a:bodyPr wrap="square">
            <a:spAutoFit/>
          </a:bodyPr>
          <a:lstStyle/>
          <a:p>
            <a:pPr algn="ctr">
              <a:defRPr sz="1200" b="1">
                <a:solidFill>
                  <a:srgbClr val="333333"/>
                </a:solidFill>
              </a:defRPr>
            </a:pPr>
            <a:r>
              <a:t>変わらない結果</a:t>
            </a:r>
          </a:p>
        </p:txBody>
      </p:sp>
      <p:sp>
        <p:nvSpPr>
          <p:cNvPr id="20" name="Rounded Rectangle 19"/>
          <p:cNvSpPr/>
          <p:nvPr/>
        </p:nvSpPr>
        <p:spPr>
          <a:xfrm>
            <a:off x="1371600" y="3017520"/>
            <a:ext cx="2011680" cy="1097280"/>
          </a:xfrm>
          <a:prstGeom prst="roundRect">
            <a:avLst/>
          </a:prstGeom>
          <a:solidFill>
            <a:srgbClr val="FFC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21600" y="3167520"/>
            <a:ext cx="1828800" cy="365760"/>
          </a:xfrm>
          <a:prstGeom prst="rect">
            <a:avLst/>
          </a:prstGeom>
          <a:noFill/>
        </p:spPr>
        <p:txBody>
          <a:bodyPr wrap="square">
            <a:spAutoFit/>
          </a:bodyPr>
          <a:lstStyle/>
          <a:p>
            <a:pPr algn="ctr">
              <a:defRPr sz="1200" b="1">
                <a:solidFill>
                  <a:srgbClr val="333333"/>
                </a:solidFill>
              </a:defRPr>
            </a:pPr>
            <a:r>
              <a:t>次のリプレースで</a:t>
            </a:r>
          </a:p>
        </p:txBody>
      </p:sp>
      <p:sp>
        <p:nvSpPr>
          <p:cNvPr id="22" name="TextBox 21"/>
          <p:cNvSpPr txBox="1"/>
          <p:nvPr/>
        </p:nvSpPr>
        <p:spPr>
          <a:xfrm>
            <a:off x="1421600" y="3417520"/>
            <a:ext cx="1828800" cy="365760"/>
          </a:xfrm>
          <a:prstGeom prst="rect">
            <a:avLst/>
          </a:prstGeom>
          <a:noFill/>
        </p:spPr>
        <p:txBody>
          <a:bodyPr wrap="square">
            <a:spAutoFit/>
          </a:bodyPr>
          <a:lstStyle/>
          <a:p>
            <a:pPr algn="ctr">
              <a:defRPr sz="1200" b="1">
                <a:solidFill>
                  <a:srgbClr val="333333"/>
                </a:solidFill>
              </a:defRPr>
            </a:pPr>
            <a:r>
              <a:t>また同じ問題</a:t>
            </a:r>
          </a:p>
        </p:txBody>
      </p:sp>
      <p:sp>
        <p:nvSpPr>
          <p:cNvPr id="23" name="Right Arrow 22"/>
          <p:cNvSpPr/>
          <p:nvPr/>
        </p:nvSpPr>
        <p:spPr>
          <a:xfrm>
            <a:off x="3200400" y="1554480"/>
            <a:ext cx="640080" cy="27432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5669280" y="1554480"/>
            <a:ext cx="640080" cy="274320"/>
          </a:xfrm>
          <a:prstGeom prst="right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wn Arrow 24"/>
          <p:cNvSpPr/>
          <p:nvPr/>
        </p:nvSpPr>
        <p:spPr>
          <a:xfrm>
            <a:off x="7132320" y="2286000"/>
            <a:ext cx="274320" cy="640080"/>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669280" y="3383280"/>
            <a:ext cx="640080" cy="274320"/>
          </a:xfrm>
          <a:prstGeom prst="left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3200400" y="3383280"/>
            <a:ext cx="640080" cy="274320"/>
          </a:xfrm>
          <a:prstGeom prst="left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4297680"/>
            <a:ext cx="3200400" cy="365760"/>
          </a:xfrm>
          <a:prstGeom prst="rect">
            <a:avLst/>
          </a:prstGeom>
          <a:noFill/>
        </p:spPr>
        <p:txBody>
          <a:bodyPr wrap="square">
            <a:spAutoFit/>
          </a:bodyPr>
          <a:lstStyle/>
          <a:p>
            <a:pPr algn="ctr">
              <a:defRPr sz="1300" b="1">
                <a:solidFill>
                  <a:srgbClr val="8B7536"/>
                </a:solidFill>
              </a:defRPr>
            </a:pPr>
            <a:r>
              <a:t>この悪循環を断ち切るのが「標準化戦略」</a:t>
            </a:r>
          </a:p>
        </p:txBody>
      </p:sp>
      <p:sp>
        <p:nvSpPr>
          <p:cNvPr id="29" name="TextBox 28"/>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0" name="TextBox 29"/>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2</a:t>
            </a:r>
          </a:p>
        </p:txBody>
      </p:sp>
      <p:sp>
        <p:nvSpPr>
          <p:cNvPr id="31" name="Rectangle 30"/>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建設業特有の6つの複雑性</a:t>
            </a:r>
          </a:p>
        </p:txBody>
      </p:sp>
      <p:sp>
        <p:nvSpPr>
          <p:cNvPr id="5" name="Rounded Rectangle 4"/>
          <p:cNvSpPr/>
          <p:nvPr/>
        </p:nvSpPr>
        <p:spPr>
          <a:xfrm>
            <a:off x="457200" y="10972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07200" y="1147280"/>
            <a:ext cx="365760" cy="365760"/>
          </a:xfrm>
          <a:prstGeom prst="ellipse">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7200" y="1152280"/>
            <a:ext cx="365760" cy="365760"/>
          </a:xfrm>
          <a:prstGeom prst="rect">
            <a:avLst/>
          </a:prstGeom>
          <a:noFill/>
        </p:spPr>
        <p:txBody>
          <a:bodyPr wrap="square">
            <a:spAutoFit/>
          </a:bodyPr>
          <a:lstStyle/>
          <a:p>
            <a:pPr algn="ctr">
              <a:defRPr sz="1400" b="1">
                <a:solidFill>
                  <a:srgbClr val="FFFFFF"/>
                </a:solidFill>
              </a:defRPr>
            </a:pPr>
            <a:r>
              <a:t>1</a:t>
            </a:r>
          </a:p>
        </p:txBody>
      </p:sp>
      <p:sp>
        <p:nvSpPr>
          <p:cNvPr id="8" name="TextBox 7"/>
          <p:cNvSpPr txBox="1"/>
          <p:nvPr/>
        </p:nvSpPr>
        <p:spPr>
          <a:xfrm>
            <a:off x="807200" y="1157280"/>
            <a:ext cx="1828800" cy="365760"/>
          </a:xfrm>
          <a:prstGeom prst="rect">
            <a:avLst/>
          </a:prstGeom>
          <a:noFill/>
        </p:spPr>
        <p:txBody>
          <a:bodyPr wrap="square">
            <a:spAutoFit/>
          </a:bodyPr>
          <a:lstStyle/>
          <a:p>
            <a:pPr algn="l">
              <a:defRPr sz="1400" b="1">
                <a:solidFill>
                  <a:srgbClr val="333333"/>
                </a:solidFill>
              </a:defRPr>
            </a:pPr>
            <a:r>
              <a:t>工事の個別性</a:t>
            </a:r>
          </a:p>
        </p:txBody>
      </p:sp>
      <p:sp>
        <p:nvSpPr>
          <p:cNvPr id="9" name="TextBox 8"/>
          <p:cNvSpPr txBox="1"/>
          <p:nvPr/>
        </p:nvSpPr>
        <p:spPr>
          <a:xfrm>
            <a:off x="557200" y="1497280"/>
            <a:ext cx="2286000" cy="274320"/>
          </a:xfrm>
          <a:prstGeom prst="rect">
            <a:avLst/>
          </a:prstGeom>
          <a:noFill/>
        </p:spPr>
        <p:txBody>
          <a:bodyPr wrap="square">
            <a:spAutoFit/>
          </a:bodyPr>
          <a:lstStyle/>
          <a:p>
            <a:pPr algn="l">
              <a:defRPr sz="1000" b="0">
                <a:solidFill>
                  <a:srgbClr val="666666"/>
                </a:solidFill>
              </a:defRPr>
            </a:pPr>
            <a:r>
              <a:t>同じ工事は二つとない</a:t>
            </a:r>
          </a:p>
        </p:txBody>
      </p:sp>
      <p:sp>
        <p:nvSpPr>
          <p:cNvPr id="10" name="TextBox 9"/>
          <p:cNvSpPr txBox="1"/>
          <p:nvPr/>
        </p:nvSpPr>
        <p:spPr>
          <a:xfrm>
            <a:off x="557200" y="1717280"/>
            <a:ext cx="2286000" cy="274320"/>
          </a:xfrm>
          <a:prstGeom prst="rect">
            <a:avLst/>
          </a:prstGeom>
          <a:noFill/>
        </p:spPr>
        <p:txBody>
          <a:bodyPr wrap="square">
            <a:spAutoFit/>
          </a:bodyPr>
          <a:lstStyle/>
          <a:p>
            <a:pPr algn="l">
              <a:defRPr sz="1000" b="0">
                <a:solidFill>
                  <a:srgbClr val="666666"/>
                </a:solidFill>
              </a:defRPr>
            </a:pPr>
            <a:r>
              <a:t>「一品生産」の世界</a:t>
            </a:r>
          </a:p>
        </p:txBody>
      </p:sp>
      <p:sp>
        <p:nvSpPr>
          <p:cNvPr id="11" name="Rounded Rectangle 10"/>
          <p:cNvSpPr/>
          <p:nvPr/>
        </p:nvSpPr>
        <p:spPr>
          <a:xfrm>
            <a:off x="3383280" y="10972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433280" y="1147280"/>
            <a:ext cx="365760" cy="36576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33280" y="1152280"/>
            <a:ext cx="365760" cy="365760"/>
          </a:xfrm>
          <a:prstGeom prst="rect">
            <a:avLst/>
          </a:prstGeom>
          <a:noFill/>
        </p:spPr>
        <p:txBody>
          <a:bodyPr wrap="square">
            <a:spAutoFit/>
          </a:bodyPr>
          <a:lstStyle/>
          <a:p>
            <a:pPr algn="ctr">
              <a:defRPr sz="1400" b="1">
                <a:solidFill>
                  <a:srgbClr val="FFFFFF"/>
                </a:solidFill>
              </a:defRPr>
            </a:pPr>
            <a:r>
              <a:t>2</a:t>
            </a:r>
          </a:p>
        </p:txBody>
      </p:sp>
      <p:sp>
        <p:nvSpPr>
          <p:cNvPr id="14" name="TextBox 13"/>
          <p:cNvSpPr txBox="1"/>
          <p:nvPr/>
        </p:nvSpPr>
        <p:spPr>
          <a:xfrm>
            <a:off x="3733280" y="1157280"/>
            <a:ext cx="1828800" cy="365760"/>
          </a:xfrm>
          <a:prstGeom prst="rect">
            <a:avLst/>
          </a:prstGeom>
          <a:noFill/>
        </p:spPr>
        <p:txBody>
          <a:bodyPr wrap="square">
            <a:spAutoFit/>
          </a:bodyPr>
          <a:lstStyle/>
          <a:p>
            <a:pPr algn="l">
              <a:defRPr sz="1400" b="1">
                <a:solidFill>
                  <a:srgbClr val="333333"/>
                </a:solidFill>
              </a:defRPr>
            </a:pPr>
            <a:r>
              <a:t>現場と本社の壁</a:t>
            </a:r>
          </a:p>
        </p:txBody>
      </p:sp>
      <p:sp>
        <p:nvSpPr>
          <p:cNvPr id="15" name="TextBox 14"/>
          <p:cNvSpPr txBox="1"/>
          <p:nvPr/>
        </p:nvSpPr>
        <p:spPr>
          <a:xfrm>
            <a:off x="3483280" y="1497280"/>
            <a:ext cx="2286000" cy="274320"/>
          </a:xfrm>
          <a:prstGeom prst="rect">
            <a:avLst/>
          </a:prstGeom>
          <a:noFill/>
        </p:spPr>
        <p:txBody>
          <a:bodyPr wrap="square">
            <a:spAutoFit/>
          </a:bodyPr>
          <a:lstStyle/>
          <a:p>
            <a:pPr algn="l">
              <a:defRPr sz="1000" b="0">
                <a:solidFill>
                  <a:srgbClr val="666666"/>
                </a:solidFill>
              </a:defRPr>
            </a:pPr>
            <a:r>
              <a:t>地理的・時間的な隔たり</a:t>
            </a:r>
          </a:p>
        </p:txBody>
      </p:sp>
      <p:sp>
        <p:nvSpPr>
          <p:cNvPr id="16" name="TextBox 15"/>
          <p:cNvSpPr txBox="1"/>
          <p:nvPr/>
        </p:nvSpPr>
        <p:spPr>
          <a:xfrm>
            <a:off x="3483280" y="1717280"/>
            <a:ext cx="2286000" cy="274320"/>
          </a:xfrm>
          <a:prstGeom prst="rect">
            <a:avLst/>
          </a:prstGeom>
          <a:noFill/>
        </p:spPr>
        <p:txBody>
          <a:bodyPr wrap="square">
            <a:spAutoFit/>
          </a:bodyPr>
          <a:lstStyle/>
          <a:p>
            <a:pPr algn="l">
              <a:defRPr sz="1000" b="0">
                <a:solidFill>
                  <a:srgbClr val="666666"/>
                </a:solidFill>
              </a:defRPr>
            </a:pPr>
            <a:r>
              <a:t>情報共有が困難</a:t>
            </a:r>
          </a:p>
        </p:txBody>
      </p:sp>
      <p:sp>
        <p:nvSpPr>
          <p:cNvPr id="17" name="Rounded Rectangle 16"/>
          <p:cNvSpPr/>
          <p:nvPr/>
        </p:nvSpPr>
        <p:spPr>
          <a:xfrm>
            <a:off x="6309360" y="10972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59360" y="1147280"/>
            <a:ext cx="365760" cy="36576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9360" y="1152280"/>
            <a:ext cx="365760" cy="365760"/>
          </a:xfrm>
          <a:prstGeom prst="rect">
            <a:avLst/>
          </a:prstGeom>
          <a:noFill/>
        </p:spPr>
        <p:txBody>
          <a:bodyPr wrap="square">
            <a:spAutoFit/>
          </a:bodyPr>
          <a:lstStyle/>
          <a:p>
            <a:pPr algn="ctr">
              <a:defRPr sz="1400" b="1">
                <a:solidFill>
                  <a:srgbClr val="FFFFFF"/>
                </a:solidFill>
              </a:defRPr>
            </a:pPr>
            <a:r>
              <a:t>3</a:t>
            </a:r>
          </a:p>
        </p:txBody>
      </p:sp>
      <p:sp>
        <p:nvSpPr>
          <p:cNvPr id="20" name="TextBox 19"/>
          <p:cNvSpPr txBox="1"/>
          <p:nvPr/>
        </p:nvSpPr>
        <p:spPr>
          <a:xfrm>
            <a:off x="6659360" y="1157280"/>
            <a:ext cx="1828800" cy="365760"/>
          </a:xfrm>
          <a:prstGeom prst="rect">
            <a:avLst/>
          </a:prstGeom>
          <a:noFill/>
        </p:spPr>
        <p:txBody>
          <a:bodyPr wrap="square">
            <a:spAutoFit/>
          </a:bodyPr>
          <a:lstStyle/>
          <a:p>
            <a:pPr algn="l">
              <a:defRPr sz="1400" b="1">
                <a:solidFill>
                  <a:srgbClr val="333333"/>
                </a:solidFill>
              </a:defRPr>
            </a:pPr>
            <a:r>
              <a:t>多様な契約形態</a:t>
            </a:r>
          </a:p>
        </p:txBody>
      </p:sp>
      <p:sp>
        <p:nvSpPr>
          <p:cNvPr id="21" name="TextBox 20"/>
          <p:cNvSpPr txBox="1"/>
          <p:nvPr/>
        </p:nvSpPr>
        <p:spPr>
          <a:xfrm>
            <a:off x="6409360" y="1497280"/>
            <a:ext cx="2286000" cy="274320"/>
          </a:xfrm>
          <a:prstGeom prst="rect">
            <a:avLst/>
          </a:prstGeom>
          <a:noFill/>
        </p:spPr>
        <p:txBody>
          <a:bodyPr wrap="square">
            <a:spAutoFit/>
          </a:bodyPr>
          <a:lstStyle/>
          <a:p>
            <a:pPr algn="l">
              <a:defRPr sz="1000" b="0">
                <a:solidFill>
                  <a:srgbClr val="666666"/>
                </a:solidFill>
              </a:defRPr>
            </a:pPr>
            <a:r>
              <a:t>請負・単価・委託など</a:t>
            </a:r>
          </a:p>
        </p:txBody>
      </p:sp>
      <p:sp>
        <p:nvSpPr>
          <p:cNvPr id="22" name="TextBox 21"/>
          <p:cNvSpPr txBox="1"/>
          <p:nvPr/>
        </p:nvSpPr>
        <p:spPr>
          <a:xfrm>
            <a:off x="6409360" y="1717280"/>
            <a:ext cx="2286000" cy="274320"/>
          </a:xfrm>
          <a:prstGeom prst="rect">
            <a:avLst/>
          </a:prstGeom>
          <a:noFill/>
        </p:spPr>
        <p:txBody>
          <a:bodyPr wrap="square">
            <a:spAutoFit/>
          </a:bodyPr>
          <a:lstStyle/>
          <a:p>
            <a:pPr algn="l">
              <a:defRPr sz="1000" b="0">
                <a:solidFill>
                  <a:srgbClr val="666666"/>
                </a:solidFill>
              </a:defRPr>
            </a:pPr>
            <a:r>
              <a:t>複雑な決済ルール</a:t>
            </a:r>
          </a:p>
        </p:txBody>
      </p:sp>
      <p:sp>
        <p:nvSpPr>
          <p:cNvPr id="23" name="Rounded Rectangle 22"/>
          <p:cNvSpPr/>
          <p:nvPr/>
        </p:nvSpPr>
        <p:spPr>
          <a:xfrm>
            <a:off x="457200" y="29260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07200" y="2976080"/>
            <a:ext cx="365760" cy="36576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7200" y="2981080"/>
            <a:ext cx="365760" cy="365760"/>
          </a:xfrm>
          <a:prstGeom prst="rect">
            <a:avLst/>
          </a:prstGeom>
          <a:noFill/>
        </p:spPr>
        <p:txBody>
          <a:bodyPr wrap="square">
            <a:spAutoFit/>
          </a:bodyPr>
          <a:lstStyle/>
          <a:p>
            <a:pPr algn="ctr">
              <a:defRPr sz="1400" b="1">
                <a:solidFill>
                  <a:srgbClr val="FFFFFF"/>
                </a:solidFill>
              </a:defRPr>
            </a:pPr>
            <a:r>
              <a:t>4</a:t>
            </a:r>
          </a:p>
        </p:txBody>
      </p:sp>
      <p:sp>
        <p:nvSpPr>
          <p:cNvPr id="26" name="TextBox 25"/>
          <p:cNvSpPr txBox="1"/>
          <p:nvPr/>
        </p:nvSpPr>
        <p:spPr>
          <a:xfrm>
            <a:off x="807200" y="2986080"/>
            <a:ext cx="1828800" cy="365760"/>
          </a:xfrm>
          <a:prstGeom prst="rect">
            <a:avLst/>
          </a:prstGeom>
          <a:noFill/>
        </p:spPr>
        <p:txBody>
          <a:bodyPr wrap="square">
            <a:spAutoFit/>
          </a:bodyPr>
          <a:lstStyle/>
          <a:p>
            <a:pPr algn="l">
              <a:defRPr sz="1400" b="1">
                <a:solidFill>
                  <a:srgbClr val="333333"/>
                </a:solidFill>
              </a:defRPr>
            </a:pPr>
            <a:r>
              <a:t>法令・管理要件</a:t>
            </a:r>
          </a:p>
        </p:txBody>
      </p:sp>
      <p:sp>
        <p:nvSpPr>
          <p:cNvPr id="27" name="TextBox 26"/>
          <p:cNvSpPr txBox="1"/>
          <p:nvPr/>
        </p:nvSpPr>
        <p:spPr>
          <a:xfrm>
            <a:off x="557200" y="3326080"/>
            <a:ext cx="2286000" cy="274320"/>
          </a:xfrm>
          <a:prstGeom prst="rect">
            <a:avLst/>
          </a:prstGeom>
          <a:noFill/>
        </p:spPr>
        <p:txBody>
          <a:bodyPr wrap="square">
            <a:spAutoFit/>
          </a:bodyPr>
          <a:lstStyle/>
          <a:p>
            <a:pPr algn="l">
              <a:defRPr sz="1000" b="0">
                <a:solidFill>
                  <a:srgbClr val="666666"/>
                </a:solidFill>
              </a:defRPr>
            </a:pPr>
            <a:r>
              <a:t>建設業法・下請法など</a:t>
            </a:r>
          </a:p>
        </p:txBody>
      </p:sp>
      <p:sp>
        <p:nvSpPr>
          <p:cNvPr id="28" name="TextBox 27"/>
          <p:cNvSpPr txBox="1"/>
          <p:nvPr/>
        </p:nvSpPr>
        <p:spPr>
          <a:xfrm>
            <a:off x="557200" y="3546080"/>
            <a:ext cx="2286000" cy="274320"/>
          </a:xfrm>
          <a:prstGeom prst="rect">
            <a:avLst/>
          </a:prstGeom>
          <a:noFill/>
        </p:spPr>
        <p:txBody>
          <a:bodyPr wrap="square">
            <a:spAutoFit/>
          </a:bodyPr>
          <a:lstStyle/>
          <a:p>
            <a:pPr algn="l">
              <a:defRPr sz="1000" b="0">
                <a:solidFill>
                  <a:srgbClr val="666666"/>
                </a:solidFill>
              </a:defRPr>
            </a:pPr>
            <a:r>
              <a:t>厳格な法令対応</a:t>
            </a:r>
          </a:p>
        </p:txBody>
      </p:sp>
      <p:sp>
        <p:nvSpPr>
          <p:cNvPr id="29" name="Rounded Rectangle 28"/>
          <p:cNvSpPr/>
          <p:nvPr/>
        </p:nvSpPr>
        <p:spPr>
          <a:xfrm>
            <a:off x="3383280" y="29260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33280" y="2976080"/>
            <a:ext cx="365760" cy="36576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33280" y="2981080"/>
            <a:ext cx="365760" cy="365760"/>
          </a:xfrm>
          <a:prstGeom prst="rect">
            <a:avLst/>
          </a:prstGeom>
          <a:noFill/>
        </p:spPr>
        <p:txBody>
          <a:bodyPr wrap="square">
            <a:spAutoFit/>
          </a:bodyPr>
          <a:lstStyle/>
          <a:p>
            <a:pPr algn="ctr">
              <a:defRPr sz="1400" b="1">
                <a:solidFill>
                  <a:srgbClr val="FFFFFF"/>
                </a:solidFill>
              </a:defRPr>
            </a:pPr>
            <a:r>
              <a:t>5</a:t>
            </a:r>
          </a:p>
        </p:txBody>
      </p:sp>
      <p:sp>
        <p:nvSpPr>
          <p:cNvPr id="32" name="TextBox 31"/>
          <p:cNvSpPr txBox="1"/>
          <p:nvPr/>
        </p:nvSpPr>
        <p:spPr>
          <a:xfrm>
            <a:off x="3733280" y="2986080"/>
            <a:ext cx="1828800" cy="365760"/>
          </a:xfrm>
          <a:prstGeom prst="rect">
            <a:avLst/>
          </a:prstGeom>
          <a:noFill/>
        </p:spPr>
        <p:txBody>
          <a:bodyPr wrap="square">
            <a:spAutoFit/>
          </a:bodyPr>
          <a:lstStyle/>
          <a:p>
            <a:pPr algn="l">
              <a:defRPr sz="1400" b="1">
                <a:solidFill>
                  <a:srgbClr val="333333"/>
                </a:solidFill>
              </a:defRPr>
            </a:pPr>
            <a:r>
              <a:t>業務の属人化</a:t>
            </a:r>
          </a:p>
        </p:txBody>
      </p:sp>
      <p:sp>
        <p:nvSpPr>
          <p:cNvPr id="33" name="TextBox 32"/>
          <p:cNvSpPr txBox="1"/>
          <p:nvPr/>
        </p:nvSpPr>
        <p:spPr>
          <a:xfrm>
            <a:off x="3483280" y="3326080"/>
            <a:ext cx="2286000" cy="274320"/>
          </a:xfrm>
          <a:prstGeom prst="rect">
            <a:avLst/>
          </a:prstGeom>
          <a:noFill/>
        </p:spPr>
        <p:txBody>
          <a:bodyPr wrap="square">
            <a:spAutoFit/>
          </a:bodyPr>
          <a:lstStyle/>
          <a:p>
            <a:pPr algn="l">
              <a:defRPr sz="1000" b="0">
                <a:solidFill>
                  <a:srgbClr val="666666"/>
                </a:solidFill>
              </a:defRPr>
            </a:pPr>
            <a:r>
              <a:t>ベテランの経験と勘</a:t>
            </a:r>
          </a:p>
        </p:txBody>
      </p:sp>
      <p:sp>
        <p:nvSpPr>
          <p:cNvPr id="34" name="TextBox 33"/>
          <p:cNvSpPr txBox="1"/>
          <p:nvPr/>
        </p:nvSpPr>
        <p:spPr>
          <a:xfrm>
            <a:off x="3483280" y="3546080"/>
            <a:ext cx="2286000" cy="274320"/>
          </a:xfrm>
          <a:prstGeom prst="rect">
            <a:avLst/>
          </a:prstGeom>
          <a:noFill/>
        </p:spPr>
        <p:txBody>
          <a:bodyPr wrap="square">
            <a:spAutoFit/>
          </a:bodyPr>
          <a:lstStyle/>
          <a:p>
            <a:pPr algn="l">
              <a:defRPr sz="1000" b="0">
                <a:solidFill>
                  <a:srgbClr val="666666"/>
                </a:solidFill>
              </a:defRPr>
            </a:pPr>
            <a:r>
              <a:t>暗黙知の形式知化が困難</a:t>
            </a:r>
          </a:p>
        </p:txBody>
      </p:sp>
      <p:sp>
        <p:nvSpPr>
          <p:cNvPr id="35" name="Rounded Rectangle 34"/>
          <p:cNvSpPr/>
          <p:nvPr/>
        </p:nvSpPr>
        <p:spPr>
          <a:xfrm>
            <a:off x="6309360" y="2926080"/>
            <a:ext cx="2560320" cy="15544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59360" y="2976080"/>
            <a:ext cx="365760" cy="3657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9360" y="2981080"/>
            <a:ext cx="365760" cy="365760"/>
          </a:xfrm>
          <a:prstGeom prst="rect">
            <a:avLst/>
          </a:prstGeom>
          <a:noFill/>
        </p:spPr>
        <p:txBody>
          <a:bodyPr wrap="square">
            <a:spAutoFit/>
          </a:bodyPr>
          <a:lstStyle/>
          <a:p>
            <a:pPr algn="ctr">
              <a:defRPr sz="1400" b="1">
                <a:solidFill>
                  <a:srgbClr val="FFFFFF"/>
                </a:solidFill>
              </a:defRPr>
            </a:pPr>
            <a:r>
              <a:t>6</a:t>
            </a:r>
          </a:p>
        </p:txBody>
      </p:sp>
      <p:sp>
        <p:nvSpPr>
          <p:cNvPr id="38" name="TextBox 37"/>
          <p:cNvSpPr txBox="1"/>
          <p:nvPr/>
        </p:nvSpPr>
        <p:spPr>
          <a:xfrm>
            <a:off x="6659360" y="2986080"/>
            <a:ext cx="1828800" cy="365760"/>
          </a:xfrm>
          <a:prstGeom prst="rect">
            <a:avLst/>
          </a:prstGeom>
          <a:noFill/>
        </p:spPr>
        <p:txBody>
          <a:bodyPr wrap="square">
            <a:spAutoFit/>
          </a:bodyPr>
          <a:lstStyle/>
          <a:p>
            <a:pPr algn="l">
              <a:defRPr sz="1400" b="1">
                <a:solidFill>
                  <a:srgbClr val="333333"/>
                </a:solidFill>
              </a:defRPr>
            </a:pPr>
            <a:r>
              <a:t>会計の複雑化</a:t>
            </a:r>
          </a:p>
        </p:txBody>
      </p:sp>
      <p:sp>
        <p:nvSpPr>
          <p:cNvPr id="39" name="TextBox 38"/>
          <p:cNvSpPr txBox="1"/>
          <p:nvPr/>
        </p:nvSpPr>
        <p:spPr>
          <a:xfrm>
            <a:off x="6409360" y="3326080"/>
            <a:ext cx="2286000" cy="274320"/>
          </a:xfrm>
          <a:prstGeom prst="rect">
            <a:avLst/>
          </a:prstGeom>
          <a:noFill/>
        </p:spPr>
        <p:txBody>
          <a:bodyPr wrap="square">
            <a:spAutoFit/>
          </a:bodyPr>
          <a:lstStyle/>
          <a:p>
            <a:pPr algn="l">
              <a:defRPr sz="1000" b="0">
                <a:solidFill>
                  <a:srgbClr val="666666"/>
                </a:solidFill>
              </a:defRPr>
            </a:pPr>
            <a:r>
              <a:t>進行基準・完成基準</a:t>
            </a:r>
          </a:p>
        </p:txBody>
      </p:sp>
      <p:sp>
        <p:nvSpPr>
          <p:cNvPr id="40" name="TextBox 39"/>
          <p:cNvSpPr txBox="1"/>
          <p:nvPr/>
        </p:nvSpPr>
        <p:spPr>
          <a:xfrm>
            <a:off x="6409360" y="3546080"/>
            <a:ext cx="2286000" cy="274320"/>
          </a:xfrm>
          <a:prstGeom prst="rect">
            <a:avLst/>
          </a:prstGeom>
          <a:noFill/>
        </p:spPr>
        <p:txBody>
          <a:bodyPr wrap="square">
            <a:spAutoFit/>
          </a:bodyPr>
          <a:lstStyle/>
          <a:p>
            <a:pPr algn="l">
              <a:defRPr sz="1000" b="0">
                <a:solidFill>
                  <a:srgbClr val="666666"/>
                </a:solidFill>
              </a:defRPr>
            </a:pPr>
            <a:r>
              <a:t>未成工事の管理</a:t>
            </a:r>
          </a:p>
        </p:txBody>
      </p:sp>
      <p:sp>
        <p:nvSpPr>
          <p:cNvPr id="41" name="TextBox 40"/>
          <p:cNvSpPr txBox="1"/>
          <p:nvPr/>
        </p:nvSpPr>
        <p:spPr>
          <a:xfrm>
            <a:off x="914400" y="4389120"/>
            <a:ext cx="7315200" cy="274320"/>
          </a:xfrm>
          <a:prstGeom prst="rect">
            <a:avLst/>
          </a:prstGeom>
          <a:noFill/>
        </p:spPr>
        <p:txBody>
          <a:bodyPr wrap="square">
            <a:spAutoFit/>
          </a:bodyPr>
          <a:lstStyle/>
          <a:p>
            <a:pPr algn="ctr">
              <a:defRPr sz="1100" b="1">
                <a:solidFill>
                  <a:srgbClr val="8B7536"/>
                </a:solidFill>
              </a:defRPr>
            </a:pPr>
            <a:r>
              <a:t>これらの特性がシステムの「標準機能」では対応しきれないカスタマイズ要求を生み出す</a:t>
            </a:r>
          </a:p>
        </p:txBody>
      </p:sp>
      <p:sp>
        <p:nvSpPr>
          <p:cNvPr id="42" name="TextBox 41"/>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3" name="TextBox 42"/>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3</a:t>
            </a:r>
          </a:p>
        </p:txBody>
      </p:sp>
      <p:sp>
        <p:nvSpPr>
          <p:cNvPr id="44" name="Rectangle 43"/>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914400"/>
            <a:ext cx="5486400" cy="914400"/>
          </a:xfrm>
          <a:prstGeom prst="rect">
            <a:avLst/>
          </a:prstGeom>
          <a:noFill/>
        </p:spPr>
        <p:txBody>
          <a:bodyPr wrap="square">
            <a:spAutoFit/>
          </a:bodyPr>
          <a:lstStyle/>
          <a:p>
            <a:pPr algn="l">
              <a:defRPr sz="2800" b="0">
                <a:solidFill>
                  <a:srgbClr val="FFFFFF"/>
                </a:solidFill>
              </a:defRPr>
            </a:pPr>
            <a:r>
              <a:t>カスタマイズが多発する</a:t>
            </a:r>
          </a:p>
        </p:txBody>
      </p:sp>
      <p:sp>
        <p:nvSpPr>
          <p:cNvPr id="5" name="TextBox 4"/>
          <p:cNvSpPr txBox="1"/>
          <p:nvPr/>
        </p:nvSpPr>
        <p:spPr>
          <a:xfrm>
            <a:off x="3200400" y="1645920"/>
            <a:ext cx="5486400" cy="914400"/>
          </a:xfrm>
          <a:prstGeom prst="rect">
            <a:avLst/>
          </a:prstGeom>
          <a:noFill/>
        </p:spPr>
        <p:txBody>
          <a:bodyPr wrap="square">
            <a:spAutoFit/>
          </a:bodyPr>
          <a:lstStyle/>
          <a:p>
            <a:pPr algn="l">
              <a:defRPr sz="3600" b="1">
                <a:solidFill>
                  <a:srgbClr val="C9A84C"/>
                </a:solidFill>
              </a:defRPr>
            </a:pPr>
            <a:r>
              <a:t>8つの業務領域</a:t>
            </a:r>
          </a:p>
        </p:txBody>
      </p:sp>
      <p:sp>
        <p:nvSpPr>
          <p:cNvPr id="6" name="TextBox 5"/>
          <p:cNvSpPr txBox="1"/>
          <p:nvPr/>
        </p:nvSpPr>
        <p:spPr>
          <a:xfrm>
            <a:off x="3200400" y="2743200"/>
            <a:ext cx="5486400" cy="1371600"/>
          </a:xfrm>
          <a:prstGeom prst="rect">
            <a:avLst/>
          </a:prstGeom>
          <a:noFill/>
        </p:spPr>
        <p:txBody>
          <a:bodyPr wrap="square">
            <a:spAutoFit/>
          </a:bodyPr>
          <a:lstStyle/>
          <a:p>
            <a:pPr algn="l">
              <a:defRPr sz="1400" b="0">
                <a:solidFill>
                  <a:srgbClr val="AAAAAA"/>
                </a:solidFill>
              </a:defRPr>
            </a:pPr>
            <a:r>
              <a:t>各領域の「よくある課題」と「標準化の方向性」を</a:t>
            </a:r>
            <a:br/>
            <a:r>
              <a:t>分かりやすく解説します</a:t>
            </a:r>
          </a:p>
        </p:txBody>
      </p:sp>
      <p:sp>
        <p:nvSpPr>
          <p:cNvPr id="7" name="TextBox 6"/>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カスタマイズ多発 8つの業務領域マップ</a:t>
            </a:r>
          </a:p>
        </p:txBody>
      </p:sp>
      <p:sp>
        <p:nvSpPr>
          <p:cNvPr id="5" name="Rounded Rectangle 4"/>
          <p:cNvSpPr/>
          <p:nvPr/>
        </p:nvSpPr>
        <p:spPr>
          <a:xfrm>
            <a:off x="274320" y="100584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60120" y="1085840"/>
            <a:ext cx="502920" cy="50292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090840"/>
            <a:ext cx="502920" cy="502920"/>
          </a:xfrm>
          <a:prstGeom prst="rect">
            <a:avLst/>
          </a:prstGeom>
          <a:noFill/>
        </p:spPr>
        <p:txBody>
          <a:bodyPr wrap="square">
            <a:spAutoFit/>
          </a:bodyPr>
          <a:lstStyle/>
          <a:p>
            <a:pPr algn="ctr">
              <a:defRPr sz="1800" b="1">
                <a:solidFill>
                  <a:srgbClr val="FFFFFF"/>
                </a:solidFill>
              </a:defRPr>
            </a:pPr>
            <a:r>
              <a:t>1</a:t>
            </a:r>
          </a:p>
        </p:txBody>
      </p:sp>
      <p:sp>
        <p:nvSpPr>
          <p:cNvPr id="8" name="TextBox 7"/>
          <p:cNvSpPr txBox="1"/>
          <p:nvPr/>
        </p:nvSpPr>
        <p:spPr>
          <a:xfrm>
            <a:off x="324320" y="1555840"/>
            <a:ext cx="1828800" cy="274320"/>
          </a:xfrm>
          <a:prstGeom prst="rect">
            <a:avLst/>
          </a:prstGeom>
          <a:noFill/>
        </p:spPr>
        <p:txBody>
          <a:bodyPr wrap="square">
            <a:spAutoFit/>
          </a:bodyPr>
          <a:lstStyle/>
          <a:p>
            <a:pPr algn="ctr">
              <a:defRPr sz="1200" b="1">
                <a:solidFill>
                  <a:srgbClr val="333333"/>
                </a:solidFill>
              </a:defRPr>
            </a:pPr>
            <a:r>
              <a:t>原価管理</a:t>
            </a:r>
          </a:p>
        </p:txBody>
      </p:sp>
      <p:sp>
        <p:nvSpPr>
          <p:cNvPr id="9" name="TextBox 8"/>
          <p:cNvSpPr txBox="1"/>
          <p:nvPr/>
        </p:nvSpPr>
        <p:spPr>
          <a:xfrm>
            <a:off x="324320" y="1775840"/>
            <a:ext cx="1828800" cy="274320"/>
          </a:xfrm>
          <a:prstGeom prst="rect">
            <a:avLst/>
          </a:prstGeom>
          <a:noFill/>
        </p:spPr>
        <p:txBody>
          <a:bodyPr wrap="square">
            <a:spAutoFit/>
          </a:bodyPr>
          <a:lstStyle/>
          <a:p>
            <a:pPr algn="ctr">
              <a:defRPr sz="1200" b="1">
                <a:solidFill>
                  <a:srgbClr val="333333"/>
                </a:solidFill>
              </a:defRPr>
            </a:pPr>
            <a:r>
              <a:t>工事採算</a:t>
            </a:r>
          </a:p>
        </p:txBody>
      </p:sp>
      <p:sp>
        <p:nvSpPr>
          <p:cNvPr id="10" name="Rounded Rectangle 9"/>
          <p:cNvSpPr/>
          <p:nvPr/>
        </p:nvSpPr>
        <p:spPr>
          <a:xfrm>
            <a:off x="731520" y="2286000"/>
            <a:ext cx="1005840" cy="274320"/>
          </a:xfrm>
          <a:prstGeom prst="round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1005840" cy="274320"/>
          </a:xfrm>
          <a:prstGeom prst="rect">
            <a:avLst/>
          </a:prstGeom>
          <a:noFill/>
        </p:spPr>
        <p:txBody>
          <a:bodyPr wrap="square">
            <a:spAutoFit/>
          </a:bodyPr>
          <a:lstStyle/>
          <a:p>
            <a:pPr algn="ctr">
              <a:defRPr sz="900" b="1">
                <a:solidFill>
                  <a:srgbClr val="FFFFFF"/>
                </a:solidFill>
              </a:defRPr>
            </a:pPr>
            <a:r>
              <a:t>最重要</a:t>
            </a:r>
          </a:p>
        </p:txBody>
      </p:sp>
      <p:sp>
        <p:nvSpPr>
          <p:cNvPr id="12" name="Rounded Rectangle 11"/>
          <p:cNvSpPr/>
          <p:nvPr/>
        </p:nvSpPr>
        <p:spPr>
          <a:xfrm>
            <a:off x="2468880" y="100584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54680" y="1085840"/>
            <a:ext cx="502920" cy="50292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1090840"/>
            <a:ext cx="502920" cy="502920"/>
          </a:xfrm>
          <a:prstGeom prst="rect">
            <a:avLst/>
          </a:prstGeom>
          <a:noFill/>
        </p:spPr>
        <p:txBody>
          <a:bodyPr wrap="square">
            <a:spAutoFit/>
          </a:bodyPr>
          <a:lstStyle/>
          <a:p>
            <a:pPr algn="ctr">
              <a:defRPr sz="1800" b="1">
                <a:solidFill>
                  <a:srgbClr val="FFFFFF"/>
                </a:solidFill>
              </a:defRPr>
            </a:pPr>
            <a:r>
              <a:t>2</a:t>
            </a:r>
          </a:p>
        </p:txBody>
      </p:sp>
      <p:sp>
        <p:nvSpPr>
          <p:cNvPr id="15" name="TextBox 14"/>
          <p:cNvSpPr txBox="1"/>
          <p:nvPr/>
        </p:nvSpPr>
        <p:spPr>
          <a:xfrm>
            <a:off x="2518880" y="1555840"/>
            <a:ext cx="1828800" cy="274320"/>
          </a:xfrm>
          <a:prstGeom prst="rect">
            <a:avLst/>
          </a:prstGeom>
          <a:noFill/>
        </p:spPr>
        <p:txBody>
          <a:bodyPr wrap="square">
            <a:spAutoFit/>
          </a:bodyPr>
          <a:lstStyle/>
          <a:p>
            <a:pPr algn="ctr">
              <a:defRPr sz="1200" b="1">
                <a:solidFill>
                  <a:srgbClr val="333333"/>
                </a:solidFill>
              </a:defRPr>
            </a:pPr>
            <a:r>
              <a:t>契約・請求</a:t>
            </a:r>
          </a:p>
        </p:txBody>
      </p:sp>
      <p:sp>
        <p:nvSpPr>
          <p:cNvPr id="16" name="TextBox 15"/>
          <p:cNvSpPr txBox="1"/>
          <p:nvPr/>
        </p:nvSpPr>
        <p:spPr>
          <a:xfrm>
            <a:off x="2518880" y="1775840"/>
            <a:ext cx="1828800" cy="274320"/>
          </a:xfrm>
          <a:prstGeom prst="rect">
            <a:avLst/>
          </a:prstGeom>
          <a:noFill/>
        </p:spPr>
        <p:txBody>
          <a:bodyPr wrap="square">
            <a:spAutoFit/>
          </a:bodyPr>
          <a:lstStyle/>
          <a:p>
            <a:pPr algn="ctr">
              <a:defRPr sz="1200" b="1">
                <a:solidFill>
                  <a:srgbClr val="333333"/>
                </a:solidFill>
              </a:defRPr>
            </a:pPr>
            <a:r>
              <a:t>入金管理</a:t>
            </a:r>
          </a:p>
        </p:txBody>
      </p:sp>
      <p:sp>
        <p:nvSpPr>
          <p:cNvPr id="17" name="Rounded Rectangle 16"/>
          <p:cNvSpPr/>
          <p:nvPr/>
        </p:nvSpPr>
        <p:spPr>
          <a:xfrm>
            <a:off x="2926080" y="2286000"/>
            <a:ext cx="1005840" cy="27432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0" y="2286000"/>
            <a:ext cx="1005840" cy="274320"/>
          </a:xfrm>
          <a:prstGeom prst="rect">
            <a:avLst/>
          </a:prstGeom>
          <a:noFill/>
        </p:spPr>
        <p:txBody>
          <a:bodyPr wrap="square">
            <a:spAutoFit/>
          </a:bodyPr>
          <a:lstStyle/>
          <a:p>
            <a:pPr algn="ctr">
              <a:defRPr sz="900" b="1">
                <a:solidFill>
                  <a:srgbClr val="FFFFFF"/>
                </a:solidFill>
              </a:defRPr>
            </a:pPr>
            <a:r>
              <a:t>複雑</a:t>
            </a:r>
          </a:p>
        </p:txBody>
      </p:sp>
      <p:sp>
        <p:nvSpPr>
          <p:cNvPr id="19" name="Rounded Rectangle 18"/>
          <p:cNvSpPr/>
          <p:nvPr/>
        </p:nvSpPr>
        <p:spPr>
          <a:xfrm>
            <a:off x="4663440" y="100584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349240" y="1085840"/>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9240" y="1090840"/>
            <a:ext cx="502920" cy="502920"/>
          </a:xfrm>
          <a:prstGeom prst="rect">
            <a:avLst/>
          </a:prstGeom>
          <a:noFill/>
        </p:spPr>
        <p:txBody>
          <a:bodyPr wrap="square">
            <a:spAutoFit/>
          </a:bodyPr>
          <a:lstStyle/>
          <a:p>
            <a:pPr algn="ctr">
              <a:defRPr sz="1800" b="1">
                <a:solidFill>
                  <a:srgbClr val="FFFFFF"/>
                </a:solidFill>
              </a:defRPr>
            </a:pPr>
            <a:r>
              <a:t>3</a:t>
            </a:r>
          </a:p>
        </p:txBody>
      </p:sp>
      <p:sp>
        <p:nvSpPr>
          <p:cNvPr id="22" name="TextBox 21"/>
          <p:cNvSpPr txBox="1"/>
          <p:nvPr/>
        </p:nvSpPr>
        <p:spPr>
          <a:xfrm>
            <a:off x="4713440" y="1555840"/>
            <a:ext cx="1828800" cy="274320"/>
          </a:xfrm>
          <a:prstGeom prst="rect">
            <a:avLst/>
          </a:prstGeom>
          <a:noFill/>
        </p:spPr>
        <p:txBody>
          <a:bodyPr wrap="square">
            <a:spAutoFit/>
          </a:bodyPr>
          <a:lstStyle/>
          <a:p>
            <a:pPr algn="ctr">
              <a:defRPr sz="1200" b="1">
                <a:solidFill>
                  <a:srgbClr val="333333"/>
                </a:solidFill>
              </a:defRPr>
            </a:pPr>
            <a:r>
              <a:t>経費精算</a:t>
            </a:r>
          </a:p>
        </p:txBody>
      </p:sp>
      <p:sp>
        <p:nvSpPr>
          <p:cNvPr id="23" name="TextBox 22"/>
          <p:cNvSpPr txBox="1"/>
          <p:nvPr/>
        </p:nvSpPr>
        <p:spPr>
          <a:xfrm>
            <a:off x="4713440" y="1775840"/>
            <a:ext cx="1828800" cy="274320"/>
          </a:xfrm>
          <a:prstGeom prst="rect">
            <a:avLst/>
          </a:prstGeom>
          <a:noFill/>
        </p:spPr>
        <p:txBody>
          <a:bodyPr wrap="square">
            <a:spAutoFit/>
          </a:bodyPr>
          <a:lstStyle/>
          <a:p>
            <a:pPr algn="ctr">
              <a:defRPr sz="1200" b="1">
                <a:solidFill>
                  <a:srgbClr val="333333"/>
                </a:solidFill>
              </a:defRPr>
            </a:pPr>
            <a:r>
              <a:t>現場管理</a:t>
            </a:r>
          </a:p>
        </p:txBody>
      </p:sp>
      <p:sp>
        <p:nvSpPr>
          <p:cNvPr id="24" name="Rounded Rectangle 23"/>
          <p:cNvSpPr/>
          <p:nvPr/>
        </p:nvSpPr>
        <p:spPr>
          <a:xfrm>
            <a:off x="5120640" y="2286000"/>
            <a:ext cx="100584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20640" y="2286000"/>
            <a:ext cx="1005840" cy="274320"/>
          </a:xfrm>
          <a:prstGeom prst="rect">
            <a:avLst/>
          </a:prstGeom>
          <a:noFill/>
        </p:spPr>
        <p:txBody>
          <a:bodyPr wrap="square">
            <a:spAutoFit/>
          </a:bodyPr>
          <a:lstStyle/>
          <a:p>
            <a:pPr algn="ctr">
              <a:defRPr sz="900" b="1">
                <a:solidFill>
                  <a:srgbClr val="FFFFFF"/>
                </a:solidFill>
              </a:defRPr>
            </a:pPr>
            <a:r>
              <a:t>頻出</a:t>
            </a:r>
          </a:p>
        </p:txBody>
      </p:sp>
      <p:sp>
        <p:nvSpPr>
          <p:cNvPr id="26" name="Rounded Rectangle 25"/>
          <p:cNvSpPr/>
          <p:nvPr/>
        </p:nvSpPr>
        <p:spPr>
          <a:xfrm>
            <a:off x="6858000" y="100584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43800" y="1085840"/>
            <a:ext cx="502920" cy="50292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43800" y="1090840"/>
            <a:ext cx="502920" cy="502920"/>
          </a:xfrm>
          <a:prstGeom prst="rect">
            <a:avLst/>
          </a:prstGeom>
          <a:noFill/>
        </p:spPr>
        <p:txBody>
          <a:bodyPr wrap="square">
            <a:spAutoFit/>
          </a:bodyPr>
          <a:lstStyle/>
          <a:p>
            <a:pPr algn="ctr">
              <a:defRPr sz="1800" b="1">
                <a:solidFill>
                  <a:srgbClr val="FFFFFF"/>
                </a:solidFill>
              </a:defRPr>
            </a:pPr>
            <a:r>
              <a:t>4</a:t>
            </a:r>
          </a:p>
        </p:txBody>
      </p:sp>
      <p:sp>
        <p:nvSpPr>
          <p:cNvPr id="29" name="TextBox 28"/>
          <p:cNvSpPr txBox="1"/>
          <p:nvPr/>
        </p:nvSpPr>
        <p:spPr>
          <a:xfrm>
            <a:off x="6908000" y="1555840"/>
            <a:ext cx="1828800" cy="274320"/>
          </a:xfrm>
          <a:prstGeom prst="rect">
            <a:avLst/>
          </a:prstGeom>
          <a:noFill/>
        </p:spPr>
        <p:txBody>
          <a:bodyPr wrap="square">
            <a:spAutoFit/>
          </a:bodyPr>
          <a:lstStyle/>
          <a:p>
            <a:pPr algn="ctr">
              <a:defRPr sz="1200" b="1">
                <a:solidFill>
                  <a:srgbClr val="333333"/>
                </a:solidFill>
              </a:defRPr>
            </a:pPr>
            <a:r>
              <a:t>購買・在庫</a:t>
            </a:r>
          </a:p>
        </p:txBody>
      </p:sp>
      <p:sp>
        <p:nvSpPr>
          <p:cNvPr id="30" name="TextBox 29"/>
          <p:cNvSpPr txBox="1"/>
          <p:nvPr/>
        </p:nvSpPr>
        <p:spPr>
          <a:xfrm>
            <a:off x="6908000" y="1775840"/>
            <a:ext cx="1828800" cy="274320"/>
          </a:xfrm>
          <a:prstGeom prst="rect">
            <a:avLst/>
          </a:prstGeom>
          <a:noFill/>
        </p:spPr>
        <p:txBody>
          <a:bodyPr wrap="square">
            <a:spAutoFit/>
          </a:bodyPr>
          <a:lstStyle/>
          <a:p>
            <a:pPr algn="ctr">
              <a:defRPr sz="1200" b="1">
                <a:solidFill>
                  <a:srgbClr val="333333"/>
                </a:solidFill>
              </a:defRPr>
            </a:pPr>
            <a:r>
              <a:t>資材管理</a:t>
            </a:r>
          </a:p>
        </p:txBody>
      </p:sp>
      <p:sp>
        <p:nvSpPr>
          <p:cNvPr id="31" name="Rounded Rectangle 30"/>
          <p:cNvSpPr/>
          <p:nvPr/>
        </p:nvSpPr>
        <p:spPr>
          <a:xfrm>
            <a:off x="7315200" y="2286000"/>
            <a:ext cx="1005840" cy="27432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0" y="2286000"/>
            <a:ext cx="1005840" cy="274320"/>
          </a:xfrm>
          <a:prstGeom prst="rect">
            <a:avLst/>
          </a:prstGeom>
          <a:noFill/>
        </p:spPr>
        <p:txBody>
          <a:bodyPr wrap="square">
            <a:spAutoFit/>
          </a:bodyPr>
          <a:lstStyle/>
          <a:p>
            <a:pPr algn="ctr">
              <a:defRPr sz="900" b="1">
                <a:solidFill>
                  <a:srgbClr val="FFFFFF"/>
                </a:solidFill>
              </a:defRPr>
            </a:pPr>
            <a:r>
              <a:t>現場密着</a:t>
            </a:r>
          </a:p>
        </p:txBody>
      </p:sp>
      <p:sp>
        <p:nvSpPr>
          <p:cNvPr id="33" name="Rounded Rectangle 32"/>
          <p:cNvSpPr/>
          <p:nvPr/>
        </p:nvSpPr>
        <p:spPr>
          <a:xfrm>
            <a:off x="274320" y="292608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60120" y="3006080"/>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 y="3011080"/>
            <a:ext cx="502920" cy="502920"/>
          </a:xfrm>
          <a:prstGeom prst="rect">
            <a:avLst/>
          </a:prstGeom>
          <a:noFill/>
        </p:spPr>
        <p:txBody>
          <a:bodyPr wrap="square">
            <a:spAutoFit/>
          </a:bodyPr>
          <a:lstStyle/>
          <a:p>
            <a:pPr algn="ctr">
              <a:defRPr sz="1800" b="1">
                <a:solidFill>
                  <a:srgbClr val="FFFFFF"/>
                </a:solidFill>
              </a:defRPr>
            </a:pPr>
            <a:r>
              <a:t>5</a:t>
            </a:r>
          </a:p>
        </p:txBody>
      </p:sp>
      <p:sp>
        <p:nvSpPr>
          <p:cNvPr id="36" name="TextBox 35"/>
          <p:cNvSpPr txBox="1"/>
          <p:nvPr/>
        </p:nvSpPr>
        <p:spPr>
          <a:xfrm>
            <a:off x="324320" y="3476080"/>
            <a:ext cx="1828800" cy="274320"/>
          </a:xfrm>
          <a:prstGeom prst="rect">
            <a:avLst/>
          </a:prstGeom>
          <a:noFill/>
        </p:spPr>
        <p:txBody>
          <a:bodyPr wrap="square">
            <a:spAutoFit/>
          </a:bodyPr>
          <a:lstStyle/>
          <a:p>
            <a:pPr algn="ctr">
              <a:defRPr sz="1200" b="1">
                <a:solidFill>
                  <a:srgbClr val="333333"/>
                </a:solidFill>
              </a:defRPr>
            </a:pPr>
            <a:r>
              <a:t>ワークフロー</a:t>
            </a:r>
          </a:p>
        </p:txBody>
      </p:sp>
      <p:sp>
        <p:nvSpPr>
          <p:cNvPr id="37" name="TextBox 36"/>
          <p:cNvSpPr txBox="1"/>
          <p:nvPr/>
        </p:nvSpPr>
        <p:spPr>
          <a:xfrm>
            <a:off x="324320" y="3696080"/>
            <a:ext cx="1828800" cy="274320"/>
          </a:xfrm>
          <a:prstGeom prst="rect">
            <a:avLst/>
          </a:prstGeom>
          <a:noFill/>
        </p:spPr>
        <p:txBody>
          <a:bodyPr wrap="square">
            <a:spAutoFit/>
          </a:bodyPr>
          <a:lstStyle/>
          <a:p>
            <a:pPr algn="ctr">
              <a:defRPr sz="1200" b="1">
                <a:solidFill>
                  <a:srgbClr val="333333"/>
                </a:solidFill>
              </a:defRPr>
            </a:pPr>
            <a:r>
              <a:t>承認プロセス</a:t>
            </a:r>
          </a:p>
        </p:txBody>
      </p:sp>
      <p:sp>
        <p:nvSpPr>
          <p:cNvPr id="38" name="Rounded Rectangle 37"/>
          <p:cNvSpPr/>
          <p:nvPr/>
        </p:nvSpPr>
        <p:spPr>
          <a:xfrm>
            <a:off x="731520" y="4206240"/>
            <a:ext cx="1005840" cy="27432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4206240"/>
            <a:ext cx="1005840" cy="274320"/>
          </a:xfrm>
          <a:prstGeom prst="rect">
            <a:avLst/>
          </a:prstGeom>
          <a:noFill/>
        </p:spPr>
        <p:txBody>
          <a:bodyPr wrap="square">
            <a:spAutoFit/>
          </a:bodyPr>
          <a:lstStyle/>
          <a:p>
            <a:pPr algn="ctr">
              <a:defRPr sz="900" b="1">
                <a:solidFill>
                  <a:srgbClr val="FFFFFF"/>
                </a:solidFill>
              </a:defRPr>
            </a:pPr>
            <a:r>
              <a:t>全社横断</a:t>
            </a:r>
          </a:p>
        </p:txBody>
      </p:sp>
      <p:sp>
        <p:nvSpPr>
          <p:cNvPr id="40" name="Rounded Rectangle 39"/>
          <p:cNvSpPr/>
          <p:nvPr/>
        </p:nvSpPr>
        <p:spPr>
          <a:xfrm>
            <a:off x="2468880" y="292608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154680" y="3006080"/>
            <a:ext cx="502920" cy="502920"/>
          </a:xfrm>
          <a:prstGeom prst="ellipse">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154680" y="3011080"/>
            <a:ext cx="502920" cy="502920"/>
          </a:xfrm>
          <a:prstGeom prst="rect">
            <a:avLst/>
          </a:prstGeom>
          <a:noFill/>
        </p:spPr>
        <p:txBody>
          <a:bodyPr wrap="square">
            <a:spAutoFit/>
          </a:bodyPr>
          <a:lstStyle/>
          <a:p>
            <a:pPr algn="ctr">
              <a:defRPr sz="1800" b="1">
                <a:solidFill>
                  <a:srgbClr val="FFFFFF"/>
                </a:solidFill>
              </a:defRPr>
            </a:pPr>
            <a:r>
              <a:t>6</a:t>
            </a:r>
          </a:p>
        </p:txBody>
      </p:sp>
      <p:sp>
        <p:nvSpPr>
          <p:cNvPr id="43" name="TextBox 42"/>
          <p:cNvSpPr txBox="1"/>
          <p:nvPr/>
        </p:nvSpPr>
        <p:spPr>
          <a:xfrm>
            <a:off x="2518880" y="3476080"/>
            <a:ext cx="1828800" cy="274320"/>
          </a:xfrm>
          <a:prstGeom prst="rect">
            <a:avLst/>
          </a:prstGeom>
          <a:noFill/>
        </p:spPr>
        <p:txBody>
          <a:bodyPr wrap="square">
            <a:spAutoFit/>
          </a:bodyPr>
          <a:lstStyle/>
          <a:p>
            <a:pPr algn="ctr">
              <a:defRPr sz="1200" b="1">
                <a:solidFill>
                  <a:srgbClr val="333333"/>
                </a:solidFill>
              </a:defRPr>
            </a:pPr>
            <a:r>
              <a:t>出面管理</a:t>
            </a:r>
          </a:p>
        </p:txBody>
      </p:sp>
      <p:sp>
        <p:nvSpPr>
          <p:cNvPr id="44" name="TextBox 43"/>
          <p:cNvSpPr txBox="1"/>
          <p:nvPr/>
        </p:nvSpPr>
        <p:spPr>
          <a:xfrm>
            <a:off x="2518880" y="3696080"/>
            <a:ext cx="1828800" cy="274320"/>
          </a:xfrm>
          <a:prstGeom prst="rect">
            <a:avLst/>
          </a:prstGeom>
          <a:noFill/>
        </p:spPr>
        <p:txBody>
          <a:bodyPr wrap="square">
            <a:spAutoFit/>
          </a:bodyPr>
          <a:lstStyle/>
          <a:p>
            <a:pPr algn="ctr">
              <a:defRPr sz="1200" b="1">
                <a:solidFill>
                  <a:srgbClr val="333333"/>
                </a:solidFill>
              </a:defRPr>
            </a:pPr>
            <a:r>
              <a:t>労務管理</a:t>
            </a:r>
          </a:p>
        </p:txBody>
      </p:sp>
      <p:sp>
        <p:nvSpPr>
          <p:cNvPr id="45" name="Rounded Rectangle 44"/>
          <p:cNvSpPr/>
          <p:nvPr/>
        </p:nvSpPr>
        <p:spPr>
          <a:xfrm>
            <a:off x="2926080" y="4206240"/>
            <a:ext cx="1005840" cy="27432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26080" y="4206240"/>
            <a:ext cx="1005840" cy="274320"/>
          </a:xfrm>
          <a:prstGeom prst="rect">
            <a:avLst/>
          </a:prstGeom>
          <a:noFill/>
        </p:spPr>
        <p:txBody>
          <a:bodyPr wrap="square">
            <a:spAutoFit/>
          </a:bodyPr>
          <a:lstStyle/>
          <a:p>
            <a:pPr algn="ctr">
              <a:defRPr sz="900" b="1">
                <a:solidFill>
                  <a:srgbClr val="FFFFFF"/>
                </a:solidFill>
              </a:defRPr>
            </a:pPr>
            <a:r>
              <a:t>法令関連</a:t>
            </a:r>
          </a:p>
        </p:txBody>
      </p:sp>
      <p:sp>
        <p:nvSpPr>
          <p:cNvPr id="47" name="Rounded Rectangle 46"/>
          <p:cNvSpPr/>
          <p:nvPr/>
        </p:nvSpPr>
        <p:spPr>
          <a:xfrm>
            <a:off x="4663440" y="292608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49240" y="3006080"/>
            <a:ext cx="502920" cy="502920"/>
          </a:xfrm>
          <a:prstGeom prst="ellipse">
            <a:avLst/>
          </a:prstGeom>
          <a:solidFill>
            <a:srgbClr val="D35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349240" y="3011080"/>
            <a:ext cx="502920" cy="502920"/>
          </a:xfrm>
          <a:prstGeom prst="rect">
            <a:avLst/>
          </a:prstGeom>
          <a:noFill/>
        </p:spPr>
        <p:txBody>
          <a:bodyPr wrap="square">
            <a:spAutoFit/>
          </a:bodyPr>
          <a:lstStyle/>
          <a:p>
            <a:pPr algn="ctr">
              <a:defRPr sz="1800" b="1">
                <a:solidFill>
                  <a:srgbClr val="FFFFFF"/>
                </a:solidFill>
              </a:defRPr>
            </a:pPr>
            <a:r>
              <a:t>7</a:t>
            </a:r>
          </a:p>
        </p:txBody>
      </p:sp>
      <p:sp>
        <p:nvSpPr>
          <p:cNvPr id="50" name="TextBox 49"/>
          <p:cNvSpPr txBox="1"/>
          <p:nvPr/>
        </p:nvSpPr>
        <p:spPr>
          <a:xfrm>
            <a:off x="4713440" y="3476080"/>
            <a:ext cx="1828800" cy="274320"/>
          </a:xfrm>
          <a:prstGeom prst="rect">
            <a:avLst/>
          </a:prstGeom>
          <a:noFill/>
        </p:spPr>
        <p:txBody>
          <a:bodyPr wrap="square">
            <a:spAutoFit/>
          </a:bodyPr>
          <a:lstStyle/>
          <a:p>
            <a:pPr algn="ctr">
              <a:defRPr sz="1200" b="1">
                <a:solidFill>
                  <a:srgbClr val="333333"/>
                </a:solidFill>
              </a:defRPr>
            </a:pPr>
            <a:r>
              <a:t>個別帳票</a:t>
            </a:r>
          </a:p>
        </p:txBody>
      </p:sp>
      <p:sp>
        <p:nvSpPr>
          <p:cNvPr id="51" name="TextBox 50"/>
          <p:cNvSpPr txBox="1"/>
          <p:nvPr/>
        </p:nvSpPr>
        <p:spPr>
          <a:xfrm>
            <a:off x="4713440" y="3696080"/>
            <a:ext cx="1828800" cy="274320"/>
          </a:xfrm>
          <a:prstGeom prst="rect">
            <a:avLst/>
          </a:prstGeom>
          <a:noFill/>
        </p:spPr>
        <p:txBody>
          <a:bodyPr wrap="square">
            <a:spAutoFit/>
          </a:bodyPr>
          <a:lstStyle/>
          <a:p>
            <a:pPr algn="ctr">
              <a:defRPr sz="1200" b="1">
                <a:solidFill>
                  <a:srgbClr val="333333"/>
                </a:solidFill>
              </a:defRPr>
            </a:pPr>
            <a:r>
              <a:t>レポート</a:t>
            </a:r>
          </a:p>
        </p:txBody>
      </p:sp>
      <p:sp>
        <p:nvSpPr>
          <p:cNvPr id="52" name="Rounded Rectangle 51"/>
          <p:cNvSpPr/>
          <p:nvPr/>
        </p:nvSpPr>
        <p:spPr>
          <a:xfrm>
            <a:off x="5120640" y="4206240"/>
            <a:ext cx="1005840" cy="274320"/>
          </a:xfrm>
          <a:prstGeom prst="roundRect">
            <a:avLst/>
          </a:prstGeom>
          <a:solidFill>
            <a:srgbClr val="D35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20640" y="4206240"/>
            <a:ext cx="1005840" cy="274320"/>
          </a:xfrm>
          <a:prstGeom prst="rect">
            <a:avLst/>
          </a:prstGeom>
          <a:noFill/>
        </p:spPr>
        <p:txBody>
          <a:bodyPr wrap="square">
            <a:spAutoFit/>
          </a:bodyPr>
          <a:lstStyle/>
          <a:p>
            <a:pPr algn="ctr">
              <a:defRPr sz="900" b="1">
                <a:solidFill>
                  <a:srgbClr val="FFFFFF"/>
                </a:solidFill>
              </a:defRPr>
            </a:pPr>
            <a:r>
              <a:t>要望多</a:t>
            </a:r>
          </a:p>
        </p:txBody>
      </p:sp>
      <p:sp>
        <p:nvSpPr>
          <p:cNvPr id="54" name="Rounded Rectangle 53"/>
          <p:cNvSpPr/>
          <p:nvPr/>
        </p:nvSpPr>
        <p:spPr>
          <a:xfrm>
            <a:off x="6858000" y="2926080"/>
            <a:ext cx="192024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543800" y="3006080"/>
            <a:ext cx="502920" cy="50292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543800" y="3011080"/>
            <a:ext cx="502920" cy="502920"/>
          </a:xfrm>
          <a:prstGeom prst="rect">
            <a:avLst/>
          </a:prstGeom>
          <a:noFill/>
        </p:spPr>
        <p:txBody>
          <a:bodyPr wrap="square">
            <a:spAutoFit/>
          </a:bodyPr>
          <a:lstStyle/>
          <a:p>
            <a:pPr algn="ctr">
              <a:defRPr sz="1800" b="1">
                <a:solidFill>
                  <a:srgbClr val="FFFFFF"/>
                </a:solidFill>
              </a:defRPr>
            </a:pPr>
            <a:r>
              <a:t>8</a:t>
            </a:r>
          </a:p>
        </p:txBody>
      </p:sp>
      <p:sp>
        <p:nvSpPr>
          <p:cNvPr id="57" name="TextBox 56"/>
          <p:cNvSpPr txBox="1"/>
          <p:nvPr/>
        </p:nvSpPr>
        <p:spPr>
          <a:xfrm>
            <a:off x="6908000" y="3476080"/>
            <a:ext cx="1828800" cy="274320"/>
          </a:xfrm>
          <a:prstGeom prst="rect">
            <a:avLst/>
          </a:prstGeom>
          <a:noFill/>
        </p:spPr>
        <p:txBody>
          <a:bodyPr wrap="square">
            <a:spAutoFit/>
          </a:bodyPr>
          <a:lstStyle/>
          <a:p>
            <a:pPr algn="ctr">
              <a:defRPr sz="1200" b="1">
                <a:solidFill>
                  <a:srgbClr val="333333"/>
                </a:solidFill>
              </a:defRPr>
            </a:pPr>
            <a:r>
              <a:t>標準化</a:t>
            </a:r>
          </a:p>
        </p:txBody>
      </p:sp>
      <p:sp>
        <p:nvSpPr>
          <p:cNvPr id="58" name="TextBox 57"/>
          <p:cNvSpPr txBox="1"/>
          <p:nvPr/>
        </p:nvSpPr>
        <p:spPr>
          <a:xfrm>
            <a:off x="6908000" y="3696080"/>
            <a:ext cx="1828800" cy="274320"/>
          </a:xfrm>
          <a:prstGeom prst="rect">
            <a:avLst/>
          </a:prstGeom>
          <a:noFill/>
        </p:spPr>
        <p:txBody>
          <a:bodyPr wrap="square">
            <a:spAutoFit/>
          </a:bodyPr>
          <a:lstStyle/>
          <a:p>
            <a:pPr algn="ctr">
              <a:defRPr sz="1200" b="1">
                <a:solidFill>
                  <a:srgbClr val="333333"/>
                </a:solidFill>
              </a:defRPr>
            </a:pPr>
            <a:r>
              <a:t>戦略</a:t>
            </a:r>
          </a:p>
        </p:txBody>
      </p:sp>
      <p:sp>
        <p:nvSpPr>
          <p:cNvPr id="59" name="Rounded Rectangle 58"/>
          <p:cNvSpPr/>
          <p:nvPr/>
        </p:nvSpPr>
        <p:spPr>
          <a:xfrm>
            <a:off x="7315200" y="4206240"/>
            <a:ext cx="1005840" cy="27432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15200" y="4206240"/>
            <a:ext cx="1005840" cy="274320"/>
          </a:xfrm>
          <a:prstGeom prst="rect">
            <a:avLst/>
          </a:prstGeom>
          <a:noFill/>
        </p:spPr>
        <p:txBody>
          <a:bodyPr wrap="square">
            <a:spAutoFit/>
          </a:bodyPr>
          <a:lstStyle/>
          <a:p>
            <a:pPr algn="ctr">
              <a:defRPr sz="900" b="1">
                <a:solidFill>
                  <a:srgbClr val="FFFFFF"/>
                </a:solidFill>
              </a:defRPr>
            </a:pPr>
            <a:r>
              <a:t>解決策</a:t>
            </a:r>
          </a:p>
        </p:txBody>
      </p:sp>
      <p:sp>
        <p:nvSpPr>
          <p:cNvPr id="61" name="TextBox 60"/>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62" name="TextBox 61"/>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4</a:t>
            </a:r>
          </a:p>
        </p:txBody>
      </p:sp>
      <p:sp>
        <p:nvSpPr>
          <p:cNvPr id="63" name="Rectangle 6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第1章 原価管理・工事採算管理</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建設業の生命線 ― 見えないコストを可視化する標準化戦略</a:t>
            </a:r>
          </a:p>
        </p:txBody>
      </p:sp>
      <p:sp>
        <p:nvSpPr>
          <p:cNvPr id="6" name="Rounded Rectangle 5"/>
          <p:cNvSpPr/>
          <p:nvPr/>
        </p:nvSpPr>
        <p:spPr>
          <a:xfrm>
            <a:off x="274320" y="1371600"/>
            <a:ext cx="4114800" cy="91440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65760" y="1471600"/>
            <a:ext cx="320040" cy="32004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471600"/>
            <a:ext cx="320040" cy="320040"/>
          </a:xfrm>
          <a:prstGeom prst="rect">
            <a:avLst/>
          </a:prstGeom>
          <a:noFill/>
        </p:spPr>
        <p:txBody>
          <a:bodyPr wrap="square">
            <a:spAutoFit/>
          </a:bodyPr>
          <a:lstStyle/>
          <a:p>
            <a:pPr algn="ctr">
              <a:defRPr sz="1400" b="1">
                <a:solidFill>
                  <a:srgbClr val="FFFFFF"/>
                </a:solidFill>
              </a:defRPr>
            </a:pPr>
            <a:r>
              <a:t>!</a:t>
            </a:r>
          </a:p>
        </p:txBody>
      </p:sp>
      <p:sp>
        <p:nvSpPr>
          <p:cNvPr id="9" name="TextBox 8"/>
          <p:cNvSpPr txBox="1"/>
          <p:nvPr/>
        </p:nvSpPr>
        <p:spPr>
          <a:xfrm>
            <a:off x="822960" y="1421600"/>
            <a:ext cx="1371600" cy="274320"/>
          </a:xfrm>
          <a:prstGeom prst="rect">
            <a:avLst/>
          </a:prstGeom>
          <a:noFill/>
        </p:spPr>
        <p:txBody>
          <a:bodyPr wrap="square">
            <a:spAutoFit/>
          </a:bodyPr>
          <a:lstStyle/>
          <a:p>
            <a:pPr algn="l">
              <a:defRPr sz="1300" b="1">
                <a:solidFill>
                  <a:srgbClr val="333333"/>
                </a:solidFill>
              </a:defRPr>
            </a:pPr>
            <a:r>
              <a:t>実行予算管理</a:t>
            </a:r>
          </a:p>
        </p:txBody>
      </p:sp>
      <p:sp>
        <p:nvSpPr>
          <p:cNvPr id="10" name="TextBox 9"/>
          <p:cNvSpPr txBox="1"/>
          <p:nvPr/>
        </p:nvSpPr>
        <p:spPr>
          <a:xfrm>
            <a:off x="822960" y="1671600"/>
            <a:ext cx="3200400" cy="274320"/>
          </a:xfrm>
          <a:prstGeom prst="rect">
            <a:avLst/>
          </a:prstGeom>
          <a:noFill/>
        </p:spPr>
        <p:txBody>
          <a:bodyPr wrap="square">
            <a:spAutoFit/>
          </a:bodyPr>
          <a:lstStyle/>
          <a:p>
            <a:pPr algn="l">
              <a:defRPr sz="900" b="0">
                <a:solidFill>
                  <a:srgbClr val="666666"/>
                </a:solidFill>
              </a:defRPr>
            </a:pPr>
            <a:r>
              <a:t>設計変更のたびにExcel作り直し</a:t>
            </a:r>
          </a:p>
        </p:txBody>
      </p:sp>
      <p:sp>
        <p:nvSpPr>
          <p:cNvPr id="11" name="TextBox 10"/>
          <p:cNvSpPr txBox="1"/>
          <p:nvPr/>
        </p:nvSpPr>
        <p:spPr>
          <a:xfrm>
            <a:off x="822960" y="1871600"/>
            <a:ext cx="3200400" cy="274320"/>
          </a:xfrm>
          <a:prstGeom prst="rect">
            <a:avLst/>
          </a:prstGeom>
          <a:noFill/>
        </p:spPr>
        <p:txBody>
          <a:bodyPr wrap="square">
            <a:spAutoFit/>
          </a:bodyPr>
          <a:lstStyle/>
          <a:p>
            <a:pPr algn="l">
              <a:defRPr sz="900" b="0">
                <a:solidFill>
                  <a:srgbClr val="666666"/>
                </a:solidFill>
              </a:defRPr>
            </a:pPr>
            <a:r>
              <a:t>予算残高をリアルタイムで見たい</a:t>
            </a:r>
          </a:p>
        </p:txBody>
      </p:sp>
      <p:sp>
        <p:nvSpPr>
          <p:cNvPr id="12" name="Rounded Rectangle 11"/>
          <p:cNvSpPr/>
          <p:nvPr/>
        </p:nvSpPr>
        <p:spPr>
          <a:xfrm>
            <a:off x="274320" y="2423160"/>
            <a:ext cx="4114800" cy="91440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5760" y="2523160"/>
            <a:ext cx="320040" cy="32004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2523160"/>
            <a:ext cx="320040" cy="320040"/>
          </a:xfrm>
          <a:prstGeom prst="rect">
            <a:avLst/>
          </a:prstGeom>
          <a:noFill/>
        </p:spPr>
        <p:txBody>
          <a:bodyPr wrap="square">
            <a:spAutoFit/>
          </a:bodyPr>
          <a:lstStyle/>
          <a:p>
            <a:pPr algn="ctr">
              <a:defRPr sz="1400" b="1">
                <a:solidFill>
                  <a:srgbClr val="FFFFFF"/>
                </a:solidFill>
              </a:defRPr>
            </a:pPr>
            <a:r>
              <a:t>!</a:t>
            </a:r>
          </a:p>
        </p:txBody>
      </p:sp>
      <p:sp>
        <p:nvSpPr>
          <p:cNvPr id="15" name="TextBox 14"/>
          <p:cNvSpPr txBox="1"/>
          <p:nvPr/>
        </p:nvSpPr>
        <p:spPr>
          <a:xfrm>
            <a:off x="822960" y="2473160"/>
            <a:ext cx="1371600" cy="274320"/>
          </a:xfrm>
          <a:prstGeom prst="rect">
            <a:avLst/>
          </a:prstGeom>
          <a:noFill/>
        </p:spPr>
        <p:txBody>
          <a:bodyPr wrap="square">
            <a:spAutoFit/>
          </a:bodyPr>
          <a:lstStyle/>
          <a:p>
            <a:pPr algn="l">
              <a:defRPr sz="1300" b="1">
                <a:solidFill>
                  <a:srgbClr val="333333"/>
                </a:solidFill>
              </a:defRPr>
            </a:pPr>
            <a:r>
              <a:t>共通費の配賦</a:t>
            </a:r>
          </a:p>
        </p:txBody>
      </p:sp>
      <p:sp>
        <p:nvSpPr>
          <p:cNvPr id="16" name="TextBox 15"/>
          <p:cNvSpPr txBox="1"/>
          <p:nvPr/>
        </p:nvSpPr>
        <p:spPr>
          <a:xfrm>
            <a:off x="822960" y="2723160"/>
            <a:ext cx="3200400" cy="274320"/>
          </a:xfrm>
          <a:prstGeom prst="rect">
            <a:avLst/>
          </a:prstGeom>
          <a:noFill/>
        </p:spPr>
        <p:txBody>
          <a:bodyPr wrap="square">
            <a:spAutoFit/>
          </a:bodyPr>
          <a:lstStyle/>
          <a:p>
            <a:pPr algn="l">
              <a:defRPr sz="900" b="0">
                <a:solidFill>
                  <a:srgbClr val="666666"/>
                </a:solidFill>
              </a:defRPr>
            </a:pPr>
            <a:r>
              <a:t>間接費の按分ルールが複雑</a:t>
            </a:r>
          </a:p>
        </p:txBody>
      </p:sp>
      <p:sp>
        <p:nvSpPr>
          <p:cNvPr id="17" name="TextBox 16"/>
          <p:cNvSpPr txBox="1"/>
          <p:nvPr/>
        </p:nvSpPr>
        <p:spPr>
          <a:xfrm>
            <a:off x="822960" y="2923160"/>
            <a:ext cx="3200400" cy="274320"/>
          </a:xfrm>
          <a:prstGeom prst="rect">
            <a:avLst/>
          </a:prstGeom>
          <a:noFill/>
        </p:spPr>
        <p:txBody>
          <a:bodyPr wrap="square">
            <a:spAutoFit/>
          </a:bodyPr>
          <a:lstStyle/>
          <a:p>
            <a:pPr algn="l">
              <a:defRPr sz="900" b="0">
                <a:solidFill>
                  <a:srgbClr val="666666"/>
                </a:solidFill>
              </a:defRPr>
            </a:pPr>
            <a:r>
              <a:t>工事間で不公平感が生まれる</a:t>
            </a:r>
          </a:p>
        </p:txBody>
      </p:sp>
      <p:sp>
        <p:nvSpPr>
          <p:cNvPr id="18" name="Rounded Rectangle 17"/>
          <p:cNvSpPr/>
          <p:nvPr/>
        </p:nvSpPr>
        <p:spPr>
          <a:xfrm>
            <a:off x="274320" y="3474720"/>
            <a:ext cx="4114800" cy="91440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65760" y="3574720"/>
            <a:ext cx="320040" cy="32004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3574720"/>
            <a:ext cx="320040" cy="320040"/>
          </a:xfrm>
          <a:prstGeom prst="rect">
            <a:avLst/>
          </a:prstGeom>
          <a:noFill/>
        </p:spPr>
        <p:txBody>
          <a:bodyPr wrap="square">
            <a:spAutoFit/>
          </a:bodyPr>
          <a:lstStyle/>
          <a:p>
            <a:pPr algn="ctr">
              <a:defRPr sz="1400" b="1">
                <a:solidFill>
                  <a:srgbClr val="FFFFFF"/>
                </a:solidFill>
              </a:defRPr>
            </a:pPr>
            <a:r>
              <a:t>!</a:t>
            </a:r>
          </a:p>
        </p:txBody>
      </p:sp>
      <p:sp>
        <p:nvSpPr>
          <p:cNvPr id="21" name="TextBox 20"/>
          <p:cNvSpPr txBox="1"/>
          <p:nvPr/>
        </p:nvSpPr>
        <p:spPr>
          <a:xfrm>
            <a:off x="822960" y="3524720"/>
            <a:ext cx="1371600" cy="274320"/>
          </a:xfrm>
          <a:prstGeom prst="rect">
            <a:avLst/>
          </a:prstGeom>
          <a:noFill/>
        </p:spPr>
        <p:txBody>
          <a:bodyPr wrap="square">
            <a:spAutoFit/>
          </a:bodyPr>
          <a:lstStyle/>
          <a:p>
            <a:pPr algn="l">
              <a:defRPr sz="1300" b="1">
                <a:solidFill>
                  <a:srgbClr val="333333"/>
                </a:solidFill>
              </a:defRPr>
            </a:pPr>
            <a:r>
              <a:t>工事進行基準</a:t>
            </a:r>
          </a:p>
        </p:txBody>
      </p:sp>
      <p:sp>
        <p:nvSpPr>
          <p:cNvPr id="22" name="TextBox 21"/>
          <p:cNvSpPr txBox="1"/>
          <p:nvPr/>
        </p:nvSpPr>
        <p:spPr>
          <a:xfrm>
            <a:off x="822960" y="3774720"/>
            <a:ext cx="3200400" cy="274320"/>
          </a:xfrm>
          <a:prstGeom prst="rect">
            <a:avLst/>
          </a:prstGeom>
          <a:noFill/>
        </p:spPr>
        <p:txBody>
          <a:bodyPr wrap="square">
            <a:spAutoFit/>
          </a:bodyPr>
          <a:lstStyle/>
          <a:p>
            <a:pPr algn="l">
              <a:defRPr sz="900" b="0">
                <a:solidFill>
                  <a:srgbClr val="666666"/>
                </a:solidFill>
              </a:defRPr>
            </a:pPr>
            <a:r>
              <a:t>進捗率の計算方法が統一されない</a:t>
            </a:r>
          </a:p>
        </p:txBody>
      </p:sp>
      <p:sp>
        <p:nvSpPr>
          <p:cNvPr id="23" name="TextBox 22"/>
          <p:cNvSpPr txBox="1"/>
          <p:nvPr/>
        </p:nvSpPr>
        <p:spPr>
          <a:xfrm>
            <a:off x="822960" y="3974720"/>
            <a:ext cx="3200400" cy="274320"/>
          </a:xfrm>
          <a:prstGeom prst="rect">
            <a:avLst/>
          </a:prstGeom>
          <a:noFill/>
        </p:spPr>
        <p:txBody>
          <a:bodyPr wrap="square">
            <a:spAutoFit/>
          </a:bodyPr>
          <a:lstStyle/>
          <a:p>
            <a:pPr algn="l">
              <a:defRPr sz="900" b="0">
                <a:solidFill>
                  <a:srgbClr val="666666"/>
                </a:solidFill>
              </a:defRPr>
            </a:pPr>
            <a:r>
              <a:t>収益認識が企業ごとにバラバラ</a:t>
            </a:r>
          </a:p>
        </p:txBody>
      </p:sp>
      <p:sp>
        <p:nvSpPr>
          <p:cNvPr id="24" name="Rounded Rectangle 23"/>
          <p:cNvSpPr/>
          <p:nvPr/>
        </p:nvSpPr>
        <p:spPr>
          <a:xfrm>
            <a:off x="4754880" y="1371600"/>
            <a:ext cx="3931920" cy="310896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37760" y="1463040"/>
            <a:ext cx="3657600" cy="365760"/>
          </a:xfrm>
          <a:prstGeom prst="rect">
            <a:avLst/>
          </a:prstGeom>
          <a:noFill/>
        </p:spPr>
        <p:txBody>
          <a:bodyPr wrap="square">
            <a:spAutoFit/>
          </a:bodyPr>
          <a:lstStyle/>
          <a:p>
            <a:pPr algn="l">
              <a:defRPr sz="1400" b="1">
                <a:solidFill>
                  <a:srgbClr val="27AE60"/>
                </a:solidFill>
              </a:defRPr>
            </a:pPr>
            <a:r>
              <a:t>標準化の方向性</a:t>
            </a:r>
          </a:p>
        </p:txBody>
      </p:sp>
      <p:sp>
        <p:nvSpPr>
          <p:cNvPr id="26" name="TextBox 25"/>
          <p:cNvSpPr txBox="1"/>
          <p:nvPr/>
        </p:nvSpPr>
        <p:spPr>
          <a:xfrm>
            <a:off x="5029200" y="1920240"/>
            <a:ext cx="274320" cy="274320"/>
          </a:xfrm>
          <a:prstGeom prst="rect">
            <a:avLst/>
          </a:prstGeom>
          <a:noFill/>
        </p:spPr>
        <p:txBody>
          <a:bodyPr wrap="square">
            <a:spAutoFit/>
          </a:bodyPr>
          <a:lstStyle/>
          <a:p>
            <a:pPr algn="l">
              <a:defRPr sz="1100" b="1">
                <a:solidFill>
                  <a:srgbClr val="27AE60"/>
                </a:solidFill>
              </a:defRPr>
            </a:pPr>
            <a:r>
              <a:t>&gt;&gt;</a:t>
            </a:r>
          </a:p>
        </p:txBody>
      </p:sp>
      <p:sp>
        <p:nvSpPr>
          <p:cNvPr id="27" name="TextBox 26"/>
          <p:cNvSpPr txBox="1"/>
          <p:nvPr/>
        </p:nvSpPr>
        <p:spPr>
          <a:xfrm>
            <a:off x="5394960" y="1920240"/>
            <a:ext cx="3108960" cy="274320"/>
          </a:xfrm>
          <a:prstGeom prst="rect">
            <a:avLst/>
          </a:prstGeom>
          <a:noFill/>
        </p:spPr>
        <p:txBody>
          <a:bodyPr wrap="square">
            <a:spAutoFit/>
          </a:bodyPr>
          <a:lstStyle/>
          <a:p>
            <a:pPr algn="l">
              <a:defRPr sz="1000" b="0">
                <a:solidFill>
                  <a:srgbClr val="333333"/>
                </a:solidFill>
              </a:defRPr>
            </a:pPr>
            <a:r>
              <a:t>業界標準の原価分類マスタをベースに</a:t>
            </a:r>
          </a:p>
        </p:txBody>
      </p:sp>
      <p:sp>
        <p:nvSpPr>
          <p:cNvPr id="28" name="TextBox 27"/>
          <p:cNvSpPr txBox="1"/>
          <p:nvPr/>
        </p:nvSpPr>
        <p:spPr>
          <a:xfrm>
            <a:off x="5394960" y="2100240"/>
            <a:ext cx="3108960" cy="274320"/>
          </a:xfrm>
          <a:prstGeom prst="rect">
            <a:avLst/>
          </a:prstGeom>
          <a:noFill/>
        </p:spPr>
        <p:txBody>
          <a:bodyPr wrap="square">
            <a:spAutoFit/>
          </a:bodyPr>
          <a:lstStyle/>
          <a:p>
            <a:pPr algn="l">
              <a:defRPr sz="1000" b="0">
                <a:solidFill>
                  <a:srgbClr val="333333"/>
                </a:solidFill>
              </a:defRPr>
            </a:pPr>
            <a:r>
              <a:t>企業独自の費目を追加できる仕組み</a:t>
            </a:r>
          </a:p>
        </p:txBody>
      </p:sp>
      <p:sp>
        <p:nvSpPr>
          <p:cNvPr id="29" name="TextBox 28"/>
          <p:cNvSpPr txBox="1"/>
          <p:nvPr/>
        </p:nvSpPr>
        <p:spPr>
          <a:xfrm>
            <a:off x="5029200" y="2743200"/>
            <a:ext cx="274320" cy="274320"/>
          </a:xfrm>
          <a:prstGeom prst="rect">
            <a:avLst/>
          </a:prstGeom>
          <a:noFill/>
        </p:spPr>
        <p:txBody>
          <a:bodyPr wrap="square">
            <a:spAutoFit/>
          </a:bodyPr>
          <a:lstStyle/>
          <a:p>
            <a:pPr algn="l">
              <a:defRPr sz="1100" b="1">
                <a:solidFill>
                  <a:srgbClr val="27AE60"/>
                </a:solidFill>
              </a:defRPr>
            </a:pPr>
            <a:r>
              <a:t>&gt;&gt;</a:t>
            </a:r>
          </a:p>
        </p:txBody>
      </p:sp>
      <p:sp>
        <p:nvSpPr>
          <p:cNvPr id="30" name="TextBox 29"/>
          <p:cNvSpPr txBox="1"/>
          <p:nvPr/>
        </p:nvSpPr>
        <p:spPr>
          <a:xfrm>
            <a:off x="5394960" y="2743200"/>
            <a:ext cx="3108960" cy="274320"/>
          </a:xfrm>
          <a:prstGeom prst="rect">
            <a:avLst/>
          </a:prstGeom>
          <a:noFill/>
        </p:spPr>
        <p:txBody>
          <a:bodyPr wrap="square">
            <a:spAutoFit/>
          </a:bodyPr>
          <a:lstStyle/>
          <a:p>
            <a:pPr algn="l">
              <a:defRPr sz="1000" b="0">
                <a:solidFill>
                  <a:srgbClr val="333333"/>
                </a:solidFill>
              </a:defRPr>
            </a:pPr>
            <a:r>
              <a:t>配賦パターンをテンプレート化し</a:t>
            </a:r>
          </a:p>
        </p:txBody>
      </p:sp>
      <p:sp>
        <p:nvSpPr>
          <p:cNvPr id="31" name="TextBox 30"/>
          <p:cNvSpPr txBox="1"/>
          <p:nvPr/>
        </p:nvSpPr>
        <p:spPr>
          <a:xfrm>
            <a:off x="5394960" y="2923200"/>
            <a:ext cx="3108960" cy="274320"/>
          </a:xfrm>
          <a:prstGeom prst="rect">
            <a:avLst/>
          </a:prstGeom>
          <a:noFill/>
        </p:spPr>
        <p:txBody>
          <a:bodyPr wrap="square">
            <a:spAutoFit/>
          </a:bodyPr>
          <a:lstStyle/>
          <a:p>
            <a:pPr algn="l">
              <a:defRPr sz="1000" b="0">
                <a:solidFill>
                  <a:srgbClr val="333333"/>
                </a:solidFill>
              </a:defRPr>
            </a:pPr>
            <a:r>
              <a:t>選択式で設定できる機能</a:t>
            </a:r>
          </a:p>
        </p:txBody>
      </p:sp>
      <p:sp>
        <p:nvSpPr>
          <p:cNvPr id="32" name="TextBox 31"/>
          <p:cNvSpPr txBox="1"/>
          <p:nvPr/>
        </p:nvSpPr>
        <p:spPr>
          <a:xfrm>
            <a:off x="5029200" y="3566160"/>
            <a:ext cx="274320" cy="274320"/>
          </a:xfrm>
          <a:prstGeom prst="rect">
            <a:avLst/>
          </a:prstGeom>
          <a:noFill/>
        </p:spPr>
        <p:txBody>
          <a:bodyPr wrap="square">
            <a:spAutoFit/>
          </a:bodyPr>
          <a:lstStyle/>
          <a:p>
            <a:pPr algn="l">
              <a:defRPr sz="1100" b="1">
                <a:solidFill>
                  <a:srgbClr val="27AE60"/>
                </a:solidFill>
              </a:defRPr>
            </a:pPr>
            <a:r>
              <a:t>&gt;&gt;</a:t>
            </a:r>
          </a:p>
        </p:txBody>
      </p:sp>
      <p:sp>
        <p:nvSpPr>
          <p:cNvPr id="33" name="TextBox 32"/>
          <p:cNvSpPr txBox="1"/>
          <p:nvPr/>
        </p:nvSpPr>
        <p:spPr>
          <a:xfrm>
            <a:off x="5394960" y="3566160"/>
            <a:ext cx="3108960" cy="274320"/>
          </a:xfrm>
          <a:prstGeom prst="rect">
            <a:avLst/>
          </a:prstGeom>
          <a:noFill/>
        </p:spPr>
        <p:txBody>
          <a:bodyPr wrap="square">
            <a:spAutoFit/>
          </a:bodyPr>
          <a:lstStyle/>
          <a:p>
            <a:pPr algn="l">
              <a:defRPr sz="1000" b="0">
                <a:solidFill>
                  <a:srgbClr val="333333"/>
                </a:solidFill>
              </a:defRPr>
            </a:pPr>
            <a:r>
              <a:t>進捗率の自動計算ロジックを</a:t>
            </a:r>
          </a:p>
        </p:txBody>
      </p:sp>
      <p:sp>
        <p:nvSpPr>
          <p:cNvPr id="34" name="TextBox 33"/>
          <p:cNvSpPr txBox="1"/>
          <p:nvPr/>
        </p:nvSpPr>
        <p:spPr>
          <a:xfrm>
            <a:off x="5394960" y="3746160"/>
            <a:ext cx="3108960" cy="274320"/>
          </a:xfrm>
          <a:prstGeom prst="rect">
            <a:avLst/>
          </a:prstGeom>
          <a:noFill/>
        </p:spPr>
        <p:txBody>
          <a:bodyPr wrap="square">
            <a:spAutoFit/>
          </a:bodyPr>
          <a:lstStyle/>
          <a:p>
            <a:pPr algn="l">
              <a:defRPr sz="1000" b="0">
                <a:solidFill>
                  <a:srgbClr val="333333"/>
                </a:solidFill>
              </a:defRPr>
            </a:pPr>
            <a:r>
              <a:t>複数パターンから選択可能に</a:t>
            </a:r>
          </a:p>
        </p:txBody>
      </p:sp>
      <p:sp>
        <p:nvSpPr>
          <p:cNvPr id="35" name="TextBox 34"/>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6" name="TextBox 35"/>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5</a:t>
            </a:r>
          </a:p>
        </p:txBody>
      </p:sp>
      <p:sp>
        <p:nvSpPr>
          <p:cNvPr id="37" name="Rectangle 36"/>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実行予算管理の Before / After</a:t>
            </a:r>
          </a:p>
        </p:txBody>
      </p:sp>
      <p:sp>
        <p:nvSpPr>
          <p:cNvPr id="5" name="TextBox 4"/>
          <p:cNvSpPr txBox="1"/>
          <p:nvPr/>
        </p:nvSpPr>
        <p:spPr>
          <a:xfrm>
            <a:off x="274320" y="868680"/>
            <a:ext cx="4114800" cy="365760"/>
          </a:xfrm>
          <a:prstGeom prst="rect">
            <a:avLst/>
          </a:prstGeom>
          <a:noFill/>
        </p:spPr>
        <p:txBody>
          <a:bodyPr wrap="square">
            <a:spAutoFit/>
          </a:bodyPr>
          <a:lstStyle/>
          <a:p>
            <a:pPr algn="l">
              <a:defRPr sz="1400" b="1">
                <a:solidFill>
                  <a:srgbClr val="C0392B"/>
                </a:solidFill>
              </a:defRPr>
            </a:pPr>
            <a:r>
              <a:t>Before : 現状の課題</a:t>
            </a:r>
          </a:p>
        </p:txBody>
      </p:sp>
      <p:sp>
        <p:nvSpPr>
          <p:cNvPr id="6" name="Rounded Rectangle 5"/>
          <p:cNvSpPr/>
          <p:nvPr/>
        </p:nvSpPr>
        <p:spPr>
          <a:xfrm>
            <a:off x="274320" y="1371600"/>
            <a:ext cx="1188720" cy="822960"/>
          </a:xfrm>
          <a:prstGeom prst="round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4320" y="1417320"/>
            <a:ext cx="1097280" cy="274320"/>
          </a:xfrm>
          <a:prstGeom prst="rect">
            <a:avLst/>
          </a:prstGeom>
          <a:noFill/>
        </p:spPr>
        <p:txBody>
          <a:bodyPr wrap="square">
            <a:spAutoFit/>
          </a:bodyPr>
          <a:lstStyle/>
          <a:p>
            <a:pPr algn="ctr">
              <a:defRPr sz="1100" b="0">
                <a:solidFill>
                  <a:srgbClr val="333333"/>
                </a:solidFill>
              </a:defRPr>
            </a:pPr>
            <a:r>
              <a:t>設計変更</a:t>
            </a:r>
          </a:p>
        </p:txBody>
      </p:sp>
      <p:sp>
        <p:nvSpPr>
          <p:cNvPr id="8" name="TextBox 7"/>
          <p:cNvSpPr txBox="1"/>
          <p:nvPr/>
        </p:nvSpPr>
        <p:spPr>
          <a:xfrm>
            <a:off x="294320" y="1617320"/>
            <a:ext cx="1097280" cy="274320"/>
          </a:xfrm>
          <a:prstGeom prst="rect">
            <a:avLst/>
          </a:prstGeom>
          <a:noFill/>
        </p:spPr>
        <p:txBody>
          <a:bodyPr wrap="square">
            <a:spAutoFit/>
          </a:bodyPr>
          <a:lstStyle/>
          <a:p>
            <a:pPr algn="ctr">
              <a:defRPr sz="1100" b="0">
                <a:solidFill>
                  <a:srgbClr val="333333"/>
                </a:solidFill>
              </a:defRPr>
            </a:pPr>
            <a:r>
              <a:t>発生</a:t>
            </a:r>
          </a:p>
        </p:txBody>
      </p:sp>
      <p:sp>
        <p:nvSpPr>
          <p:cNvPr id="9" name="Rounded Rectangle 8"/>
          <p:cNvSpPr/>
          <p:nvPr/>
        </p:nvSpPr>
        <p:spPr>
          <a:xfrm>
            <a:off x="1645920" y="1371600"/>
            <a:ext cx="1188720" cy="822960"/>
          </a:xfrm>
          <a:prstGeom prst="round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5920" y="1417320"/>
            <a:ext cx="1097280" cy="274320"/>
          </a:xfrm>
          <a:prstGeom prst="rect">
            <a:avLst/>
          </a:prstGeom>
          <a:noFill/>
        </p:spPr>
        <p:txBody>
          <a:bodyPr wrap="square">
            <a:spAutoFit/>
          </a:bodyPr>
          <a:lstStyle/>
          <a:p>
            <a:pPr algn="ctr">
              <a:defRPr sz="1100" b="0">
                <a:solidFill>
                  <a:srgbClr val="333333"/>
                </a:solidFill>
              </a:defRPr>
            </a:pPr>
            <a:r>
              <a:t>Excel</a:t>
            </a:r>
          </a:p>
        </p:txBody>
      </p:sp>
      <p:sp>
        <p:nvSpPr>
          <p:cNvPr id="11" name="TextBox 10"/>
          <p:cNvSpPr txBox="1"/>
          <p:nvPr/>
        </p:nvSpPr>
        <p:spPr>
          <a:xfrm>
            <a:off x="1665920" y="1617320"/>
            <a:ext cx="1097280" cy="274320"/>
          </a:xfrm>
          <a:prstGeom prst="rect">
            <a:avLst/>
          </a:prstGeom>
          <a:noFill/>
        </p:spPr>
        <p:txBody>
          <a:bodyPr wrap="square">
            <a:spAutoFit/>
          </a:bodyPr>
          <a:lstStyle/>
          <a:p>
            <a:pPr algn="ctr">
              <a:defRPr sz="1100" b="0">
                <a:solidFill>
                  <a:srgbClr val="333333"/>
                </a:solidFill>
              </a:defRPr>
            </a:pPr>
            <a:r>
              <a:t>作り直し</a:t>
            </a:r>
          </a:p>
        </p:txBody>
      </p:sp>
      <p:sp>
        <p:nvSpPr>
          <p:cNvPr id="12" name="Rounded Rectangle 11"/>
          <p:cNvSpPr/>
          <p:nvPr/>
        </p:nvSpPr>
        <p:spPr>
          <a:xfrm>
            <a:off x="3017520" y="1371600"/>
            <a:ext cx="1188720" cy="822960"/>
          </a:xfrm>
          <a:prstGeom prst="round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37520" y="1417320"/>
            <a:ext cx="1097280" cy="274320"/>
          </a:xfrm>
          <a:prstGeom prst="rect">
            <a:avLst/>
          </a:prstGeom>
          <a:noFill/>
        </p:spPr>
        <p:txBody>
          <a:bodyPr wrap="square">
            <a:spAutoFit/>
          </a:bodyPr>
          <a:lstStyle/>
          <a:p>
            <a:pPr algn="ctr">
              <a:defRPr sz="1100" b="0">
                <a:solidFill>
                  <a:srgbClr val="333333"/>
                </a:solidFill>
              </a:defRPr>
            </a:pPr>
            <a:r>
              <a:t>本社に</a:t>
            </a:r>
          </a:p>
        </p:txBody>
      </p:sp>
      <p:sp>
        <p:nvSpPr>
          <p:cNvPr id="14" name="TextBox 13"/>
          <p:cNvSpPr txBox="1"/>
          <p:nvPr/>
        </p:nvSpPr>
        <p:spPr>
          <a:xfrm>
            <a:off x="3037520" y="1617320"/>
            <a:ext cx="1097280" cy="274320"/>
          </a:xfrm>
          <a:prstGeom prst="rect">
            <a:avLst/>
          </a:prstGeom>
          <a:noFill/>
        </p:spPr>
        <p:txBody>
          <a:bodyPr wrap="square">
            <a:spAutoFit/>
          </a:bodyPr>
          <a:lstStyle/>
          <a:p>
            <a:pPr algn="ctr">
              <a:defRPr sz="1100" b="0">
                <a:solidFill>
                  <a:srgbClr val="333333"/>
                </a:solidFill>
              </a:defRPr>
            </a:pPr>
            <a:r>
              <a:t>電話確認</a:t>
            </a:r>
          </a:p>
        </p:txBody>
      </p:sp>
      <p:sp>
        <p:nvSpPr>
          <p:cNvPr id="15" name="Right Arrow 14"/>
          <p:cNvSpPr/>
          <p:nvPr/>
        </p:nvSpPr>
        <p:spPr>
          <a:xfrm>
            <a:off x="1417320" y="1645920"/>
            <a:ext cx="274320" cy="182880"/>
          </a:xfrm>
          <a:prstGeom prst="right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788920" y="1645920"/>
            <a:ext cx="274320" cy="182880"/>
          </a:xfrm>
          <a:prstGeom prst="right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4320" y="2377440"/>
            <a:ext cx="3931920" cy="457200"/>
          </a:xfrm>
          <a:prstGeom prst="roundRect">
            <a:avLst/>
          </a:prstGeom>
          <a:solidFill>
            <a:srgbClr val="FF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423160"/>
            <a:ext cx="3657600" cy="365760"/>
          </a:xfrm>
          <a:prstGeom prst="rect">
            <a:avLst/>
          </a:prstGeom>
          <a:noFill/>
        </p:spPr>
        <p:txBody>
          <a:bodyPr wrap="square">
            <a:spAutoFit/>
          </a:bodyPr>
          <a:lstStyle/>
          <a:p>
            <a:pPr algn="ctr">
              <a:defRPr sz="1100" b="1">
                <a:solidFill>
                  <a:srgbClr val="C0392B"/>
                </a:solidFill>
              </a:defRPr>
            </a:pPr>
            <a:r>
              <a:t>時間がかかる / ミスが起きやすい / 属人的</a:t>
            </a:r>
          </a:p>
        </p:txBody>
      </p:sp>
      <p:sp>
        <p:nvSpPr>
          <p:cNvPr id="19" name="TextBox 18"/>
          <p:cNvSpPr txBox="1"/>
          <p:nvPr/>
        </p:nvSpPr>
        <p:spPr>
          <a:xfrm>
            <a:off x="4754880" y="868680"/>
            <a:ext cx="4114800" cy="365760"/>
          </a:xfrm>
          <a:prstGeom prst="rect">
            <a:avLst/>
          </a:prstGeom>
          <a:noFill/>
        </p:spPr>
        <p:txBody>
          <a:bodyPr wrap="square">
            <a:spAutoFit/>
          </a:bodyPr>
          <a:lstStyle/>
          <a:p>
            <a:pPr algn="l">
              <a:defRPr sz="1400" b="1">
                <a:solidFill>
                  <a:srgbClr val="27AE60"/>
                </a:solidFill>
              </a:defRPr>
            </a:pPr>
            <a:r>
              <a:t>After : 標準化後のイメージ</a:t>
            </a:r>
          </a:p>
        </p:txBody>
      </p:sp>
      <p:sp>
        <p:nvSpPr>
          <p:cNvPr id="20" name="Rounded Rectangle 19"/>
          <p:cNvSpPr/>
          <p:nvPr/>
        </p:nvSpPr>
        <p:spPr>
          <a:xfrm>
            <a:off x="4754880" y="1371600"/>
            <a:ext cx="1188720" cy="82296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4880" y="1417320"/>
            <a:ext cx="1097280" cy="274320"/>
          </a:xfrm>
          <a:prstGeom prst="rect">
            <a:avLst/>
          </a:prstGeom>
          <a:noFill/>
        </p:spPr>
        <p:txBody>
          <a:bodyPr wrap="square">
            <a:spAutoFit/>
          </a:bodyPr>
          <a:lstStyle/>
          <a:p>
            <a:pPr algn="ctr">
              <a:defRPr sz="1100" b="0">
                <a:solidFill>
                  <a:srgbClr val="333333"/>
                </a:solidFill>
              </a:defRPr>
            </a:pPr>
            <a:r>
              <a:t>設計変更</a:t>
            </a:r>
          </a:p>
        </p:txBody>
      </p:sp>
      <p:sp>
        <p:nvSpPr>
          <p:cNvPr id="22" name="TextBox 21"/>
          <p:cNvSpPr txBox="1"/>
          <p:nvPr/>
        </p:nvSpPr>
        <p:spPr>
          <a:xfrm>
            <a:off x="4774880" y="1617320"/>
            <a:ext cx="1097280" cy="274320"/>
          </a:xfrm>
          <a:prstGeom prst="rect">
            <a:avLst/>
          </a:prstGeom>
          <a:noFill/>
        </p:spPr>
        <p:txBody>
          <a:bodyPr wrap="square">
            <a:spAutoFit/>
          </a:bodyPr>
          <a:lstStyle/>
          <a:p>
            <a:pPr algn="ctr">
              <a:defRPr sz="1100" b="0">
                <a:solidFill>
                  <a:srgbClr val="333333"/>
                </a:solidFill>
              </a:defRPr>
            </a:pPr>
            <a:r>
              <a:t>システム入力</a:t>
            </a:r>
          </a:p>
        </p:txBody>
      </p:sp>
      <p:sp>
        <p:nvSpPr>
          <p:cNvPr id="23" name="Rounded Rectangle 22"/>
          <p:cNvSpPr/>
          <p:nvPr/>
        </p:nvSpPr>
        <p:spPr>
          <a:xfrm>
            <a:off x="6126480" y="1371600"/>
            <a:ext cx="1188720" cy="82296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6480" y="1417320"/>
            <a:ext cx="1097280" cy="274320"/>
          </a:xfrm>
          <a:prstGeom prst="rect">
            <a:avLst/>
          </a:prstGeom>
          <a:noFill/>
        </p:spPr>
        <p:txBody>
          <a:bodyPr wrap="square">
            <a:spAutoFit/>
          </a:bodyPr>
          <a:lstStyle/>
          <a:p>
            <a:pPr algn="ctr">
              <a:defRPr sz="1100" b="0">
                <a:solidFill>
                  <a:srgbClr val="333333"/>
                </a:solidFill>
              </a:defRPr>
            </a:pPr>
            <a:r>
              <a:t>予算自動</a:t>
            </a:r>
          </a:p>
        </p:txBody>
      </p:sp>
      <p:sp>
        <p:nvSpPr>
          <p:cNvPr id="25" name="TextBox 24"/>
          <p:cNvSpPr txBox="1"/>
          <p:nvPr/>
        </p:nvSpPr>
        <p:spPr>
          <a:xfrm>
            <a:off x="6146480" y="1617320"/>
            <a:ext cx="1097280" cy="274320"/>
          </a:xfrm>
          <a:prstGeom prst="rect">
            <a:avLst/>
          </a:prstGeom>
          <a:noFill/>
        </p:spPr>
        <p:txBody>
          <a:bodyPr wrap="square">
            <a:spAutoFit/>
          </a:bodyPr>
          <a:lstStyle/>
          <a:p>
            <a:pPr algn="ctr">
              <a:defRPr sz="1100" b="0">
                <a:solidFill>
                  <a:srgbClr val="333333"/>
                </a:solidFill>
              </a:defRPr>
            </a:pPr>
            <a:r>
              <a:t>再計算</a:t>
            </a:r>
          </a:p>
        </p:txBody>
      </p:sp>
      <p:sp>
        <p:nvSpPr>
          <p:cNvPr id="26" name="Rounded Rectangle 25"/>
          <p:cNvSpPr/>
          <p:nvPr/>
        </p:nvSpPr>
        <p:spPr>
          <a:xfrm>
            <a:off x="7498079" y="1371600"/>
            <a:ext cx="1188720" cy="82296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18079" y="1417320"/>
            <a:ext cx="1097280" cy="274320"/>
          </a:xfrm>
          <a:prstGeom prst="rect">
            <a:avLst/>
          </a:prstGeom>
          <a:noFill/>
        </p:spPr>
        <p:txBody>
          <a:bodyPr wrap="square">
            <a:spAutoFit/>
          </a:bodyPr>
          <a:lstStyle/>
          <a:p>
            <a:pPr algn="ctr">
              <a:defRPr sz="1100" b="0">
                <a:solidFill>
                  <a:srgbClr val="333333"/>
                </a:solidFill>
              </a:defRPr>
            </a:pPr>
            <a:r>
              <a:t>タブレットで</a:t>
            </a:r>
          </a:p>
        </p:txBody>
      </p:sp>
      <p:sp>
        <p:nvSpPr>
          <p:cNvPr id="28" name="TextBox 27"/>
          <p:cNvSpPr txBox="1"/>
          <p:nvPr/>
        </p:nvSpPr>
        <p:spPr>
          <a:xfrm>
            <a:off x="7518079" y="1617320"/>
            <a:ext cx="1097280" cy="274320"/>
          </a:xfrm>
          <a:prstGeom prst="rect">
            <a:avLst/>
          </a:prstGeom>
          <a:noFill/>
        </p:spPr>
        <p:txBody>
          <a:bodyPr wrap="square">
            <a:spAutoFit/>
          </a:bodyPr>
          <a:lstStyle/>
          <a:p>
            <a:pPr algn="ctr">
              <a:defRPr sz="1100" b="0">
                <a:solidFill>
                  <a:srgbClr val="333333"/>
                </a:solidFill>
              </a:defRPr>
            </a:pPr>
            <a:r>
              <a:t>残高確認</a:t>
            </a:r>
          </a:p>
        </p:txBody>
      </p:sp>
      <p:sp>
        <p:nvSpPr>
          <p:cNvPr id="29" name="Right Arrow 28"/>
          <p:cNvSpPr/>
          <p:nvPr/>
        </p:nvSpPr>
        <p:spPr>
          <a:xfrm>
            <a:off x="5897880" y="1645920"/>
            <a:ext cx="274320" cy="182880"/>
          </a:xfrm>
          <a:prstGeom prst="rightArrow">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269480" y="1645920"/>
            <a:ext cx="274320" cy="182880"/>
          </a:xfrm>
          <a:prstGeom prst="rightArrow">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0" y="2377440"/>
            <a:ext cx="3931920" cy="457200"/>
          </a:xfrm>
          <a:prstGeom prst="roundRect">
            <a:avLst/>
          </a:prstGeom>
          <a:solidFill>
            <a:srgbClr val="DDFF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37760" y="2423160"/>
            <a:ext cx="3657600" cy="365760"/>
          </a:xfrm>
          <a:prstGeom prst="rect">
            <a:avLst/>
          </a:prstGeom>
          <a:noFill/>
        </p:spPr>
        <p:txBody>
          <a:bodyPr wrap="square">
            <a:spAutoFit/>
          </a:bodyPr>
          <a:lstStyle/>
          <a:p>
            <a:pPr algn="ctr">
              <a:defRPr sz="1100" b="1">
                <a:solidFill>
                  <a:srgbClr val="27AE60"/>
                </a:solidFill>
              </a:defRPr>
            </a:pPr>
            <a:r>
              <a:t>リアルタイム / 自動化 / 誰でも操作可能</a:t>
            </a:r>
          </a:p>
        </p:txBody>
      </p:sp>
      <p:sp>
        <p:nvSpPr>
          <p:cNvPr id="33" name="Rounded Rectangle 32"/>
          <p:cNvSpPr/>
          <p:nvPr/>
        </p:nvSpPr>
        <p:spPr>
          <a:xfrm>
            <a:off x="274320" y="3017520"/>
            <a:ext cx="8412480" cy="13716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108960"/>
            <a:ext cx="1828800" cy="274320"/>
          </a:xfrm>
          <a:prstGeom prst="rect">
            <a:avLst/>
          </a:prstGeom>
          <a:noFill/>
        </p:spPr>
        <p:txBody>
          <a:bodyPr wrap="square">
            <a:spAutoFit/>
          </a:bodyPr>
          <a:lstStyle/>
          <a:p>
            <a:pPr algn="l">
              <a:defRPr sz="1200" b="1">
                <a:solidFill>
                  <a:srgbClr val="8B7536"/>
                </a:solidFill>
              </a:defRPr>
            </a:pPr>
            <a:r>
              <a:t>現場の声</a:t>
            </a:r>
          </a:p>
        </p:txBody>
      </p:sp>
      <p:sp>
        <p:nvSpPr>
          <p:cNvPr id="35" name="TextBox 34"/>
          <p:cNvSpPr txBox="1"/>
          <p:nvPr/>
        </p:nvSpPr>
        <p:spPr>
          <a:xfrm>
            <a:off x="457200" y="3474720"/>
            <a:ext cx="3840480" cy="822960"/>
          </a:xfrm>
          <a:prstGeom prst="rect">
            <a:avLst/>
          </a:prstGeom>
          <a:noFill/>
        </p:spPr>
        <p:txBody>
          <a:bodyPr wrap="square">
            <a:spAutoFit/>
          </a:bodyPr>
          <a:lstStyle/>
          <a:p>
            <a:pPr algn="l">
              <a:defRPr sz="1000" b="0">
                <a:solidFill>
                  <a:srgbClr val="666666"/>
                </a:solidFill>
              </a:defRPr>
            </a:pPr>
            <a:r>
              <a:t>「設計変更のたびにExcelを作り直してて</a:t>
            </a:r>
          </a:p>
          <a:p>
            <a:pPr algn="l">
              <a:defRPr sz="1000" b="0">
                <a:solidFill>
                  <a:srgbClr val="666666"/>
                </a:solidFill>
              </a:defRPr>
            </a:pPr>
            <a:r>
              <a:t>  時間がかかりすぎる」</a:t>
            </a:r>
          </a:p>
          <a:p>
            <a:pPr algn="l">
              <a:defRPr sz="1000" b="0">
                <a:solidFill>
                  <a:srgbClr val="666666"/>
                </a:solidFill>
              </a:defRPr>
            </a:pPr>
            <a:r>
              <a:t>「タブレットで予算残高が見られれば</a:t>
            </a:r>
          </a:p>
          <a:p>
            <a:pPr algn="l">
              <a:defRPr sz="1000" b="0">
                <a:solidFill>
                  <a:srgbClr val="666666"/>
                </a:solidFill>
              </a:defRPr>
            </a:pPr>
            <a:r>
              <a:t>  無駄な発注も減るはずだ」</a:t>
            </a:r>
          </a:p>
        </p:txBody>
      </p:sp>
      <p:sp>
        <p:nvSpPr>
          <p:cNvPr id="36" name="TextBox 35"/>
          <p:cNvSpPr txBox="1"/>
          <p:nvPr/>
        </p:nvSpPr>
        <p:spPr>
          <a:xfrm>
            <a:off x="4572000" y="3474720"/>
            <a:ext cx="3840480" cy="822960"/>
          </a:xfrm>
          <a:prstGeom prst="rect">
            <a:avLst/>
          </a:prstGeom>
          <a:noFill/>
        </p:spPr>
        <p:txBody>
          <a:bodyPr wrap="square">
            <a:spAutoFit/>
          </a:bodyPr>
          <a:lstStyle/>
          <a:p>
            <a:pPr algn="l">
              <a:defRPr sz="1000" b="0">
                <a:solidFill>
                  <a:srgbClr val="666666"/>
                </a:solidFill>
              </a:defRPr>
            </a:pPr>
            <a:r>
              <a:t>「工事ごとに細かく原価を管理したいのに</a:t>
            </a:r>
          </a:p>
          <a:p>
            <a:pPr algn="l">
              <a:defRPr sz="1000" b="0">
                <a:solidFill>
                  <a:srgbClr val="666666"/>
                </a:solidFill>
              </a:defRPr>
            </a:pPr>
            <a:r>
              <a:t>  システムだと大まかすぎて使い物にならない」</a:t>
            </a:r>
          </a:p>
          <a:p>
            <a:pPr algn="l">
              <a:defRPr sz="1000" b="0">
                <a:solidFill>
                  <a:srgbClr val="666666"/>
                </a:solidFill>
              </a:defRPr>
            </a:pPr>
            <a:r>
              <a:t>「承認ルートが工事規模で変わるから</a:t>
            </a:r>
          </a:p>
          <a:p>
            <a:pPr algn="l">
              <a:defRPr sz="1000" b="0">
                <a:solidFill>
                  <a:srgbClr val="666666"/>
                </a:solidFill>
              </a:defRPr>
            </a:pPr>
            <a:r>
              <a:t>  標準システムだと対応できない」</a:t>
            </a:r>
          </a:p>
        </p:txBody>
      </p:sp>
      <p:sp>
        <p:nvSpPr>
          <p:cNvPr id="37" name="TextBox 36"/>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8" name="TextBox 37"/>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6</a:t>
            </a:r>
          </a:p>
        </p:txBody>
      </p:sp>
      <p:sp>
        <p:nvSpPr>
          <p:cNvPr id="39" name="Rectangle 3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第2章 契約・請求・入金管理</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複雑な取引を簡素化する標準化戦略</a:t>
            </a:r>
          </a:p>
        </p:txBody>
      </p:sp>
      <p:graphicFrame>
        <p:nvGraphicFramePr>
          <p:cNvPr id="6" name="Table 5"/>
          <p:cNvGraphicFramePr>
            <a:graphicFrameLocks noGrp="1"/>
          </p:cNvGraphicFramePr>
          <p:nvPr/>
        </p:nvGraphicFramePr>
        <p:xfrm>
          <a:off x="274320" y="1371600"/>
          <a:ext cx="8412480" cy="1828800"/>
        </p:xfrm>
        <a:graphic>
          <a:graphicData uri="http://schemas.openxmlformats.org/drawingml/2006/table">
            <a:tbl>
              <a:tblPr firstRow="1" bandRow="1">
                <a:tableStyleId>{5C22544A-7EE6-4342-B048-85BDC9FD1C3A}</a:tableStyleId>
              </a:tblPr>
              <a:tblGrid>
                <a:gridCol w="1371600"/>
                <a:gridCol w="2103120"/>
                <a:gridCol w="2103120"/>
                <a:gridCol w="2834640"/>
              </a:tblGrid>
              <a:tr h="457200">
                <a:tc>
                  <a:txBody>
                    <a:bodyPr/>
                    <a:lstStyle/>
                    <a:p>
                      <a:pPr algn="ctr">
                        <a:defRPr sz="1000" b="1">
                          <a:solidFill>
                            <a:srgbClr val="FFFFFF"/>
                          </a:solidFill>
                        </a:defRPr>
                      </a:pPr>
                      <a:r>
                        <a:t>契約形態</a:t>
                      </a:r>
                    </a:p>
                  </a:txBody>
                  <a:tcPr anchor="ctr">
                    <a:solidFill>
                      <a:srgbClr val="8B7536"/>
                    </a:solidFill>
                  </a:tcPr>
                </a:tc>
                <a:tc>
                  <a:txBody>
                    <a:bodyPr/>
                    <a:lstStyle/>
                    <a:p>
                      <a:pPr algn="ctr">
                        <a:defRPr sz="1000" b="1">
                          <a:solidFill>
                            <a:srgbClr val="FFFFFF"/>
                          </a:solidFill>
                        </a:defRPr>
                      </a:pPr>
                      <a:r>
                        <a:t>特徴</a:t>
                      </a:r>
                    </a:p>
                  </a:txBody>
                  <a:tcPr anchor="ctr">
                    <a:solidFill>
                      <a:srgbClr val="8B7536"/>
                    </a:solidFill>
                  </a:tcPr>
                </a:tc>
                <a:tc>
                  <a:txBody>
                    <a:bodyPr/>
                    <a:lstStyle/>
                    <a:p>
                      <a:pPr algn="ctr">
                        <a:defRPr sz="1000" b="1">
                          <a:solidFill>
                            <a:srgbClr val="FFFFFF"/>
                          </a:solidFill>
                        </a:defRPr>
                      </a:pPr>
                      <a:r>
                        <a:t>支払方法</a:t>
                      </a:r>
                    </a:p>
                  </a:txBody>
                  <a:tcPr anchor="ctr">
                    <a:solidFill>
                      <a:srgbClr val="8B7536"/>
                    </a:solidFill>
                  </a:tcPr>
                </a:tc>
                <a:tc>
                  <a:txBody>
                    <a:bodyPr/>
                    <a:lstStyle/>
                    <a:p>
                      <a:pPr algn="ctr">
                        <a:defRPr sz="1000" b="1">
                          <a:solidFill>
                            <a:srgbClr val="FFFFFF"/>
                          </a:solidFill>
                        </a:defRPr>
                      </a:pPr>
                      <a:r>
                        <a:t>カスタマイズの課題</a:t>
                      </a:r>
                    </a:p>
                  </a:txBody>
                  <a:tcPr anchor="ctr">
                    <a:solidFill>
                      <a:srgbClr val="8B7536"/>
                    </a:solidFill>
                  </a:tcPr>
                </a:tc>
              </a:tr>
              <a:tr h="457200">
                <a:tc>
                  <a:txBody>
                    <a:bodyPr/>
                    <a:lstStyle/>
                    <a:p>
                      <a:pPr>
                        <a:defRPr sz="1000">
                          <a:solidFill>
                            <a:srgbClr val="333333"/>
                          </a:solidFill>
                        </a:defRPr>
                      </a:pPr>
                      <a:r>
                        <a:t>請負契約</a:t>
                      </a:r>
                    </a:p>
                  </a:txBody>
                  <a:tcPr anchor="ctr">
                    <a:solidFill>
                      <a:srgbClr val="F9F6F0"/>
                    </a:solidFill>
                  </a:tcPr>
                </a:tc>
                <a:tc>
                  <a:txBody>
                    <a:bodyPr/>
                    <a:lstStyle/>
                    <a:p>
                      <a:pPr>
                        <a:defRPr sz="1000">
                          <a:solidFill>
                            <a:srgbClr val="333333"/>
                          </a:solidFill>
                        </a:defRPr>
                      </a:pPr>
                      <a:r>
                        <a:t>工事全体を一括受注</a:t>
                      </a:r>
                    </a:p>
                  </a:txBody>
                  <a:tcPr anchor="ctr">
                    <a:solidFill>
                      <a:srgbClr val="F9F6F0"/>
                    </a:solidFill>
                  </a:tcPr>
                </a:tc>
                <a:tc>
                  <a:txBody>
                    <a:bodyPr/>
                    <a:lstStyle/>
                    <a:p>
                      <a:pPr>
                        <a:defRPr sz="1000">
                          <a:solidFill>
                            <a:srgbClr val="333333"/>
                          </a:solidFill>
                        </a:defRPr>
                      </a:pPr>
                      <a:r>
                        <a:t>出来高払い・完成払い</a:t>
                      </a:r>
                    </a:p>
                  </a:txBody>
                  <a:tcPr anchor="ctr">
                    <a:solidFill>
                      <a:srgbClr val="F9F6F0"/>
                    </a:solidFill>
                  </a:tcPr>
                </a:tc>
                <a:tc>
                  <a:txBody>
                    <a:bodyPr/>
                    <a:lstStyle/>
                    <a:p>
                      <a:pPr>
                        <a:defRPr sz="1000">
                          <a:solidFill>
                            <a:srgbClr val="333333"/>
                          </a:solidFill>
                        </a:defRPr>
                      </a:pPr>
                      <a:r>
                        <a:t>出来高の計算方法が企業ごとに異なる</a:t>
                      </a:r>
                    </a:p>
                  </a:txBody>
                  <a:tcPr anchor="ctr">
                    <a:solidFill>
                      <a:srgbClr val="F9F6F0"/>
                    </a:solidFill>
                  </a:tcPr>
                </a:tc>
              </a:tr>
              <a:tr h="457200">
                <a:tc>
                  <a:txBody>
                    <a:bodyPr/>
                    <a:lstStyle/>
                    <a:p>
                      <a:pPr>
                        <a:defRPr sz="1000">
                          <a:solidFill>
                            <a:srgbClr val="333333"/>
                          </a:solidFill>
                        </a:defRPr>
                      </a:pPr>
                      <a:r>
                        <a:t>単価契約</a:t>
                      </a:r>
                    </a:p>
                  </a:txBody>
                  <a:tcPr anchor="ctr">
                    <a:solidFill>
                      <a:srgbClr val="F0E8D5"/>
                    </a:solidFill>
                  </a:tcPr>
                </a:tc>
                <a:tc>
                  <a:txBody>
                    <a:bodyPr/>
                    <a:lstStyle/>
                    <a:p>
                      <a:pPr>
                        <a:defRPr sz="1000">
                          <a:solidFill>
                            <a:srgbClr val="333333"/>
                          </a:solidFill>
                        </a:defRPr>
                      </a:pPr>
                      <a:r>
                        <a:t>数量×単価で精算</a:t>
                      </a:r>
                    </a:p>
                  </a:txBody>
                  <a:tcPr anchor="ctr">
                    <a:solidFill>
                      <a:srgbClr val="F0E8D5"/>
                    </a:solidFill>
                  </a:tcPr>
                </a:tc>
                <a:tc>
                  <a:txBody>
                    <a:bodyPr/>
                    <a:lstStyle/>
                    <a:p>
                      <a:pPr>
                        <a:defRPr sz="1000">
                          <a:solidFill>
                            <a:srgbClr val="333333"/>
                          </a:solidFill>
                        </a:defRPr>
                      </a:pPr>
                      <a:r>
                        <a:t>月次精算</a:t>
                      </a:r>
                    </a:p>
                  </a:txBody>
                  <a:tcPr anchor="ctr">
                    <a:solidFill>
                      <a:srgbClr val="F0E8D5"/>
                    </a:solidFill>
                  </a:tcPr>
                </a:tc>
                <a:tc>
                  <a:txBody>
                    <a:bodyPr/>
                    <a:lstStyle/>
                    <a:p>
                      <a:pPr>
                        <a:defRPr sz="1000">
                          <a:solidFill>
                            <a:srgbClr val="333333"/>
                          </a:solidFill>
                        </a:defRPr>
                      </a:pPr>
                      <a:r>
                        <a:t>単価改定・追加数量の処理が複雑</a:t>
                      </a:r>
                    </a:p>
                  </a:txBody>
                  <a:tcPr anchor="ctr">
                    <a:solidFill>
                      <a:srgbClr val="F0E8D5"/>
                    </a:solidFill>
                  </a:tcPr>
                </a:tc>
              </a:tr>
              <a:tr h="457200">
                <a:tc>
                  <a:txBody>
                    <a:bodyPr/>
                    <a:lstStyle/>
                    <a:p>
                      <a:pPr>
                        <a:defRPr sz="1000">
                          <a:solidFill>
                            <a:srgbClr val="333333"/>
                          </a:solidFill>
                        </a:defRPr>
                      </a:pPr>
                      <a:r>
                        <a:t>業務委託</a:t>
                      </a:r>
                    </a:p>
                  </a:txBody>
                  <a:tcPr anchor="ctr">
                    <a:solidFill>
                      <a:srgbClr val="F9F6F0"/>
                    </a:solidFill>
                  </a:tcPr>
                </a:tc>
                <a:tc>
                  <a:txBody>
                    <a:bodyPr/>
                    <a:lstStyle/>
                    <a:p>
                      <a:pPr>
                        <a:defRPr sz="1000">
                          <a:solidFill>
                            <a:srgbClr val="333333"/>
                          </a:solidFill>
                        </a:defRPr>
                      </a:pPr>
                      <a:r>
                        <a:t>人工ベースの契約</a:t>
                      </a:r>
                    </a:p>
                  </a:txBody>
                  <a:tcPr anchor="ctr">
                    <a:solidFill>
                      <a:srgbClr val="F9F6F0"/>
                    </a:solidFill>
                  </a:tcPr>
                </a:tc>
                <a:tc>
                  <a:txBody>
                    <a:bodyPr/>
                    <a:lstStyle/>
                    <a:p>
                      <a:pPr>
                        <a:defRPr sz="1000">
                          <a:solidFill>
                            <a:srgbClr val="333333"/>
                          </a:solidFill>
                        </a:defRPr>
                      </a:pPr>
                      <a:r>
                        <a:t>月末締め翌月払い</a:t>
                      </a:r>
                    </a:p>
                  </a:txBody>
                  <a:tcPr anchor="ctr">
                    <a:solidFill>
                      <a:srgbClr val="F9F6F0"/>
                    </a:solidFill>
                  </a:tcPr>
                </a:tc>
                <a:tc>
                  <a:txBody>
                    <a:bodyPr/>
                    <a:lstStyle/>
                    <a:p>
                      <a:pPr>
                        <a:defRPr sz="1000">
                          <a:solidFill>
                            <a:srgbClr val="333333"/>
                          </a:solidFill>
                        </a:defRPr>
                      </a:pPr>
                      <a:r>
                        <a:t>労務実績との突合が手作業</a:t>
                      </a:r>
                    </a:p>
                  </a:txBody>
                  <a:tcPr anchor="ctr">
                    <a:solidFill>
                      <a:srgbClr val="F9F6F0"/>
                    </a:solidFill>
                  </a:tcPr>
                </a:tc>
              </a:tr>
            </a:tbl>
          </a:graphicData>
        </a:graphic>
      </p:graphicFrame>
      <p:sp>
        <p:nvSpPr>
          <p:cNvPr id="7" name="Rounded Rectangle 6"/>
          <p:cNvSpPr/>
          <p:nvPr/>
        </p:nvSpPr>
        <p:spPr>
          <a:xfrm>
            <a:off x="274320" y="3383280"/>
            <a:ext cx="3931920" cy="1097280"/>
          </a:xfrm>
          <a:prstGeom prst="round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474720"/>
            <a:ext cx="3657600" cy="274320"/>
          </a:xfrm>
          <a:prstGeom prst="rect">
            <a:avLst/>
          </a:prstGeom>
          <a:noFill/>
        </p:spPr>
        <p:txBody>
          <a:bodyPr wrap="square">
            <a:spAutoFit/>
          </a:bodyPr>
          <a:lstStyle/>
          <a:p>
            <a:pPr algn="l">
              <a:defRPr sz="1200" b="1">
                <a:solidFill>
                  <a:srgbClr val="2C7AB0"/>
                </a:solidFill>
              </a:defRPr>
            </a:pPr>
            <a:r>
              <a:t>下請支払管理の重要ポイント</a:t>
            </a:r>
          </a:p>
        </p:txBody>
      </p:sp>
      <p:sp>
        <p:nvSpPr>
          <p:cNvPr id="9" name="TextBox 8"/>
          <p:cNvSpPr txBox="1"/>
          <p:nvPr/>
        </p:nvSpPr>
        <p:spPr>
          <a:xfrm>
            <a:off x="457200" y="3840480"/>
            <a:ext cx="3657600" cy="548640"/>
          </a:xfrm>
          <a:prstGeom prst="rect">
            <a:avLst/>
          </a:prstGeom>
          <a:noFill/>
        </p:spPr>
        <p:txBody>
          <a:bodyPr wrap="square">
            <a:spAutoFit/>
          </a:bodyPr>
          <a:lstStyle/>
          <a:p>
            <a:pPr algn="l">
              <a:defRPr sz="1000" b="0">
                <a:solidFill>
                  <a:srgbClr val="333333"/>
                </a:solidFill>
              </a:defRPr>
            </a:pPr>
            <a:r>
              <a:t>建設業法・下請法への確実な対応が必須</a:t>
            </a:r>
          </a:p>
          <a:p>
            <a:pPr algn="l">
              <a:defRPr sz="1000" b="0">
                <a:solidFill>
                  <a:srgbClr val="333333"/>
                </a:solidFill>
              </a:defRPr>
            </a:pPr>
            <a:r>
              <a:t>建退共の証紙管理・CCUSとの連携も重要</a:t>
            </a:r>
          </a:p>
        </p:txBody>
      </p:sp>
      <p:sp>
        <p:nvSpPr>
          <p:cNvPr id="10" name="Rounded Rectangle 9"/>
          <p:cNvSpPr/>
          <p:nvPr/>
        </p:nvSpPr>
        <p:spPr>
          <a:xfrm>
            <a:off x="4572000" y="3383280"/>
            <a:ext cx="4114800" cy="109728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3474720"/>
            <a:ext cx="3657600" cy="274320"/>
          </a:xfrm>
          <a:prstGeom prst="rect">
            <a:avLst/>
          </a:prstGeom>
          <a:noFill/>
        </p:spPr>
        <p:txBody>
          <a:bodyPr wrap="square">
            <a:spAutoFit/>
          </a:bodyPr>
          <a:lstStyle/>
          <a:p>
            <a:pPr algn="l">
              <a:defRPr sz="1200" b="1">
                <a:solidFill>
                  <a:srgbClr val="27AE60"/>
                </a:solidFill>
              </a:defRPr>
            </a:pPr>
            <a:r>
              <a:t>標準化の方向性</a:t>
            </a:r>
          </a:p>
        </p:txBody>
      </p:sp>
      <p:sp>
        <p:nvSpPr>
          <p:cNvPr id="12" name="TextBox 11"/>
          <p:cNvSpPr txBox="1"/>
          <p:nvPr/>
        </p:nvSpPr>
        <p:spPr>
          <a:xfrm>
            <a:off x="4754880" y="3840480"/>
            <a:ext cx="3657600" cy="548640"/>
          </a:xfrm>
          <a:prstGeom prst="rect">
            <a:avLst/>
          </a:prstGeom>
          <a:noFill/>
        </p:spPr>
        <p:txBody>
          <a:bodyPr wrap="square">
            <a:spAutoFit/>
          </a:bodyPr>
          <a:lstStyle/>
          <a:p>
            <a:pPr algn="l">
              <a:defRPr sz="1000" b="0">
                <a:solidFill>
                  <a:srgbClr val="333333"/>
                </a:solidFill>
              </a:defRPr>
            </a:pPr>
            <a:r>
              <a:t>契約パターンマスタで類型化し選択式に</a:t>
            </a:r>
          </a:p>
          <a:p>
            <a:pPr algn="l">
              <a:defRPr sz="1000" b="0">
                <a:solidFill>
                  <a:srgbClr val="333333"/>
                </a:solidFill>
              </a:defRPr>
            </a:pPr>
            <a:r>
              <a:t>出来高計算テンプレートの標準提供</a:t>
            </a:r>
          </a:p>
          <a:p>
            <a:pPr algn="l">
              <a:defRPr sz="1000" b="0">
                <a:solidFill>
                  <a:srgbClr val="333333"/>
                </a:solidFill>
              </a:defRPr>
            </a:pPr>
            <a:r>
              <a:t>法令チェック機能の標準実装</a:t>
            </a:r>
          </a:p>
        </p:txBody>
      </p:sp>
      <p:sp>
        <p:nvSpPr>
          <p:cNvPr id="13" name="TextBox 12"/>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4" name="TextBox 13"/>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7</a:t>
            </a:r>
          </a:p>
        </p:txBody>
      </p:sp>
      <p:sp>
        <p:nvSpPr>
          <p:cNvPr id="15" name="Rectangle 14"/>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第3章 経費精算・現場管理</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現場のリアルを捉える経費処理の最適化</a:t>
            </a:r>
          </a:p>
        </p:txBody>
      </p:sp>
      <p:sp>
        <p:nvSpPr>
          <p:cNvPr id="6" name="Rounded Rectangle 5"/>
          <p:cNvSpPr/>
          <p:nvPr/>
        </p:nvSpPr>
        <p:spPr>
          <a:xfrm>
            <a:off x="274320" y="1371600"/>
            <a:ext cx="4114800" cy="301752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657600" cy="274320"/>
          </a:xfrm>
          <a:prstGeom prst="rect">
            <a:avLst/>
          </a:prstGeom>
          <a:noFill/>
        </p:spPr>
        <p:txBody>
          <a:bodyPr wrap="square">
            <a:spAutoFit/>
          </a:bodyPr>
          <a:lstStyle/>
          <a:p>
            <a:pPr algn="l">
              <a:defRPr sz="1300" b="1">
                <a:solidFill>
                  <a:srgbClr val="E67E22"/>
                </a:solidFill>
              </a:defRPr>
            </a:pPr>
            <a:r>
              <a:t>現場で起きていること</a:t>
            </a:r>
          </a:p>
        </p:txBody>
      </p:sp>
      <p:sp>
        <p:nvSpPr>
          <p:cNvPr id="8" name="TextBox 7"/>
          <p:cNvSpPr txBox="1"/>
          <p:nvPr/>
        </p:nvSpPr>
        <p:spPr>
          <a:xfrm>
            <a:off x="548640" y="1828800"/>
            <a:ext cx="1828800" cy="274320"/>
          </a:xfrm>
          <a:prstGeom prst="rect">
            <a:avLst/>
          </a:prstGeom>
          <a:noFill/>
        </p:spPr>
        <p:txBody>
          <a:bodyPr wrap="square">
            <a:spAutoFit/>
          </a:bodyPr>
          <a:lstStyle/>
          <a:p>
            <a:pPr algn="l">
              <a:defRPr sz="1100" b="1">
                <a:solidFill>
                  <a:srgbClr val="333333"/>
                </a:solidFill>
              </a:defRPr>
            </a:pPr>
            <a:r>
              <a:t>現場経費 vs 一般経費</a:t>
            </a:r>
          </a:p>
        </p:txBody>
      </p:sp>
      <p:sp>
        <p:nvSpPr>
          <p:cNvPr id="9" name="TextBox 8"/>
          <p:cNvSpPr txBox="1"/>
          <p:nvPr/>
        </p:nvSpPr>
        <p:spPr>
          <a:xfrm>
            <a:off x="548640" y="2028800"/>
            <a:ext cx="3657600" cy="274320"/>
          </a:xfrm>
          <a:prstGeom prst="rect">
            <a:avLst/>
          </a:prstGeom>
          <a:noFill/>
        </p:spPr>
        <p:txBody>
          <a:bodyPr wrap="square">
            <a:spAutoFit/>
          </a:bodyPr>
          <a:lstStyle/>
          <a:p>
            <a:pPr algn="l">
              <a:defRPr sz="900" b="0">
                <a:solidFill>
                  <a:srgbClr val="666666"/>
                </a:solidFill>
              </a:defRPr>
            </a:pPr>
            <a:r>
              <a:t>どこまでが現場の費用？</a:t>
            </a:r>
          </a:p>
        </p:txBody>
      </p:sp>
      <p:sp>
        <p:nvSpPr>
          <p:cNvPr id="10" name="TextBox 9"/>
          <p:cNvSpPr txBox="1"/>
          <p:nvPr/>
        </p:nvSpPr>
        <p:spPr>
          <a:xfrm>
            <a:off x="548640" y="2198800"/>
            <a:ext cx="3657600" cy="274320"/>
          </a:xfrm>
          <a:prstGeom prst="rect">
            <a:avLst/>
          </a:prstGeom>
          <a:noFill/>
        </p:spPr>
        <p:txBody>
          <a:bodyPr wrap="square">
            <a:spAutoFit/>
          </a:bodyPr>
          <a:lstStyle/>
          <a:p>
            <a:pPr algn="l">
              <a:defRPr sz="900" b="0">
                <a:solidFill>
                  <a:srgbClr val="666666"/>
                </a:solidFill>
              </a:defRPr>
            </a:pPr>
            <a:r>
              <a:t>分類基準が人によってバラバラ</a:t>
            </a:r>
          </a:p>
        </p:txBody>
      </p:sp>
      <p:sp>
        <p:nvSpPr>
          <p:cNvPr id="11" name="TextBox 10"/>
          <p:cNvSpPr txBox="1"/>
          <p:nvPr/>
        </p:nvSpPr>
        <p:spPr>
          <a:xfrm>
            <a:off x="548640" y="2743200"/>
            <a:ext cx="1828800" cy="274320"/>
          </a:xfrm>
          <a:prstGeom prst="rect">
            <a:avLst/>
          </a:prstGeom>
          <a:noFill/>
        </p:spPr>
        <p:txBody>
          <a:bodyPr wrap="square">
            <a:spAutoFit/>
          </a:bodyPr>
          <a:lstStyle/>
          <a:p>
            <a:pPr algn="l">
              <a:defRPr sz="1100" b="1">
                <a:solidFill>
                  <a:srgbClr val="333333"/>
                </a:solidFill>
              </a:defRPr>
            </a:pPr>
            <a:r>
              <a:t>立替・仮払い</a:t>
            </a:r>
          </a:p>
        </p:txBody>
      </p:sp>
      <p:sp>
        <p:nvSpPr>
          <p:cNvPr id="12" name="TextBox 11"/>
          <p:cNvSpPr txBox="1"/>
          <p:nvPr/>
        </p:nvSpPr>
        <p:spPr>
          <a:xfrm>
            <a:off x="548640" y="2943200"/>
            <a:ext cx="3657600" cy="274320"/>
          </a:xfrm>
          <a:prstGeom prst="rect">
            <a:avLst/>
          </a:prstGeom>
          <a:noFill/>
        </p:spPr>
        <p:txBody>
          <a:bodyPr wrap="square">
            <a:spAutoFit/>
          </a:bodyPr>
          <a:lstStyle/>
          <a:p>
            <a:pPr algn="l">
              <a:defRPr sz="900" b="0">
                <a:solidFill>
                  <a:srgbClr val="666666"/>
                </a:solidFill>
              </a:defRPr>
            </a:pPr>
            <a:r>
              <a:t>現場監督が自腹で立て替え</a:t>
            </a:r>
          </a:p>
        </p:txBody>
      </p:sp>
      <p:sp>
        <p:nvSpPr>
          <p:cNvPr id="13" name="TextBox 12"/>
          <p:cNvSpPr txBox="1"/>
          <p:nvPr/>
        </p:nvSpPr>
        <p:spPr>
          <a:xfrm>
            <a:off x="548640" y="3113200"/>
            <a:ext cx="3657600" cy="274320"/>
          </a:xfrm>
          <a:prstGeom prst="rect">
            <a:avLst/>
          </a:prstGeom>
          <a:noFill/>
        </p:spPr>
        <p:txBody>
          <a:bodyPr wrap="square">
            <a:spAutoFit/>
          </a:bodyPr>
          <a:lstStyle/>
          <a:p>
            <a:pPr algn="l">
              <a:defRPr sz="900" b="0">
                <a:solidFill>
                  <a:srgbClr val="666666"/>
                </a:solidFill>
              </a:defRPr>
            </a:pPr>
            <a:r>
              <a:t>精算が月末に集中してパンク</a:t>
            </a:r>
          </a:p>
        </p:txBody>
      </p:sp>
      <p:sp>
        <p:nvSpPr>
          <p:cNvPr id="14" name="TextBox 13"/>
          <p:cNvSpPr txBox="1"/>
          <p:nvPr/>
        </p:nvSpPr>
        <p:spPr>
          <a:xfrm>
            <a:off x="548640" y="3657600"/>
            <a:ext cx="1828800" cy="274320"/>
          </a:xfrm>
          <a:prstGeom prst="rect">
            <a:avLst/>
          </a:prstGeom>
          <a:noFill/>
        </p:spPr>
        <p:txBody>
          <a:bodyPr wrap="square">
            <a:spAutoFit/>
          </a:bodyPr>
          <a:lstStyle/>
          <a:p>
            <a:pPr algn="l">
              <a:defRPr sz="1100" b="1">
                <a:solidFill>
                  <a:srgbClr val="333333"/>
                </a:solidFill>
              </a:defRPr>
            </a:pPr>
            <a:r>
              <a:t>安全対策費</a:t>
            </a:r>
          </a:p>
        </p:txBody>
      </p:sp>
      <p:sp>
        <p:nvSpPr>
          <p:cNvPr id="15" name="TextBox 14"/>
          <p:cNvSpPr txBox="1"/>
          <p:nvPr/>
        </p:nvSpPr>
        <p:spPr>
          <a:xfrm>
            <a:off x="548640" y="3857600"/>
            <a:ext cx="3657600" cy="274320"/>
          </a:xfrm>
          <a:prstGeom prst="rect">
            <a:avLst/>
          </a:prstGeom>
          <a:noFill/>
        </p:spPr>
        <p:txBody>
          <a:bodyPr wrap="square">
            <a:spAutoFit/>
          </a:bodyPr>
          <a:lstStyle/>
          <a:p>
            <a:pPr algn="l">
              <a:defRPr sz="900" b="0">
                <a:solidFill>
                  <a:srgbClr val="666666"/>
                </a:solidFill>
              </a:defRPr>
            </a:pPr>
            <a:r>
              <a:t>安全大会・保護具・標識…</a:t>
            </a:r>
          </a:p>
        </p:txBody>
      </p:sp>
      <p:sp>
        <p:nvSpPr>
          <p:cNvPr id="16" name="TextBox 15"/>
          <p:cNvSpPr txBox="1"/>
          <p:nvPr/>
        </p:nvSpPr>
        <p:spPr>
          <a:xfrm>
            <a:off x="548640" y="4027600"/>
            <a:ext cx="3657600" cy="274320"/>
          </a:xfrm>
          <a:prstGeom prst="rect">
            <a:avLst/>
          </a:prstGeom>
          <a:noFill/>
        </p:spPr>
        <p:txBody>
          <a:bodyPr wrap="square">
            <a:spAutoFit/>
          </a:bodyPr>
          <a:lstStyle/>
          <a:p>
            <a:pPr algn="l">
              <a:defRPr sz="900" b="0">
                <a:solidFill>
                  <a:srgbClr val="666666"/>
                </a:solidFill>
              </a:defRPr>
            </a:pPr>
            <a:r>
              <a:t>工事原価に入れる？入れない？</a:t>
            </a:r>
          </a:p>
        </p:txBody>
      </p:sp>
      <p:sp>
        <p:nvSpPr>
          <p:cNvPr id="17" name="Rounded Rectangle 16"/>
          <p:cNvSpPr/>
          <p:nvPr/>
        </p:nvSpPr>
        <p:spPr>
          <a:xfrm>
            <a:off x="4754880" y="1371600"/>
            <a:ext cx="3931920" cy="301752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0" y="1463040"/>
            <a:ext cx="3657600" cy="274320"/>
          </a:xfrm>
          <a:prstGeom prst="rect">
            <a:avLst/>
          </a:prstGeom>
          <a:noFill/>
        </p:spPr>
        <p:txBody>
          <a:bodyPr wrap="square">
            <a:spAutoFit/>
          </a:bodyPr>
          <a:lstStyle/>
          <a:p>
            <a:pPr algn="l">
              <a:defRPr sz="1300" b="1">
                <a:solidFill>
                  <a:srgbClr val="27AE60"/>
                </a:solidFill>
              </a:defRPr>
            </a:pPr>
            <a:r>
              <a:t>標準化アプローチ</a:t>
            </a:r>
          </a:p>
        </p:txBody>
      </p:sp>
      <p:sp>
        <p:nvSpPr>
          <p:cNvPr id="19" name="Oval 18"/>
          <p:cNvSpPr/>
          <p:nvPr/>
        </p:nvSpPr>
        <p:spPr>
          <a:xfrm>
            <a:off x="4937760" y="1930240"/>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65192" y="1930240"/>
            <a:ext cx="228600" cy="228600"/>
          </a:xfrm>
          <a:prstGeom prst="rect">
            <a:avLst/>
          </a:prstGeom>
          <a:noFill/>
        </p:spPr>
        <p:txBody>
          <a:bodyPr wrap="square">
            <a:spAutoFit/>
          </a:bodyPr>
          <a:lstStyle/>
          <a:p>
            <a:pPr algn="ctr">
              <a:defRPr sz="900" b="1">
                <a:solidFill>
                  <a:srgbClr val="FFFFFF"/>
                </a:solidFill>
              </a:defRPr>
            </a:pPr>
            <a:r>
              <a:t>1</a:t>
            </a:r>
          </a:p>
        </p:txBody>
      </p:sp>
      <p:sp>
        <p:nvSpPr>
          <p:cNvPr id="21" name="TextBox 20"/>
          <p:cNvSpPr txBox="1"/>
          <p:nvPr/>
        </p:nvSpPr>
        <p:spPr>
          <a:xfrm>
            <a:off x="5303520" y="1920240"/>
            <a:ext cx="3200400" cy="274320"/>
          </a:xfrm>
          <a:prstGeom prst="rect">
            <a:avLst/>
          </a:prstGeom>
          <a:noFill/>
        </p:spPr>
        <p:txBody>
          <a:bodyPr wrap="square">
            <a:spAutoFit/>
          </a:bodyPr>
          <a:lstStyle/>
          <a:p>
            <a:pPr algn="l">
              <a:defRPr sz="1000" b="0">
                <a:solidFill>
                  <a:srgbClr val="333333"/>
                </a:solidFill>
              </a:defRPr>
            </a:pPr>
            <a:r>
              <a:t>経費分類マスタの標準化</a:t>
            </a:r>
          </a:p>
        </p:txBody>
      </p:sp>
      <p:sp>
        <p:nvSpPr>
          <p:cNvPr id="22" name="TextBox 21"/>
          <p:cNvSpPr txBox="1"/>
          <p:nvPr/>
        </p:nvSpPr>
        <p:spPr>
          <a:xfrm>
            <a:off x="5303520" y="2100240"/>
            <a:ext cx="3200400" cy="274320"/>
          </a:xfrm>
          <a:prstGeom prst="rect">
            <a:avLst/>
          </a:prstGeom>
          <a:noFill/>
        </p:spPr>
        <p:txBody>
          <a:bodyPr wrap="square">
            <a:spAutoFit/>
          </a:bodyPr>
          <a:lstStyle/>
          <a:p>
            <a:pPr algn="l">
              <a:defRPr sz="1000" b="0">
                <a:solidFill>
                  <a:srgbClr val="333333"/>
                </a:solidFill>
              </a:defRPr>
            </a:pPr>
            <a:r>
              <a:t>→ 業界共通の分類ルールを適用</a:t>
            </a:r>
          </a:p>
        </p:txBody>
      </p:sp>
      <p:sp>
        <p:nvSpPr>
          <p:cNvPr id="23" name="Oval 22"/>
          <p:cNvSpPr/>
          <p:nvPr/>
        </p:nvSpPr>
        <p:spPr>
          <a:xfrm>
            <a:off x="4937760" y="2844640"/>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5192" y="2844640"/>
            <a:ext cx="228600" cy="228600"/>
          </a:xfrm>
          <a:prstGeom prst="rect">
            <a:avLst/>
          </a:prstGeom>
          <a:noFill/>
        </p:spPr>
        <p:txBody>
          <a:bodyPr wrap="square">
            <a:spAutoFit/>
          </a:bodyPr>
          <a:lstStyle/>
          <a:p>
            <a:pPr algn="ctr">
              <a:defRPr sz="900" b="1">
                <a:solidFill>
                  <a:srgbClr val="FFFFFF"/>
                </a:solidFill>
              </a:defRPr>
            </a:pPr>
            <a:r>
              <a:t>2</a:t>
            </a:r>
          </a:p>
        </p:txBody>
      </p:sp>
      <p:sp>
        <p:nvSpPr>
          <p:cNvPr id="25" name="TextBox 24"/>
          <p:cNvSpPr txBox="1"/>
          <p:nvPr/>
        </p:nvSpPr>
        <p:spPr>
          <a:xfrm>
            <a:off x="5303520" y="2834640"/>
            <a:ext cx="3200400" cy="274320"/>
          </a:xfrm>
          <a:prstGeom prst="rect">
            <a:avLst/>
          </a:prstGeom>
          <a:noFill/>
        </p:spPr>
        <p:txBody>
          <a:bodyPr wrap="square">
            <a:spAutoFit/>
          </a:bodyPr>
          <a:lstStyle/>
          <a:p>
            <a:pPr algn="l">
              <a:defRPr sz="1000" b="0">
                <a:solidFill>
                  <a:srgbClr val="333333"/>
                </a:solidFill>
              </a:defRPr>
            </a:pPr>
            <a:r>
              <a:t>モバイルアプリで現場から即時申請</a:t>
            </a:r>
          </a:p>
        </p:txBody>
      </p:sp>
      <p:sp>
        <p:nvSpPr>
          <p:cNvPr id="26" name="TextBox 25"/>
          <p:cNvSpPr txBox="1"/>
          <p:nvPr/>
        </p:nvSpPr>
        <p:spPr>
          <a:xfrm>
            <a:off x="5303520" y="3014640"/>
            <a:ext cx="3200400" cy="274320"/>
          </a:xfrm>
          <a:prstGeom prst="rect">
            <a:avLst/>
          </a:prstGeom>
          <a:noFill/>
        </p:spPr>
        <p:txBody>
          <a:bodyPr wrap="square">
            <a:spAutoFit/>
          </a:bodyPr>
          <a:lstStyle/>
          <a:p>
            <a:pPr algn="l">
              <a:defRPr sz="1000" b="0">
                <a:solidFill>
                  <a:srgbClr val="333333"/>
                </a:solidFill>
              </a:defRPr>
            </a:pPr>
            <a:r>
              <a:t>→ 写真・GPS情報を自動付与</a:t>
            </a:r>
          </a:p>
        </p:txBody>
      </p:sp>
      <p:sp>
        <p:nvSpPr>
          <p:cNvPr id="27" name="Oval 26"/>
          <p:cNvSpPr/>
          <p:nvPr/>
        </p:nvSpPr>
        <p:spPr>
          <a:xfrm>
            <a:off x="4937760" y="3759040"/>
            <a:ext cx="228600" cy="2286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65192" y="3759040"/>
            <a:ext cx="228600" cy="228600"/>
          </a:xfrm>
          <a:prstGeom prst="rect">
            <a:avLst/>
          </a:prstGeom>
          <a:noFill/>
        </p:spPr>
        <p:txBody>
          <a:bodyPr wrap="square">
            <a:spAutoFit/>
          </a:bodyPr>
          <a:lstStyle/>
          <a:p>
            <a:pPr algn="ctr">
              <a:defRPr sz="900" b="1">
                <a:solidFill>
                  <a:srgbClr val="FFFFFF"/>
                </a:solidFill>
              </a:defRPr>
            </a:pPr>
            <a:r>
              <a:t>3</a:t>
            </a:r>
          </a:p>
        </p:txBody>
      </p:sp>
      <p:sp>
        <p:nvSpPr>
          <p:cNvPr id="29" name="TextBox 28"/>
          <p:cNvSpPr txBox="1"/>
          <p:nvPr/>
        </p:nvSpPr>
        <p:spPr>
          <a:xfrm>
            <a:off x="5303520" y="3749040"/>
            <a:ext cx="3200400" cy="274320"/>
          </a:xfrm>
          <a:prstGeom prst="rect">
            <a:avLst/>
          </a:prstGeom>
          <a:noFill/>
        </p:spPr>
        <p:txBody>
          <a:bodyPr wrap="square">
            <a:spAutoFit/>
          </a:bodyPr>
          <a:lstStyle/>
          <a:p>
            <a:pPr algn="l">
              <a:defRPr sz="1000" b="0">
                <a:solidFill>
                  <a:srgbClr val="333333"/>
                </a:solidFill>
              </a:defRPr>
            </a:pPr>
            <a:r>
              <a:t>工事別・費目別の自動配賦</a:t>
            </a:r>
          </a:p>
        </p:txBody>
      </p:sp>
      <p:sp>
        <p:nvSpPr>
          <p:cNvPr id="30" name="TextBox 29"/>
          <p:cNvSpPr txBox="1"/>
          <p:nvPr/>
        </p:nvSpPr>
        <p:spPr>
          <a:xfrm>
            <a:off x="5303520" y="3929040"/>
            <a:ext cx="3200400" cy="274320"/>
          </a:xfrm>
          <a:prstGeom prst="rect">
            <a:avLst/>
          </a:prstGeom>
          <a:noFill/>
        </p:spPr>
        <p:txBody>
          <a:bodyPr wrap="square">
            <a:spAutoFit/>
          </a:bodyPr>
          <a:lstStyle/>
          <a:p>
            <a:pPr algn="l">
              <a:defRPr sz="1000" b="0">
                <a:solidFill>
                  <a:srgbClr val="333333"/>
                </a:solidFill>
              </a:defRPr>
            </a:pPr>
            <a:r>
              <a:t>→ 設定ベースで柔軟に対応</a:t>
            </a:r>
          </a:p>
        </p:txBody>
      </p:sp>
      <p:sp>
        <p:nvSpPr>
          <p:cNvPr id="31" name="TextBox 30"/>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2" name="TextBox 31"/>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8</a:t>
            </a:r>
          </a:p>
        </p:txBody>
      </p:sp>
      <p:sp>
        <p:nvSpPr>
          <p:cNvPr id="33" name="Rectangle 3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第4章 購買・在庫管理</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現場起点で効率化する資材・重機・仮設材管理</a:t>
            </a:r>
          </a:p>
        </p:txBody>
      </p:sp>
      <p:sp>
        <p:nvSpPr>
          <p:cNvPr id="6" name="Rounded Rectangle 5"/>
          <p:cNvSpPr/>
          <p:nvPr/>
        </p:nvSpPr>
        <p:spPr>
          <a:xfrm>
            <a:off x="182880" y="1280160"/>
            <a:ext cx="1371600" cy="82296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2880" y="1325880"/>
            <a:ext cx="1280160" cy="274320"/>
          </a:xfrm>
          <a:prstGeom prst="rect">
            <a:avLst/>
          </a:prstGeom>
          <a:noFill/>
        </p:spPr>
        <p:txBody>
          <a:bodyPr wrap="square">
            <a:spAutoFit/>
          </a:bodyPr>
          <a:lstStyle/>
          <a:p>
            <a:pPr algn="ctr">
              <a:defRPr sz="1100" b="1">
                <a:solidFill>
                  <a:srgbClr val="FFFFFF"/>
                </a:solidFill>
              </a:defRPr>
            </a:pPr>
            <a:r>
              <a:t>現場で</a:t>
            </a:r>
          </a:p>
        </p:txBody>
      </p:sp>
      <p:sp>
        <p:nvSpPr>
          <p:cNvPr id="8" name="TextBox 7"/>
          <p:cNvSpPr txBox="1"/>
          <p:nvPr/>
        </p:nvSpPr>
        <p:spPr>
          <a:xfrm>
            <a:off x="202880" y="1525880"/>
            <a:ext cx="1280160" cy="274320"/>
          </a:xfrm>
          <a:prstGeom prst="rect">
            <a:avLst/>
          </a:prstGeom>
          <a:noFill/>
        </p:spPr>
        <p:txBody>
          <a:bodyPr wrap="square">
            <a:spAutoFit/>
          </a:bodyPr>
          <a:lstStyle/>
          <a:p>
            <a:pPr algn="ctr">
              <a:defRPr sz="1100" b="1">
                <a:solidFill>
                  <a:srgbClr val="FFFFFF"/>
                </a:solidFill>
              </a:defRPr>
            </a:pPr>
            <a:r>
              <a:t>資材が必要</a:t>
            </a:r>
          </a:p>
        </p:txBody>
      </p:sp>
      <p:sp>
        <p:nvSpPr>
          <p:cNvPr id="9" name="Right Arrow 8"/>
          <p:cNvSpPr/>
          <p:nvPr/>
        </p:nvSpPr>
        <p:spPr>
          <a:xfrm>
            <a:off x="1554480" y="1554480"/>
            <a:ext cx="45720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0240" y="1280160"/>
            <a:ext cx="1371600" cy="822960"/>
          </a:xfrm>
          <a:prstGeom prst="roundRect">
            <a:avLst/>
          </a:prstGeom>
          <a:solidFill>
            <a:srgbClr val="FFE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0240" y="1325880"/>
            <a:ext cx="1280160" cy="274320"/>
          </a:xfrm>
          <a:prstGeom prst="rect">
            <a:avLst/>
          </a:prstGeom>
          <a:noFill/>
        </p:spPr>
        <p:txBody>
          <a:bodyPr wrap="square">
            <a:spAutoFit/>
          </a:bodyPr>
          <a:lstStyle/>
          <a:p>
            <a:pPr algn="ctr">
              <a:defRPr sz="1100" b="0">
                <a:solidFill>
                  <a:srgbClr val="333333"/>
                </a:solidFill>
              </a:defRPr>
            </a:pPr>
            <a:r>
              <a:t>現場直送</a:t>
            </a:r>
          </a:p>
        </p:txBody>
      </p:sp>
      <p:sp>
        <p:nvSpPr>
          <p:cNvPr id="12" name="TextBox 11"/>
          <p:cNvSpPr txBox="1"/>
          <p:nvPr/>
        </p:nvSpPr>
        <p:spPr>
          <a:xfrm>
            <a:off x="1940240" y="1525880"/>
            <a:ext cx="1280160" cy="274320"/>
          </a:xfrm>
          <a:prstGeom prst="rect">
            <a:avLst/>
          </a:prstGeom>
          <a:noFill/>
        </p:spPr>
        <p:txBody>
          <a:bodyPr wrap="square">
            <a:spAutoFit/>
          </a:bodyPr>
          <a:lstStyle/>
          <a:p>
            <a:pPr algn="ctr">
              <a:defRPr sz="1100" b="0">
                <a:solidFill>
                  <a:srgbClr val="333333"/>
                </a:solidFill>
              </a:defRPr>
            </a:pPr>
            <a:r>
              <a:t>都度購入</a:t>
            </a:r>
          </a:p>
        </p:txBody>
      </p:sp>
      <p:sp>
        <p:nvSpPr>
          <p:cNvPr id="13" name="Right Arrow 12"/>
          <p:cNvSpPr/>
          <p:nvPr/>
        </p:nvSpPr>
        <p:spPr>
          <a:xfrm>
            <a:off x="3291840" y="1554480"/>
            <a:ext cx="45720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0" y="1280160"/>
            <a:ext cx="1371600" cy="822960"/>
          </a:xfrm>
          <a:prstGeom prst="roundRect">
            <a:avLst/>
          </a:prstGeom>
          <a:solidFill>
            <a:srgbClr val="FFE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7600" y="1325880"/>
            <a:ext cx="1280160" cy="274320"/>
          </a:xfrm>
          <a:prstGeom prst="rect">
            <a:avLst/>
          </a:prstGeom>
          <a:noFill/>
        </p:spPr>
        <p:txBody>
          <a:bodyPr wrap="square">
            <a:spAutoFit/>
          </a:bodyPr>
          <a:lstStyle/>
          <a:p>
            <a:pPr algn="ctr">
              <a:defRPr sz="1100" b="0">
                <a:solidFill>
                  <a:srgbClr val="333333"/>
                </a:solidFill>
              </a:defRPr>
            </a:pPr>
            <a:r>
              <a:t>発注・</a:t>
            </a:r>
          </a:p>
        </p:txBody>
      </p:sp>
      <p:sp>
        <p:nvSpPr>
          <p:cNvPr id="16" name="TextBox 15"/>
          <p:cNvSpPr txBox="1"/>
          <p:nvPr/>
        </p:nvSpPr>
        <p:spPr>
          <a:xfrm>
            <a:off x="3677600" y="1525880"/>
            <a:ext cx="1280160" cy="274320"/>
          </a:xfrm>
          <a:prstGeom prst="rect">
            <a:avLst/>
          </a:prstGeom>
          <a:noFill/>
        </p:spPr>
        <p:txBody>
          <a:bodyPr wrap="square">
            <a:spAutoFit/>
          </a:bodyPr>
          <a:lstStyle/>
          <a:p>
            <a:pPr algn="ctr">
              <a:defRPr sz="1100" b="0">
                <a:solidFill>
                  <a:srgbClr val="333333"/>
                </a:solidFill>
              </a:defRPr>
            </a:pPr>
            <a:r>
              <a:t>検収処理</a:t>
            </a:r>
          </a:p>
        </p:txBody>
      </p:sp>
      <p:sp>
        <p:nvSpPr>
          <p:cNvPr id="17" name="Right Arrow 16"/>
          <p:cNvSpPr/>
          <p:nvPr/>
        </p:nvSpPr>
        <p:spPr>
          <a:xfrm>
            <a:off x="5029200" y="1554480"/>
            <a:ext cx="45720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94960" y="1280160"/>
            <a:ext cx="1371600" cy="822960"/>
          </a:xfrm>
          <a:prstGeom prst="roundRect">
            <a:avLst/>
          </a:prstGeom>
          <a:solidFill>
            <a:srgbClr val="FFE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14960" y="1325880"/>
            <a:ext cx="1280160" cy="274320"/>
          </a:xfrm>
          <a:prstGeom prst="rect">
            <a:avLst/>
          </a:prstGeom>
          <a:noFill/>
        </p:spPr>
        <p:txBody>
          <a:bodyPr wrap="square">
            <a:spAutoFit/>
          </a:bodyPr>
          <a:lstStyle/>
          <a:p>
            <a:pPr algn="ctr">
              <a:defRPr sz="1100" b="0">
                <a:solidFill>
                  <a:srgbClr val="333333"/>
                </a:solidFill>
              </a:defRPr>
            </a:pPr>
            <a:r>
              <a:t>在庫管理</a:t>
            </a:r>
          </a:p>
        </p:txBody>
      </p:sp>
      <p:sp>
        <p:nvSpPr>
          <p:cNvPr id="20" name="TextBox 19"/>
          <p:cNvSpPr txBox="1"/>
          <p:nvPr/>
        </p:nvSpPr>
        <p:spPr>
          <a:xfrm>
            <a:off x="5414960" y="1525880"/>
            <a:ext cx="1280160" cy="274320"/>
          </a:xfrm>
          <a:prstGeom prst="rect">
            <a:avLst/>
          </a:prstGeom>
          <a:noFill/>
        </p:spPr>
        <p:txBody>
          <a:bodyPr wrap="square">
            <a:spAutoFit/>
          </a:bodyPr>
          <a:lstStyle/>
          <a:p>
            <a:pPr algn="ctr">
              <a:defRPr sz="1100" b="0">
                <a:solidFill>
                  <a:srgbClr val="333333"/>
                </a:solidFill>
              </a:defRPr>
            </a:pPr>
            <a:r>
              <a:t>不要?</a:t>
            </a:r>
          </a:p>
        </p:txBody>
      </p:sp>
      <p:sp>
        <p:nvSpPr>
          <p:cNvPr id="21" name="Right Arrow 20"/>
          <p:cNvSpPr/>
          <p:nvPr/>
        </p:nvSpPr>
        <p:spPr>
          <a:xfrm>
            <a:off x="6766560" y="1554480"/>
            <a:ext cx="45720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280160"/>
            <a:ext cx="1371600" cy="822960"/>
          </a:xfrm>
          <a:prstGeom prst="roundRect">
            <a:avLst/>
          </a:prstGeom>
          <a:solidFill>
            <a:srgbClr val="FFE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2320" y="1325880"/>
            <a:ext cx="1280160" cy="274320"/>
          </a:xfrm>
          <a:prstGeom prst="rect">
            <a:avLst/>
          </a:prstGeom>
          <a:noFill/>
        </p:spPr>
        <p:txBody>
          <a:bodyPr wrap="square">
            <a:spAutoFit/>
          </a:bodyPr>
          <a:lstStyle/>
          <a:p>
            <a:pPr algn="ctr">
              <a:defRPr sz="1100" b="0">
                <a:solidFill>
                  <a:srgbClr val="333333"/>
                </a:solidFill>
              </a:defRPr>
            </a:pPr>
            <a:r>
              <a:t>原価</a:t>
            </a:r>
          </a:p>
        </p:txBody>
      </p:sp>
      <p:sp>
        <p:nvSpPr>
          <p:cNvPr id="24" name="TextBox 23"/>
          <p:cNvSpPr txBox="1"/>
          <p:nvPr/>
        </p:nvSpPr>
        <p:spPr>
          <a:xfrm>
            <a:off x="7152320" y="1525880"/>
            <a:ext cx="1280160" cy="274320"/>
          </a:xfrm>
          <a:prstGeom prst="rect">
            <a:avLst/>
          </a:prstGeom>
          <a:noFill/>
        </p:spPr>
        <p:txBody>
          <a:bodyPr wrap="square">
            <a:spAutoFit/>
          </a:bodyPr>
          <a:lstStyle/>
          <a:p>
            <a:pPr algn="ctr">
              <a:defRPr sz="1100" b="0">
                <a:solidFill>
                  <a:srgbClr val="333333"/>
                </a:solidFill>
              </a:defRPr>
            </a:pPr>
            <a:r>
              <a:t>計上</a:t>
            </a:r>
          </a:p>
        </p:txBody>
      </p:sp>
      <p:sp>
        <p:nvSpPr>
          <p:cNvPr id="25" name="Rounded Rectangle 24"/>
          <p:cNvSpPr/>
          <p:nvPr/>
        </p:nvSpPr>
        <p:spPr>
          <a:xfrm>
            <a:off x="274320" y="2377440"/>
            <a:ext cx="4114800" cy="20116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468880"/>
            <a:ext cx="3657600" cy="274320"/>
          </a:xfrm>
          <a:prstGeom prst="rect">
            <a:avLst/>
          </a:prstGeom>
          <a:noFill/>
        </p:spPr>
        <p:txBody>
          <a:bodyPr wrap="square">
            <a:spAutoFit/>
          </a:bodyPr>
          <a:lstStyle/>
          <a:p>
            <a:pPr algn="l">
              <a:defRPr sz="1200" b="1">
                <a:solidFill>
                  <a:srgbClr val="E67E22"/>
                </a:solidFill>
              </a:defRPr>
            </a:pPr>
            <a:r>
              <a:t>現場直送・都度購入の課題</a:t>
            </a:r>
          </a:p>
        </p:txBody>
      </p:sp>
      <p:sp>
        <p:nvSpPr>
          <p:cNvPr id="27" name="TextBox 26"/>
          <p:cNvSpPr txBox="1"/>
          <p:nvPr/>
        </p:nvSpPr>
        <p:spPr>
          <a:xfrm>
            <a:off x="457200" y="2834640"/>
            <a:ext cx="3657600" cy="1371600"/>
          </a:xfrm>
          <a:prstGeom prst="rect">
            <a:avLst/>
          </a:prstGeom>
          <a:noFill/>
        </p:spPr>
        <p:txBody>
          <a:bodyPr wrap="square">
            <a:spAutoFit/>
          </a:bodyPr>
          <a:lstStyle/>
          <a:p>
            <a:pPr algn="l">
              <a:defRPr sz="1000" b="0">
                <a:solidFill>
                  <a:srgbClr val="666666"/>
                </a:solidFill>
              </a:defRPr>
            </a:pPr>
            <a:r>
              <a:t>「倉庫を通さず現場に直送するから、</a:t>
            </a:r>
          </a:p>
          <a:p>
            <a:pPr algn="l">
              <a:defRPr sz="1000" b="0">
                <a:solidFill>
                  <a:srgbClr val="666666"/>
                </a:solidFill>
              </a:defRPr>
            </a:pPr>
            <a:r>
              <a:t>  在庫管理の概念が当てはまらない」</a:t>
            </a:r>
          </a:p>
          <a:p>
            <a:pPr algn="l">
              <a:defRPr sz="800" b="0">
                <a:solidFill>
                  <a:srgbClr val="333333"/>
                </a:solidFill>
              </a:defRPr>
            </a:pPr>
          </a:p>
          <a:p>
            <a:pPr algn="l">
              <a:defRPr sz="1000" b="0">
                <a:solidFill>
                  <a:srgbClr val="666666"/>
                </a:solidFill>
              </a:defRPr>
            </a:pPr>
            <a:r>
              <a:t>「現場で急に必要になった資材を</a:t>
            </a:r>
          </a:p>
          <a:p>
            <a:pPr algn="l">
              <a:defRPr sz="1000" b="0">
                <a:solidFill>
                  <a:srgbClr val="666666"/>
                </a:solidFill>
              </a:defRPr>
            </a:pPr>
            <a:r>
              <a:t>  その場で発注できないと困る」</a:t>
            </a:r>
          </a:p>
          <a:p>
            <a:pPr algn="l">
              <a:defRPr sz="800" b="0">
                <a:solidFill>
                  <a:srgbClr val="333333"/>
                </a:solidFill>
              </a:defRPr>
            </a:pPr>
          </a:p>
          <a:p>
            <a:pPr algn="l">
              <a:defRPr sz="1000" b="1">
                <a:solidFill>
                  <a:srgbClr val="E67E22"/>
                </a:solidFill>
              </a:defRPr>
            </a:pPr>
            <a:r>
              <a:t>→ 発注=検収=原価計上の一気通貫処理が必要</a:t>
            </a:r>
          </a:p>
        </p:txBody>
      </p:sp>
      <p:sp>
        <p:nvSpPr>
          <p:cNvPr id="28" name="Rounded Rectangle 27"/>
          <p:cNvSpPr/>
          <p:nvPr/>
        </p:nvSpPr>
        <p:spPr>
          <a:xfrm>
            <a:off x="4754880" y="2377440"/>
            <a:ext cx="3931920" cy="20116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0" y="2468880"/>
            <a:ext cx="3657600" cy="274320"/>
          </a:xfrm>
          <a:prstGeom prst="rect">
            <a:avLst/>
          </a:prstGeom>
          <a:noFill/>
        </p:spPr>
        <p:txBody>
          <a:bodyPr wrap="square">
            <a:spAutoFit/>
          </a:bodyPr>
          <a:lstStyle/>
          <a:p>
            <a:pPr algn="l">
              <a:defRPr sz="1200" b="1">
                <a:solidFill>
                  <a:srgbClr val="2C7AB0"/>
                </a:solidFill>
              </a:defRPr>
            </a:pPr>
            <a:r>
              <a:t>レンタル・仮設材の課題</a:t>
            </a:r>
          </a:p>
        </p:txBody>
      </p:sp>
      <p:sp>
        <p:nvSpPr>
          <p:cNvPr id="30" name="TextBox 29"/>
          <p:cNvSpPr txBox="1"/>
          <p:nvPr/>
        </p:nvSpPr>
        <p:spPr>
          <a:xfrm>
            <a:off x="4937760" y="2834640"/>
            <a:ext cx="3657600" cy="1371600"/>
          </a:xfrm>
          <a:prstGeom prst="rect">
            <a:avLst/>
          </a:prstGeom>
          <a:noFill/>
        </p:spPr>
        <p:txBody>
          <a:bodyPr wrap="square">
            <a:spAutoFit/>
          </a:bodyPr>
          <a:lstStyle/>
          <a:p>
            <a:pPr algn="l">
              <a:defRPr sz="1000" b="0">
                <a:solidFill>
                  <a:srgbClr val="666666"/>
                </a:solidFill>
              </a:defRPr>
            </a:pPr>
            <a:r>
              <a:t>「重機レンタルの日割り計算が複雑」</a:t>
            </a:r>
          </a:p>
          <a:p>
            <a:pPr algn="l">
              <a:defRPr sz="1000" b="0">
                <a:solidFill>
                  <a:srgbClr val="666666"/>
                </a:solidFill>
              </a:defRPr>
            </a:pPr>
            <a:r>
              <a:t>「仮設材を他の現場に転用したい」</a:t>
            </a:r>
          </a:p>
          <a:p>
            <a:pPr algn="l">
              <a:defRPr sz="800" b="0">
                <a:solidFill>
                  <a:srgbClr val="333333"/>
                </a:solidFill>
              </a:defRPr>
            </a:pPr>
          </a:p>
          <a:p>
            <a:pPr algn="l">
              <a:defRPr sz="1000" b="1">
                <a:solidFill>
                  <a:srgbClr val="2C7AB0"/>
                </a:solidFill>
              </a:defRPr>
            </a:pPr>
            <a:r>
              <a:t>→ レンタル期間の自動計算テンプレート</a:t>
            </a:r>
          </a:p>
          <a:p>
            <a:pPr algn="l">
              <a:defRPr sz="1000" b="1">
                <a:solidFill>
                  <a:srgbClr val="2C7AB0"/>
                </a:solidFill>
              </a:defRPr>
            </a:pPr>
            <a:r>
              <a:t>→ 仮設材の現場間移動トラッキング機能</a:t>
            </a:r>
          </a:p>
          <a:p>
            <a:pPr algn="l">
              <a:defRPr sz="1000" b="1">
                <a:solidFill>
                  <a:srgbClr val="2C7AB0"/>
                </a:solidFill>
              </a:defRPr>
            </a:pPr>
            <a:r>
              <a:t>→ 月額・日額の自動按分処理</a:t>
            </a:r>
          </a:p>
        </p:txBody>
      </p:sp>
      <p:sp>
        <p:nvSpPr>
          <p:cNvPr id="31" name="TextBox 30"/>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2" name="TextBox 31"/>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9</a:t>
            </a:r>
          </a:p>
        </p:txBody>
      </p:sp>
      <p:sp>
        <p:nvSpPr>
          <p:cNvPr id="33" name="Rectangle 3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第5章 ワークフロー・承認プロセス</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柔軟性と統制を両立させる電子化</a:t>
            </a:r>
          </a:p>
        </p:txBody>
      </p:sp>
      <p:sp>
        <p:nvSpPr>
          <p:cNvPr id="6" name="TextBox 5"/>
          <p:cNvSpPr txBox="1"/>
          <p:nvPr/>
        </p:nvSpPr>
        <p:spPr>
          <a:xfrm>
            <a:off x="457200" y="1371600"/>
            <a:ext cx="2743200" cy="274320"/>
          </a:xfrm>
          <a:prstGeom prst="rect">
            <a:avLst/>
          </a:prstGeom>
          <a:noFill/>
        </p:spPr>
        <p:txBody>
          <a:bodyPr wrap="square">
            <a:spAutoFit/>
          </a:bodyPr>
          <a:lstStyle/>
          <a:p>
            <a:pPr algn="l">
              <a:defRPr sz="1200" b="1">
                <a:solidFill>
                  <a:srgbClr val="8E44AD"/>
                </a:solidFill>
              </a:defRPr>
            </a:pPr>
            <a:r>
              <a:t>建設業の承認フロー例</a:t>
            </a:r>
          </a:p>
        </p:txBody>
      </p:sp>
      <p:sp>
        <p:nvSpPr>
          <p:cNvPr id="7" name="Chevron 6"/>
          <p:cNvSpPr/>
          <p:nvPr/>
        </p:nvSpPr>
        <p:spPr>
          <a:xfrm>
            <a:off x="274320" y="1828800"/>
            <a:ext cx="1280160" cy="548640"/>
          </a:xfrm>
          <a:prstGeom prst="chevron">
            <a:avLst/>
          </a:prstGeom>
          <a:solidFill>
            <a:srgbClr val="E8D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4320" y="1874519"/>
            <a:ext cx="914400" cy="457200"/>
          </a:xfrm>
          <a:prstGeom prst="rect">
            <a:avLst/>
          </a:prstGeom>
          <a:noFill/>
        </p:spPr>
        <p:txBody>
          <a:bodyPr wrap="square">
            <a:spAutoFit/>
          </a:bodyPr>
          <a:lstStyle/>
          <a:p>
            <a:pPr algn="ctr">
              <a:defRPr sz="1000" b="1">
                <a:solidFill>
                  <a:srgbClr val="333333"/>
                </a:solidFill>
              </a:defRPr>
            </a:pPr>
            <a:r>
              <a:t>現場担当</a:t>
            </a:r>
          </a:p>
        </p:txBody>
      </p:sp>
      <p:sp>
        <p:nvSpPr>
          <p:cNvPr id="9" name="Chevron 8"/>
          <p:cNvSpPr/>
          <p:nvPr/>
        </p:nvSpPr>
        <p:spPr>
          <a:xfrm>
            <a:off x="1645920" y="1828800"/>
            <a:ext cx="1280160" cy="548640"/>
          </a:xfrm>
          <a:prstGeom prst="chevron">
            <a:avLst/>
          </a:prstGeom>
          <a:solidFill>
            <a:srgbClr val="D5C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45920" y="1874519"/>
            <a:ext cx="914400" cy="457200"/>
          </a:xfrm>
          <a:prstGeom prst="rect">
            <a:avLst/>
          </a:prstGeom>
          <a:noFill/>
        </p:spPr>
        <p:txBody>
          <a:bodyPr wrap="square">
            <a:spAutoFit/>
          </a:bodyPr>
          <a:lstStyle/>
          <a:p>
            <a:pPr algn="ctr">
              <a:defRPr sz="1000" b="1">
                <a:solidFill>
                  <a:srgbClr val="333333"/>
                </a:solidFill>
              </a:defRPr>
            </a:pPr>
            <a:r>
              <a:t>現場所長</a:t>
            </a:r>
          </a:p>
        </p:txBody>
      </p:sp>
      <p:sp>
        <p:nvSpPr>
          <p:cNvPr id="11" name="Chevron 10"/>
          <p:cNvSpPr/>
          <p:nvPr/>
        </p:nvSpPr>
        <p:spPr>
          <a:xfrm>
            <a:off x="3017520" y="1828800"/>
            <a:ext cx="1280160" cy="548640"/>
          </a:xfrm>
          <a:prstGeom prst="chevron">
            <a:avLst/>
          </a:prstGeom>
          <a:solidFill>
            <a:srgbClr val="C0A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17520" y="1874519"/>
            <a:ext cx="914400" cy="457200"/>
          </a:xfrm>
          <a:prstGeom prst="rect">
            <a:avLst/>
          </a:prstGeom>
          <a:noFill/>
        </p:spPr>
        <p:txBody>
          <a:bodyPr wrap="square">
            <a:spAutoFit/>
          </a:bodyPr>
          <a:lstStyle/>
          <a:p>
            <a:pPr algn="ctr">
              <a:defRPr sz="1000" b="1">
                <a:solidFill>
                  <a:srgbClr val="333333"/>
                </a:solidFill>
              </a:defRPr>
            </a:pPr>
            <a:r>
              <a:t>部門長</a:t>
            </a:r>
          </a:p>
        </p:txBody>
      </p:sp>
      <p:sp>
        <p:nvSpPr>
          <p:cNvPr id="13" name="Chevron 12"/>
          <p:cNvSpPr/>
          <p:nvPr/>
        </p:nvSpPr>
        <p:spPr>
          <a:xfrm>
            <a:off x="4389120" y="1828800"/>
            <a:ext cx="1280160" cy="548640"/>
          </a:xfrm>
          <a:prstGeom prst="chevron">
            <a:avLst/>
          </a:prstGeom>
          <a:solidFill>
            <a:srgbClr val="AA9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9120" y="1874519"/>
            <a:ext cx="914400" cy="457200"/>
          </a:xfrm>
          <a:prstGeom prst="rect">
            <a:avLst/>
          </a:prstGeom>
          <a:noFill/>
        </p:spPr>
        <p:txBody>
          <a:bodyPr wrap="square">
            <a:spAutoFit/>
          </a:bodyPr>
          <a:lstStyle/>
          <a:p>
            <a:pPr algn="ctr">
              <a:defRPr sz="1000" b="1">
                <a:solidFill>
                  <a:srgbClr val="333333"/>
                </a:solidFill>
              </a:defRPr>
            </a:pPr>
            <a:r>
              <a:t>経理部</a:t>
            </a:r>
          </a:p>
        </p:txBody>
      </p:sp>
      <p:sp>
        <p:nvSpPr>
          <p:cNvPr id="15" name="Chevron 14"/>
          <p:cNvSpPr/>
          <p:nvPr/>
        </p:nvSpPr>
        <p:spPr>
          <a:xfrm>
            <a:off x="5760720" y="1828800"/>
            <a:ext cx="1280160" cy="548640"/>
          </a:xfrm>
          <a:prstGeom prst="chevron">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60720" y="1874519"/>
            <a:ext cx="914400" cy="457200"/>
          </a:xfrm>
          <a:prstGeom prst="rect">
            <a:avLst/>
          </a:prstGeom>
          <a:noFill/>
        </p:spPr>
        <p:txBody>
          <a:bodyPr wrap="square">
            <a:spAutoFit/>
          </a:bodyPr>
          <a:lstStyle/>
          <a:p>
            <a:pPr algn="ctr">
              <a:defRPr sz="1000" b="1">
                <a:solidFill>
                  <a:srgbClr val="FFFFFF"/>
                </a:solidFill>
              </a:defRPr>
            </a:pPr>
            <a:r>
              <a:t>社長</a:t>
            </a:r>
          </a:p>
        </p:txBody>
      </p:sp>
      <p:sp>
        <p:nvSpPr>
          <p:cNvPr id="17" name="TextBox 16"/>
          <p:cNvSpPr txBox="1"/>
          <p:nvPr/>
        </p:nvSpPr>
        <p:spPr>
          <a:xfrm>
            <a:off x="7315200" y="1874519"/>
            <a:ext cx="1371600" cy="457200"/>
          </a:xfrm>
          <a:prstGeom prst="rect">
            <a:avLst/>
          </a:prstGeom>
          <a:noFill/>
        </p:spPr>
        <p:txBody>
          <a:bodyPr wrap="square">
            <a:spAutoFit/>
          </a:bodyPr>
          <a:lstStyle/>
          <a:p>
            <a:pPr algn="l">
              <a:defRPr sz="1000" b="1">
                <a:solidFill>
                  <a:srgbClr val="C0392B"/>
                </a:solidFill>
              </a:defRPr>
            </a:pPr>
            <a:r>
              <a:t>金額に応じて</a:t>
            </a:r>
            <a:br/>
            <a:r>
              <a:t>ルート変更!</a:t>
            </a:r>
          </a:p>
        </p:txBody>
      </p:sp>
      <p:graphicFrame>
        <p:nvGraphicFramePr>
          <p:cNvPr id="18" name="Table 17"/>
          <p:cNvGraphicFramePr>
            <a:graphicFrameLocks noGrp="1"/>
          </p:cNvGraphicFramePr>
          <p:nvPr/>
        </p:nvGraphicFramePr>
        <p:xfrm>
          <a:off x="274320" y="2651760"/>
          <a:ext cx="8412480" cy="1828800"/>
        </p:xfrm>
        <a:graphic>
          <a:graphicData uri="http://schemas.openxmlformats.org/drawingml/2006/table">
            <a:tbl>
              <a:tblPr firstRow="1" bandRow="1">
                <a:tableStyleId>{5C22544A-7EE6-4342-B048-85BDC9FD1C3A}</a:tableStyleId>
              </a:tblPr>
              <a:tblGrid>
                <a:gridCol w="4206240"/>
                <a:gridCol w="4206240"/>
              </a:tblGrid>
              <a:tr h="365760">
                <a:tc>
                  <a:txBody>
                    <a:bodyPr/>
                    <a:lstStyle/>
                    <a:p>
                      <a:pPr algn="ctr">
                        <a:defRPr sz="1000" b="1">
                          <a:solidFill>
                            <a:srgbClr val="FFFFFF"/>
                          </a:solidFill>
                        </a:defRPr>
                      </a:pPr>
                      <a:r>
                        <a:t>よくある課題</a:t>
                      </a:r>
                    </a:p>
                  </a:txBody>
                  <a:tcPr anchor="ctr">
                    <a:solidFill>
                      <a:srgbClr val="8B7536"/>
                    </a:solidFill>
                  </a:tcPr>
                </a:tc>
                <a:tc>
                  <a:txBody>
                    <a:bodyPr/>
                    <a:lstStyle/>
                    <a:p>
                      <a:pPr algn="ctr">
                        <a:defRPr sz="1000" b="1">
                          <a:solidFill>
                            <a:srgbClr val="FFFFFF"/>
                          </a:solidFill>
                        </a:defRPr>
                      </a:pPr>
                      <a:r>
                        <a:t>標準化の方向性</a:t>
                      </a:r>
                    </a:p>
                  </a:txBody>
                  <a:tcPr anchor="ctr">
                    <a:solidFill>
                      <a:srgbClr val="8B7536"/>
                    </a:solidFill>
                  </a:tcPr>
                </a:tc>
              </a:tr>
              <a:tr h="365760">
                <a:tc>
                  <a:txBody>
                    <a:bodyPr/>
                    <a:lstStyle/>
                    <a:p>
                      <a:pPr>
                        <a:defRPr sz="1000">
                          <a:solidFill>
                            <a:srgbClr val="333333"/>
                          </a:solidFill>
                        </a:defRPr>
                      </a:pPr>
                      <a:r>
                        <a:t>金額・工種で承認ルートが変わる</a:t>
                      </a:r>
                    </a:p>
                  </a:txBody>
                  <a:tcPr anchor="ctr">
                    <a:solidFill>
                      <a:srgbClr val="F9F6F0"/>
                    </a:solidFill>
                  </a:tcPr>
                </a:tc>
                <a:tc>
                  <a:txBody>
                    <a:bodyPr/>
                    <a:lstStyle/>
                    <a:p>
                      <a:pPr>
                        <a:defRPr sz="1000">
                          <a:solidFill>
                            <a:srgbClr val="333333"/>
                          </a:solidFill>
                        </a:defRPr>
                      </a:pPr>
                      <a:r>
                        <a:t>条件分岐テンプレート（金額・工種マトリックス）</a:t>
                      </a:r>
                    </a:p>
                  </a:txBody>
                  <a:tcPr anchor="ctr">
                    <a:solidFill>
                      <a:srgbClr val="F9F6F0"/>
                    </a:solidFill>
                  </a:tcPr>
                </a:tc>
              </a:tr>
              <a:tr h="365760">
                <a:tc>
                  <a:txBody>
                    <a:bodyPr/>
                    <a:lstStyle/>
                    <a:p>
                      <a:pPr>
                        <a:defRPr sz="1000">
                          <a:solidFill>
                            <a:srgbClr val="333333"/>
                          </a:solidFill>
                        </a:defRPr>
                      </a:pPr>
                      <a:r>
                        <a:t>現場にいる承認者がなかなか承認できない</a:t>
                      </a:r>
                    </a:p>
                  </a:txBody>
                  <a:tcPr anchor="ctr">
                    <a:solidFill>
                      <a:srgbClr val="F0E8D5"/>
                    </a:solidFill>
                  </a:tcPr>
                </a:tc>
                <a:tc>
                  <a:txBody>
                    <a:bodyPr/>
                    <a:lstStyle/>
                    <a:p>
                      <a:pPr>
                        <a:defRPr sz="1000">
                          <a:solidFill>
                            <a:srgbClr val="333333"/>
                          </a:solidFill>
                        </a:defRPr>
                      </a:pPr>
                      <a:r>
                        <a:t>モバイル承認 + 代理承認機能の標準実装</a:t>
                      </a:r>
                    </a:p>
                  </a:txBody>
                  <a:tcPr anchor="ctr">
                    <a:solidFill>
                      <a:srgbClr val="F0E8D5"/>
                    </a:solidFill>
                  </a:tcPr>
                </a:tc>
              </a:tr>
              <a:tr h="365760">
                <a:tc>
                  <a:txBody>
                    <a:bodyPr/>
                    <a:lstStyle/>
                    <a:p>
                      <a:pPr>
                        <a:defRPr sz="1000">
                          <a:solidFill>
                            <a:srgbClr val="333333"/>
                          </a:solidFill>
                        </a:defRPr>
                      </a:pPr>
                      <a:r>
                        <a:t>緊急時の事後承認フローがない</a:t>
                      </a:r>
                    </a:p>
                  </a:txBody>
                  <a:tcPr anchor="ctr">
                    <a:solidFill>
                      <a:srgbClr val="F9F6F0"/>
                    </a:solidFill>
                  </a:tcPr>
                </a:tc>
                <a:tc>
                  <a:txBody>
                    <a:bodyPr/>
                    <a:lstStyle/>
                    <a:p>
                      <a:pPr>
                        <a:defRPr sz="1000">
                          <a:solidFill>
                            <a:srgbClr val="333333"/>
                          </a:solidFill>
                        </a:defRPr>
                      </a:pPr>
                      <a:r>
                        <a:t>緊急承認ワークフローの標準パターン提供</a:t>
                      </a:r>
                    </a:p>
                  </a:txBody>
                  <a:tcPr anchor="ctr">
                    <a:solidFill>
                      <a:srgbClr val="F9F6F0"/>
                    </a:solidFill>
                  </a:tcPr>
                </a:tc>
              </a:tr>
              <a:tr h="365760">
                <a:tc>
                  <a:txBody>
                    <a:bodyPr/>
                    <a:lstStyle/>
                    <a:p>
                      <a:pPr>
                        <a:defRPr sz="1000">
                          <a:solidFill>
                            <a:srgbClr val="333333"/>
                          </a:solidFill>
                        </a:defRPr>
                      </a:pPr>
                      <a:r>
                        <a:t>紙の稟議書とシステムが二重管理</a:t>
                      </a:r>
                    </a:p>
                  </a:txBody>
                  <a:tcPr anchor="ctr">
                    <a:solidFill>
                      <a:srgbClr val="F0E8D5"/>
                    </a:solidFill>
                  </a:tcPr>
                </a:tc>
                <a:tc>
                  <a:txBody>
                    <a:bodyPr/>
                    <a:lstStyle/>
                    <a:p>
                      <a:pPr>
                        <a:defRPr sz="1000">
                          <a:solidFill>
                            <a:srgbClr val="333333"/>
                          </a:solidFill>
                        </a:defRPr>
                      </a:pPr>
                      <a:r>
                        <a:t>紙帳票の電子化テンプレート提供</a:t>
                      </a:r>
                    </a:p>
                  </a:txBody>
                  <a:tcPr anchor="ctr">
                    <a:solidFill>
                      <a:srgbClr val="F0E8D5"/>
                    </a:solidFill>
                  </a:tcPr>
                </a:tc>
              </a:tr>
            </a:tbl>
          </a:graphicData>
        </a:graphic>
      </p:graphicFrame>
      <p:sp>
        <p:nvSpPr>
          <p:cNvPr id="19" name="TextBox 18"/>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20" name="TextBox 19"/>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10</a:t>
            </a:r>
          </a:p>
        </p:txBody>
      </p:sp>
      <p:sp>
        <p:nvSpPr>
          <p:cNvPr id="21" name="Rectangle 20"/>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第6章 出面管理・労務管理</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現場の勤怠を正確に把握し、法令遵守を支援する</a:t>
            </a:r>
          </a:p>
        </p:txBody>
      </p:sp>
      <p:sp>
        <p:nvSpPr>
          <p:cNvPr id="6" name="TextBox 5"/>
          <p:cNvSpPr txBox="1"/>
          <p:nvPr/>
        </p:nvSpPr>
        <p:spPr>
          <a:xfrm>
            <a:off x="274320" y="1371600"/>
            <a:ext cx="4114800" cy="274320"/>
          </a:xfrm>
          <a:prstGeom prst="rect">
            <a:avLst/>
          </a:prstGeom>
          <a:noFill/>
        </p:spPr>
        <p:txBody>
          <a:bodyPr wrap="square">
            <a:spAutoFit/>
          </a:bodyPr>
          <a:lstStyle/>
          <a:p>
            <a:pPr algn="l">
              <a:defRPr sz="1200" b="1">
                <a:solidFill>
                  <a:srgbClr val="16A085"/>
                </a:solidFill>
              </a:defRPr>
            </a:pPr>
            <a:r>
              <a:t>多様な支払形態</a:t>
            </a:r>
          </a:p>
        </p:txBody>
      </p:sp>
      <p:graphicFrame>
        <p:nvGraphicFramePr>
          <p:cNvPr id="7" name="Table 6"/>
          <p:cNvGraphicFramePr>
            <a:graphicFrameLocks noGrp="1"/>
          </p:cNvGraphicFramePr>
          <p:nvPr/>
        </p:nvGraphicFramePr>
        <p:xfrm>
          <a:off x="274320" y="1737360"/>
          <a:ext cx="4114800" cy="1371600"/>
        </p:xfrm>
        <a:graphic>
          <a:graphicData uri="http://schemas.openxmlformats.org/drawingml/2006/table">
            <a:tbl>
              <a:tblPr firstRow="1" bandRow="1">
                <a:tableStyleId>{5C22544A-7EE6-4342-B048-85BDC9FD1C3A}</a:tableStyleId>
              </a:tblPr>
              <a:tblGrid>
                <a:gridCol w="1188720"/>
                <a:gridCol w="1645920"/>
                <a:gridCol w="1280160"/>
              </a:tblGrid>
              <a:tr h="342900">
                <a:tc>
                  <a:txBody>
                    <a:bodyPr/>
                    <a:lstStyle/>
                    <a:p>
                      <a:pPr algn="ctr">
                        <a:defRPr sz="1000" b="1">
                          <a:solidFill>
                            <a:srgbClr val="FFFFFF"/>
                          </a:solidFill>
                        </a:defRPr>
                      </a:pPr>
                      <a:r>
                        <a:t>支払形態</a:t>
                      </a:r>
                    </a:p>
                  </a:txBody>
                  <a:tcPr anchor="ctr">
                    <a:solidFill>
                      <a:srgbClr val="8B7536"/>
                    </a:solidFill>
                  </a:tcPr>
                </a:tc>
                <a:tc>
                  <a:txBody>
                    <a:bodyPr/>
                    <a:lstStyle/>
                    <a:p>
                      <a:pPr algn="ctr">
                        <a:defRPr sz="1000" b="1">
                          <a:solidFill>
                            <a:srgbClr val="FFFFFF"/>
                          </a:solidFill>
                        </a:defRPr>
                      </a:pPr>
                      <a:r>
                        <a:t>内容</a:t>
                      </a:r>
                    </a:p>
                  </a:txBody>
                  <a:tcPr anchor="ctr">
                    <a:solidFill>
                      <a:srgbClr val="8B7536"/>
                    </a:solidFill>
                  </a:tcPr>
                </a:tc>
                <a:tc>
                  <a:txBody>
                    <a:bodyPr/>
                    <a:lstStyle/>
                    <a:p>
                      <a:pPr algn="ctr">
                        <a:defRPr sz="1000" b="1">
                          <a:solidFill>
                            <a:srgbClr val="FFFFFF"/>
                          </a:solidFill>
                        </a:defRPr>
                      </a:pPr>
                      <a:r>
                        <a:t>課題</a:t>
                      </a:r>
                    </a:p>
                  </a:txBody>
                  <a:tcPr anchor="ctr">
                    <a:solidFill>
                      <a:srgbClr val="8B7536"/>
                    </a:solidFill>
                  </a:tcPr>
                </a:tc>
              </a:tr>
              <a:tr h="342900">
                <a:tc>
                  <a:txBody>
                    <a:bodyPr/>
                    <a:lstStyle/>
                    <a:p>
                      <a:pPr>
                        <a:defRPr sz="1000">
                          <a:solidFill>
                            <a:srgbClr val="333333"/>
                          </a:solidFill>
                        </a:defRPr>
                      </a:pPr>
                      <a:r>
                        <a:t>常用（人工）</a:t>
                      </a:r>
                    </a:p>
                  </a:txBody>
                  <a:tcPr anchor="ctr">
                    <a:solidFill>
                      <a:srgbClr val="F9F6F0"/>
                    </a:solidFill>
                  </a:tcPr>
                </a:tc>
                <a:tc>
                  <a:txBody>
                    <a:bodyPr/>
                    <a:lstStyle/>
                    <a:p>
                      <a:pPr>
                        <a:defRPr sz="1000">
                          <a:solidFill>
                            <a:srgbClr val="333333"/>
                          </a:solidFill>
                        </a:defRPr>
                      </a:pPr>
                      <a:r>
                        <a:t>日当×日数で支払い</a:t>
                      </a:r>
                    </a:p>
                  </a:txBody>
                  <a:tcPr anchor="ctr">
                    <a:solidFill>
                      <a:srgbClr val="F9F6F0"/>
                    </a:solidFill>
                  </a:tcPr>
                </a:tc>
                <a:tc>
                  <a:txBody>
                    <a:bodyPr/>
                    <a:lstStyle/>
                    <a:p>
                      <a:pPr>
                        <a:defRPr sz="1000">
                          <a:solidFill>
                            <a:srgbClr val="333333"/>
                          </a:solidFill>
                        </a:defRPr>
                      </a:pPr>
                      <a:r>
                        <a:t>日報との突合が煩雑</a:t>
                      </a:r>
                    </a:p>
                  </a:txBody>
                  <a:tcPr anchor="ctr">
                    <a:solidFill>
                      <a:srgbClr val="F9F6F0"/>
                    </a:solidFill>
                  </a:tcPr>
                </a:tc>
              </a:tr>
              <a:tr h="342900">
                <a:tc>
                  <a:txBody>
                    <a:bodyPr/>
                    <a:lstStyle/>
                    <a:p>
                      <a:pPr>
                        <a:defRPr sz="1000">
                          <a:solidFill>
                            <a:srgbClr val="333333"/>
                          </a:solidFill>
                        </a:defRPr>
                      </a:pPr>
                      <a:r>
                        <a:t>月極</a:t>
                      </a:r>
                    </a:p>
                  </a:txBody>
                  <a:tcPr anchor="ctr">
                    <a:solidFill>
                      <a:srgbClr val="F0E8D5"/>
                    </a:solidFill>
                  </a:tcPr>
                </a:tc>
                <a:tc>
                  <a:txBody>
                    <a:bodyPr/>
                    <a:lstStyle/>
                    <a:p>
                      <a:pPr>
                        <a:defRPr sz="1000">
                          <a:solidFill>
                            <a:srgbClr val="333333"/>
                          </a:solidFill>
                        </a:defRPr>
                      </a:pPr>
                      <a:r>
                        <a:t>月額固定で支払い</a:t>
                      </a:r>
                    </a:p>
                  </a:txBody>
                  <a:tcPr anchor="ctr">
                    <a:solidFill>
                      <a:srgbClr val="F0E8D5"/>
                    </a:solidFill>
                  </a:tcPr>
                </a:tc>
                <a:tc>
                  <a:txBody>
                    <a:bodyPr/>
                    <a:lstStyle/>
                    <a:p>
                      <a:pPr>
                        <a:defRPr sz="1000">
                          <a:solidFill>
                            <a:srgbClr val="333333"/>
                          </a:solidFill>
                        </a:defRPr>
                      </a:pPr>
                      <a:r>
                        <a:t>変動分の追加精算</a:t>
                      </a:r>
                    </a:p>
                  </a:txBody>
                  <a:tcPr anchor="ctr">
                    <a:solidFill>
                      <a:srgbClr val="F0E8D5"/>
                    </a:solidFill>
                  </a:tcPr>
                </a:tc>
              </a:tr>
              <a:tr h="342900">
                <a:tc>
                  <a:txBody>
                    <a:bodyPr/>
                    <a:lstStyle/>
                    <a:p>
                      <a:pPr>
                        <a:defRPr sz="1000">
                          <a:solidFill>
                            <a:srgbClr val="333333"/>
                          </a:solidFill>
                        </a:defRPr>
                      </a:pPr>
                      <a:r>
                        <a:t>出来高払い</a:t>
                      </a:r>
                    </a:p>
                  </a:txBody>
                  <a:tcPr anchor="ctr">
                    <a:solidFill>
                      <a:srgbClr val="F9F6F0"/>
                    </a:solidFill>
                  </a:tcPr>
                </a:tc>
                <a:tc>
                  <a:txBody>
                    <a:bodyPr/>
                    <a:lstStyle/>
                    <a:p>
                      <a:pPr>
                        <a:defRPr sz="1000">
                          <a:solidFill>
                            <a:srgbClr val="333333"/>
                          </a:solidFill>
                        </a:defRPr>
                      </a:pPr>
                      <a:r>
                        <a:t>作業量に応じて支払い</a:t>
                      </a:r>
                    </a:p>
                  </a:txBody>
                  <a:tcPr anchor="ctr">
                    <a:solidFill>
                      <a:srgbClr val="F9F6F0"/>
                    </a:solidFill>
                  </a:tcPr>
                </a:tc>
                <a:tc>
                  <a:txBody>
                    <a:bodyPr/>
                    <a:lstStyle/>
                    <a:p>
                      <a:pPr>
                        <a:defRPr sz="1000">
                          <a:solidFill>
                            <a:srgbClr val="333333"/>
                          </a:solidFill>
                        </a:defRPr>
                      </a:pPr>
                      <a:r>
                        <a:t>数量の確認方法</a:t>
                      </a:r>
                    </a:p>
                  </a:txBody>
                  <a:tcPr anchor="ctr">
                    <a:solidFill>
                      <a:srgbClr val="F9F6F0"/>
                    </a:solidFill>
                  </a:tcPr>
                </a:tc>
              </a:tr>
            </a:tbl>
          </a:graphicData>
        </a:graphic>
      </p:graphicFrame>
      <p:sp>
        <p:nvSpPr>
          <p:cNvPr id="8" name="Rounded Rectangle 7"/>
          <p:cNvSpPr/>
          <p:nvPr/>
        </p:nvSpPr>
        <p:spPr>
          <a:xfrm>
            <a:off x="4754880" y="1371600"/>
            <a:ext cx="3931920" cy="1737360"/>
          </a:xfrm>
          <a:prstGeom prst="roundRect">
            <a:avLst/>
          </a:prstGeom>
          <a:solidFill>
            <a:srgbClr val="E8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463040"/>
            <a:ext cx="3657600" cy="274320"/>
          </a:xfrm>
          <a:prstGeom prst="rect">
            <a:avLst/>
          </a:prstGeom>
          <a:noFill/>
        </p:spPr>
        <p:txBody>
          <a:bodyPr wrap="square">
            <a:spAutoFit/>
          </a:bodyPr>
          <a:lstStyle/>
          <a:p>
            <a:pPr algn="l">
              <a:defRPr sz="1200" b="1">
                <a:solidFill>
                  <a:srgbClr val="16A085"/>
                </a:solidFill>
              </a:defRPr>
            </a:pPr>
            <a:r>
              <a:t>法令遵守のポイント</a:t>
            </a:r>
          </a:p>
        </p:txBody>
      </p:sp>
      <p:sp>
        <p:nvSpPr>
          <p:cNvPr id="10" name="TextBox 9"/>
          <p:cNvSpPr txBox="1"/>
          <p:nvPr/>
        </p:nvSpPr>
        <p:spPr>
          <a:xfrm>
            <a:off x="4937760" y="1828800"/>
            <a:ext cx="3657600" cy="1097280"/>
          </a:xfrm>
          <a:prstGeom prst="rect">
            <a:avLst/>
          </a:prstGeom>
          <a:noFill/>
        </p:spPr>
        <p:txBody>
          <a:bodyPr wrap="square">
            <a:spAutoFit/>
          </a:bodyPr>
          <a:lstStyle/>
          <a:p>
            <a:pPr algn="l">
              <a:defRPr sz="1000" b="1">
                <a:solidFill>
                  <a:srgbClr val="333333"/>
                </a:solidFill>
              </a:defRPr>
            </a:pPr>
            <a:r>
              <a:t>外国人労働者の在留資格管理</a:t>
            </a:r>
          </a:p>
          <a:p>
            <a:pPr algn="l">
              <a:defRPr sz="1000" b="0">
                <a:solidFill>
                  <a:srgbClr val="666666"/>
                </a:solidFill>
              </a:defRPr>
            </a:pPr>
            <a:r>
              <a:t>  → 期限アラート機能の標準搭載</a:t>
            </a:r>
          </a:p>
          <a:p>
            <a:pPr algn="l">
              <a:defRPr sz="600" b="0">
                <a:solidFill>
                  <a:srgbClr val="333333"/>
                </a:solidFill>
              </a:defRPr>
            </a:pPr>
          </a:p>
          <a:p>
            <a:pPr algn="l">
              <a:defRPr sz="1000" b="1">
                <a:solidFill>
                  <a:srgbClr val="333333"/>
                </a:solidFill>
              </a:defRPr>
            </a:pPr>
            <a:r>
              <a:t>建退共の掛金管理・CCUS連携</a:t>
            </a:r>
          </a:p>
          <a:p>
            <a:pPr algn="l">
              <a:defRPr sz="1000" b="0">
                <a:solidFill>
                  <a:srgbClr val="666666"/>
                </a:solidFill>
              </a:defRPr>
            </a:pPr>
            <a:r>
              <a:t>  → 就業実績から証紙枚数を自動計算</a:t>
            </a:r>
          </a:p>
          <a:p>
            <a:pPr algn="l">
              <a:defRPr sz="600" b="0">
                <a:solidFill>
                  <a:srgbClr val="333333"/>
                </a:solidFill>
              </a:defRPr>
            </a:pPr>
          </a:p>
          <a:p>
            <a:pPr algn="l">
              <a:defRPr sz="1000" b="1">
                <a:solidFill>
                  <a:srgbClr val="333333"/>
                </a:solidFill>
              </a:defRPr>
            </a:pPr>
            <a:r>
              <a:t>労働時間の上限規制対応</a:t>
            </a:r>
          </a:p>
          <a:p>
            <a:pPr algn="l">
              <a:defRPr sz="1000" b="0">
                <a:solidFill>
                  <a:srgbClr val="666666"/>
                </a:solidFill>
              </a:defRPr>
            </a:pPr>
            <a:r>
              <a:t>  → 残業時間の自動集計・アラート</a:t>
            </a:r>
          </a:p>
        </p:txBody>
      </p:sp>
      <p:sp>
        <p:nvSpPr>
          <p:cNvPr id="11" name="Rounded Rectangle 10"/>
          <p:cNvSpPr/>
          <p:nvPr/>
        </p:nvSpPr>
        <p:spPr>
          <a:xfrm>
            <a:off x="274320" y="3383280"/>
            <a:ext cx="8412480" cy="10058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474720"/>
            <a:ext cx="2743200" cy="274320"/>
          </a:xfrm>
          <a:prstGeom prst="rect">
            <a:avLst/>
          </a:prstGeom>
          <a:noFill/>
        </p:spPr>
        <p:txBody>
          <a:bodyPr wrap="square">
            <a:spAutoFit/>
          </a:bodyPr>
          <a:lstStyle/>
          <a:p>
            <a:pPr algn="l">
              <a:defRPr sz="1200" b="1">
                <a:solidFill>
                  <a:srgbClr val="8B7536"/>
                </a:solidFill>
              </a:defRPr>
            </a:pPr>
            <a:r>
              <a:t>標準化のポイント</a:t>
            </a:r>
          </a:p>
        </p:txBody>
      </p:sp>
      <p:sp>
        <p:nvSpPr>
          <p:cNvPr id="13" name="TextBox 12"/>
          <p:cNvSpPr txBox="1"/>
          <p:nvPr/>
        </p:nvSpPr>
        <p:spPr>
          <a:xfrm>
            <a:off x="457200" y="3749039"/>
            <a:ext cx="7772400" cy="548640"/>
          </a:xfrm>
          <a:prstGeom prst="rect">
            <a:avLst/>
          </a:prstGeom>
          <a:noFill/>
        </p:spPr>
        <p:txBody>
          <a:bodyPr wrap="square">
            <a:spAutoFit/>
          </a:bodyPr>
          <a:lstStyle/>
          <a:p>
            <a:pPr algn="l">
              <a:defRPr sz="1000" b="0">
                <a:solidFill>
                  <a:srgbClr val="333333"/>
                </a:solidFill>
              </a:defRPr>
            </a:pPr>
            <a:r>
              <a:t>GPS・顔認証・ICカードなどによる出退勤データの自動取得  →  日報・出面との自動連携  →  支払計算の自動化</a:t>
            </a:r>
          </a:p>
          <a:p>
            <a:pPr algn="l">
              <a:defRPr sz="1000" b="0">
                <a:solidFill>
                  <a:srgbClr val="666666"/>
                </a:solidFill>
              </a:defRPr>
            </a:pPr>
            <a:r>
              <a:t>現場の「手書き日報」から脱却し、モバイル入力で正確なデータをリアルタイムに収集する仕組みを標準機能として提供</a:t>
            </a:r>
          </a:p>
        </p:txBody>
      </p:sp>
      <p:sp>
        <p:nvSpPr>
          <p:cNvPr id="14" name="TextBox 1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5" name="TextBox 1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11</a:t>
            </a:r>
          </a:p>
        </p:txBody>
      </p:sp>
      <p:sp>
        <p:nvSpPr>
          <p:cNvPr id="16" name="Rectangle 15"/>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第7章 個別帳票・レポート</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企業独自の管理要件を満たす情報可視化</a:t>
            </a:r>
          </a:p>
        </p:txBody>
      </p:sp>
      <p:sp>
        <p:nvSpPr>
          <p:cNvPr id="6" name="Rounded Rectangle 5"/>
          <p:cNvSpPr/>
          <p:nvPr/>
        </p:nvSpPr>
        <p:spPr>
          <a:xfrm>
            <a:off x="274320" y="1371600"/>
            <a:ext cx="4114800" cy="1645920"/>
          </a:xfrm>
          <a:prstGeom prst="roundRect">
            <a:avLst/>
          </a:prstGeom>
          <a:solidFill>
            <a:srgbClr val="FFF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657600" cy="274320"/>
          </a:xfrm>
          <a:prstGeom prst="rect">
            <a:avLst/>
          </a:prstGeom>
          <a:noFill/>
        </p:spPr>
        <p:txBody>
          <a:bodyPr wrap="square">
            <a:spAutoFit/>
          </a:bodyPr>
          <a:lstStyle/>
          <a:p>
            <a:pPr algn="l">
              <a:defRPr sz="1200" b="1">
                <a:solidFill>
                  <a:srgbClr val="D35400"/>
                </a:solidFill>
              </a:defRPr>
            </a:pPr>
            <a:r>
              <a:t>帳票カスタマイズが多発する理由</a:t>
            </a:r>
          </a:p>
        </p:txBody>
      </p:sp>
      <p:sp>
        <p:nvSpPr>
          <p:cNvPr id="8" name="TextBox 7"/>
          <p:cNvSpPr txBox="1"/>
          <p:nvPr/>
        </p:nvSpPr>
        <p:spPr>
          <a:xfrm>
            <a:off x="640080" y="1828800"/>
            <a:ext cx="3657600" cy="274320"/>
          </a:xfrm>
          <a:prstGeom prst="rect">
            <a:avLst/>
          </a:prstGeom>
          <a:noFill/>
        </p:spPr>
        <p:txBody>
          <a:bodyPr wrap="square">
            <a:spAutoFit/>
          </a:bodyPr>
          <a:lstStyle/>
          <a:p>
            <a:pPr algn="l">
              <a:defRPr sz="1000" b="0">
                <a:solidFill>
                  <a:srgbClr val="333333"/>
                </a:solidFill>
              </a:defRPr>
            </a:pPr>
            <a:r>
              <a:t>  施主ごとに提出フォーマットが違う</a:t>
            </a:r>
          </a:p>
        </p:txBody>
      </p:sp>
      <p:sp>
        <p:nvSpPr>
          <p:cNvPr id="9" name="TextBox 8"/>
          <p:cNvSpPr txBox="1"/>
          <p:nvPr/>
        </p:nvSpPr>
        <p:spPr>
          <a:xfrm>
            <a:off x="640080" y="2103120"/>
            <a:ext cx="3657600" cy="274320"/>
          </a:xfrm>
          <a:prstGeom prst="rect">
            <a:avLst/>
          </a:prstGeom>
          <a:noFill/>
        </p:spPr>
        <p:txBody>
          <a:bodyPr wrap="square">
            <a:spAutoFit/>
          </a:bodyPr>
          <a:lstStyle/>
          <a:p>
            <a:pPr algn="l">
              <a:defRPr sz="1000" b="0">
                <a:solidFill>
                  <a:srgbClr val="333333"/>
                </a:solidFill>
              </a:defRPr>
            </a:pPr>
            <a:r>
              <a:t>  社内の管理帳票が独自フォーマット</a:t>
            </a:r>
          </a:p>
        </p:txBody>
      </p:sp>
      <p:sp>
        <p:nvSpPr>
          <p:cNvPr id="10" name="TextBox 9"/>
          <p:cNvSpPr txBox="1"/>
          <p:nvPr/>
        </p:nvSpPr>
        <p:spPr>
          <a:xfrm>
            <a:off x="640080" y="2377440"/>
            <a:ext cx="3657600" cy="274320"/>
          </a:xfrm>
          <a:prstGeom prst="rect">
            <a:avLst/>
          </a:prstGeom>
          <a:noFill/>
        </p:spPr>
        <p:txBody>
          <a:bodyPr wrap="square">
            <a:spAutoFit/>
          </a:bodyPr>
          <a:lstStyle/>
          <a:p>
            <a:pPr algn="l">
              <a:defRPr sz="1000" b="0">
                <a:solidFill>
                  <a:srgbClr val="333333"/>
                </a:solidFill>
              </a:defRPr>
            </a:pPr>
            <a:r>
              <a:t>  法定帳票の書式が頻繁に改定される</a:t>
            </a:r>
          </a:p>
        </p:txBody>
      </p:sp>
      <p:sp>
        <p:nvSpPr>
          <p:cNvPr id="11" name="TextBox 10"/>
          <p:cNvSpPr txBox="1"/>
          <p:nvPr/>
        </p:nvSpPr>
        <p:spPr>
          <a:xfrm>
            <a:off x="640080" y="2651760"/>
            <a:ext cx="3657600" cy="274320"/>
          </a:xfrm>
          <a:prstGeom prst="rect">
            <a:avLst/>
          </a:prstGeom>
          <a:noFill/>
        </p:spPr>
        <p:txBody>
          <a:bodyPr wrap="square">
            <a:spAutoFit/>
          </a:bodyPr>
          <a:lstStyle/>
          <a:p>
            <a:pPr algn="l">
              <a:defRPr sz="1000" b="0">
                <a:solidFill>
                  <a:srgbClr val="333333"/>
                </a:solidFill>
              </a:defRPr>
            </a:pPr>
            <a:r>
              <a:t>  経営層が「この形で見たい」にこだわる</a:t>
            </a:r>
          </a:p>
        </p:txBody>
      </p:sp>
      <p:sp>
        <p:nvSpPr>
          <p:cNvPr id="12" name="Rounded Rectangle 11"/>
          <p:cNvSpPr/>
          <p:nvPr/>
        </p:nvSpPr>
        <p:spPr>
          <a:xfrm>
            <a:off x="4754880" y="1371600"/>
            <a:ext cx="3931920" cy="164592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1463040"/>
            <a:ext cx="3657600" cy="274320"/>
          </a:xfrm>
          <a:prstGeom prst="rect">
            <a:avLst/>
          </a:prstGeom>
          <a:noFill/>
        </p:spPr>
        <p:txBody>
          <a:bodyPr wrap="square">
            <a:spAutoFit/>
          </a:bodyPr>
          <a:lstStyle/>
          <a:p>
            <a:pPr algn="l">
              <a:defRPr sz="1200" b="1">
                <a:solidFill>
                  <a:srgbClr val="27AE60"/>
                </a:solidFill>
              </a:defRPr>
            </a:pPr>
            <a:r>
              <a:t>標準化アプローチ</a:t>
            </a:r>
          </a:p>
        </p:txBody>
      </p:sp>
      <p:sp>
        <p:nvSpPr>
          <p:cNvPr id="14" name="TextBox 13"/>
          <p:cNvSpPr txBox="1"/>
          <p:nvPr/>
        </p:nvSpPr>
        <p:spPr>
          <a:xfrm>
            <a:off x="5029200" y="1828800"/>
            <a:ext cx="1645920" cy="274320"/>
          </a:xfrm>
          <a:prstGeom prst="rect">
            <a:avLst/>
          </a:prstGeom>
          <a:noFill/>
        </p:spPr>
        <p:txBody>
          <a:bodyPr wrap="square">
            <a:spAutoFit/>
          </a:bodyPr>
          <a:lstStyle/>
          <a:p>
            <a:pPr algn="l">
              <a:defRPr sz="1000" b="1">
                <a:solidFill>
                  <a:srgbClr val="27AE60"/>
                </a:solidFill>
              </a:defRPr>
            </a:pPr>
            <a:r>
              <a:t>  BIツール連携</a:t>
            </a:r>
          </a:p>
        </p:txBody>
      </p:sp>
      <p:sp>
        <p:nvSpPr>
          <p:cNvPr id="15" name="TextBox 14"/>
          <p:cNvSpPr txBox="1"/>
          <p:nvPr/>
        </p:nvSpPr>
        <p:spPr>
          <a:xfrm>
            <a:off x="6583680" y="1828800"/>
            <a:ext cx="2011680" cy="274320"/>
          </a:xfrm>
          <a:prstGeom prst="rect">
            <a:avLst/>
          </a:prstGeom>
          <a:noFill/>
        </p:spPr>
        <p:txBody>
          <a:bodyPr wrap="square">
            <a:spAutoFit/>
          </a:bodyPr>
          <a:lstStyle/>
          <a:p>
            <a:pPr algn="l">
              <a:defRPr sz="1000" b="0">
                <a:solidFill>
                  <a:srgbClr val="666666"/>
                </a:solidFill>
              </a:defRPr>
            </a:pPr>
            <a:r>
              <a:t>ノーコードでレポート作成</a:t>
            </a:r>
          </a:p>
        </p:txBody>
      </p:sp>
      <p:sp>
        <p:nvSpPr>
          <p:cNvPr id="16" name="TextBox 15"/>
          <p:cNvSpPr txBox="1"/>
          <p:nvPr/>
        </p:nvSpPr>
        <p:spPr>
          <a:xfrm>
            <a:off x="5029200" y="2103120"/>
            <a:ext cx="1645920" cy="274320"/>
          </a:xfrm>
          <a:prstGeom prst="rect">
            <a:avLst/>
          </a:prstGeom>
          <a:noFill/>
        </p:spPr>
        <p:txBody>
          <a:bodyPr wrap="square">
            <a:spAutoFit/>
          </a:bodyPr>
          <a:lstStyle/>
          <a:p>
            <a:pPr algn="l">
              <a:defRPr sz="1000" b="1">
                <a:solidFill>
                  <a:srgbClr val="27AE60"/>
                </a:solidFill>
              </a:defRPr>
            </a:pPr>
            <a:r>
              <a:t>  帳票テンプレート</a:t>
            </a:r>
          </a:p>
        </p:txBody>
      </p:sp>
      <p:sp>
        <p:nvSpPr>
          <p:cNvPr id="17" name="TextBox 16"/>
          <p:cNvSpPr txBox="1"/>
          <p:nvPr/>
        </p:nvSpPr>
        <p:spPr>
          <a:xfrm>
            <a:off x="6583680" y="2103120"/>
            <a:ext cx="2011680" cy="274320"/>
          </a:xfrm>
          <a:prstGeom prst="rect">
            <a:avLst/>
          </a:prstGeom>
          <a:noFill/>
        </p:spPr>
        <p:txBody>
          <a:bodyPr wrap="square">
            <a:spAutoFit/>
          </a:bodyPr>
          <a:lstStyle/>
          <a:p>
            <a:pPr algn="l">
              <a:defRPr sz="1000" b="0">
                <a:solidFill>
                  <a:srgbClr val="666666"/>
                </a:solidFill>
              </a:defRPr>
            </a:pPr>
            <a:r>
              <a:t>業界標準の帳票を標準搭載</a:t>
            </a:r>
          </a:p>
        </p:txBody>
      </p:sp>
      <p:sp>
        <p:nvSpPr>
          <p:cNvPr id="18" name="TextBox 17"/>
          <p:cNvSpPr txBox="1"/>
          <p:nvPr/>
        </p:nvSpPr>
        <p:spPr>
          <a:xfrm>
            <a:off x="5029200" y="2377440"/>
            <a:ext cx="1645920" cy="274320"/>
          </a:xfrm>
          <a:prstGeom prst="rect">
            <a:avLst/>
          </a:prstGeom>
          <a:noFill/>
        </p:spPr>
        <p:txBody>
          <a:bodyPr wrap="square">
            <a:spAutoFit/>
          </a:bodyPr>
          <a:lstStyle/>
          <a:p>
            <a:pPr algn="l">
              <a:defRPr sz="1000" b="1">
                <a:solidFill>
                  <a:srgbClr val="27AE60"/>
                </a:solidFill>
              </a:defRPr>
            </a:pPr>
            <a:r>
              <a:t>  Excel出力</a:t>
            </a:r>
          </a:p>
        </p:txBody>
      </p:sp>
      <p:sp>
        <p:nvSpPr>
          <p:cNvPr id="19" name="TextBox 18"/>
          <p:cNvSpPr txBox="1"/>
          <p:nvPr/>
        </p:nvSpPr>
        <p:spPr>
          <a:xfrm>
            <a:off x="6583680" y="2377440"/>
            <a:ext cx="2011680" cy="274320"/>
          </a:xfrm>
          <a:prstGeom prst="rect">
            <a:avLst/>
          </a:prstGeom>
          <a:noFill/>
        </p:spPr>
        <p:txBody>
          <a:bodyPr wrap="square">
            <a:spAutoFit/>
          </a:bodyPr>
          <a:lstStyle/>
          <a:p>
            <a:pPr algn="l">
              <a:defRPr sz="1000" b="0">
                <a:solidFill>
                  <a:srgbClr val="666666"/>
                </a:solidFill>
              </a:defRPr>
            </a:pPr>
            <a:r>
              <a:t>自由な加工を可能に</a:t>
            </a:r>
          </a:p>
        </p:txBody>
      </p:sp>
      <p:sp>
        <p:nvSpPr>
          <p:cNvPr id="20" name="TextBox 19"/>
          <p:cNvSpPr txBox="1"/>
          <p:nvPr/>
        </p:nvSpPr>
        <p:spPr>
          <a:xfrm>
            <a:off x="5029200" y="2651760"/>
            <a:ext cx="1645920" cy="274320"/>
          </a:xfrm>
          <a:prstGeom prst="rect">
            <a:avLst/>
          </a:prstGeom>
          <a:noFill/>
        </p:spPr>
        <p:txBody>
          <a:bodyPr wrap="square">
            <a:spAutoFit/>
          </a:bodyPr>
          <a:lstStyle/>
          <a:p>
            <a:pPr algn="l">
              <a:defRPr sz="1000" b="1">
                <a:solidFill>
                  <a:srgbClr val="27AE60"/>
                </a:solidFill>
              </a:defRPr>
            </a:pPr>
            <a:r>
              <a:t>  ダッシュボード</a:t>
            </a:r>
          </a:p>
        </p:txBody>
      </p:sp>
      <p:sp>
        <p:nvSpPr>
          <p:cNvPr id="21" name="TextBox 20"/>
          <p:cNvSpPr txBox="1"/>
          <p:nvPr/>
        </p:nvSpPr>
        <p:spPr>
          <a:xfrm>
            <a:off x="6583680" y="2651760"/>
            <a:ext cx="2011680" cy="274320"/>
          </a:xfrm>
          <a:prstGeom prst="rect">
            <a:avLst/>
          </a:prstGeom>
          <a:noFill/>
        </p:spPr>
        <p:txBody>
          <a:bodyPr wrap="square">
            <a:spAutoFit/>
          </a:bodyPr>
          <a:lstStyle/>
          <a:p>
            <a:pPr algn="l">
              <a:defRPr sz="1000" b="0">
                <a:solidFill>
                  <a:srgbClr val="666666"/>
                </a:solidFill>
              </a:defRPr>
            </a:pPr>
            <a:r>
              <a:t>リアルタイムの経営指標</a:t>
            </a:r>
          </a:p>
        </p:txBody>
      </p:sp>
      <p:sp>
        <p:nvSpPr>
          <p:cNvPr id="22" name="TextBox 21"/>
          <p:cNvSpPr txBox="1"/>
          <p:nvPr/>
        </p:nvSpPr>
        <p:spPr>
          <a:xfrm>
            <a:off x="274320" y="3200400"/>
            <a:ext cx="4114800" cy="274320"/>
          </a:xfrm>
          <a:prstGeom prst="rect">
            <a:avLst/>
          </a:prstGeom>
          <a:noFill/>
        </p:spPr>
        <p:txBody>
          <a:bodyPr wrap="square">
            <a:spAutoFit/>
          </a:bodyPr>
          <a:lstStyle/>
          <a:p>
            <a:pPr algn="l">
              <a:defRPr sz="1200" b="1">
                <a:solidFill>
                  <a:srgbClr val="C0392B"/>
                </a:solidFill>
              </a:defRPr>
            </a:pPr>
            <a:r>
              <a:t>Before : 帳票ごとに個別開発</a:t>
            </a:r>
          </a:p>
        </p:txBody>
      </p:sp>
      <p:sp>
        <p:nvSpPr>
          <p:cNvPr id="23" name="Rounded Rectangle 22"/>
          <p:cNvSpPr/>
          <p:nvPr/>
        </p:nvSpPr>
        <p:spPr>
          <a:xfrm>
            <a:off x="274320" y="3566160"/>
            <a:ext cx="914400" cy="457200"/>
          </a:xfrm>
          <a:prstGeom prst="roundRect">
            <a:avLst/>
          </a:prstGeom>
          <a:solidFill>
            <a:srgbClr val="FF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611880"/>
            <a:ext cx="914400" cy="365760"/>
          </a:xfrm>
          <a:prstGeom prst="rect">
            <a:avLst/>
          </a:prstGeom>
          <a:noFill/>
        </p:spPr>
        <p:txBody>
          <a:bodyPr wrap="square">
            <a:spAutoFit/>
          </a:bodyPr>
          <a:lstStyle/>
          <a:p>
            <a:pPr algn="ctr">
              <a:defRPr sz="900" b="0">
                <a:solidFill>
                  <a:srgbClr val="C0392B"/>
                </a:solidFill>
              </a:defRPr>
            </a:pPr>
            <a:r>
              <a:t>工事月報</a:t>
            </a:r>
          </a:p>
        </p:txBody>
      </p:sp>
      <p:sp>
        <p:nvSpPr>
          <p:cNvPr id="25" name="Rounded Rectangle 24"/>
          <p:cNvSpPr/>
          <p:nvPr/>
        </p:nvSpPr>
        <p:spPr>
          <a:xfrm>
            <a:off x="1371600" y="3566160"/>
            <a:ext cx="914400" cy="457200"/>
          </a:xfrm>
          <a:prstGeom prst="roundRect">
            <a:avLst/>
          </a:prstGeom>
          <a:solidFill>
            <a:srgbClr val="FF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3611880"/>
            <a:ext cx="914400" cy="365760"/>
          </a:xfrm>
          <a:prstGeom prst="rect">
            <a:avLst/>
          </a:prstGeom>
          <a:noFill/>
        </p:spPr>
        <p:txBody>
          <a:bodyPr wrap="square">
            <a:spAutoFit/>
          </a:bodyPr>
          <a:lstStyle/>
          <a:p>
            <a:pPr algn="ctr">
              <a:defRPr sz="900" b="0">
                <a:solidFill>
                  <a:srgbClr val="C0392B"/>
                </a:solidFill>
              </a:defRPr>
            </a:pPr>
            <a:r>
              <a:t>原価報告書</a:t>
            </a:r>
          </a:p>
        </p:txBody>
      </p:sp>
      <p:sp>
        <p:nvSpPr>
          <p:cNvPr id="27" name="Rounded Rectangle 26"/>
          <p:cNvSpPr/>
          <p:nvPr/>
        </p:nvSpPr>
        <p:spPr>
          <a:xfrm>
            <a:off x="2468880" y="3566160"/>
            <a:ext cx="914400" cy="457200"/>
          </a:xfrm>
          <a:prstGeom prst="roundRect">
            <a:avLst/>
          </a:prstGeom>
          <a:solidFill>
            <a:srgbClr val="FF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68880" y="3611880"/>
            <a:ext cx="914400" cy="365760"/>
          </a:xfrm>
          <a:prstGeom prst="rect">
            <a:avLst/>
          </a:prstGeom>
          <a:noFill/>
        </p:spPr>
        <p:txBody>
          <a:bodyPr wrap="square">
            <a:spAutoFit/>
          </a:bodyPr>
          <a:lstStyle/>
          <a:p>
            <a:pPr algn="ctr">
              <a:defRPr sz="900" b="0">
                <a:solidFill>
                  <a:srgbClr val="C0392B"/>
                </a:solidFill>
              </a:defRPr>
            </a:pPr>
            <a:r>
              <a:t>安全書類</a:t>
            </a:r>
          </a:p>
        </p:txBody>
      </p:sp>
      <p:sp>
        <p:nvSpPr>
          <p:cNvPr id="29" name="Rounded Rectangle 28"/>
          <p:cNvSpPr/>
          <p:nvPr/>
        </p:nvSpPr>
        <p:spPr>
          <a:xfrm>
            <a:off x="3566160" y="3566160"/>
            <a:ext cx="914400" cy="457200"/>
          </a:xfrm>
          <a:prstGeom prst="roundRect">
            <a:avLst/>
          </a:prstGeom>
          <a:solidFill>
            <a:srgbClr val="FF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66160" y="3611880"/>
            <a:ext cx="914400" cy="365760"/>
          </a:xfrm>
          <a:prstGeom prst="rect">
            <a:avLst/>
          </a:prstGeom>
          <a:noFill/>
        </p:spPr>
        <p:txBody>
          <a:bodyPr wrap="square">
            <a:spAutoFit/>
          </a:bodyPr>
          <a:lstStyle/>
          <a:p>
            <a:pPr algn="ctr">
              <a:defRPr sz="900" b="0">
                <a:solidFill>
                  <a:srgbClr val="C0392B"/>
                </a:solidFill>
              </a:defRPr>
            </a:pPr>
            <a:r>
              <a:t>施主報告</a:t>
            </a:r>
          </a:p>
        </p:txBody>
      </p:sp>
      <p:sp>
        <p:nvSpPr>
          <p:cNvPr id="31" name="TextBox 30"/>
          <p:cNvSpPr txBox="1"/>
          <p:nvPr/>
        </p:nvSpPr>
        <p:spPr>
          <a:xfrm>
            <a:off x="4754880" y="3200400"/>
            <a:ext cx="4114800" cy="274320"/>
          </a:xfrm>
          <a:prstGeom prst="rect">
            <a:avLst/>
          </a:prstGeom>
          <a:noFill/>
        </p:spPr>
        <p:txBody>
          <a:bodyPr wrap="square">
            <a:spAutoFit/>
          </a:bodyPr>
          <a:lstStyle/>
          <a:p>
            <a:pPr algn="l">
              <a:defRPr sz="1200" b="1">
                <a:solidFill>
                  <a:srgbClr val="27AE60"/>
                </a:solidFill>
              </a:defRPr>
            </a:pPr>
            <a:r>
              <a:t>After : テンプレート + BIで自由に</a:t>
            </a:r>
          </a:p>
        </p:txBody>
      </p:sp>
      <p:sp>
        <p:nvSpPr>
          <p:cNvPr id="32" name="Rounded Rectangle 31"/>
          <p:cNvSpPr/>
          <p:nvPr/>
        </p:nvSpPr>
        <p:spPr>
          <a:xfrm>
            <a:off x="4754880" y="3566160"/>
            <a:ext cx="1371600" cy="457200"/>
          </a:xfrm>
          <a:prstGeom prst="roundRect">
            <a:avLst/>
          </a:prstGeom>
          <a:solidFill>
            <a:srgbClr val="DDFF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0" y="3611880"/>
            <a:ext cx="1371600" cy="365760"/>
          </a:xfrm>
          <a:prstGeom prst="rect">
            <a:avLst/>
          </a:prstGeom>
          <a:noFill/>
        </p:spPr>
        <p:txBody>
          <a:bodyPr wrap="square">
            <a:spAutoFit/>
          </a:bodyPr>
          <a:lstStyle/>
          <a:p>
            <a:pPr algn="ctr">
              <a:defRPr sz="900" b="1">
                <a:solidFill>
                  <a:srgbClr val="27AE60"/>
                </a:solidFill>
              </a:defRPr>
            </a:pPr>
            <a:r>
              <a:t>共通データ基盤</a:t>
            </a:r>
          </a:p>
        </p:txBody>
      </p:sp>
      <p:sp>
        <p:nvSpPr>
          <p:cNvPr id="34" name="Right Arrow 33"/>
          <p:cNvSpPr/>
          <p:nvPr/>
        </p:nvSpPr>
        <p:spPr>
          <a:xfrm>
            <a:off x="6126480" y="3703320"/>
            <a:ext cx="365760" cy="182880"/>
          </a:xfrm>
          <a:prstGeom prst="rightArrow">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583680" y="3566160"/>
            <a:ext cx="2103120" cy="457200"/>
          </a:xfrm>
          <a:prstGeom prst="roundRect">
            <a:avLst/>
          </a:prstGeom>
          <a:solidFill>
            <a:srgbClr val="DDFF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3611880"/>
            <a:ext cx="2103120" cy="365760"/>
          </a:xfrm>
          <a:prstGeom prst="rect">
            <a:avLst/>
          </a:prstGeom>
          <a:noFill/>
        </p:spPr>
        <p:txBody>
          <a:bodyPr wrap="square">
            <a:spAutoFit/>
          </a:bodyPr>
          <a:lstStyle/>
          <a:p>
            <a:pPr algn="ctr">
              <a:defRPr sz="900" b="1">
                <a:solidFill>
                  <a:srgbClr val="27AE60"/>
                </a:solidFill>
              </a:defRPr>
            </a:pPr>
            <a:r>
              <a:t>BIツールで自在に出力</a:t>
            </a:r>
          </a:p>
        </p:txBody>
      </p:sp>
      <p:sp>
        <p:nvSpPr>
          <p:cNvPr id="37" name="Rounded Rectangle 36"/>
          <p:cNvSpPr/>
          <p:nvPr/>
        </p:nvSpPr>
        <p:spPr>
          <a:xfrm>
            <a:off x="274320" y="4114800"/>
            <a:ext cx="8412480" cy="36576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4133087"/>
            <a:ext cx="8229600" cy="274320"/>
          </a:xfrm>
          <a:prstGeom prst="rect">
            <a:avLst/>
          </a:prstGeom>
          <a:noFill/>
        </p:spPr>
        <p:txBody>
          <a:bodyPr wrap="square">
            <a:spAutoFit/>
          </a:bodyPr>
          <a:lstStyle/>
          <a:p>
            <a:pPr algn="ctr">
              <a:defRPr sz="1000" b="1">
                <a:solidFill>
                  <a:srgbClr val="8B7536"/>
                </a:solidFill>
              </a:defRPr>
            </a:pPr>
            <a:r>
              <a:t>「帳票はもう作るのではなく、選ぶ時代へ」 ― データさえあれば、見せ方は自由に変えられる</a:t>
            </a:r>
          </a:p>
        </p:txBody>
      </p:sp>
      <p:sp>
        <p:nvSpPr>
          <p:cNvPr id="39" name="TextBox 38"/>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0" name="TextBox 39"/>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12</a:t>
            </a:r>
          </a:p>
        </p:txBody>
      </p:sp>
      <p:sp>
        <p:nvSpPr>
          <p:cNvPr id="41" name="Rectangle 40"/>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914400"/>
            <a:ext cx="5486400" cy="914400"/>
          </a:xfrm>
          <a:prstGeom prst="rect">
            <a:avLst/>
          </a:prstGeom>
          <a:noFill/>
        </p:spPr>
        <p:txBody>
          <a:bodyPr wrap="square">
            <a:spAutoFit/>
          </a:bodyPr>
          <a:lstStyle/>
          <a:p>
            <a:pPr algn="l">
              <a:defRPr sz="2800" b="0">
                <a:solidFill>
                  <a:srgbClr val="AAAAAA"/>
                </a:solidFill>
              </a:defRPr>
            </a:pPr>
            <a:r>
              <a:t>第8章</a:t>
            </a:r>
          </a:p>
        </p:txBody>
      </p:sp>
      <p:sp>
        <p:nvSpPr>
          <p:cNvPr id="5" name="TextBox 4"/>
          <p:cNvSpPr txBox="1"/>
          <p:nvPr/>
        </p:nvSpPr>
        <p:spPr>
          <a:xfrm>
            <a:off x="3200400" y="1645920"/>
            <a:ext cx="5486400" cy="914400"/>
          </a:xfrm>
          <a:prstGeom prst="rect">
            <a:avLst/>
          </a:prstGeom>
          <a:noFill/>
        </p:spPr>
        <p:txBody>
          <a:bodyPr wrap="square">
            <a:spAutoFit/>
          </a:bodyPr>
          <a:lstStyle/>
          <a:p>
            <a:pPr algn="l">
              <a:defRPr sz="2800" b="0">
                <a:solidFill>
                  <a:srgbClr val="FFFFFF"/>
                </a:solidFill>
              </a:defRPr>
            </a:pPr>
            <a:r>
              <a:t>標準化・テンプレート化への</a:t>
            </a:r>
          </a:p>
        </p:txBody>
      </p:sp>
      <p:sp>
        <p:nvSpPr>
          <p:cNvPr id="6" name="TextBox 5"/>
          <p:cNvSpPr txBox="1"/>
          <p:nvPr/>
        </p:nvSpPr>
        <p:spPr>
          <a:xfrm>
            <a:off x="3200400" y="2286000"/>
            <a:ext cx="5486400" cy="914400"/>
          </a:xfrm>
          <a:prstGeom prst="rect">
            <a:avLst/>
          </a:prstGeom>
          <a:noFill/>
        </p:spPr>
        <p:txBody>
          <a:bodyPr wrap="square">
            <a:spAutoFit/>
          </a:bodyPr>
          <a:lstStyle/>
          <a:p>
            <a:pPr algn="l">
              <a:defRPr sz="3600" b="1">
                <a:solidFill>
                  <a:srgbClr val="C9A84C"/>
                </a:solidFill>
              </a:defRPr>
            </a:pPr>
            <a:r>
              <a:t>戦略的アプローチ</a:t>
            </a:r>
          </a:p>
        </p:txBody>
      </p:sp>
      <p:sp>
        <p:nvSpPr>
          <p:cNvPr id="7" name="TextBox 6"/>
          <p:cNvSpPr txBox="1"/>
          <p:nvPr/>
        </p:nvSpPr>
        <p:spPr>
          <a:xfrm>
            <a:off x="3200400" y="3200400"/>
            <a:ext cx="5486400" cy="914400"/>
          </a:xfrm>
          <a:prstGeom prst="rect">
            <a:avLst/>
          </a:prstGeom>
          <a:noFill/>
        </p:spPr>
        <p:txBody>
          <a:bodyPr wrap="square">
            <a:spAutoFit/>
          </a:bodyPr>
          <a:lstStyle/>
          <a:p>
            <a:pPr algn="l">
              <a:defRPr sz="1600" b="0">
                <a:solidFill>
                  <a:srgbClr val="AAAAAA"/>
                </a:solidFill>
              </a:defRPr>
            </a:pPr>
            <a:r>
              <a:t>カスタマイズ地獄から抜け出す5つの鍵</a:t>
            </a:r>
          </a:p>
        </p:txBody>
      </p:sp>
      <p:sp>
        <p:nvSpPr>
          <p:cNvPr id="8" name="TextBox 7"/>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カスタマイズ地獄を脱出する5つの戦略</a:t>
            </a:r>
          </a:p>
        </p:txBody>
      </p:sp>
      <p:sp>
        <p:nvSpPr>
          <p:cNvPr id="5" name="Oval 4"/>
          <p:cNvSpPr/>
          <p:nvPr/>
        </p:nvSpPr>
        <p:spPr>
          <a:xfrm>
            <a:off x="731520" y="1005840"/>
            <a:ext cx="548640" cy="54864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548640" cy="502920"/>
          </a:xfrm>
          <a:prstGeom prst="rect">
            <a:avLst/>
          </a:prstGeom>
          <a:noFill/>
        </p:spPr>
        <p:txBody>
          <a:bodyPr wrap="square">
            <a:spAutoFit/>
          </a:bodyPr>
          <a:lstStyle/>
          <a:p>
            <a:pPr algn="ctr">
              <a:defRPr sz="1600" b="1">
                <a:solidFill>
                  <a:srgbClr val="FFFFFF"/>
                </a:solidFill>
              </a:defRPr>
            </a:pPr>
            <a:r>
              <a:t>01</a:t>
            </a:r>
          </a:p>
        </p:txBody>
      </p:sp>
      <p:sp>
        <p:nvSpPr>
          <p:cNvPr id="7" name="Rounded Rectangle 6"/>
          <p:cNvSpPr/>
          <p:nvPr/>
        </p:nvSpPr>
        <p:spPr>
          <a:xfrm>
            <a:off x="182880" y="1645920"/>
            <a:ext cx="1645920" cy="2743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880" y="1737360"/>
            <a:ext cx="1554480" cy="274320"/>
          </a:xfrm>
          <a:prstGeom prst="rect">
            <a:avLst/>
          </a:prstGeom>
          <a:noFill/>
        </p:spPr>
        <p:txBody>
          <a:bodyPr wrap="square">
            <a:spAutoFit/>
          </a:bodyPr>
          <a:lstStyle/>
          <a:p>
            <a:pPr algn="ctr">
              <a:defRPr sz="1200" b="1">
                <a:solidFill>
                  <a:srgbClr val="B8860B"/>
                </a:solidFill>
              </a:defRPr>
            </a:pPr>
            <a:r>
              <a:t>業界標準</a:t>
            </a:r>
          </a:p>
        </p:txBody>
      </p:sp>
      <p:sp>
        <p:nvSpPr>
          <p:cNvPr id="9" name="TextBox 8"/>
          <p:cNvSpPr txBox="1"/>
          <p:nvPr/>
        </p:nvSpPr>
        <p:spPr>
          <a:xfrm>
            <a:off x="232880" y="1937360"/>
            <a:ext cx="1554480" cy="274320"/>
          </a:xfrm>
          <a:prstGeom prst="rect">
            <a:avLst/>
          </a:prstGeom>
          <a:noFill/>
        </p:spPr>
        <p:txBody>
          <a:bodyPr wrap="square">
            <a:spAutoFit/>
          </a:bodyPr>
          <a:lstStyle/>
          <a:p>
            <a:pPr algn="ctr">
              <a:defRPr sz="1200" b="1">
                <a:solidFill>
                  <a:srgbClr val="B8860B"/>
                </a:solidFill>
              </a:defRPr>
            </a:pPr>
            <a:r>
              <a:t>テンプレート</a:t>
            </a:r>
          </a:p>
        </p:txBody>
      </p:sp>
      <p:sp>
        <p:nvSpPr>
          <p:cNvPr id="10" name="TextBox 9"/>
          <p:cNvSpPr txBox="1"/>
          <p:nvPr/>
        </p:nvSpPr>
        <p:spPr>
          <a:xfrm>
            <a:off x="232880" y="2377440"/>
            <a:ext cx="1554480" cy="274320"/>
          </a:xfrm>
          <a:prstGeom prst="rect">
            <a:avLst/>
          </a:prstGeom>
          <a:noFill/>
        </p:spPr>
        <p:txBody>
          <a:bodyPr wrap="square">
            <a:spAutoFit/>
          </a:bodyPr>
          <a:lstStyle/>
          <a:p>
            <a:pPr algn="ctr">
              <a:defRPr sz="900" b="0">
                <a:solidFill>
                  <a:srgbClr val="666666"/>
                </a:solidFill>
              </a:defRPr>
            </a:pPr>
            <a:r>
              <a:t>国交省基準をベースに</a:t>
            </a:r>
          </a:p>
        </p:txBody>
      </p:sp>
      <p:sp>
        <p:nvSpPr>
          <p:cNvPr id="11" name="TextBox 10"/>
          <p:cNvSpPr txBox="1"/>
          <p:nvPr/>
        </p:nvSpPr>
        <p:spPr>
          <a:xfrm>
            <a:off x="232880" y="2557440"/>
            <a:ext cx="1554480" cy="274320"/>
          </a:xfrm>
          <a:prstGeom prst="rect">
            <a:avLst/>
          </a:prstGeom>
          <a:noFill/>
        </p:spPr>
        <p:txBody>
          <a:bodyPr wrap="square">
            <a:spAutoFit/>
          </a:bodyPr>
          <a:lstStyle/>
          <a:p>
            <a:pPr algn="ctr">
              <a:defRPr sz="900" b="0">
                <a:solidFill>
                  <a:srgbClr val="666666"/>
                </a:solidFill>
              </a:defRPr>
            </a:pPr>
            <a:r>
              <a:t>業界共通のマスタ・帳票を整備</a:t>
            </a:r>
          </a:p>
        </p:txBody>
      </p:sp>
      <p:sp>
        <p:nvSpPr>
          <p:cNvPr id="12" name="Oval 11"/>
          <p:cNvSpPr/>
          <p:nvPr/>
        </p:nvSpPr>
        <p:spPr>
          <a:xfrm>
            <a:off x="2514600" y="1005840"/>
            <a:ext cx="548640" cy="54864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1051560"/>
            <a:ext cx="548640" cy="502920"/>
          </a:xfrm>
          <a:prstGeom prst="rect">
            <a:avLst/>
          </a:prstGeom>
          <a:noFill/>
        </p:spPr>
        <p:txBody>
          <a:bodyPr wrap="square">
            <a:spAutoFit/>
          </a:bodyPr>
          <a:lstStyle/>
          <a:p>
            <a:pPr algn="ctr">
              <a:defRPr sz="1600" b="1">
                <a:solidFill>
                  <a:srgbClr val="FFFFFF"/>
                </a:solidFill>
              </a:defRPr>
            </a:pPr>
            <a:r>
              <a:t>02</a:t>
            </a:r>
          </a:p>
        </p:txBody>
      </p:sp>
      <p:sp>
        <p:nvSpPr>
          <p:cNvPr id="14" name="Rounded Rectangle 13"/>
          <p:cNvSpPr/>
          <p:nvPr/>
        </p:nvSpPr>
        <p:spPr>
          <a:xfrm>
            <a:off x="1965960" y="1645920"/>
            <a:ext cx="1645920" cy="2743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15960" y="1737360"/>
            <a:ext cx="1554480" cy="274320"/>
          </a:xfrm>
          <a:prstGeom prst="rect">
            <a:avLst/>
          </a:prstGeom>
          <a:noFill/>
        </p:spPr>
        <p:txBody>
          <a:bodyPr wrap="square">
            <a:spAutoFit/>
          </a:bodyPr>
          <a:lstStyle/>
          <a:p>
            <a:pPr algn="ctr">
              <a:defRPr sz="1200" b="1">
                <a:solidFill>
                  <a:srgbClr val="2C7AB0"/>
                </a:solidFill>
              </a:defRPr>
            </a:pPr>
            <a:r>
              <a:t>ノーコード/</a:t>
            </a:r>
          </a:p>
        </p:txBody>
      </p:sp>
      <p:sp>
        <p:nvSpPr>
          <p:cNvPr id="16" name="TextBox 15"/>
          <p:cNvSpPr txBox="1"/>
          <p:nvPr/>
        </p:nvSpPr>
        <p:spPr>
          <a:xfrm>
            <a:off x="2015960" y="1937360"/>
            <a:ext cx="1554480" cy="274320"/>
          </a:xfrm>
          <a:prstGeom prst="rect">
            <a:avLst/>
          </a:prstGeom>
          <a:noFill/>
        </p:spPr>
        <p:txBody>
          <a:bodyPr wrap="square">
            <a:spAutoFit/>
          </a:bodyPr>
          <a:lstStyle/>
          <a:p>
            <a:pPr algn="ctr">
              <a:defRPr sz="1200" b="1">
                <a:solidFill>
                  <a:srgbClr val="2C7AB0"/>
                </a:solidFill>
              </a:defRPr>
            </a:pPr>
            <a:r>
              <a:t>ローコード活用</a:t>
            </a:r>
          </a:p>
        </p:txBody>
      </p:sp>
      <p:sp>
        <p:nvSpPr>
          <p:cNvPr id="17" name="TextBox 16"/>
          <p:cNvSpPr txBox="1"/>
          <p:nvPr/>
        </p:nvSpPr>
        <p:spPr>
          <a:xfrm>
            <a:off x="2015960" y="2377440"/>
            <a:ext cx="1554480" cy="274320"/>
          </a:xfrm>
          <a:prstGeom prst="rect">
            <a:avLst/>
          </a:prstGeom>
          <a:noFill/>
        </p:spPr>
        <p:txBody>
          <a:bodyPr wrap="square">
            <a:spAutoFit/>
          </a:bodyPr>
          <a:lstStyle/>
          <a:p>
            <a:pPr algn="ctr">
              <a:defRPr sz="900" b="0">
                <a:solidFill>
                  <a:srgbClr val="666666"/>
                </a:solidFill>
              </a:defRPr>
            </a:pPr>
            <a:r>
              <a:t>プログラミング不要で</a:t>
            </a:r>
          </a:p>
        </p:txBody>
      </p:sp>
      <p:sp>
        <p:nvSpPr>
          <p:cNvPr id="18" name="TextBox 17"/>
          <p:cNvSpPr txBox="1"/>
          <p:nvPr/>
        </p:nvSpPr>
        <p:spPr>
          <a:xfrm>
            <a:off x="2015960" y="2557440"/>
            <a:ext cx="1554480" cy="274320"/>
          </a:xfrm>
          <a:prstGeom prst="rect">
            <a:avLst/>
          </a:prstGeom>
          <a:noFill/>
        </p:spPr>
        <p:txBody>
          <a:bodyPr wrap="square">
            <a:spAutoFit/>
          </a:bodyPr>
          <a:lstStyle/>
          <a:p>
            <a:pPr algn="ctr">
              <a:defRPr sz="900" b="0">
                <a:solidFill>
                  <a:srgbClr val="666666"/>
                </a:solidFill>
              </a:defRPr>
            </a:pPr>
            <a:r>
              <a:t>設定変更できる仕組みを最大活用</a:t>
            </a:r>
          </a:p>
        </p:txBody>
      </p:sp>
      <p:sp>
        <p:nvSpPr>
          <p:cNvPr id="19" name="Oval 18"/>
          <p:cNvSpPr/>
          <p:nvPr/>
        </p:nvSpPr>
        <p:spPr>
          <a:xfrm>
            <a:off x="4297680" y="1005840"/>
            <a:ext cx="548640" cy="54864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1051560"/>
            <a:ext cx="548640" cy="502920"/>
          </a:xfrm>
          <a:prstGeom prst="rect">
            <a:avLst/>
          </a:prstGeom>
          <a:noFill/>
        </p:spPr>
        <p:txBody>
          <a:bodyPr wrap="square">
            <a:spAutoFit/>
          </a:bodyPr>
          <a:lstStyle/>
          <a:p>
            <a:pPr algn="ctr">
              <a:defRPr sz="1600" b="1">
                <a:solidFill>
                  <a:srgbClr val="FFFFFF"/>
                </a:solidFill>
              </a:defRPr>
            </a:pPr>
            <a:r>
              <a:t>03</a:t>
            </a:r>
          </a:p>
        </p:txBody>
      </p:sp>
      <p:sp>
        <p:nvSpPr>
          <p:cNvPr id="21" name="Rounded Rectangle 20"/>
          <p:cNvSpPr/>
          <p:nvPr/>
        </p:nvSpPr>
        <p:spPr>
          <a:xfrm>
            <a:off x="3749040" y="1645920"/>
            <a:ext cx="1645920" cy="2743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9040" y="1737360"/>
            <a:ext cx="1554480" cy="274320"/>
          </a:xfrm>
          <a:prstGeom prst="rect">
            <a:avLst/>
          </a:prstGeom>
          <a:noFill/>
        </p:spPr>
        <p:txBody>
          <a:bodyPr wrap="square">
            <a:spAutoFit/>
          </a:bodyPr>
          <a:lstStyle/>
          <a:p>
            <a:pPr algn="ctr">
              <a:defRPr sz="1200" b="1">
                <a:solidFill>
                  <a:srgbClr val="27AE60"/>
                </a:solidFill>
              </a:defRPr>
            </a:pPr>
            <a:r>
              <a:t>API連携の</a:t>
            </a:r>
          </a:p>
        </p:txBody>
      </p:sp>
      <p:sp>
        <p:nvSpPr>
          <p:cNvPr id="23" name="TextBox 22"/>
          <p:cNvSpPr txBox="1"/>
          <p:nvPr/>
        </p:nvSpPr>
        <p:spPr>
          <a:xfrm>
            <a:off x="3799040" y="1937360"/>
            <a:ext cx="1554480" cy="274320"/>
          </a:xfrm>
          <a:prstGeom prst="rect">
            <a:avLst/>
          </a:prstGeom>
          <a:noFill/>
        </p:spPr>
        <p:txBody>
          <a:bodyPr wrap="square">
            <a:spAutoFit/>
          </a:bodyPr>
          <a:lstStyle/>
          <a:p>
            <a:pPr algn="ctr">
              <a:defRPr sz="1200" b="1">
                <a:solidFill>
                  <a:srgbClr val="27AE60"/>
                </a:solidFill>
              </a:defRPr>
            </a:pPr>
            <a:r>
              <a:t>標準化</a:t>
            </a:r>
          </a:p>
        </p:txBody>
      </p:sp>
      <p:sp>
        <p:nvSpPr>
          <p:cNvPr id="24" name="TextBox 23"/>
          <p:cNvSpPr txBox="1"/>
          <p:nvPr/>
        </p:nvSpPr>
        <p:spPr>
          <a:xfrm>
            <a:off x="3799040" y="2377440"/>
            <a:ext cx="1554480" cy="274320"/>
          </a:xfrm>
          <a:prstGeom prst="rect">
            <a:avLst/>
          </a:prstGeom>
          <a:noFill/>
        </p:spPr>
        <p:txBody>
          <a:bodyPr wrap="square">
            <a:spAutoFit/>
          </a:bodyPr>
          <a:lstStyle/>
          <a:p>
            <a:pPr algn="ctr">
              <a:defRPr sz="900" b="0">
                <a:solidFill>
                  <a:srgbClr val="666666"/>
                </a:solidFill>
              </a:defRPr>
            </a:pPr>
            <a:r>
              <a:t>外部システムとの</a:t>
            </a:r>
          </a:p>
        </p:txBody>
      </p:sp>
      <p:sp>
        <p:nvSpPr>
          <p:cNvPr id="25" name="TextBox 24"/>
          <p:cNvSpPr txBox="1"/>
          <p:nvPr/>
        </p:nvSpPr>
        <p:spPr>
          <a:xfrm>
            <a:off x="3799040" y="2557440"/>
            <a:ext cx="1554480" cy="274320"/>
          </a:xfrm>
          <a:prstGeom prst="rect">
            <a:avLst/>
          </a:prstGeom>
          <a:noFill/>
        </p:spPr>
        <p:txBody>
          <a:bodyPr wrap="square">
            <a:spAutoFit/>
          </a:bodyPr>
          <a:lstStyle/>
          <a:p>
            <a:pPr algn="ctr">
              <a:defRPr sz="900" b="0">
                <a:solidFill>
                  <a:srgbClr val="666666"/>
                </a:solidFill>
              </a:defRPr>
            </a:pPr>
            <a:r>
              <a:t>データ連携を標準インターフェースで</a:t>
            </a:r>
          </a:p>
        </p:txBody>
      </p:sp>
      <p:sp>
        <p:nvSpPr>
          <p:cNvPr id="26" name="Oval 25"/>
          <p:cNvSpPr/>
          <p:nvPr/>
        </p:nvSpPr>
        <p:spPr>
          <a:xfrm>
            <a:off x="6080760" y="1005840"/>
            <a:ext cx="548640" cy="54864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60" y="1051560"/>
            <a:ext cx="548640" cy="502920"/>
          </a:xfrm>
          <a:prstGeom prst="rect">
            <a:avLst/>
          </a:prstGeom>
          <a:noFill/>
        </p:spPr>
        <p:txBody>
          <a:bodyPr wrap="square">
            <a:spAutoFit/>
          </a:bodyPr>
          <a:lstStyle/>
          <a:p>
            <a:pPr algn="ctr">
              <a:defRPr sz="1600" b="1">
                <a:solidFill>
                  <a:srgbClr val="FFFFFF"/>
                </a:solidFill>
              </a:defRPr>
            </a:pPr>
            <a:r>
              <a:t>04</a:t>
            </a:r>
          </a:p>
        </p:txBody>
      </p:sp>
      <p:sp>
        <p:nvSpPr>
          <p:cNvPr id="28" name="Rounded Rectangle 27"/>
          <p:cNvSpPr/>
          <p:nvPr/>
        </p:nvSpPr>
        <p:spPr>
          <a:xfrm>
            <a:off x="5532120" y="1645920"/>
            <a:ext cx="1645920" cy="2743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82120" y="1737360"/>
            <a:ext cx="1554480" cy="274320"/>
          </a:xfrm>
          <a:prstGeom prst="rect">
            <a:avLst/>
          </a:prstGeom>
          <a:noFill/>
        </p:spPr>
        <p:txBody>
          <a:bodyPr wrap="square">
            <a:spAutoFit/>
          </a:bodyPr>
          <a:lstStyle/>
          <a:p>
            <a:pPr algn="ctr">
              <a:defRPr sz="1200" b="1">
                <a:solidFill>
                  <a:srgbClr val="8E44AD"/>
                </a:solidFill>
              </a:defRPr>
            </a:pPr>
            <a:r>
              <a:t>Fit &amp; Gap</a:t>
            </a:r>
          </a:p>
        </p:txBody>
      </p:sp>
      <p:sp>
        <p:nvSpPr>
          <p:cNvPr id="30" name="TextBox 29"/>
          <p:cNvSpPr txBox="1"/>
          <p:nvPr/>
        </p:nvSpPr>
        <p:spPr>
          <a:xfrm>
            <a:off x="5582120" y="1937360"/>
            <a:ext cx="1554480" cy="274320"/>
          </a:xfrm>
          <a:prstGeom prst="rect">
            <a:avLst/>
          </a:prstGeom>
          <a:noFill/>
        </p:spPr>
        <p:txBody>
          <a:bodyPr wrap="square">
            <a:spAutoFit/>
          </a:bodyPr>
          <a:lstStyle/>
          <a:p>
            <a:pPr algn="ctr">
              <a:defRPr sz="1200" b="1">
                <a:solidFill>
                  <a:srgbClr val="8E44AD"/>
                </a:solidFill>
              </a:defRPr>
            </a:pPr>
            <a:r>
              <a:t>分析の革新</a:t>
            </a:r>
          </a:p>
        </p:txBody>
      </p:sp>
      <p:sp>
        <p:nvSpPr>
          <p:cNvPr id="31" name="TextBox 30"/>
          <p:cNvSpPr txBox="1"/>
          <p:nvPr/>
        </p:nvSpPr>
        <p:spPr>
          <a:xfrm>
            <a:off x="5582120" y="2377440"/>
            <a:ext cx="1554480" cy="274320"/>
          </a:xfrm>
          <a:prstGeom prst="rect">
            <a:avLst/>
          </a:prstGeom>
          <a:noFill/>
        </p:spPr>
        <p:txBody>
          <a:bodyPr wrap="square">
            <a:spAutoFit/>
          </a:bodyPr>
          <a:lstStyle/>
          <a:p>
            <a:pPr algn="ctr">
              <a:defRPr sz="900" b="0">
                <a:solidFill>
                  <a:srgbClr val="666666"/>
                </a:solidFill>
              </a:defRPr>
            </a:pPr>
            <a:r>
              <a:t>「できない」を探すのではなく</a:t>
            </a:r>
          </a:p>
        </p:txBody>
      </p:sp>
      <p:sp>
        <p:nvSpPr>
          <p:cNvPr id="32" name="TextBox 31"/>
          <p:cNvSpPr txBox="1"/>
          <p:nvPr/>
        </p:nvSpPr>
        <p:spPr>
          <a:xfrm>
            <a:off x="5582120" y="2557440"/>
            <a:ext cx="1554480" cy="274320"/>
          </a:xfrm>
          <a:prstGeom prst="rect">
            <a:avLst/>
          </a:prstGeom>
          <a:noFill/>
        </p:spPr>
        <p:txBody>
          <a:bodyPr wrap="square">
            <a:spAutoFit/>
          </a:bodyPr>
          <a:lstStyle/>
          <a:p>
            <a:pPr algn="ctr">
              <a:defRPr sz="900" b="0">
                <a:solidFill>
                  <a:srgbClr val="666666"/>
                </a:solidFill>
              </a:defRPr>
            </a:pPr>
            <a:r>
              <a:t>「どう合わせるか」を提案</a:t>
            </a:r>
          </a:p>
        </p:txBody>
      </p:sp>
      <p:sp>
        <p:nvSpPr>
          <p:cNvPr id="33" name="Oval 32"/>
          <p:cNvSpPr/>
          <p:nvPr/>
        </p:nvSpPr>
        <p:spPr>
          <a:xfrm>
            <a:off x="7863840" y="1005840"/>
            <a:ext cx="548640" cy="54864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1051560"/>
            <a:ext cx="548640" cy="502920"/>
          </a:xfrm>
          <a:prstGeom prst="rect">
            <a:avLst/>
          </a:prstGeom>
          <a:noFill/>
        </p:spPr>
        <p:txBody>
          <a:bodyPr wrap="square">
            <a:spAutoFit/>
          </a:bodyPr>
          <a:lstStyle/>
          <a:p>
            <a:pPr algn="ctr">
              <a:defRPr sz="1600" b="1">
                <a:solidFill>
                  <a:srgbClr val="FFFFFF"/>
                </a:solidFill>
              </a:defRPr>
            </a:pPr>
            <a:r>
              <a:t>05</a:t>
            </a:r>
          </a:p>
        </p:txBody>
      </p:sp>
      <p:sp>
        <p:nvSpPr>
          <p:cNvPr id="35" name="Rounded Rectangle 34"/>
          <p:cNvSpPr/>
          <p:nvPr/>
        </p:nvSpPr>
        <p:spPr>
          <a:xfrm>
            <a:off x="7315200" y="1645920"/>
            <a:ext cx="1645920" cy="2743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65200" y="1737360"/>
            <a:ext cx="1554480" cy="274320"/>
          </a:xfrm>
          <a:prstGeom prst="rect">
            <a:avLst/>
          </a:prstGeom>
          <a:noFill/>
        </p:spPr>
        <p:txBody>
          <a:bodyPr wrap="square">
            <a:spAutoFit/>
          </a:bodyPr>
          <a:lstStyle/>
          <a:p>
            <a:pPr algn="ctr">
              <a:defRPr sz="1200" b="1">
                <a:solidFill>
                  <a:srgbClr val="E67E22"/>
                </a:solidFill>
              </a:defRPr>
            </a:pPr>
            <a:r>
              <a:t>モバイル</a:t>
            </a:r>
          </a:p>
        </p:txBody>
      </p:sp>
      <p:sp>
        <p:nvSpPr>
          <p:cNvPr id="37" name="TextBox 36"/>
          <p:cNvSpPr txBox="1"/>
          <p:nvPr/>
        </p:nvSpPr>
        <p:spPr>
          <a:xfrm>
            <a:off x="7365200" y="1937360"/>
            <a:ext cx="1554480" cy="274320"/>
          </a:xfrm>
          <a:prstGeom prst="rect">
            <a:avLst/>
          </a:prstGeom>
          <a:noFill/>
        </p:spPr>
        <p:txBody>
          <a:bodyPr wrap="square">
            <a:spAutoFit/>
          </a:bodyPr>
          <a:lstStyle/>
          <a:p>
            <a:pPr algn="ctr">
              <a:defRPr sz="1200" b="1">
                <a:solidFill>
                  <a:srgbClr val="E67E22"/>
                </a:solidFill>
              </a:defRPr>
            </a:pPr>
            <a:r>
              <a:t>活用</a:t>
            </a:r>
          </a:p>
        </p:txBody>
      </p:sp>
      <p:sp>
        <p:nvSpPr>
          <p:cNvPr id="38" name="TextBox 37"/>
          <p:cNvSpPr txBox="1"/>
          <p:nvPr/>
        </p:nvSpPr>
        <p:spPr>
          <a:xfrm>
            <a:off x="7365200" y="2377440"/>
            <a:ext cx="1554480" cy="274320"/>
          </a:xfrm>
          <a:prstGeom prst="rect">
            <a:avLst/>
          </a:prstGeom>
          <a:noFill/>
        </p:spPr>
        <p:txBody>
          <a:bodyPr wrap="square">
            <a:spAutoFit/>
          </a:bodyPr>
          <a:lstStyle/>
          <a:p>
            <a:pPr algn="ctr">
              <a:defRPr sz="900" b="0">
                <a:solidFill>
                  <a:srgbClr val="666666"/>
                </a:solidFill>
              </a:defRPr>
            </a:pPr>
            <a:r>
              <a:t>現場からの入力を</a:t>
            </a:r>
          </a:p>
        </p:txBody>
      </p:sp>
      <p:sp>
        <p:nvSpPr>
          <p:cNvPr id="39" name="TextBox 38"/>
          <p:cNvSpPr txBox="1"/>
          <p:nvPr/>
        </p:nvSpPr>
        <p:spPr>
          <a:xfrm>
            <a:off x="7365200" y="2557440"/>
            <a:ext cx="1554480" cy="274320"/>
          </a:xfrm>
          <a:prstGeom prst="rect">
            <a:avLst/>
          </a:prstGeom>
          <a:noFill/>
        </p:spPr>
        <p:txBody>
          <a:bodyPr wrap="square">
            <a:spAutoFit/>
          </a:bodyPr>
          <a:lstStyle/>
          <a:p>
            <a:pPr algn="ctr">
              <a:defRPr sz="900" b="0">
                <a:solidFill>
                  <a:srgbClr val="666666"/>
                </a:solidFill>
              </a:defRPr>
            </a:pPr>
            <a:r>
              <a:t>スマホ・タブレットで最適化</a:t>
            </a:r>
          </a:p>
        </p:txBody>
      </p:sp>
      <p:sp>
        <p:nvSpPr>
          <p:cNvPr id="40" name="TextBox 3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1" name="TextBox 4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13</a:t>
            </a:r>
          </a:p>
        </p:txBody>
      </p:sp>
      <p:sp>
        <p:nvSpPr>
          <p:cNvPr id="42" name="Rectangle 41"/>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Fit &amp; Gap 分析の新しい考え方</a:t>
            </a:r>
          </a:p>
        </p:txBody>
      </p:sp>
      <p:sp>
        <p:nvSpPr>
          <p:cNvPr id="5" name="TextBox 4"/>
          <p:cNvSpPr txBox="1"/>
          <p:nvPr/>
        </p:nvSpPr>
        <p:spPr>
          <a:xfrm>
            <a:off x="274320" y="914400"/>
            <a:ext cx="3931920" cy="365760"/>
          </a:xfrm>
          <a:prstGeom prst="rect">
            <a:avLst/>
          </a:prstGeom>
          <a:noFill/>
        </p:spPr>
        <p:txBody>
          <a:bodyPr wrap="square">
            <a:spAutoFit/>
          </a:bodyPr>
          <a:lstStyle/>
          <a:p>
            <a:pPr algn="l">
              <a:defRPr sz="1400" b="1">
                <a:solidFill>
                  <a:srgbClr val="C0392B"/>
                </a:solidFill>
              </a:defRPr>
            </a:pPr>
            <a:r>
              <a:t>従来のアプローチ</a:t>
            </a:r>
          </a:p>
        </p:txBody>
      </p:sp>
      <p:sp>
        <p:nvSpPr>
          <p:cNvPr id="6" name="Rounded Rectangle 5"/>
          <p:cNvSpPr/>
          <p:nvPr/>
        </p:nvSpPr>
        <p:spPr>
          <a:xfrm>
            <a:off x="274320" y="1371600"/>
            <a:ext cx="3931920" cy="1371600"/>
          </a:xfrm>
          <a:prstGeom prst="roundRect">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657600" cy="274320"/>
          </a:xfrm>
          <a:prstGeom prst="rect">
            <a:avLst/>
          </a:prstGeom>
          <a:noFill/>
        </p:spPr>
        <p:txBody>
          <a:bodyPr wrap="square">
            <a:spAutoFit/>
          </a:bodyPr>
          <a:lstStyle/>
          <a:p>
            <a:pPr algn="l">
              <a:defRPr sz="1100" b="0">
                <a:solidFill>
                  <a:srgbClr val="333333"/>
                </a:solidFill>
              </a:defRPr>
            </a:pPr>
            <a:r>
              <a:t>  1. 標準機能を見せる</a:t>
            </a:r>
          </a:p>
        </p:txBody>
      </p:sp>
      <p:sp>
        <p:nvSpPr>
          <p:cNvPr id="8" name="TextBox 7"/>
          <p:cNvSpPr txBox="1"/>
          <p:nvPr/>
        </p:nvSpPr>
        <p:spPr>
          <a:xfrm>
            <a:off x="457200" y="1737360"/>
            <a:ext cx="3657600" cy="274320"/>
          </a:xfrm>
          <a:prstGeom prst="rect">
            <a:avLst/>
          </a:prstGeom>
          <a:noFill/>
        </p:spPr>
        <p:txBody>
          <a:bodyPr wrap="square">
            <a:spAutoFit/>
          </a:bodyPr>
          <a:lstStyle/>
          <a:p>
            <a:pPr algn="l">
              <a:defRPr sz="1100" b="0">
                <a:solidFill>
                  <a:srgbClr val="333333"/>
                </a:solidFill>
              </a:defRPr>
            </a:pPr>
            <a:r>
              <a:t>  2. 「できない」ことを洗い出す</a:t>
            </a:r>
          </a:p>
        </p:txBody>
      </p:sp>
      <p:sp>
        <p:nvSpPr>
          <p:cNvPr id="9" name="TextBox 8"/>
          <p:cNvSpPr txBox="1"/>
          <p:nvPr/>
        </p:nvSpPr>
        <p:spPr>
          <a:xfrm>
            <a:off x="457200" y="2011680"/>
            <a:ext cx="3657600" cy="274320"/>
          </a:xfrm>
          <a:prstGeom prst="rect">
            <a:avLst/>
          </a:prstGeom>
          <a:noFill/>
        </p:spPr>
        <p:txBody>
          <a:bodyPr wrap="square">
            <a:spAutoFit/>
          </a:bodyPr>
          <a:lstStyle/>
          <a:p>
            <a:pPr algn="l">
              <a:defRPr sz="1100" b="0">
                <a:solidFill>
                  <a:srgbClr val="333333"/>
                </a:solidFill>
              </a:defRPr>
            </a:pPr>
            <a:r>
              <a:t>  3. 「できないならカスタマイズ」</a:t>
            </a:r>
          </a:p>
        </p:txBody>
      </p:sp>
      <p:sp>
        <p:nvSpPr>
          <p:cNvPr id="10" name="TextBox 9"/>
          <p:cNvSpPr txBox="1"/>
          <p:nvPr/>
        </p:nvSpPr>
        <p:spPr>
          <a:xfrm>
            <a:off x="457200" y="2286000"/>
            <a:ext cx="3657600" cy="274320"/>
          </a:xfrm>
          <a:prstGeom prst="rect">
            <a:avLst/>
          </a:prstGeom>
          <a:noFill/>
        </p:spPr>
        <p:txBody>
          <a:bodyPr wrap="square">
            <a:spAutoFit/>
          </a:bodyPr>
          <a:lstStyle/>
          <a:p>
            <a:pPr algn="l">
              <a:defRPr sz="1100" b="1">
                <a:solidFill>
                  <a:srgbClr val="C0392B"/>
                </a:solidFill>
              </a:defRPr>
            </a:pPr>
            <a:r>
              <a:t>  4. 費用が膨らむ...</a:t>
            </a:r>
          </a:p>
        </p:txBody>
      </p:sp>
      <p:sp>
        <p:nvSpPr>
          <p:cNvPr id="11" name="TextBox 10"/>
          <p:cNvSpPr txBox="1"/>
          <p:nvPr/>
        </p:nvSpPr>
        <p:spPr>
          <a:xfrm>
            <a:off x="4754880" y="914400"/>
            <a:ext cx="3931920" cy="365760"/>
          </a:xfrm>
          <a:prstGeom prst="rect">
            <a:avLst/>
          </a:prstGeom>
          <a:noFill/>
        </p:spPr>
        <p:txBody>
          <a:bodyPr wrap="square">
            <a:spAutoFit/>
          </a:bodyPr>
          <a:lstStyle/>
          <a:p>
            <a:pPr algn="l">
              <a:defRPr sz="1400" b="1">
                <a:solidFill>
                  <a:srgbClr val="27AE60"/>
                </a:solidFill>
              </a:defRPr>
            </a:pPr>
            <a:r>
              <a:t>新しいアプローチ</a:t>
            </a:r>
          </a:p>
        </p:txBody>
      </p:sp>
      <p:sp>
        <p:nvSpPr>
          <p:cNvPr id="12" name="Rounded Rectangle 11"/>
          <p:cNvSpPr/>
          <p:nvPr/>
        </p:nvSpPr>
        <p:spPr>
          <a:xfrm>
            <a:off x="4754880" y="1371600"/>
            <a:ext cx="3931920" cy="1371600"/>
          </a:xfrm>
          <a:prstGeom prst="roundRect">
            <a:avLst/>
          </a:prstGeom>
          <a:solidFill>
            <a:srgbClr val="F0F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1463040"/>
            <a:ext cx="3657600" cy="274320"/>
          </a:xfrm>
          <a:prstGeom prst="rect">
            <a:avLst/>
          </a:prstGeom>
          <a:noFill/>
        </p:spPr>
        <p:txBody>
          <a:bodyPr wrap="square">
            <a:spAutoFit/>
          </a:bodyPr>
          <a:lstStyle/>
          <a:p>
            <a:pPr algn="l">
              <a:defRPr sz="1100" b="0">
                <a:solidFill>
                  <a:srgbClr val="333333"/>
                </a:solidFill>
              </a:defRPr>
            </a:pPr>
            <a:r>
              <a:t>  1. 業務プロセスを深く理解する</a:t>
            </a:r>
          </a:p>
        </p:txBody>
      </p:sp>
      <p:sp>
        <p:nvSpPr>
          <p:cNvPr id="14" name="TextBox 13"/>
          <p:cNvSpPr txBox="1"/>
          <p:nvPr/>
        </p:nvSpPr>
        <p:spPr>
          <a:xfrm>
            <a:off x="4937760" y="1737360"/>
            <a:ext cx="3657600" cy="274320"/>
          </a:xfrm>
          <a:prstGeom prst="rect">
            <a:avLst/>
          </a:prstGeom>
          <a:noFill/>
        </p:spPr>
        <p:txBody>
          <a:bodyPr wrap="square">
            <a:spAutoFit/>
          </a:bodyPr>
          <a:lstStyle/>
          <a:p>
            <a:pPr algn="l">
              <a:defRPr sz="1100" b="0">
                <a:solidFill>
                  <a:srgbClr val="333333"/>
                </a:solidFill>
              </a:defRPr>
            </a:pPr>
            <a:r>
              <a:t>  2. 「本当に必要か」を問い直す</a:t>
            </a:r>
          </a:p>
        </p:txBody>
      </p:sp>
      <p:sp>
        <p:nvSpPr>
          <p:cNvPr id="15" name="TextBox 14"/>
          <p:cNvSpPr txBox="1"/>
          <p:nvPr/>
        </p:nvSpPr>
        <p:spPr>
          <a:xfrm>
            <a:off x="4937760" y="2011680"/>
            <a:ext cx="3657600" cy="274320"/>
          </a:xfrm>
          <a:prstGeom prst="rect">
            <a:avLst/>
          </a:prstGeom>
          <a:noFill/>
        </p:spPr>
        <p:txBody>
          <a:bodyPr wrap="square">
            <a:spAutoFit/>
          </a:bodyPr>
          <a:lstStyle/>
          <a:p>
            <a:pPr algn="l">
              <a:defRPr sz="1100" b="0">
                <a:solidFill>
                  <a:srgbClr val="333333"/>
                </a:solidFill>
              </a:defRPr>
            </a:pPr>
            <a:r>
              <a:t>  3. 標準機能で「どう実現するか」提案</a:t>
            </a:r>
          </a:p>
        </p:txBody>
      </p:sp>
      <p:sp>
        <p:nvSpPr>
          <p:cNvPr id="16" name="TextBox 15"/>
          <p:cNvSpPr txBox="1"/>
          <p:nvPr/>
        </p:nvSpPr>
        <p:spPr>
          <a:xfrm>
            <a:off x="4937760" y="2286000"/>
            <a:ext cx="3657600" cy="274320"/>
          </a:xfrm>
          <a:prstGeom prst="rect">
            <a:avLst/>
          </a:prstGeom>
          <a:noFill/>
        </p:spPr>
        <p:txBody>
          <a:bodyPr wrap="square">
            <a:spAutoFit/>
          </a:bodyPr>
          <a:lstStyle/>
          <a:p>
            <a:pPr algn="l">
              <a:defRPr sz="1100" b="1">
                <a:solidFill>
                  <a:srgbClr val="27AE60"/>
                </a:solidFill>
              </a:defRPr>
            </a:pPr>
            <a:r>
              <a:t>  4. 業務の方を変える選択肢も提示</a:t>
            </a:r>
          </a:p>
        </p:txBody>
      </p:sp>
      <p:sp>
        <p:nvSpPr>
          <p:cNvPr id="17" name="Rounded Rectangle 16"/>
          <p:cNvSpPr/>
          <p:nvPr/>
        </p:nvSpPr>
        <p:spPr>
          <a:xfrm>
            <a:off x="274320" y="3017520"/>
            <a:ext cx="8412480" cy="13716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108960"/>
            <a:ext cx="8046720" cy="365760"/>
          </a:xfrm>
          <a:prstGeom prst="rect">
            <a:avLst/>
          </a:prstGeom>
          <a:noFill/>
        </p:spPr>
        <p:txBody>
          <a:bodyPr wrap="square">
            <a:spAutoFit/>
          </a:bodyPr>
          <a:lstStyle/>
          <a:p>
            <a:pPr algn="ctr">
              <a:defRPr sz="1300" b="1">
                <a:solidFill>
                  <a:srgbClr val="8B7536"/>
                </a:solidFill>
              </a:defRPr>
            </a:pPr>
            <a:r>
              <a:t>Fit &amp; Gap 分析の3段階アプローチ</a:t>
            </a:r>
          </a:p>
        </p:txBody>
      </p:sp>
      <p:sp>
        <p:nvSpPr>
          <p:cNvPr id="19" name="Rounded Rectangle 18"/>
          <p:cNvSpPr/>
          <p:nvPr/>
        </p:nvSpPr>
        <p:spPr>
          <a:xfrm>
            <a:off x="457200" y="3474720"/>
            <a:ext cx="246888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7200" y="3520440"/>
            <a:ext cx="914400" cy="274320"/>
          </a:xfrm>
          <a:prstGeom prst="rect">
            <a:avLst/>
          </a:prstGeom>
          <a:noFill/>
        </p:spPr>
        <p:txBody>
          <a:bodyPr wrap="square">
            <a:spAutoFit/>
          </a:bodyPr>
          <a:lstStyle/>
          <a:p>
            <a:pPr algn="l">
              <a:defRPr sz="1100" b="1">
                <a:solidFill>
                  <a:srgbClr val="27AE60"/>
                </a:solidFill>
              </a:defRPr>
            </a:pPr>
            <a:r>
              <a:t>Level 1</a:t>
            </a:r>
          </a:p>
        </p:txBody>
      </p:sp>
      <p:sp>
        <p:nvSpPr>
          <p:cNvPr id="21" name="TextBox 20"/>
          <p:cNvSpPr txBox="1"/>
          <p:nvPr/>
        </p:nvSpPr>
        <p:spPr>
          <a:xfrm>
            <a:off x="487200" y="3749039"/>
            <a:ext cx="914400" cy="274320"/>
          </a:xfrm>
          <a:prstGeom prst="rect">
            <a:avLst/>
          </a:prstGeom>
          <a:noFill/>
        </p:spPr>
        <p:txBody>
          <a:bodyPr wrap="square">
            <a:spAutoFit/>
          </a:bodyPr>
          <a:lstStyle/>
          <a:p>
            <a:pPr algn="l">
              <a:defRPr sz="1100" b="1">
                <a:solidFill>
                  <a:srgbClr val="27AE60"/>
                </a:solidFill>
              </a:defRPr>
            </a:pPr>
            <a:r>
              <a:t>設定で対応</a:t>
            </a:r>
          </a:p>
        </p:txBody>
      </p:sp>
      <p:sp>
        <p:nvSpPr>
          <p:cNvPr id="22" name="TextBox 21"/>
          <p:cNvSpPr txBox="1"/>
          <p:nvPr/>
        </p:nvSpPr>
        <p:spPr>
          <a:xfrm>
            <a:off x="1463040" y="3520440"/>
            <a:ext cx="1371600" cy="274320"/>
          </a:xfrm>
          <a:prstGeom prst="rect">
            <a:avLst/>
          </a:prstGeom>
          <a:noFill/>
        </p:spPr>
        <p:txBody>
          <a:bodyPr wrap="square">
            <a:spAutoFit/>
          </a:bodyPr>
          <a:lstStyle/>
          <a:p>
            <a:pPr algn="l">
              <a:defRPr sz="900" b="0">
                <a:solidFill>
                  <a:srgbClr val="666666"/>
                </a:solidFill>
              </a:defRPr>
            </a:pPr>
            <a:r>
              <a:t>標準の設定・パラメータ</a:t>
            </a:r>
          </a:p>
        </p:txBody>
      </p:sp>
      <p:sp>
        <p:nvSpPr>
          <p:cNvPr id="23" name="TextBox 22"/>
          <p:cNvSpPr txBox="1"/>
          <p:nvPr/>
        </p:nvSpPr>
        <p:spPr>
          <a:xfrm>
            <a:off x="1463040" y="3700440"/>
            <a:ext cx="1371600" cy="274320"/>
          </a:xfrm>
          <a:prstGeom prst="rect">
            <a:avLst/>
          </a:prstGeom>
          <a:noFill/>
        </p:spPr>
        <p:txBody>
          <a:bodyPr wrap="square">
            <a:spAutoFit/>
          </a:bodyPr>
          <a:lstStyle/>
          <a:p>
            <a:pPr algn="l">
              <a:defRPr sz="900" b="0">
                <a:solidFill>
                  <a:srgbClr val="666666"/>
                </a:solidFill>
              </a:defRPr>
            </a:pPr>
            <a:r>
              <a:t>で解決できないか？</a:t>
            </a:r>
          </a:p>
        </p:txBody>
      </p:sp>
      <p:sp>
        <p:nvSpPr>
          <p:cNvPr id="24" name="Rounded Rectangle 23"/>
          <p:cNvSpPr/>
          <p:nvPr/>
        </p:nvSpPr>
        <p:spPr>
          <a:xfrm>
            <a:off x="3200400" y="3474720"/>
            <a:ext cx="246888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30400" y="3520440"/>
            <a:ext cx="914400" cy="274320"/>
          </a:xfrm>
          <a:prstGeom prst="rect">
            <a:avLst/>
          </a:prstGeom>
          <a:noFill/>
        </p:spPr>
        <p:txBody>
          <a:bodyPr wrap="square">
            <a:spAutoFit/>
          </a:bodyPr>
          <a:lstStyle/>
          <a:p>
            <a:pPr algn="l">
              <a:defRPr sz="1100" b="1">
                <a:solidFill>
                  <a:srgbClr val="2C7AB0"/>
                </a:solidFill>
              </a:defRPr>
            </a:pPr>
            <a:r>
              <a:t>Level 2</a:t>
            </a:r>
          </a:p>
        </p:txBody>
      </p:sp>
      <p:sp>
        <p:nvSpPr>
          <p:cNvPr id="26" name="TextBox 25"/>
          <p:cNvSpPr txBox="1"/>
          <p:nvPr/>
        </p:nvSpPr>
        <p:spPr>
          <a:xfrm>
            <a:off x="3230400" y="3749039"/>
            <a:ext cx="914400" cy="274320"/>
          </a:xfrm>
          <a:prstGeom prst="rect">
            <a:avLst/>
          </a:prstGeom>
          <a:noFill/>
        </p:spPr>
        <p:txBody>
          <a:bodyPr wrap="square">
            <a:spAutoFit/>
          </a:bodyPr>
          <a:lstStyle/>
          <a:p>
            <a:pPr algn="l">
              <a:defRPr sz="1100" b="1">
                <a:solidFill>
                  <a:srgbClr val="2C7AB0"/>
                </a:solidFill>
              </a:defRPr>
            </a:pPr>
            <a:r>
              <a:t>運用で対応</a:t>
            </a:r>
          </a:p>
        </p:txBody>
      </p:sp>
      <p:sp>
        <p:nvSpPr>
          <p:cNvPr id="27" name="TextBox 26"/>
          <p:cNvSpPr txBox="1"/>
          <p:nvPr/>
        </p:nvSpPr>
        <p:spPr>
          <a:xfrm>
            <a:off x="4206240" y="3520440"/>
            <a:ext cx="1371600" cy="274320"/>
          </a:xfrm>
          <a:prstGeom prst="rect">
            <a:avLst/>
          </a:prstGeom>
          <a:noFill/>
        </p:spPr>
        <p:txBody>
          <a:bodyPr wrap="square">
            <a:spAutoFit/>
          </a:bodyPr>
          <a:lstStyle/>
          <a:p>
            <a:pPr algn="l">
              <a:defRPr sz="900" b="0">
                <a:solidFill>
                  <a:srgbClr val="666666"/>
                </a:solidFill>
              </a:defRPr>
            </a:pPr>
            <a:r>
              <a:t>業務プロセスの見直しで</a:t>
            </a:r>
          </a:p>
        </p:txBody>
      </p:sp>
      <p:sp>
        <p:nvSpPr>
          <p:cNvPr id="28" name="TextBox 27"/>
          <p:cNvSpPr txBox="1"/>
          <p:nvPr/>
        </p:nvSpPr>
        <p:spPr>
          <a:xfrm>
            <a:off x="4206240" y="3700440"/>
            <a:ext cx="1371600" cy="274320"/>
          </a:xfrm>
          <a:prstGeom prst="rect">
            <a:avLst/>
          </a:prstGeom>
          <a:noFill/>
        </p:spPr>
        <p:txBody>
          <a:bodyPr wrap="square">
            <a:spAutoFit/>
          </a:bodyPr>
          <a:lstStyle/>
          <a:p>
            <a:pPr algn="l">
              <a:defRPr sz="900" b="0">
                <a:solidFill>
                  <a:srgbClr val="666666"/>
                </a:solidFill>
              </a:defRPr>
            </a:pPr>
            <a:r>
              <a:t>標準に合わせられないか？</a:t>
            </a:r>
          </a:p>
        </p:txBody>
      </p:sp>
      <p:sp>
        <p:nvSpPr>
          <p:cNvPr id="29" name="Rounded Rectangle 28"/>
          <p:cNvSpPr/>
          <p:nvPr/>
        </p:nvSpPr>
        <p:spPr>
          <a:xfrm>
            <a:off x="5943600" y="3474720"/>
            <a:ext cx="2468880" cy="822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73600" y="3520440"/>
            <a:ext cx="914400" cy="274320"/>
          </a:xfrm>
          <a:prstGeom prst="rect">
            <a:avLst/>
          </a:prstGeom>
          <a:noFill/>
        </p:spPr>
        <p:txBody>
          <a:bodyPr wrap="square">
            <a:spAutoFit/>
          </a:bodyPr>
          <a:lstStyle/>
          <a:p>
            <a:pPr algn="l">
              <a:defRPr sz="1100" b="1">
                <a:solidFill>
                  <a:srgbClr val="E67E22"/>
                </a:solidFill>
              </a:defRPr>
            </a:pPr>
            <a:r>
              <a:t>Level 3</a:t>
            </a:r>
          </a:p>
        </p:txBody>
      </p:sp>
      <p:sp>
        <p:nvSpPr>
          <p:cNvPr id="31" name="TextBox 30"/>
          <p:cNvSpPr txBox="1"/>
          <p:nvPr/>
        </p:nvSpPr>
        <p:spPr>
          <a:xfrm>
            <a:off x="5973600" y="3749039"/>
            <a:ext cx="914400" cy="274320"/>
          </a:xfrm>
          <a:prstGeom prst="rect">
            <a:avLst/>
          </a:prstGeom>
          <a:noFill/>
        </p:spPr>
        <p:txBody>
          <a:bodyPr wrap="square">
            <a:spAutoFit/>
          </a:bodyPr>
          <a:lstStyle/>
          <a:p>
            <a:pPr algn="l">
              <a:defRPr sz="1100" b="1">
                <a:solidFill>
                  <a:srgbClr val="E67E22"/>
                </a:solidFill>
              </a:defRPr>
            </a:pPr>
            <a:r>
              <a:t>アドオンで対応</a:t>
            </a:r>
          </a:p>
        </p:txBody>
      </p:sp>
      <p:sp>
        <p:nvSpPr>
          <p:cNvPr id="32" name="TextBox 31"/>
          <p:cNvSpPr txBox="1"/>
          <p:nvPr/>
        </p:nvSpPr>
        <p:spPr>
          <a:xfrm>
            <a:off x="6949440" y="3520440"/>
            <a:ext cx="1371600" cy="274320"/>
          </a:xfrm>
          <a:prstGeom prst="rect">
            <a:avLst/>
          </a:prstGeom>
          <a:noFill/>
        </p:spPr>
        <p:txBody>
          <a:bodyPr wrap="square">
            <a:spAutoFit/>
          </a:bodyPr>
          <a:lstStyle/>
          <a:p>
            <a:pPr algn="l">
              <a:defRPr sz="900" b="0">
                <a:solidFill>
                  <a:srgbClr val="666666"/>
                </a:solidFill>
              </a:defRPr>
            </a:pPr>
            <a:r>
              <a:t>本当にカスタマイズが</a:t>
            </a:r>
          </a:p>
        </p:txBody>
      </p:sp>
      <p:sp>
        <p:nvSpPr>
          <p:cNvPr id="33" name="TextBox 32"/>
          <p:cNvSpPr txBox="1"/>
          <p:nvPr/>
        </p:nvSpPr>
        <p:spPr>
          <a:xfrm>
            <a:off x="6949440" y="3700440"/>
            <a:ext cx="1371600" cy="274320"/>
          </a:xfrm>
          <a:prstGeom prst="rect">
            <a:avLst/>
          </a:prstGeom>
          <a:noFill/>
        </p:spPr>
        <p:txBody>
          <a:bodyPr wrap="square">
            <a:spAutoFit/>
          </a:bodyPr>
          <a:lstStyle/>
          <a:p>
            <a:pPr algn="l">
              <a:defRPr sz="900" b="0">
                <a:solidFill>
                  <a:srgbClr val="666666"/>
                </a:solidFill>
              </a:defRPr>
            </a:pPr>
            <a:r>
              <a:t>必要な最小限の範囲は？</a:t>
            </a:r>
          </a:p>
        </p:txBody>
      </p:sp>
      <p:sp>
        <p:nvSpPr>
          <p:cNvPr id="34" name="TextBox 3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5" name="TextBox 3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14</a:t>
            </a:r>
          </a:p>
        </p:txBody>
      </p:sp>
      <p:sp>
        <p:nvSpPr>
          <p:cNvPr id="36" name="Rectangle 35"/>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カスタマイズ影響度マトリックス</a:t>
            </a:r>
          </a:p>
        </p:txBody>
      </p:sp>
      <p:graphicFrame>
        <p:nvGraphicFramePr>
          <p:cNvPr id="5" name="Table 4"/>
          <p:cNvGraphicFramePr>
            <a:graphicFrameLocks noGrp="1"/>
          </p:cNvGraphicFramePr>
          <p:nvPr/>
        </p:nvGraphicFramePr>
        <p:xfrm>
          <a:off x="274320" y="914400"/>
          <a:ext cx="7498080" cy="3200400"/>
        </p:xfrm>
        <a:graphic>
          <a:graphicData uri="http://schemas.openxmlformats.org/drawingml/2006/table">
            <a:tbl>
              <a:tblPr firstRow="1" bandRow="1">
                <a:tableStyleId>{5C22544A-7EE6-4342-B048-85BDC9FD1C3A}</a:tableStyleId>
              </a:tblPr>
              <a:tblGrid>
                <a:gridCol w="1828800"/>
                <a:gridCol w="1371600"/>
                <a:gridCol w="1828800"/>
                <a:gridCol w="1097280"/>
                <a:gridCol w="1371600"/>
              </a:tblGrid>
              <a:tr h="400050">
                <a:tc>
                  <a:txBody>
                    <a:bodyPr/>
                    <a:lstStyle/>
                    <a:p>
                      <a:pPr algn="ctr">
                        <a:defRPr sz="1000" b="1">
                          <a:solidFill>
                            <a:srgbClr val="FFFFFF"/>
                          </a:solidFill>
                        </a:defRPr>
                      </a:pPr>
                      <a:r>
                        <a:t>業務領域</a:t>
                      </a:r>
                    </a:p>
                  </a:txBody>
                  <a:tcPr anchor="ctr">
                    <a:solidFill>
                      <a:srgbClr val="8B7536"/>
                    </a:solidFill>
                  </a:tcPr>
                </a:tc>
                <a:tc>
                  <a:txBody>
                    <a:bodyPr/>
                    <a:lstStyle/>
                    <a:p>
                      <a:pPr algn="ctr">
                        <a:defRPr sz="1000" b="1">
                          <a:solidFill>
                            <a:srgbClr val="FFFFFF"/>
                          </a:solidFill>
                        </a:defRPr>
                      </a:pPr>
                      <a:r>
                        <a:t>カスタマイズ</a:t>
                      </a:r>
                    </a:p>
                    <a:p>
                      <a:pPr algn="ctr">
                        <a:defRPr sz="1000" b="1">
                          <a:solidFill>
                            <a:srgbClr val="FFFFFF"/>
                          </a:solidFill>
                        </a:defRPr>
                      </a:pPr>
                      <a:r>
                        <a:t>発生頻度</a:t>
                      </a:r>
                    </a:p>
                  </a:txBody>
                  <a:tcPr anchor="ctr">
                    <a:solidFill>
                      <a:srgbClr val="8B7536"/>
                    </a:solidFill>
                  </a:tcPr>
                </a:tc>
                <a:tc>
                  <a:txBody>
                    <a:bodyPr/>
                    <a:lstStyle/>
                    <a:p>
                      <a:pPr algn="ctr">
                        <a:defRPr sz="1000" b="1">
                          <a:solidFill>
                            <a:srgbClr val="FFFFFF"/>
                          </a:solidFill>
                        </a:defRPr>
                      </a:pPr>
                      <a:r>
                        <a:t>影響範囲</a:t>
                      </a:r>
                    </a:p>
                  </a:txBody>
                  <a:tcPr anchor="ctr">
                    <a:solidFill>
                      <a:srgbClr val="8B7536"/>
                    </a:solidFill>
                  </a:tcPr>
                </a:tc>
                <a:tc>
                  <a:txBody>
                    <a:bodyPr/>
                    <a:lstStyle/>
                    <a:p>
                      <a:pPr algn="ctr">
                        <a:defRPr sz="1000" b="1">
                          <a:solidFill>
                            <a:srgbClr val="FFFFFF"/>
                          </a:solidFill>
                        </a:defRPr>
                      </a:pPr>
                      <a:r>
                        <a:t>標準化</a:t>
                      </a:r>
                    </a:p>
                    <a:p>
                      <a:pPr algn="ctr">
                        <a:defRPr sz="1000" b="1">
                          <a:solidFill>
                            <a:srgbClr val="FFFFFF"/>
                          </a:solidFill>
                        </a:defRPr>
                      </a:pPr>
                      <a:r>
                        <a:t>難易度</a:t>
                      </a:r>
                    </a:p>
                  </a:txBody>
                  <a:tcPr anchor="ctr">
                    <a:solidFill>
                      <a:srgbClr val="8B7536"/>
                    </a:solidFill>
                  </a:tcPr>
                </a:tc>
                <a:tc>
                  <a:txBody>
                    <a:bodyPr/>
                    <a:lstStyle/>
                    <a:p>
                      <a:pPr algn="ctr">
                        <a:defRPr sz="1000" b="1">
                          <a:solidFill>
                            <a:srgbClr val="FFFFFF"/>
                          </a:solidFill>
                        </a:defRPr>
                      </a:pPr>
                      <a:r>
                        <a:t>優先度</a:t>
                      </a:r>
                    </a:p>
                  </a:txBody>
                  <a:tcPr anchor="ctr">
                    <a:solidFill>
                      <a:srgbClr val="8B7536"/>
                    </a:solidFill>
                  </a:tcPr>
                </a:tc>
              </a:tr>
              <a:tr h="400050">
                <a:tc>
                  <a:txBody>
                    <a:bodyPr/>
                    <a:lstStyle/>
                    <a:p>
                      <a:pPr>
                        <a:defRPr sz="1000">
                          <a:solidFill>
                            <a:srgbClr val="333333"/>
                          </a:solidFill>
                        </a:defRPr>
                      </a:pPr>
                      <a:r>
                        <a:t>原価管理・工事採算</a:t>
                      </a:r>
                    </a:p>
                  </a:txBody>
                  <a:tcPr anchor="ctr">
                    <a:solidFill>
                      <a:srgbClr val="F9F6F0"/>
                    </a:solidFill>
                  </a:tcPr>
                </a:tc>
                <a:tc>
                  <a:txBody>
                    <a:bodyPr/>
                    <a:lstStyle/>
                    <a:p>
                      <a:pPr>
                        <a:defRPr sz="1000">
                          <a:solidFill>
                            <a:srgbClr val="333333"/>
                          </a:solidFill>
                        </a:defRPr>
                      </a:pPr>
                      <a:r>
                        <a:t>非常に高い</a:t>
                      </a:r>
                    </a:p>
                  </a:txBody>
                  <a:tcPr anchor="ctr">
                    <a:solidFill>
                      <a:srgbClr val="F9F6F0"/>
                    </a:solidFill>
                  </a:tcPr>
                </a:tc>
                <a:tc>
                  <a:txBody>
                    <a:bodyPr/>
                    <a:lstStyle/>
                    <a:p>
                      <a:pPr>
                        <a:defRPr sz="1000">
                          <a:solidFill>
                            <a:srgbClr val="333333"/>
                          </a:solidFill>
                        </a:defRPr>
                      </a:pPr>
                      <a:r>
                        <a:t>経営判断に直結</a:t>
                      </a:r>
                    </a:p>
                  </a:txBody>
                  <a:tcPr anchor="ctr">
                    <a:solidFill>
                      <a:srgbClr val="F9F6F0"/>
                    </a:solidFill>
                  </a:tcPr>
                </a:tc>
                <a:tc>
                  <a:txBody>
                    <a:bodyPr/>
                    <a:lstStyle/>
                    <a:p>
                      <a:pPr>
                        <a:defRPr sz="1000">
                          <a:solidFill>
                            <a:srgbClr val="333333"/>
                          </a:solidFill>
                        </a:defRPr>
                      </a:pPr>
                      <a:r>
                        <a:t>高</a:t>
                      </a:r>
                    </a:p>
                  </a:txBody>
                  <a:tcPr anchor="ctr">
                    <a:solidFill>
                      <a:srgbClr val="F9F6F0"/>
                    </a:solidFill>
                  </a:tcPr>
                </a:tc>
                <a:tc>
                  <a:txBody>
                    <a:bodyPr/>
                    <a:lstStyle/>
                    <a:p>
                      <a:pPr>
                        <a:defRPr sz="1000">
                          <a:solidFill>
                            <a:srgbClr val="333333"/>
                          </a:solidFill>
                        </a:defRPr>
                      </a:pPr>
                      <a:r>
                        <a:t>最優先</a:t>
                      </a:r>
                    </a:p>
                  </a:txBody>
                  <a:tcPr anchor="ctr">
                    <a:solidFill>
                      <a:srgbClr val="F9F6F0"/>
                    </a:solidFill>
                  </a:tcPr>
                </a:tc>
              </a:tr>
              <a:tr h="400050">
                <a:tc>
                  <a:txBody>
                    <a:bodyPr/>
                    <a:lstStyle/>
                    <a:p>
                      <a:pPr>
                        <a:defRPr sz="1000">
                          <a:solidFill>
                            <a:srgbClr val="333333"/>
                          </a:solidFill>
                        </a:defRPr>
                      </a:pPr>
                      <a:r>
                        <a:t>契約・請求・入金</a:t>
                      </a:r>
                    </a:p>
                  </a:txBody>
                  <a:tcPr anchor="ctr">
                    <a:solidFill>
                      <a:srgbClr val="F0E8D5"/>
                    </a:solidFill>
                  </a:tcPr>
                </a:tc>
                <a:tc>
                  <a:txBody>
                    <a:bodyPr/>
                    <a:lstStyle/>
                    <a:p>
                      <a:pPr>
                        <a:defRPr sz="1000">
                          <a:solidFill>
                            <a:srgbClr val="333333"/>
                          </a:solidFill>
                        </a:defRPr>
                      </a:pPr>
                      <a:r>
                        <a:t>高い</a:t>
                      </a:r>
                    </a:p>
                  </a:txBody>
                  <a:tcPr anchor="ctr">
                    <a:solidFill>
                      <a:srgbClr val="F0E8D5"/>
                    </a:solidFill>
                  </a:tcPr>
                </a:tc>
                <a:tc>
                  <a:txBody>
                    <a:bodyPr/>
                    <a:lstStyle/>
                    <a:p>
                      <a:pPr>
                        <a:defRPr sz="1000">
                          <a:solidFill>
                            <a:srgbClr val="333333"/>
                          </a:solidFill>
                        </a:defRPr>
                      </a:pPr>
                      <a:r>
                        <a:t>取引先との関係</a:t>
                      </a:r>
                    </a:p>
                  </a:txBody>
                  <a:tcPr anchor="ctr">
                    <a:solidFill>
                      <a:srgbClr val="F0E8D5"/>
                    </a:solidFill>
                  </a:tcPr>
                </a:tc>
                <a:tc>
                  <a:txBody>
                    <a:bodyPr/>
                    <a:lstStyle/>
                    <a:p>
                      <a:pPr>
                        <a:defRPr sz="1000">
                          <a:solidFill>
                            <a:srgbClr val="333333"/>
                          </a:solidFill>
                        </a:defRPr>
                      </a:pPr>
                      <a:r>
                        <a:t>中</a:t>
                      </a:r>
                    </a:p>
                  </a:txBody>
                  <a:tcPr anchor="ctr">
                    <a:solidFill>
                      <a:srgbClr val="F0E8D5"/>
                    </a:solidFill>
                  </a:tcPr>
                </a:tc>
                <a:tc>
                  <a:txBody>
                    <a:bodyPr/>
                    <a:lstStyle/>
                    <a:p>
                      <a:pPr>
                        <a:defRPr sz="1000">
                          <a:solidFill>
                            <a:srgbClr val="333333"/>
                          </a:solidFill>
                        </a:defRPr>
                      </a:pPr>
                      <a:r>
                        <a:t>優先</a:t>
                      </a:r>
                    </a:p>
                  </a:txBody>
                  <a:tcPr anchor="ctr">
                    <a:solidFill>
                      <a:srgbClr val="F0E8D5"/>
                    </a:solidFill>
                  </a:tcPr>
                </a:tc>
              </a:tr>
              <a:tr h="400050">
                <a:tc>
                  <a:txBody>
                    <a:bodyPr/>
                    <a:lstStyle/>
                    <a:p>
                      <a:pPr>
                        <a:defRPr sz="1000">
                          <a:solidFill>
                            <a:srgbClr val="333333"/>
                          </a:solidFill>
                        </a:defRPr>
                      </a:pPr>
                      <a:r>
                        <a:t>経費精算・現場管理</a:t>
                      </a:r>
                    </a:p>
                  </a:txBody>
                  <a:tcPr anchor="ctr">
                    <a:solidFill>
                      <a:srgbClr val="F9F6F0"/>
                    </a:solidFill>
                  </a:tcPr>
                </a:tc>
                <a:tc>
                  <a:txBody>
                    <a:bodyPr/>
                    <a:lstStyle/>
                    <a:p>
                      <a:pPr>
                        <a:defRPr sz="1000">
                          <a:solidFill>
                            <a:srgbClr val="333333"/>
                          </a:solidFill>
                        </a:defRPr>
                      </a:pPr>
                      <a:r>
                        <a:t>中程度</a:t>
                      </a:r>
                    </a:p>
                  </a:txBody>
                  <a:tcPr anchor="ctr">
                    <a:solidFill>
                      <a:srgbClr val="F9F6F0"/>
                    </a:solidFill>
                  </a:tcPr>
                </a:tc>
                <a:tc>
                  <a:txBody>
                    <a:bodyPr/>
                    <a:lstStyle/>
                    <a:p>
                      <a:pPr>
                        <a:defRPr sz="1000">
                          <a:solidFill>
                            <a:srgbClr val="333333"/>
                          </a:solidFill>
                        </a:defRPr>
                      </a:pPr>
                      <a:r>
                        <a:t>日常業務効率</a:t>
                      </a:r>
                    </a:p>
                  </a:txBody>
                  <a:tcPr anchor="ctr">
                    <a:solidFill>
                      <a:srgbClr val="F9F6F0"/>
                    </a:solidFill>
                  </a:tcPr>
                </a:tc>
                <a:tc>
                  <a:txBody>
                    <a:bodyPr/>
                    <a:lstStyle/>
                    <a:p>
                      <a:pPr>
                        <a:defRPr sz="1000">
                          <a:solidFill>
                            <a:srgbClr val="333333"/>
                          </a:solidFill>
                        </a:defRPr>
                      </a:pPr>
                      <a:r>
                        <a:t>低</a:t>
                      </a:r>
                    </a:p>
                  </a:txBody>
                  <a:tcPr anchor="ctr">
                    <a:solidFill>
                      <a:srgbClr val="F9F6F0"/>
                    </a:solidFill>
                  </a:tcPr>
                </a:tc>
                <a:tc>
                  <a:txBody>
                    <a:bodyPr/>
                    <a:lstStyle/>
                    <a:p>
                      <a:pPr>
                        <a:defRPr sz="1000">
                          <a:solidFill>
                            <a:srgbClr val="333333"/>
                          </a:solidFill>
                        </a:defRPr>
                      </a:pPr>
                      <a:r>
                        <a:t>早期着手</a:t>
                      </a:r>
                    </a:p>
                  </a:txBody>
                  <a:tcPr anchor="ctr">
                    <a:solidFill>
                      <a:srgbClr val="F9F6F0"/>
                    </a:solidFill>
                  </a:tcPr>
                </a:tc>
              </a:tr>
              <a:tr h="400050">
                <a:tc>
                  <a:txBody>
                    <a:bodyPr/>
                    <a:lstStyle/>
                    <a:p>
                      <a:pPr>
                        <a:defRPr sz="1000">
                          <a:solidFill>
                            <a:srgbClr val="333333"/>
                          </a:solidFill>
                        </a:defRPr>
                      </a:pPr>
                      <a:r>
                        <a:t>購買・在庫管理</a:t>
                      </a:r>
                    </a:p>
                  </a:txBody>
                  <a:tcPr anchor="ctr">
                    <a:solidFill>
                      <a:srgbClr val="F0E8D5"/>
                    </a:solidFill>
                  </a:tcPr>
                </a:tc>
                <a:tc>
                  <a:txBody>
                    <a:bodyPr/>
                    <a:lstStyle/>
                    <a:p>
                      <a:pPr>
                        <a:defRPr sz="1000">
                          <a:solidFill>
                            <a:srgbClr val="333333"/>
                          </a:solidFill>
                        </a:defRPr>
                      </a:pPr>
                      <a:r>
                        <a:t>中程度</a:t>
                      </a:r>
                    </a:p>
                  </a:txBody>
                  <a:tcPr anchor="ctr">
                    <a:solidFill>
                      <a:srgbClr val="F0E8D5"/>
                    </a:solidFill>
                  </a:tcPr>
                </a:tc>
                <a:tc>
                  <a:txBody>
                    <a:bodyPr/>
                    <a:lstStyle/>
                    <a:p>
                      <a:pPr>
                        <a:defRPr sz="1000">
                          <a:solidFill>
                            <a:srgbClr val="333333"/>
                          </a:solidFill>
                        </a:defRPr>
                      </a:pPr>
                      <a:r>
                        <a:t>原価精度に影響</a:t>
                      </a:r>
                    </a:p>
                  </a:txBody>
                  <a:tcPr anchor="ctr">
                    <a:solidFill>
                      <a:srgbClr val="F0E8D5"/>
                    </a:solidFill>
                  </a:tcPr>
                </a:tc>
                <a:tc>
                  <a:txBody>
                    <a:bodyPr/>
                    <a:lstStyle/>
                    <a:p>
                      <a:pPr>
                        <a:defRPr sz="1000">
                          <a:solidFill>
                            <a:srgbClr val="333333"/>
                          </a:solidFill>
                        </a:defRPr>
                      </a:pPr>
                      <a:r>
                        <a:t>中</a:t>
                      </a:r>
                    </a:p>
                  </a:txBody>
                  <a:tcPr anchor="ctr">
                    <a:solidFill>
                      <a:srgbClr val="F0E8D5"/>
                    </a:solidFill>
                  </a:tcPr>
                </a:tc>
                <a:tc>
                  <a:txBody>
                    <a:bodyPr/>
                    <a:lstStyle/>
                    <a:p>
                      <a:pPr>
                        <a:defRPr sz="1000">
                          <a:solidFill>
                            <a:srgbClr val="333333"/>
                          </a:solidFill>
                        </a:defRPr>
                      </a:pPr>
                      <a:r>
                        <a:t>計画的</a:t>
                      </a:r>
                    </a:p>
                  </a:txBody>
                  <a:tcPr anchor="ctr">
                    <a:solidFill>
                      <a:srgbClr val="F0E8D5"/>
                    </a:solidFill>
                  </a:tcPr>
                </a:tc>
              </a:tr>
              <a:tr h="400050">
                <a:tc>
                  <a:txBody>
                    <a:bodyPr/>
                    <a:lstStyle/>
                    <a:p>
                      <a:pPr>
                        <a:defRPr sz="1000">
                          <a:solidFill>
                            <a:srgbClr val="333333"/>
                          </a:solidFill>
                        </a:defRPr>
                      </a:pPr>
                      <a:r>
                        <a:t>ワークフロー</a:t>
                      </a:r>
                    </a:p>
                  </a:txBody>
                  <a:tcPr anchor="ctr">
                    <a:solidFill>
                      <a:srgbClr val="F9F6F0"/>
                    </a:solidFill>
                  </a:tcPr>
                </a:tc>
                <a:tc>
                  <a:txBody>
                    <a:bodyPr/>
                    <a:lstStyle/>
                    <a:p>
                      <a:pPr>
                        <a:defRPr sz="1000">
                          <a:solidFill>
                            <a:srgbClr val="333333"/>
                          </a:solidFill>
                        </a:defRPr>
                      </a:pPr>
                      <a:r>
                        <a:t>高い</a:t>
                      </a:r>
                    </a:p>
                  </a:txBody>
                  <a:tcPr anchor="ctr">
                    <a:solidFill>
                      <a:srgbClr val="F9F6F0"/>
                    </a:solidFill>
                  </a:tcPr>
                </a:tc>
                <a:tc>
                  <a:txBody>
                    <a:bodyPr/>
                    <a:lstStyle/>
                    <a:p>
                      <a:pPr>
                        <a:defRPr sz="1000">
                          <a:solidFill>
                            <a:srgbClr val="333333"/>
                          </a:solidFill>
                        </a:defRPr>
                      </a:pPr>
                      <a:r>
                        <a:t>全社的な影響</a:t>
                      </a:r>
                    </a:p>
                  </a:txBody>
                  <a:tcPr anchor="ctr">
                    <a:solidFill>
                      <a:srgbClr val="F9F6F0"/>
                    </a:solidFill>
                  </a:tcPr>
                </a:tc>
                <a:tc>
                  <a:txBody>
                    <a:bodyPr/>
                    <a:lstStyle/>
                    <a:p>
                      <a:pPr>
                        <a:defRPr sz="1000">
                          <a:solidFill>
                            <a:srgbClr val="333333"/>
                          </a:solidFill>
                        </a:defRPr>
                      </a:pPr>
                      <a:r>
                        <a:t>低</a:t>
                      </a:r>
                    </a:p>
                  </a:txBody>
                  <a:tcPr anchor="ctr">
                    <a:solidFill>
                      <a:srgbClr val="F9F6F0"/>
                    </a:solidFill>
                  </a:tcPr>
                </a:tc>
                <a:tc>
                  <a:txBody>
                    <a:bodyPr/>
                    <a:lstStyle/>
                    <a:p>
                      <a:pPr>
                        <a:defRPr sz="1000">
                          <a:solidFill>
                            <a:srgbClr val="333333"/>
                          </a:solidFill>
                        </a:defRPr>
                      </a:pPr>
                      <a:r>
                        <a:t>早期着手</a:t>
                      </a:r>
                    </a:p>
                  </a:txBody>
                  <a:tcPr anchor="ctr">
                    <a:solidFill>
                      <a:srgbClr val="F9F6F0"/>
                    </a:solidFill>
                  </a:tcPr>
                </a:tc>
              </a:tr>
              <a:tr h="400050">
                <a:tc>
                  <a:txBody>
                    <a:bodyPr/>
                    <a:lstStyle/>
                    <a:p>
                      <a:pPr>
                        <a:defRPr sz="1000">
                          <a:solidFill>
                            <a:srgbClr val="333333"/>
                          </a:solidFill>
                        </a:defRPr>
                      </a:pPr>
                      <a:r>
                        <a:t>出面・労務管理</a:t>
                      </a:r>
                    </a:p>
                  </a:txBody>
                  <a:tcPr anchor="ctr">
                    <a:solidFill>
                      <a:srgbClr val="F0E8D5"/>
                    </a:solidFill>
                  </a:tcPr>
                </a:tc>
                <a:tc>
                  <a:txBody>
                    <a:bodyPr/>
                    <a:lstStyle/>
                    <a:p>
                      <a:pPr>
                        <a:defRPr sz="1000">
                          <a:solidFill>
                            <a:srgbClr val="333333"/>
                          </a:solidFill>
                        </a:defRPr>
                      </a:pPr>
                      <a:r>
                        <a:t>高い</a:t>
                      </a:r>
                    </a:p>
                  </a:txBody>
                  <a:tcPr anchor="ctr">
                    <a:solidFill>
                      <a:srgbClr val="F0E8D5"/>
                    </a:solidFill>
                  </a:tcPr>
                </a:tc>
                <a:tc>
                  <a:txBody>
                    <a:bodyPr/>
                    <a:lstStyle/>
                    <a:p>
                      <a:pPr>
                        <a:defRPr sz="1000">
                          <a:solidFill>
                            <a:srgbClr val="333333"/>
                          </a:solidFill>
                        </a:defRPr>
                      </a:pPr>
                      <a:r>
                        <a:t>法令遵守</a:t>
                      </a:r>
                    </a:p>
                  </a:txBody>
                  <a:tcPr anchor="ctr">
                    <a:solidFill>
                      <a:srgbClr val="F0E8D5"/>
                    </a:solidFill>
                  </a:tcPr>
                </a:tc>
                <a:tc>
                  <a:txBody>
                    <a:bodyPr/>
                    <a:lstStyle/>
                    <a:p>
                      <a:pPr>
                        <a:defRPr sz="1000">
                          <a:solidFill>
                            <a:srgbClr val="333333"/>
                          </a:solidFill>
                        </a:defRPr>
                      </a:pPr>
                      <a:r>
                        <a:t>中</a:t>
                      </a:r>
                    </a:p>
                  </a:txBody>
                  <a:tcPr anchor="ctr">
                    <a:solidFill>
                      <a:srgbClr val="F0E8D5"/>
                    </a:solidFill>
                  </a:tcPr>
                </a:tc>
                <a:tc>
                  <a:txBody>
                    <a:bodyPr/>
                    <a:lstStyle/>
                    <a:p>
                      <a:pPr>
                        <a:defRPr sz="1000">
                          <a:solidFill>
                            <a:srgbClr val="333333"/>
                          </a:solidFill>
                        </a:defRPr>
                      </a:pPr>
                      <a:r>
                        <a:t>優先</a:t>
                      </a:r>
                    </a:p>
                  </a:txBody>
                  <a:tcPr anchor="ctr">
                    <a:solidFill>
                      <a:srgbClr val="F0E8D5"/>
                    </a:solidFill>
                  </a:tcPr>
                </a:tc>
              </a:tr>
              <a:tr h="400050">
                <a:tc>
                  <a:txBody>
                    <a:bodyPr/>
                    <a:lstStyle/>
                    <a:p>
                      <a:pPr>
                        <a:defRPr sz="1000">
                          <a:solidFill>
                            <a:srgbClr val="333333"/>
                          </a:solidFill>
                        </a:defRPr>
                      </a:pPr>
                      <a:r>
                        <a:t>個別帳票</a:t>
                      </a:r>
                    </a:p>
                  </a:txBody>
                  <a:tcPr anchor="ctr">
                    <a:solidFill>
                      <a:srgbClr val="F9F6F0"/>
                    </a:solidFill>
                  </a:tcPr>
                </a:tc>
                <a:tc>
                  <a:txBody>
                    <a:bodyPr/>
                    <a:lstStyle/>
                    <a:p>
                      <a:pPr>
                        <a:defRPr sz="1000">
                          <a:solidFill>
                            <a:srgbClr val="333333"/>
                          </a:solidFill>
                        </a:defRPr>
                      </a:pPr>
                      <a:r>
                        <a:t>非常に高い</a:t>
                      </a:r>
                    </a:p>
                  </a:txBody>
                  <a:tcPr anchor="ctr">
                    <a:solidFill>
                      <a:srgbClr val="F9F6F0"/>
                    </a:solidFill>
                  </a:tcPr>
                </a:tc>
                <a:tc>
                  <a:txBody>
                    <a:bodyPr/>
                    <a:lstStyle/>
                    <a:p>
                      <a:pPr>
                        <a:defRPr sz="1000">
                          <a:solidFill>
                            <a:srgbClr val="333333"/>
                          </a:solidFill>
                        </a:defRPr>
                      </a:pPr>
                      <a:r>
                        <a:t>情報可視化</a:t>
                      </a:r>
                    </a:p>
                  </a:txBody>
                  <a:tcPr anchor="ctr">
                    <a:solidFill>
                      <a:srgbClr val="F9F6F0"/>
                    </a:solidFill>
                  </a:tcPr>
                </a:tc>
                <a:tc>
                  <a:txBody>
                    <a:bodyPr/>
                    <a:lstStyle/>
                    <a:p>
                      <a:pPr>
                        <a:defRPr sz="1000">
                          <a:solidFill>
                            <a:srgbClr val="333333"/>
                          </a:solidFill>
                        </a:defRPr>
                      </a:pPr>
                      <a:r>
                        <a:t>低</a:t>
                      </a:r>
                    </a:p>
                  </a:txBody>
                  <a:tcPr anchor="ctr">
                    <a:solidFill>
                      <a:srgbClr val="F9F6F0"/>
                    </a:solidFill>
                  </a:tcPr>
                </a:tc>
                <a:tc>
                  <a:txBody>
                    <a:bodyPr/>
                    <a:lstStyle/>
                    <a:p>
                      <a:pPr>
                        <a:defRPr sz="1000">
                          <a:solidFill>
                            <a:srgbClr val="333333"/>
                          </a:solidFill>
                        </a:defRPr>
                      </a:pPr>
                      <a:r>
                        <a:t>BI活用</a:t>
                      </a:r>
                    </a:p>
                  </a:txBody>
                  <a:tcPr anchor="ctr">
                    <a:solidFill>
                      <a:srgbClr val="F9F6F0"/>
                    </a:solidFill>
                  </a:tcPr>
                </a:tc>
              </a:tr>
            </a:tbl>
          </a:graphicData>
        </a:graphic>
      </p:graphicFrame>
      <p:sp>
        <p:nvSpPr>
          <p:cNvPr id="6" name="Rounded Rectangle 5"/>
          <p:cNvSpPr/>
          <p:nvPr/>
        </p:nvSpPr>
        <p:spPr>
          <a:xfrm>
            <a:off x="274320" y="4206240"/>
            <a:ext cx="8412480" cy="2743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224528"/>
            <a:ext cx="8229600" cy="228600"/>
          </a:xfrm>
          <a:prstGeom prst="rect">
            <a:avLst/>
          </a:prstGeom>
          <a:noFill/>
        </p:spPr>
        <p:txBody>
          <a:bodyPr wrap="square">
            <a:spAutoFit/>
          </a:bodyPr>
          <a:lstStyle/>
          <a:p>
            <a:pPr algn="ctr">
              <a:defRPr sz="1000" b="1">
                <a:solidFill>
                  <a:srgbClr val="8B7536"/>
                </a:solidFill>
              </a:defRPr>
            </a:pPr>
            <a:r>
              <a:t>標準化難易度が「低」の領域から着手し、段階的にシステム全体を標準化していくのが効果的</a:t>
            </a:r>
          </a:p>
        </p:txBody>
      </p:sp>
      <p:sp>
        <p:nvSpPr>
          <p:cNvPr id="8" name="TextBox 7"/>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9" name="TextBox 8"/>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15</a:t>
            </a:r>
          </a:p>
        </p:txBody>
      </p:sp>
      <p:sp>
        <p:nvSpPr>
          <p:cNvPr id="10" name="Rectangle 9"/>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まとめ：カスタマイズを越え、建設業の未来を創造する</a:t>
            </a:r>
          </a:p>
        </p:txBody>
      </p:sp>
      <p:sp>
        <p:nvSpPr>
          <p:cNvPr id="5" name="Rounded Rectangle 4"/>
          <p:cNvSpPr/>
          <p:nvPr/>
        </p:nvSpPr>
        <p:spPr>
          <a:xfrm>
            <a:off x="274320" y="1005840"/>
            <a:ext cx="2651760" cy="22860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1097280"/>
            <a:ext cx="640080" cy="64008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143000"/>
            <a:ext cx="640080" cy="594360"/>
          </a:xfrm>
          <a:prstGeom prst="rect">
            <a:avLst/>
          </a:prstGeom>
          <a:noFill/>
        </p:spPr>
        <p:txBody>
          <a:bodyPr wrap="square">
            <a:spAutoFit/>
          </a:bodyPr>
          <a:lstStyle/>
          <a:p>
            <a:pPr algn="ctr">
              <a:defRPr sz="2200" b="1">
                <a:solidFill>
                  <a:srgbClr val="FFFFFF"/>
                </a:solidFill>
              </a:defRPr>
            </a:pPr>
            <a:r>
              <a:t>1</a:t>
            </a:r>
          </a:p>
        </p:txBody>
      </p:sp>
      <p:sp>
        <p:nvSpPr>
          <p:cNvPr id="8" name="TextBox 7"/>
          <p:cNvSpPr txBox="1"/>
          <p:nvPr/>
        </p:nvSpPr>
        <p:spPr>
          <a:xfrm>
            <a:off x="324320" y="1828800"/>
            <a:ext cx="2560320" cy="365760"/>
          </a:xfrm>
          <a:prstGeom prst="rect">
            <a:avLst/>
          </a:prstGeom>
          <a:noFill/>
        </p:spPr>
        <p:txBody>
          <a:bodyPr wrap="square">
            <a:spAutoFit/>
          </a:bodyPr>
          <a:lstStyle/>
          <a:p>
            <a:pPr algn="ctr">
              <a:defRPr sz="1600" b="1">
                <a:solidFill>
                  <a:srgbClr val="B8860B"/>
                </a:solidFill>
              </a:defRPr>
            </a:pPr>
            <a:r>
              <a:t>理解する</a:t>
            </a:r>
          </a:p>
        </p:txBody>
      </p:sp>
      <p:sp>
        <p:nvSpPr>
          <p:cNvPr id="9" name="TextBox 8"/>
          <p:cNvSpPr txBox="1"/>
          <p:nvPr/>
        </p:nvSpPr>
        <p:spPr>
          <a:xfrm>
            <a:off x="324320" y="2286000"/>
            <a:ext cx="2560320" cy="274320"/>
          </a:xfrm>
          <a:prstGeom prst="rect">
            <a:avLst/>
          </a:prstGeom>
          <a:noFill/>
        </p:spPr>
        <p:txBody>
          <a:bodyPr wrap="square">
            <a:spAutoFit/>
          </a:bodyPr>
          <a:lstStyle/>
          <a:p>
            <a:pPr algn="ctr">
              <a:defRPr sz="1100" b="0">
                <a:solidFill>
                  <a:srgbClr val="666666"/>
                </a:solidFill>
              </a:defRPr>
            </a:pPr>
            <a:r>
              <a:t>建設業の「特殊性」は</a:t>
            </a:r>
          </a:p>
        </p:txBody>
      </p:sp>
      <p:sp>
        <p:nvSpPr>
          <p:cNvPr id="10" name="TextBox 9"/>
          <p:cNvSpPr txBox="1"/>
          <p:nvPr/>
        </p:nvSpPr>
        <p:spPr>
          <a:xfrm>
            <a:off x="324320" y="2486000"/>
            <a:ext cx="2560320" cy="274320"/>
          </a:xfrm>
          <a:prstGeom prst="rect">
            <a:avLst/>
          </a:prstGeom>
          <a:noFill/>
        </p:spPr>
        <p:txBody>
          <a:bodyPr wrap="square">
            <a:spAutoFit/>
          </a:bodyPr>
          <a:lstStyle/>
          <a:p>
            <a:pPr algn="ctr">
              <a:defRPr sz="1100" b="0">
                <a:solidFill>
                  <a:srgbClr val="666666"/>
                </a:solidFill>
              </a:defRPr>
            </a:pPr>
            <a:r>
              <a:t>本当に特殊なのか？</a:t>
            </a:r>
          </a:p>
        </p:txBody>
      </p:sp>
      <p:sp>
        <p:nvSpPr>
          <p:cNvPr id="11" name="TextBox 10"/>
          <p:cNvSpPr txBox="1"/>
          <p:nvPr/>
        </p:nvSpPr>
        <p:spPr>
          <a:xfrm>
            <a:off x="324320" y="2686000"/>
            <a:ext cx="2560320" cy="274320"/>
          </a:xfrm>
          <a:prstGeom prst="rect">
            <a:avLst/>
          </a:prstGeom>
          <a:noFill/>
        </p:spPr>
        <p:txBody>
          <a:bodyPr wrap="square">
            <a:spAutoFit/>
          </a:bodyPr>
          <a:lstStyle/>
          <a:p>
            <a:pPr algn="ctr">
              <a:defRPr sz="1100" b="0">
                <a:solidFill>
                  <a:srgbClr val="666666"/>
                </a:solidFill>
              </a:defRPr>
            </a:pPr>
            <a:r>
              <a:t>多くは業界共通の課題</a:t>
            </a:r>
          </a:p>
        </p:txBody>
      </p:sp>
      <p:sp>
        <p:nvSpPr>
          <p:cNvPr id="12" name="Rounded Rectangle 11"/>
          <p:cNvSpPr/>
          <p:nvPr/>
        </p:nvSpPr>
        <p:spPr>
          <a:xfrm>
            <a:off x="3200400" y="1005840"/>
            <a:ext cx="2651760" cy="22860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160520" y="1097280"/>
            <a:ext cx="640080" cy="64008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1143000"/>
            <a:ext cx="640080" cy="594360"/>
          </a:xfrm>
          <a:prstGeom prst="rect">
            <a:avLst/>
          </a:prstGeom>
          <a:noFill/>
        </p:spPr>
        <p:txBody>
          <a:bodyPr wrap="square">
            <a:spAutoFit/>
          </a:bodyPr>
          <a:lstStyle/>
          <a:p>
            <a:pPr algn="ctr">
              <a:defRPr sz="2200" b="1">
                <a:solidFill>
                  <a:srgbClr val="FFFFFF"/>
                </a:solidFill>
              </a:defRPr>
            </a:pPr>
            <a:r>
              <a:t>2</a:t>
            </a:r>
          </a:p>
        </p:txBody>
      </p:sp>
      <p:sp>
        <p:nvSpPr>
          <p:cNvPr id="15" name="TextBox 14"/>
          <p:cNvSpPr txBox="1"/>
          <p:nvPr/>
        </p:nvSpPr>
        <p:spPr>
          <a:xfrm>
            <a:off x="3250400" y="1828800"/>
            <a:ext cx="2560320" cy="365760"/>
          </a:xfrm>
          <a:prstGeom prst="rect">
            <a:avLst/>
          </a:prstGeom>
          <a:noFill/>
        </p:spPr>
        <p:txBody>
          <a:bodyPr wrap="square">
            <a:spAutoFit/>
          </a:bodyPr>
          <a:lstStyle/>
          <a:p>
            <a:pPr algn="ctr">
              <a:defRPr sz="1600" b="1">
                <a:solidFill>
                  <a:srgbClr val="27AE60"/>
                </a:solidFill>
              </a:defRPr>
            </a:pPr>
            <a:r>
              <a:t>標準化する</a:t>
            </a:r>
          </a:p>
        </p:txBody>
      </p:sp>
      <p:sp>
        <p:nvSpPr>
          <p:cNvPr id="16" name="TextBox 15"/>
          <p:cNvSpPr txBox="1"/>
          <p:nvPr/>
        </p:nvSpPr>
        <p:spPr>
          <a:xfrm>
            <a:off x="3250400" y="2286000"/>
            <a:ext cx="2560320" cy="274320"/>
          </a:xfrm>
          <a:prstGeom prst="rect">
            <a:avLst/>
          </a:prstGeom>
          <a:noFill/>
        </p:spPr>
        <p:txBody>
          <a:bodyPr wrap="square">
            <a:spAutoFit/>
          </a:bodyPr>
          <a:lstStyle/>
          <a:p>
            <a:pPr algn="ctr">
              <a:defRPr sz="1100" b="0">
                <a:solidFill>
                  <a:srgbClr val="666666"/>
                </a:solidFill>
              </a:defRPr>
            </a:pPr>
            <a:r>
              <a:t>テンプレート・設定・</a:t>
            </a:r>
          </a:p>
        </p:txBody>
      </p:sp>
      <p:sp>
        <p:nvSpPr>
          <p:cNvPr id="17" name="TextBox 16"/>
          <p:cNvSpPr txBox="1"/>
          <p:nvPr/>
        </p:nvSpPr>
        <p:spPr>
          <a:xfrm>
            <a:off x="3250400" y="2486000"/>
            <a:ext cx="2560320" cy="274320"/>
          </a:xfrm>
          <a:prstGeom prst="rect">
            <a:avLst/>
          </a:prstGeom>
          <a:noFill/>
        </p:spPr>
        <p:txBody>
          <a:bodyPr wrap="square">
            <a:spAutoFit/>
          </a:bodyPr>
          <a:lstStyle/>
          <a:p>
            <a:pPr algn="ctr">
              <a:defRPr sz="1100" b="0">
                <a:solidFill>
                  <a:srgbClr val="666666"/>
                </a:solidFill>
              </a:defRPr>
            </a:pPr>
            <a:r>
              <a:t>BIツールの活用で</a:t>
            </a:r>
          </a:p>
        </p:txBody>
      </p:sp>
      <p:sp>
        <p:nvSpPr>
          <p:cNvPr id="18" name="TextBox 17"/>
          <p:cNvSpPr txBox="1"/>
          <p:nvPr/>
        </p:nvSpPr>
        <p:spPr>
          <a:xfrm>
            <a:off x="3250400" y="2686000"/>
            <a:ext cx="2560320" cy="274320"/>
          </a:xfrm>
          <a:prstGeom prst="rect">
            <a:avLst/>
          </a:prstGeom>
          <a:noFill/>
        </p:spPr>
        <p:txBody>
          <a:bodyPr wrap="square">
            <a:spAutoFit/>
          </a:bodyPr>
          <a:lstStyle/>
          <a:p>
            <a:pPr algn="ctr">
              <a:defRPr sz="1100" b="0">
                <a:solidFill>
                  <a:srgbClr val="666666"/>
                </a:solidFill>
              </a:defRPr>
            </a:pPr>
            <a:r>
              <a:t>カスタマイズを最小限に</a:t>
            </a:r>
          </a:p>
        </p:txBody>
      </p:sp>
      <p:sp>
        <p:nvSpPr>
          <p:cNvPr id="19" name="Rounded Rectangle 18"/>
          <p:cNvSpPr/>
          <p:nvPr/>
        </p:nvSpPr>
        <p:spPr>
          <a:xfrm>
            <a:off x="6126480" y="1005840"/>
            <a:ext cx="2651760" cy="22860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86600" y="1097280"/>
            <a:ext cx="640080" cy="64008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86600" y="1143000"/>
            <a:ext cx="640080" cy="594360"/>
          </a:xfrm>
          <a:prstGeom prst="rect">
            <a:avLst/>
          </a:prstGeom>
          <a:noFill/>
        </p:spPr>
        <p:txBody>
          <a:bodyPr wrap="square">
            <a:spAutoFit/>
          </a:bodyPr>
          <a:lstStyle/>
          <a:p>
            <a:pPr algn="ctr">
              <a:defRPr sz="2200" b="1">
                <a:solidFill>
                  <a:srgbClr val="FFFFFF"/>
                </a:solidFill>
              </a:defRPr>
            </a:pPr>
            <a:r>
              <a:t>3</a:t>
            </a:r>
          </a:p>
        </p:txBody>
      </p:sp>
      <p:sp>
        <p:nvSpPr>
          <p:cNvPr id="22" name="TextBox 21"/>
          <p:cNvSpPr txBox="1"/>
          <p:nvPr/>
        </p:nvSpPr>
        <p:spPr>
          <a:xfrm>
            <a:off x="6176480" y="1828800"/>
            <a:ext cx="2560320" cy="365760"/>
          </a:xfrm>
          <a:prstGeom prst="rect">
            <a:avLst/>
          </a:prstGeom>
          <a:noFill/>
        </p:spPr>
        <p:txBody>
          <a:bodyPr wrap="square">
            <a:spAutoFit/>
          </a:bodyPr>
          <a:lstStyle/>
          <a:p>
            <a:pPr algn="ctr">
              <a:defRPr sz="1600" b="1">
                <a:solidFill>
                  <a:srgbClr val="2C7AB0"/>
                </a:solidFill>
              </a:defRPr>
            </a:pPr>
            <a:r>
              <a:t>提案する</a:t>
            </a:r>
          </a:p>
        </p:txBody>
      </p:sp>
      <p:sp>
        <p:nvSpPr>
          <p:cNvPr id="23" name="TextBox 22"/>
          <p:cNvSpPr txBox="1"/>
          <p:nvPr/>
        </p:nvSpPr>
        <p:spPr>
          <a:xfrm>
            <a:off x="6176480" y="2286000"/>
            <a:ext cx="2560320" cy="274320"/>
          </a:xfrm>
          <a:prstGeom prst="rect">
            <a:avLst/>
          </a:prstGeom>
          <a:noFill/>
        </p:spPr>
        <p:txBody>
          <a:bodyPr wrap="square">
            <a:spAutoFit/>
          </a:bodyPr>
          <a:lstStyle/>
          <a:p>
            <a:pPr algn="ctr">
              <a:defRPr sz="1100" b="0">
                <a:solidFill>
                  <a:srgbClr val="666666"/>
                </a:solidFill>
              </a:defRPr>
            </a:pPr>
            <a:r>
              <a:t>「カスタマイズありき」</a:t>
            </a:r>
          </a:p>
        </p:txBody>
      </p:sp>
      <p:sp>
        <p:nvSpPr>
          <p:cNvPr id="24" name="TextBox 23"/>
          <p:cNvSpPr txBox="1"/>
          <p:nvPr/>
        </p:nvSpPr>
        <p:spPr>
          <a:xfrm>
            <a:off x="6176480" y="2486000"/>
            <a:ext cx="2560320" cy="274320"/>
          </a:xfrm>
          <a:prstGeom prst="rect">
            <a:avLst/>
          </a:prstGeom>
          <a:noFill/>
        </p:spPr>
        <p:txBody>
          <a:bodyPr wrap="square">
            <a:spAutoFit/>
          </a:bodyPr>
          <a:lstStyle/>
          <a:p>
            <a:pPr algn="ctr">
              <a:defRPr sz="1100" b="0">
                <a:solidFill>
                  <a:srgbClr val="666666"/>
                </a:solidFill>
              </a:defRPr>
            </a:pPr>
            <a:r>
              <a:t>ではない新しい</a:t>
            </a:r>
          </a:p>
        </p:txBody>
      </p:sp>
      <p:sp>
        <p:nvSpPr>
          <p:cNvPr id="25" name="TextBox 24"/>
          <p:cNvSpPr txBox="1"/>
          <p:nvPr/>
        </p:nvSpPr>
        <p:spPr>
          <a:xfrm>
            <a:off x="6176480" y="2686000"/>
            <a:ext cx="2560320" cy="274320"/>
          </a:xfrm>
          <a:prstGeom prst="rect">
            <a:avLst/>
          </a:prstGeom>
          <a:noFill/>
        </p:spPr>
        <p:txBody>
          <a:bodyPr wrap="square">
            <a:spAutoFit/>
          </a:bodyPr>
          <a:lstStyle/>
          <a:p>
            <a:pPr algn="ctr">
              <a:defRPr sz="1100" b="0">
                <a:solidFill>
                  <a:srgbClr val="666666"/>
                </a:solidFill>
              </a:defRPr>
            </a:pPr>
            <a:r>
              <a:t>システム導入の形を</a:t>
            </a:r>
          </a:p>
        </p:txBody>
      </p:sp>
      <p:sp>
        <p:nvSpPr>
          <p:cNvPr id="26" name="Rounded Rectangle 25"/>
          <p:cNvSpPr/>
          <p:nvPr/>
        </p:nvSpPr>
        <p:spPr>
          <a:xfrm>
            <a:off x="274320" y="3474720"/>
            <a:ext cx="8412480" cy="914400"/>
          </a:xfrm>
          <a:prstGeom prst="round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3520440"/>
            <a:ext cx="8046720" cy="822960"/>
          </a:xfrm>
          <a:prstGeom prst="rect">
            <a:avLst/>
          </a:prstGeom>
          <a:noFill/>
        </p:spPr>
        <p:txBody>
          <a:bodyPr wrap="square">
            <a:spAutoFit/>
          </a:bodyPr>
          <a:lstStyle/>
          <a:p>
            <a:pPr algn="ctr">
              <a:defRPr sz="1600" b="1">
                <a:solidFill>
                  <a:srgbClr val="FFFFFF"/>
                </a:solidFill>
              </a:defRPr>
            </a:pPr>
            <a:r>
              <a:t>「うちは特殊だから」を「標準化で解決できる」に変える</a:t>
            </a:r>
          </a:p>
          <a:p>
            <a:pPr algn="ctr">
              <a:defRPr sz="1200" b="0">
                <a:solidFill>
                  <a:srgbClr val="C9A84C"/>
                </a:solidFill>
              </a:defRPr>
            </a:pPr>
            <a:r>
              <a:t>これが、ITコンサルタントの真の価値です</a:t>
            </a:r>
          </a:p>
        </p:txBody>
      </p:sp>
      <p:sp>
        <p:nvSpPr>
          <p:cNvPr id="28" name="TextBox 27"/>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29" name="TextBox 28"/>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16</a:t>
            </a:r>
          </a:p>
        </p:txBody>
      </p:sp>
      <p:sp>
        <p:nvSpPr>
          <p:cNvPr id="30" name="Rectangle 29"/>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000" cy="514350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000" y="0"/>
            <a:ext cx="100000" cy="51435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1371600"/>
            <a:ext cx="5029200" cy="914400"/>
          </a:xfrm>
          <a:prstGeom prst="rect">
            <a:avLst/>
          </a:prstGeom>
          <a:noFill/>
        </p:spPr>
        <p:txBody>
          <a:bodyPr wrap="square">
            <a:spAutoFit/>
          </a:bodyPr>
          <a:lstStyle/>
          <a:p>
            <a:pPr algn="l">
              <a:defRPr sz="2800" b="1">
                <a:solidFill>
                  <a:srgbClr val="3C2F1E"/>
                </a:solidFill>
              </a:defRPr>
            </a:pPr>
            <a:r>
              <a:t>ご清聴ありがとうございました</a:t>
            </a:r>
          </a:p>
        </p:txBody>
      </p:sp>
      <p:sp>
        <p:nvSpPr>
          <p:cNvPr id="6" name="TextBox 5"/>
          <p:cNvSpPr txBox="1"/>
          <p:nvPr/>
        </p:nvSpPr>
        <p:spPr>
          <a:xfrm>
            <a:off x="3657600" y="2560320"/>
            <a:ext cx="2743200" cy="548640"/>
          </a:xfrm>
          <a:prstGeom prst="rect">
            <a:avLst/>
          </a:prstGeom>
          <a:noFill/>
        </p:spPr>
        <p:txBody>
          <a:bodyPr wrap="square">
            <a:spAutoFit/>
          </a:bodyPr>
          <a:lstStyle/>
          <a:p>
            <a:pPr algn="l">
              <a:defRPr sz="1400" b="0">
                <a:solidFill>
                  <a:srgbClr val="3C2F1E"/>
                </a:solidFill>
              </a:defRPr>
            </a:pPr>
            <a:r>
              <a:t>H A R M O N I C</a:t>
            </a:r>
          </a:p>
        </p:txBody>
      </p:sp>
      <p:sp>
        <p:nvSpPr>
          <p:cNvPr id="7" name="TextBox 6"/>
          <p:cNvSpPr txBox="1"/>
          <p:nvPr/>
        </p:nvSpPr>
        <p:spPr>
          <a:xfrm>
            <a:off x="5486400" y="2560320"/>
            <a:ext cx="2743200" cy="548640"/>
          </a:xfrm>
          <a:prstGeom prst="rect">
            <a:avLst/>
          </a:prstGeom>
          <a:noFill/>
        </p:spPr>
        <p:txBody>
          <a:bodyPr wrap="square">
            <a:spAutoFit/>
          </a:bodyPr>
          <a:lstStyle/>
          <a:p>
            <a:pPr algn="l">
              <a:defRPr sz="1400" b="0">
                <a:solidFill>
                  <a:srgbClr val="C9A84C"/>
                </a:solidFill>
              </a:defRPr>
            </a:pPr>
            <a:r>
              <a:t>i n s i g h t</a:t>
            </a:r>
          </a:p>
        </p:txBody>
      </p:sp>
      <p:sp>
        <p:nvSpPr>
          <p:cNvPr id="8" name="TextBox 7"/>
          <p:cNvSpPr txBox="1"/>
          <p:nvPr/>
        </p:nvSpPr>
        <p:spPr>
          <a:xfrm>
            <a:off x="3657600" y="3200400"/>
            <a:ext cx="5029200" cy="457200"/>
          </a:xfrm>
          <a:prstGeom prst="rect">
            <a:avLst/>
          </a:prstGeom>
          <a:noFill/>
        </p:spPr>
        <p:txBody>
          <a:bodyPr wrap="square">
            <a:spAutoFit/>
          </a:bodyPr>
          <a:lstStyle/>
          <a:p>
            <a:pPr algn="l">
              <a:defRPr sz="1400" b="0">
                <a:solidFill>
                  <a:srgbClr val="8B7355"/>
                </a:solidFill>
              </a:defRPr>
            </a:pPr>
            <a:r>
              <a:t>建設業DXの推進を、共に。</a:t>
            </a:r>
          </a:p>
        </p:txBody>
      </p:sp>
      <p:sp>
        <p:nvSpPr>
          <p:cNvPr id="9" name="TextBox 8"/>
          <p:cNvSpPr txBox="1"/>
          <p:nvPr/>
        </p:nvSpPr>
        <p:spPr>
          <a:xfrm>
            <a:off x="3657600" y="3931920"/>
            <a:ext cx="4572000" cy="274320"/>
          </a:xfrm>
          <a:prstGeom prst="rect">
            <a:avLst/>
          </a:prstGeom>
          <a:noFill/>
        </p:spPr>
        <p:txBody>
          <a:bodyPr wrap="square">
            <a:spAutoFit/>
          </a:bodyPr>
          <a:lstStyle/>
          <a:p>
            <a:pPr algn="l">
              <a:defRPr sz="1000" b="0">
                <a:solidFill>
                  <a:srgbClr val="8B7355"/>
                </a:solidFill>
              </a:defRPr>
            </a:pPr>
            <a:r>
              <a:t>Harmonic Insight 2026年3月12日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