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000" cy="51435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000" y="0"/>
            <a:ext cx="100000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9A84C"/>
                </a:solidFill>
                <a:latin typeface="Calibri"/>
              </a:defRPr>
            </a:pPr>
            <a:r>
              <a:t>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7315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C2F1E"/>
                </a:solidFill>
              </a:defRPr>
            </a:pPr>
            <a:r>
              <a:t>建設業基幹システム</a:t>
            </a:r>
          </a:p>
          <a:p>
            <a:pPr algn="l">
              <a:defRPr sz="3200" b="1">
                <a:solidFill>
                  <a:srgbClr val="3C2F1E"/>
                </a:solidFill>
              </a:defRPr>
            </a:pPr>
            <a:r>
              <a:t>リプレースにおける</a:t>
            </a:r>
          </a:p>
          <a:p>
            <a:pPr algn="l">
              <a:defRPr sz="3200" b="1">
                <a:solidFill>
                  <a:srgbClr val="3C2F1E"/>
                </a:solidFill>
              </a:defRPr>
            </a:pPr>
            <a:r>
              <a:t>カスタマイズ多発ポイント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</a:p>
          <a:p>
            <a:pPr algn="l">
              <a:defRPr sz="1600" b="0">
                <a:solidFill>
                  <a:srgbClr val="8B7536"/>
                </a:solidFill>
              </a:defRPr>
            </a:pPr>
            <a:r>
              <a:t>～ 業務担当者のための わかりやすい解説 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2F1E"/>
                </a:solidFill>
              </a:defRPr>
            </a:pPr>
            <a:r>
              <a:t>H A R M O N I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3474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A84C"/>
                </a:solidFill>
              </a:defRPr>
            </a:pPr>
            <a:r>
              <a:t>i n s i g h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355"/>
                </a:solidFill>
              </a:defRPr>
            </a:pPr>
            <a:r>
              <a:t>Harmonic Insight 2026年3月12日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今回の勉強会の目的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64008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7536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カスタマイズ地獄とは?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2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なぜ建設業でカスタマイズが多発するのかを理解する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64008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6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7536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8つの業務領域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カスタマイズが集中する業務領域を把握する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64008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7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7536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標準化の考え方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5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カスタマイズに頼らない解決策を知る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640080" cy="640080"/>
          </a:xfrm>
          <a:prstGeom prst="round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9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7536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明日からの行動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自社の業務で何ができるかを考える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1097280"/>
            <a:ext cx="3474720" cy="34747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7536"/>
                </a:solidFill>
              </a:defRPr>
            </a:pPr>
            <a:r>
              <a:t>本勉強会のゴール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18288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「うちは特殊だから」</a:t>
            </a:r>
          </a:p>
          <a:p>
            <a:pPr algn="ctr">
              <a:defRPr sz="1800" b="1">
                <a:solidFill>
                  <a:srgbClr val="8B7536"/>
                </a:solidFill>
              </a:defRPr>
            </a:pPr>
            <a:r>
              <a:t>↓</a:t>
            </a:r>
          </a:p>
          <a:p>
            <a:pPr algn="l">
              <a:defRPr sz="1400" b="1">
                <a:solidFill>
                  <a:srgbClr val="27AE60"/>
                </a:solidFill>
              </a:defRPr>
            </a:pPr>
            <a:r>
              <a:t>「標準化で解決できる」</a:t>
            </a:r>
          </a:p>
          <a:p>
            <a:pPr algn="l">
              <a:defRPr sz="1000" b="0">
                <a:solidFill>
                  <a:srgbClr val="333333"/>
                </a:solidFill>
              </a:defRPr>
            </a:pPr>
          </a:p>
          <a:p>
            <a:pPr algn="l">
              <a:defRPr sz="1100" b="0">
                <a:solidFill>
                  <a:srgbClr val="666666"/>
                </a:solidFill>
              </a:defRPr>
            </a:pPr>
            <a:r>
              <a:t>この発想の転換が</a:t>
            </a:r>
          </a:p>
          <a:p>
            <a:pPr algn="l">
              <a:defRPr sz="1100" b="0">
                <a:solidFill>
                  <a:srgbClr val="666666"/>
                </a:solidFill>
              </a:defRPr>
            </a:pPr>
            <a:r>
              <a:t>最大の目標です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なぜ建設業は「カスタマイズ地獄」に陥るのか?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88720"/>
            <a:ext cx="2011680" cy="10972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21600" y="133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パッケージ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1600" y="15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システム導入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188720"/>
            <a:ext cx="2011680" cy="109728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90480" y="133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「うちは特殊」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0480" y="15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の声が続出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2011680" cy="1097280"/>
          </a:xfrm>
          <a:prstGeom prst="round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0800" y="133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大量の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0800" y="15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カスタマイズ要求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2011680" cy="1097280"/>
          </a:xfrm>
          <a:prstGeom prst="roundRect">
            <a:avLst/>
          </a:prstGeom>
          <a:solidFill>
            <a:srgbClr val="FF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0800" y="316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費用・時間が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0800" y="34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大幅に超過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017520"/>
            <a:ext cx="2011680" cy="1097280"/>
          </a:xfrm>
          <a:prstGeom prst="roundRect">
            <a:avLst/>
          </a:prstGeom>
          <a:solidFill>
            <a:srgbClr val="FF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90480" y="316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個別開発と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0480" y="34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変わらない結果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017520"/>
            <a:ext cx="2011680" cy="1097280"/>
          </a:xfrm>
          <a:prstGeom prst="roundRect">
            <a:avLst/>
          </a:prstGeom>
          <a:solidFill>
            <a:srgbClr val="FF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1600" y="316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次のリプレースで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1600" y="34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また同じ問題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200400" y="1554480"/>
            <a:ext cx="640080" cy="27432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5669280" y="1554480"/>
            <a:ext cx="640080" cy="27432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7132320" y="2286000"/>
            <a:ext cx="274320" cy="640080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69280" y="3383280"/>
            <a:ext cx="640080" cy="274320"/>
          </a:xfrm>
          <a:prstGeom prst="lef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3200400" y="3383280"/>
            <a:ext cx="640080" cy="274320"/>
          </a:xfrm>
          <a:prstGeom prst="lef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297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7536"/>
                </a:solidFill>
              </a:defRPr>
            </a:pPr>
            <a:r>
              <a:t>この悪循環を断ち切るのが「標準化戦略」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建設業特有の6つの複雑性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560320" cy="15544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7200" y="1147280"/>
            <a:ext cx="365760" cy="365760"/>
          </a:xfrm>
          <a:prstGeom prst="ellipse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200" y="1152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200" y="115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工事の個別性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00" y="14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同じ工事は二つとない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200" y="171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「一品生産」の世界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097280"/>
            <a:ext cx="2560320" cy="15544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3280" y="1147280"/>
            <a:ext cx="365760" cy="36576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3280" y="1152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3280" y="115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現場と本社の壁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280" y="14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地理的・時間的な隔たり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280" y="171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情報共有が困難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097280"/>
            <a:ext cx="2560320" cy="15544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9360" y="1147280"/>
            <a:ext cx="365760" cy="365760"/>
          </a:xfrm>
          <a:prstGeom prst="ellipse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9360" y="1152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9360" y="115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多様な契約形態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360" y="149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請負・単価・委託など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360" y="1717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複雑な決済ルール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26080"/>
            <a:ext cx="2560320" cy="15544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7200" y="29760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200" y="2981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200" y="298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法令・管理要件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200" y="33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建設業法・下請法など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200" y="354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厳格な法令対応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926080"/>
            <a:ext cx="2560320" cy="15544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33280" y="297608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3280" y="2981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33280" y="298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業務の属人化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3280" y="33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ベテランの経験と勘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280" y="354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暗黙知の形式知化が困難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926080"/>
            <a:ext cx="2560320" cy="15544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59360" y="2976080"/>
            <a:ext cx="36576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9360" y="2981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9360" y="298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会計の複雑化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9360" y="33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進行基準・完成基準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360" y="354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未成工事の管理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7536"/>
                </a:solidFill>
              </a:defRPr>
            </a:pPr>
            <a:r>
              <a:t>これらの特性がシステムの「標準機能」では対応しきれないカスタマイズ要求を生み出す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カスタマイズが多発する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9A84C"/>
                </a:solidFill>
              </a:defRPr>
            </a:pPr>
            <a:r>
              <a:t>8つの業務領域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各領域の「よくある課題」と「標準化の方向性」を</a:t>
            </a:r>
            <a:br/>
            <a:r>
              <a:t>分かりやすく解説します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</a:defRPr>
            </a:pPr>
            <a:r>
              <a:t>H A R M O N I C   i n s i g h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カスタマイズ多発 8つの業務領域マップ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192024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085840"/>
            <a:ext cx="502920" cy="50292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090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320" y="155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原価管理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320" y="177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工事採算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05840" cy="27432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最重要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005840"/>
            <a:ext cx="192024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54680" y="1085840"/>
            <a:ext cx="502920" cy="502920"/>
          </a:xfrm>
          <a:prstGeom prst="ellipse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090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8880" y="155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契約・請求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8880" y="177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入金管理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2286000"/>
            <a:ext cx="1005840" cy="274320"/>
          </a:xfrm>
          <a:prstGeom prst="roundRect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286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複雑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005840"/>
            <a:ext cx="192024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49240" y="108584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090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3440" y="155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経費精算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3440" y="177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現場管理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2286000"/>
            <a:ext cx="10058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2286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頻出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1005840"/>
            <a:ext cx="192024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43800" y="108584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1090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8000" y="155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購買・在庫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8000" y="1775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資材管理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2286000"/>
            <a:ext cx="1005840" cy="274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2860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現場密着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926080"/>
            <a:ext cx="192024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0120" y="300608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011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320" y="347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ワークフロー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320" y="369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承認プロセス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206240"/>
            <a:ext cx="1005840" cy="2743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206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全社横断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8880" y="2926080"/>
            <a:ext cx="192024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54680" y="3006080"/>
            <a:ext cx="502920" cy="5029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54680" y="3011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8880" y="347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出面管理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8880" y="369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労務管理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26080" y="4206240"/>
            <a:ext cx="1005840" cy="27432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0" y="4206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法令関連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2926080"/>
            <a:ext cx="192024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349240" y="3006080"/>
            <a:ext cx="502920" cy="502920"/>
          </a:xfrm>
          <a:prstGeom prst="ellipse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9240" y="3011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13440" y="347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個別帳票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13440" y="369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レポート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0" y="4206240"/>
            <a:ext cx="1005840" cy="274320"/>
          </a:xfrm>
          <a:prstGeom prst="round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4206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要望多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0" y="2926080"/>
            <a:ext cx="1920240" cy="16459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43800" y="300608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3011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8000" y="347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標準化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8000" y="369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戦略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4206240"/>
            <a:ext cx="1005840" cy="2743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4206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解決策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第1章 原価管理・工事採算管理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建設業の生命線 ― 見えないコストを可視化する標準化戦略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914400"/>
          </a:xfrm>
          <a:prstGeom prst="round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5760" y="147160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716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2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実行予算管理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設計変更のたびにExcel作り直し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予算残高をリアルタイムで見たい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23160"/>
            <a:ext cx="4114800" cy="914400"/>
          </a:xfrm>
          <a:prstGeom prst="round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" y="252316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523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7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共通費の配賦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間接費の按分ルールが複雑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工事間で不公平感が生まれる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74720"/>
            <a:ext cx="4114800" cy="914400"/>
          </a:xfrm>
          <a:prstGeom prst="round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" y="357472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574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工事進行基準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進捗率の計算方法が統一されない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収益認識が企業ごとにバラバラ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371600"/>
            <a:ext cx="3931920" cy="310896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標準化の方向性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&gt;&gt;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業界標準の原価分類マスタをベースに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210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企業独自の費目を追加できる仕組み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&gt;&gt;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配賦パターンをテンプレート化し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92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選択式で設定できる機能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566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&gt;&gt;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進捗率の自動計算ロジックを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74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複数パターンから選択可能に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実行予算管理の Before /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Before : 現状の課題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188720" cy="822960"/>
          </a:xfrm>
          <a:prstGeom prst="round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32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設計変更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320" y="16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発生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371600"/>
            <a:ext cx="1188720" cy="822960"/>
          </a:xfrm>
          <a:prstGeom prst="round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592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5920" y="16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作り直し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371600"/>
            <a:ext cx="1188720" cy="822960"/>
          </a:xfrm>
          <a:prstGeom prst="round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752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本社に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7520" y="16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電話確認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417320" y="1645920"/>
            <a:ext cx="274320" cy="18288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2788920" y="1645920"/>
            <a:ext cx="274320" cy="18288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4320" y="2377440"/>
            <a:ext cx="3931920" cy="457200"/>
          </a:xfrm>
          <a:prstGeom prst="roundRect">
            <a:avLst/>
          </a:prstGeom>
          <a:solidFill>
            <a:srgbClr val="FF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時間がかかる / ミスが起きやすい / 属人的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868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After : 標準化後のイメージ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371600"/>
            <a:ext cx="1188720" cy="82296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48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設計変更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4880" y="16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システム入力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1371600"/>
            <a:ext cx="1188720" cy="82296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64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予算自動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6480" y="16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再計算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371600"/>
            <a:ext cx="1188720" cy="82296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8079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タブレットで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8079" y="16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残高確認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97880" y="1645920"/>
            <a:ext cx="274320" cy="18288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269480" y="1645920"/>
            <a:ext cx="274320" cy="18288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54880" y="2377440"/>
            <a:ext cx="3931920" cy="457200"/>
          </a:xfrm>
          <a:prstGeom prst="round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リアルタイム / 自動化 / 誰でも操作可能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3017520"/>
            <a:ext cx="8412480" cy="13716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7536"/>
                </a:solidFill>
              </a:defRPr>
            </a:pPr>
            <a:r>
              <a:t>現場の声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4747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「設計変更のたびにExcelを作り直してて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時間がかかりすぎる」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「タブレットで予算残高が見られれば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無駄な発注も減るはずだ」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4747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「工事ごとに細かく原価を管理したいのに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システムだと大まかすぎて使い物にならない」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「承認ルートが工事規模で変わるから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標準システムだと対応できない」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第2章 契約・請求・入金管理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複雑な取引を簡素化する標準化戦略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210312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契約形態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特徴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支払方法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カスタマイズの課題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請負契約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工事全体を一括受注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出来高払い・完成払い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出来高の計算方法が企業ごとに異なる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単価契約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数量×単価で精算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月次精算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単価改定・追加数量の処理が複雑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業務委託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人工ベースの契約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月末締め翌月払い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労務実績との突合が手作業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74320" y="3383280"/>
            <a:ext cx="3931920" cy="109728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7AB0"/>
                </a:solidFill>
              </a:defRPr>
            </a:pPr>
            <a:r>
              <a:t>下請支払管理の重要ポイント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建設業法・下請法への確実な対応が必須</a:t>
            </a:r>
          </a:p>
          <a:p>
            <a:pPr algn="l">
              <a:defRPr sz="1000" b="0">
                <a:solidFill>
                  <a:srgbClr val="333333"/>
                </a:solidFill>
              </a:defRPr>
            </a:pPr>
            <a:r>
              <a:t>建退共の証紙管理・CCUSとの連携も重要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383280"/>
            <a:ext cx="4114800" cy="109728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標準化の方向性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契約パターンマスタで類型化し選択式に</a:t>
            </a:r>
          </a:p>
          <a:p>
            <a:pPr algn="l">
              <a:defRPr sz="1000" b="0">
                <a:solidFill>
                  <a:srgbClr val="333333"/>
                </a:solidFill>
              </a:defRPr>
            </a:pPr>
            <a:r>
              <a:t>出来高計算テンプレートの標準提供</a:t>
            </a:r>
          </a:p>
          <a:p>
            <a:pPr algn="l">
              <a:defRPr sz="1000" b="0">
                <a:solidFill>
                  <a:srgbClr val="333333"/>
                </a:solidFill>
              </a:defRPr>
            </a:pPr>
            <a:r>
              <a:t>法令チェック機能の標準実装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第3章 経費精算・現場管理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現場のリアルを捉える経費処理の最適化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3017520"/>
          </a:xfrm>
          <a:prstGeom prst="roundRect">
            <a:avLst/>
          </a:prstGeom>
          <a:solidFill>
            <a:srgbClr val="FF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</a:defRPr>
            </a:pPr>
            <a:r>
              <a:t>現場で起きていること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現場経費 vs 一般経費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どこまでが現場の費用？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分類基準が人によってバラバラ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立替・仮払い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現場監督が自腹で立て替え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1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精算が月末に集中してパンク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</a:defRPr>
            </a:pPr>
            <a:r>
              <a:t>安全対策費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安全大会・保護具・標識…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工事原価に入れる？入れない？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371600"/>
            <a:ext cx="3931920" cy="301752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</a:defRPr>
            </a:pPr>
            <a:r>
              <a:t>標準化アプローチ</a:t>
            </a:r>
          </a:p>
        </p:txBody>
      </p:sp>
      <p:sp>
        <p:nvSpPr>
          <p:cNvPr id="19" name="Oval 18"/>
          <p:cNvSpPr/>
          <p:nvPr/>
        </p:nvSpPr>
        <p:spPr>
          <a:xfrm>
            <a:off x="4937760" y="1930240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19302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経費分類マスタの標準化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10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→ 業界共通の分類ルールを適用</a:t>
            </a:r>
          </a:p>
        </p:txBody>
      </p:sp>
      <p:sp>
        <p:nvSpPr>
          <p:cNvPr id="23" name="Oval 22"/>
          <p:cNvSpPr/>
          <p:nvPr/>
        </p:nvSpPr>
        <p:spPr>
          <a:xfrm>
            <a:off x="4937760" y="2844640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28446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モバイルアプリで現場から即時申請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01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→ 写真・GPS情報を自動付与</a:t>
            </a:r>
          </a:p>
        </p:txBody>
      </p:sp>
      <p:sp>
        <p:nvSpPr>
          <p:cNvPr id="27" name="Oval 26"/>
          <p:cNvSpPr/>
          <p:nvPr/>
        </p:nvSpPr>
        <p:spPr>
          <a:xfrm>
            <a:off x="4937760" y="3759040"/>
            <a:ext cx="228600" cy="2286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5192" y="375904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749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工事別・費目別の自動配賦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929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→ 設定ベースで柔軟に対応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第4章 購買・在庫管理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現場起点で効率化する資材・重機・仮設材管理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280160"/>
            <a:ext cx="137160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288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現場で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880" y="15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資材が必要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554480" y="1554480"/>
            <a:ext cx="45720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20240" y="1280160"/>
            <a:ext cx="1371600" cy="822960"/>
          </a:xfrm>
          <a:prstGeom prst="roundRect">
            <a:avLst/>
          </a:prstGeom>
          <a:solidFill>
            <a:srgbClr val="FF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024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現場直送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0240" y="15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都度購入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40" y="1554480"/>
            <a:ext cx="45720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1280160"/>
            <a:ext cx="1371600" cy="822960"/>
          </a:xfrm>
          <a:prstGeom prst="roundRect">
            <a:avLst/>
          </a:prstGeom>
          <a:solidFill>
            <a:srgbClr val="FF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760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発注・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7600" y="15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検収処理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029200" y="1554480"/>
            <a:ext cx="45720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1280160"/>
            <a:ext cx="1371600" cy="822960"/>
          </a:xfrm>
          <a:prstGeom prst="roundRect">
            <a:avLst/>
          </a:prstGeom>
          <a:solidFill>
            <a:srgbClr val="FF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496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在庫管理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4960" y="15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不要?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66560" y="1554480"/>
            <a:ext cx="457200" cy="182880"/>
          </a:xfrm>
          <a:prstGeom prst="rightArrow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1280160"/>
            <a:ext cx="1371600" cy="822960"/>
          </a:xfrm>
          <a:prstGeom prst="roundRect">
            <a:avLst/>
          </a:prstGeom>
          <a:solidFill>
            <a:srgbClr val="FF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232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原価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2320" y="15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</a:defRPr>
            </a:pPr>
            <a:r>
              <a:t>計上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377440"/>
            <a:ext cx="4114800" cy="20116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</a:defRPr>
            </a:pPr>
            <a:r>
              <a:t>現場直送・都度購入の課題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834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「倉庫を通さず現場に直送するから、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在庫管理の概念が当てはまらない」</a:t>
            </a:r>
          </a:p>
          <a:p>
            <a:pPr algn="l">
              <a:defRPr sz="800" b="0">
                <a:solidFill>
                  <a:srgbClr val="333333"/>
                </a:solidFill>
              </a:defRPr>
            </a:pP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「現場で急に必要になった資材を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その場で発注できないと困る」</a:t>
            </a:r>
          </a:p>
          <a:p>
            <a:pPr algn="l">
              <a:defRPr sz="800" b="0">
                <a:solidFill>
                  <a:srgbClr val="333333"/>
                </a:solidFill>
              </a:defRPr>
            </a:pPr>
          </a:p>
          <a:p>
            <a:pPr algn="l">
              <a:defRPr sz="1000" b="1">
                <a:solidFill>
                  <a:srgbClr val="E67E22"/>
                </a:solidFill>
              </a:defRPr>
            </a:pPr>
            <a:r>
              <a:t>→ 発注=検収=原価計上の一気通貫処理が必要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2377440"/>
            <a:ext cx="3931920" cy="201168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7AB0"/>
                </a:solidFill>
              </a:defRPr>
            </a:pPr>
            <a:r>
              <a:t>レンタル・仮設材の課題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2834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「重機レンタルの日割り計算が複雑」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「仮設材を他の現場に転用したい」</a:t>
            </a:r>
          </a:p>
          <a:p>
            <a:pPr algn="l">
              <a:defRPr sz="800" b="0">
                <a:solidFill>
                  <a:srgbClr val="333333"/>
                </a:solidFill>
              </a:defRPr>
            </a:pPr>
          </a:p>
          <a:p>
            <a:pPr algn="l">
              <a:defRPr sz="1000" b="1">
                <a:solidFill>
                  <a:srgbClr val="2C7AB0"/>
                </a:solidFill>
              </a:defRPr>
            </a:pPr>
            <a:r>
              <a:t>→ レンタル期間の自動計算テンプレート</a:t>
            </a:r>
          </a:p>
          <a:p>
            <a:pPr algn="l">
              <a:defRPr sz="1000" b="1">
                <a:solidFill>
                  <a:srgbClr val="2C7AB0"/>
                </a:solidFill>
              </a:defRPr>
            </a:pPr>
            <a:r>
              <a:t>→ 仮設材の現場間移動トラッキング機能</a:t>
            </a:r>
          </a:p>
          <a:p>
            <a:pPr algn="l">
              <a:defRPr sz="1000" b="1">
                <a:solidFill>
                  <a:srgbClr val="2C7AB0"/>
                </a:solidFill>
              </a:defRPr>
            </a:pPr>
            <a:r>
              <a:t>→ 月額・日額の自動按分処理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第5章 ワークフロー・承認プロセス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柔軟性と統制を両立させる電子化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E44AD"/>
                </a:solidFill>
              </a:defRPr>
            </a:pPr>
            <a:r>
              <a:t>建設業の承認フロー例</a:t>
            </a:r>
          </a:p>
        </p:txBody>
      </p:sp>
      <p:sp>
        <p:nvSpPr>
          <p:cNvPr id="7" name="Chevron 6"/>
          <p:cNvSpPr/>
          <p:nvPr/>
        </p:nvSpPr>
        <p:spPr>
          <a:xfrm>
            <a:off x="274320" y="1828800"/>
            <a:ext cx="1280160" cy="548640"/>
          </a:xfrm>
          <a:prstGeom prst="chevron">
            <a:avLst/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320" y="18745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現場担当</a:t>
            </a:r>
          </a:p>
        </p:txBody>
      </p:sp>
      <p:sp>
        <p:nvSpPr>
          <p:cNvPr id="9" name="Chevron 8"/>
          <p:cNvSpPr/>
          <p:nvPr/>
        </p:nvSpPr>
        <p:spPr>
          <a:xfrm>
            <a:off x="1645920" y="1828800"/>
            <a:ext cx="1280160" cy="548640"/>
          </a:xfrm>
          <a:prstGeom prst="chevron">
            <a:avLst/>
          </a:prstGeom>
          <a:solidFill>
            <a:srgbClr val="D5C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5920" y="18745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現場所長</a:t>
            </a:r>
          </a:p>
        </p:txBody>
      </p:sp>
      <p:sp>
        <p:nvSpPr>
          <p:cNvPr id="11" name="Chevron 10"/>
          <p:cNvSpPr/>
          <p:nvPr/>
        </p:nvSpPr>
        <p:spPr>
          <a:xfrm>
            <a:off x="3017520" y="1828800"/>
            <a:ext cx="1280160" cy="548640"/>
          </a:xfrm>
          <a:prstGeom prst="chevron">
            <a:avLst/>
          </a:prstGeom>
          <a:solidFill>
            <a:srgbClr val="C0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7520" y="18745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部門長</a:t>
            </a:r>
          </a:p>
        </p:txBody>
      </p:sp>
      <p:sp>
        <p:nvSpPr>
          <p:cNvPr id="13" name="Chevron 12"/>
          <p:cNvSpPr/>
          <p:nvPr/>
        </p:nvSpPr>
        <p:spPr>
          <a:xfrm>
            <a:off x="4389120" y="1828800"/>
            <a:ext cx="1280160" cy="548640"/>
          </a:xfrm>
          <a:prstGeom prst="chevron">
            <a:avLst/>
          </a:prstGeom>
          <a:solidFill>
            <a:srgbClr val="AA9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9120" y="18745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経理部</a:t>
            </a:r>
          </a:p>
        </p:txBody>
      </p:sp>
      <p:sp>
        <p:nvSpPr>
          <p:cNvPr id="15" name="Chevron 14"/>
          <p:cNvSpPr/>
          <p:nvPr/>
        </p:nvSpPr>
        <p:spPr>
          <a:xfrm>
            <a:off x="5760720" y="1828800"/>
            <a:ext cx="1280160" cy="548640"/>
          </a:xfrm>
          <a:prstGeom prst="chevron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60720" y="187451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社長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8745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</a:defRPr>
            </a:pPr>
            <a:r>
              <a:t>金額に応じて</a:t>
            </a:r>
            <a:br/>
            <a:r>
              <a:t>ルート変更!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2651760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よくある課題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標準化の方向性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金額・工種で承認ルートが変わる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条件分岐テンプレート（金額・工種マトリックス）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現場にいる承認者がなかなか承認できない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モバイル承認 + 代理承認機能の標準実装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緊急時の事後承認フローがない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緊急承認ワークフローの標準パターン提供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紙の稟議書とシステムが二重管理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紙帳票の電子化テンプレート提供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第6章 出面管理・労務管理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現場の勤怠を正確に把握し、法令遵守を支援する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085"/>
                </a:solidFill>
              </a:defRPr>
            </a:pPr>
            <a:r>
              <a:t>多様な支払形態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73736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128016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支払形態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課題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常用（人工）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日当×日数で支払い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日報との突合が煩雑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月極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月額固定で支払い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変動分の追加精算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出来高払い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作業量に応じて支払い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数量の確認方法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754880" y="1371600"/>
            <a:ext cx="3931920" cy="1737360"/>
          </a:xfrm>
          <a:prstGeom prst="round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085"/>
                </a:solidFill>
              </a:defRPr>
            </a:pPr>
            <a:r>
              <a:t>法令遵守のポイント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</a:defRPr>
            </a:pPr>
            <a:r>
              <a:t>外国人労働者の在留資格管理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→ 期限アラート機能の標準搭載</a:t>
            </a:r>
          </a:p>
          <a:p>
            <a:pPr algn="l">
              <a:defRPr sz="600" b="0">
                <a:solidFill>
                  <a:srgbClr val="333333"/>
                </a:solidFill>
              </a:defRPr>
            </a:pPr>
          </a:p>
          <a:p>
            <a:pPr algn="l">
              <a:defRPr sz="1000" b="1">
                <a:solidFill>
                  <a:srgbClr val="333333"/>
                </a:solidFill>
              </a:defRPr>
            </a:pPr>
            <a:r>
              <a:t>建退共の掛金管理・CCUS連携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→ 就業実績から証紙枚数を自動計算</a:t>
            </a:r>
          </a:p>
          <a:p>
            <a:pPr algn="l">
              <a:defRPr sz="600" b="0">
                <a:solidFill>
                  <a:srgbClr val="333333"/>
                </a:solidFill>
              </a:defRPr>
            </a:pPr>
          </a:p>
          <a:p>
            <a:pPr algn="l">
              <a:defRPr sz="1000" b="1">
                <a:solidFill>
                  <a:srgbClr val="333333"/>
                </a:solidFill>
              </a:defRPr>
            </a:pPr>
            <a:r>
              <a:t>労働時間の上限規制対応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  → 残業時間の自動集計・アラート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383280"/>
            <a:ext cx="8412480" cy="100584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7536"/>
                </a:solidFill>
              </a:defRPr>
            </a:pPr>
            <a:r>
              <a:t>標準化のポイント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GPS・顔認証・ICカードなどによる出退勤データの自動取得  →  日報・出面との自動連携  →  支払計算の自動化</a:t>
            </a:r>
          </a:p>
          <a:p>
            <a:pPr algn="l">
              <a:defRPr sz="1000" b="0">
                <a:solidFill>
                  <a:srgbClr val="666666"/>
                </a:solidFill>
              </a:defRPr>
            </a:pPr>
            <a:r>
              <a:t>現場の「手書き日報」から脱却し、モバイル入力で正確なデータをリアルタイムに収集する仕組みを標準機能として提供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第7章 個別帳票・レポート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536"/>
                </a:solidFill>
              </a:defRPr>
            </a:pPr>
            <a:r>
              <a:t>企業独自の管理要件を満たす情報可視化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4114800" cy="1645920"/>
          </a:xfrm>
          <a:prstGeom prst="round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5400"/>
                </a:solidFill>
              </a:defRPr>
            </a:pPr>
            <a:r>
              <a:t>帳票カスタマイズが多発する理由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施主ごとに提出フォーマットが違う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社内の管理帳票が独自フォーマット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法定帳票の書式が頻繁に改定される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  経営層が「この形で見たい」にこだわる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71600"/>
            <a:ext cx="3931920" cy="1645920"/>
          </a:xfrm>
          <a:prstGeom prst="round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標準化アプローチ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  BIツール連携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ノーコードでレポート作成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  帳票テンプレート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業界標準の帳票を標準搭載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  Excel出力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77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自由な加工を可能に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</a:defRPr>
            </a:pPr>
            <a:r>
              <a:t>  ダッシュボード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リアルタイムの経営指標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</a:defRPr>
            </a:pPr>
            <a:r>
              <a:t>Before : 帳票ごとに個別開発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566160"/>
            <a:ext cx="914400" cy="457200"/>
          </a:xfrm>
          <a:prstGeom prst="roundRect">
            <a:avLst/>
          </a:prstGeom>
          <a:solidFill>
            <a:srgbClr val="FF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611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</a:defRPr>
            </a:pPr>
            <a:r>
              <a:t>工事月報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566160"/>
            <a:ext cx="914400" cy="457200"/>
          </a:xfrm>
          <a:prstGeom prst="roundRect">
            <a:avLst/>
          </a:prstGeom>
          <a:solidFill>
            <a:srgbClr val="FF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3611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</a:defRPr>
            </a:pPr>
            <a:r>
              <a:t>原価報告書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3566160"/>
            <a:ext cx="914400" cy="457200"/>
          </a:xfrm>
          <a:prstGeom prst="roundRect">
            <a:avLst/>
          </a:prstGeom>
          <a:solidFill>
            <a:srgbClr val="FF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0" y="3611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</a:defRPr>
            </a:pPr>
            <a:r>
              <a:t>安全書類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3566160"/>
            <a:ext cx="914400" cy="457200"/>
          </a:xfrm>
          <a:prstGeom prst="roundRect">
            <a:avLst/>
          </a:prstGeom>
          <a:solidFill>
            <a:srgbClr val="FF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3611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</a:defRPr>
            </a:pPr>
            <a:r>
              <a:t>施主報告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After : テンプレート + BIで自由に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3566160"/>
            <a:ext cx="1371600" cy="457200"/>
          </a:xfrm>
          <a:prstGeom prst="round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</a:defRPr>
            </a:pPr>
            <a:r>
              <a:t>共通データ基盤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126480" y="3703320"/>
            <a:ext cx="365760" cy="18288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0" y="3566160"/>
            <a:ext cx="2103120" cy="457200"/>
          </a:xfrm>
          <a:prstGeom prst="roundRect">
            <a:avLst/>
          </a:prstGeom>
          <a:solidFill>
            <a:srgbClr val="DD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7AE60"/>
                </a:solidFill>
              </a:defRPr>
            </a:pPr>
            <a:r>
              <a:t>BIツールで自在に出力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114800"/>
            <a:ext cx="8412480" cy="36576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330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7536"/>
                </a:solidFill>
              </a:defRPr>
            </a:pPr>
            <a:r>
              <a:t>「帳票はもう作るのではなく、選ぶ時代へ」 ― データさえあれば、見せ方は自由に変えられる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AAAAA"/>
                </a:solidFill>
              </a:defRPr>
            </a:pPr>
            <a:r>
              <a:t>第8章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6459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標準化・テンプレート化への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9A84C"/>
                </a:solidFill>
              </a:defRPr>
            </a:pPr>
            <a:r>
              <a:t>戦略的アプローチ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カスタマイズ地獄から抜け出す5つの鍵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</a:defRPr>
            </a:pPr>
            <a:r>
              <a:t>H A R M O N I C   i n s i g h 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カスタマイズ地獄を脱出する5つの戦略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00584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645920"/>
            <a:ext cx="1645920" cy="27432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288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60B"/>
                </a:solidFill>
              </a:defRPr>
            </a:pPr>
            <a:r>
              <a:t>業界標準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880" y="19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60B"/>
                </a:solidFill>
              </a:defRPr>
            </a:pPr>
            <a:r>
              <a:t>テンプレート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880" y="237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国交省基準をベースに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880" y="255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業界共通のマスタ・帳票を整備</a:t>
            </a:r>
          </a:p>
        </p:txBody>
      </p:sp>
      <p:sp>
        <p:nvSpPr>
          <p:cNvPr id="12" name="Oval 11"/>
          <p:cNvSpPr/>
          <p:nvPr/>
        </p:nvSpPr>
        <p:spPr>
          <a:xfrm>
            <a:off x="2514600" y="1005840"/>
            <a:ext cx="548640" cy="548640"/>
          </a:xfrm>
          <a:prstGeom prst="ellipse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051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1645920"/>
            <a:ext cx="1645920" cy="27432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596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7AB0"/>
                </a:solidFill>
              </a:defRPr>
            </a:pPr>
            <a:r>
              <a:t>ノーコード/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5960" y="19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7AB0"/>
                </a:solidFill>
              </a:defRPr>
            </a:pPr>
            <a:r>
              <a:t>ローコード活用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5960" y="237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プログラミング不要で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5960" y="255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設定変更できる仕組みを最大活用</a:t>
            </a:r>
          </a:p>
        </p:txBody>
      </p:sp>
      <p:sp>
        <p:nvSpPr>
          <p:cNvPr id="19" name="Oval 18"/>
          <p:cNvSpPr/>
          <p:nvPr/>
        </p:nvSpPr>
        <p:spPr>
          <a:xfrm>
            <a:off x="4297680" y="100584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051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40" y="1645920"/>
            <a:ext cx="1645920" cy="27432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904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API連携の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9040" y="19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標準化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9040" y="237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外部システムとの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9040" y="255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データ連携を標準インターフェースで</a:t>
            </a:r>
          </a:p>
        </p:txBody>
      </p:sp>
      <p:sp>
        <p:nvSpPr>
          <p:cNvPr id="26" name="Oval 25"/>
          <p:cNvSpPr/>
          <p:nvPr/>
        </p:nvSpPr>
        <p:spPr>
          <a:xfrm>
            <a:off x="6080760" y="1005840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051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1645920"/>
            <a:ext cx="1645920" cy="27432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212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E44AD"/>
                </a:solidFill>
              </a:defRPr>
            </a:pPr>
            <a:r>
              <a:t>Fit &amp;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2120" y="19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E44AD"/>
                </a:solidFill>
              </a:defRPr>
            </a:pPr>
            <a:r>
              <a:t>分析の革新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2120" y="237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「できない」を探すのではなく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2120" y="255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「どう合わせるか」を提案</a:t>
            </a:r>
          </a:p>
        </p:txBody>
      </p:sp>
      <p:sp>
        <p:nvSpPr>
          <p:cNvPr id="33" name="Oval 32"/>
          <p:cNvSpPr/>
          <p:nvPr/>
        </p:nvSpPr>
        <p:spPr>
          <a:xfrm>
            <a:off x="7863840" y="100584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1051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1645920"/>
            <a:ext cx="1645920" cy="27432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520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モバイル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5200" y="19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活用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5200" y="237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現場からの入力を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5200" y="255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</a:defRPr>
            </a:pPr>
            <a:r>
              <a:t>スマホ・タブレットで最適化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Fit &amp; Gap 分析の新しい考え方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</a:defRPr>
            </a:pPr>
            <a:r>
              <a:t>従来のアプローチ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931920" cy="13716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  1. 標準機能を見せる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  2. 「できない」ことを洗い出す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  3. 「できないならカスタマイズ」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</a:defRPr>
            </a:pPr>
            <a:r>
              <a:t>  4. 費用が膨らむ...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新しいアプローチ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371600"/>
            <a:ext cx="3931920" cy="13716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  1. 業務プロセスを深く理解する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  2. 「本当に必要か」を問い直す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  3. 標準機能で「どう実現するか」提案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  4. 業務の方を変える選択肢も提示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3017520"/>
            <a:ext cx="8412480" cy="13716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7536"/>
                </a:solidFill>
              </a:defRPr>
            </a:pPr>
            <a:r>
              <a:t>Fit &amp; Gap 分析の3段階アプローチ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Level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20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</a:defRPr>
            </a:pPr>
            <a:r>
              <a:t>設定で対応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標準の設定・パラメータ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70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で解決できないか？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347472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04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7AB0"/>
                </a:solidFill>
              </a:defRPr>
            </a:pPr>
            <a:r>
              <a:t>Level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040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7AB0"/>
                </a:solidFill>
              </a:defRPr>
            </a:pPr>
            <a:r>
              <a:t>運用で対応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業務プロセスの見直しで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70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標準に合わせられないか？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474720"/>
            <a:ext cx="24688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736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Level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360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</a:defRPr>
            </a:pPr>
            <a:r>
              <a:t>アドオンで対応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本当にカスタマイズが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70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必要な最小限の範囲は？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カスタマイズ影響度マトリックス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7498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828800"/>
                <a:gridCol w="109728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業務領域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カスタマイズ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発生頻度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影響範囲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標準化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難易度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優先度</a:t>
                      </a:r>
                    </a:p>
                  </a:txBody>
                  <a:tcPr anchor="ctr">
                    <a:solidFill>
                      <a:srgbClr val="8B753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原価管理・工事採算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非常に高い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経営判断に直結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最優先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契約・請求・入金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高い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取引先との関係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優先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経費精算・現場管理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中程度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日常業務効率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早期着手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購買・在庫管理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中程度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原価精度に影響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計画的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ワークフロー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高い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全社的な影響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早期着手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出面・労務管理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高い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法令遵守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優先</a:t>
                      </a:r>
                    </a:p>
                  </a:txBody>
                  <a:tcPr anchor="ctr">
                    <a:solidFill>
                      <a:srgbClr val="F0E8D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個別帳票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非常に高い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情報可視化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BI活用</a:t>
                      </a:r>
                    </a:p>
                  </a:txBody>
                  <a:tcPr anchor="ctr">
                    <a:solidFill>
                      <a:srgbClr val="F9F6F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274320" y="4206240"/>
            <a:ext cx="8412480" cy="27432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2452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B7536"/>
                </a:solidFill>
              </a:defRPr>
            </a:pPr>
            <a:r>
              <a:t>標準化難易度が「低」の領域から着手し、段階的にシステム全体を標準化していくのが効果的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まとめ：カスタマイズを越え、建設業の未来を創造する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05840"/>
            <a:ext cx="2651760" cy="22860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097280"/>
            <a:ext cx="640080" cy="6400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1430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32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860B"/>
                </a:solidFill>
              </a:defRPr>
            </a:pPr>
            <a:r>
              <a:t>理解する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32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建設業の「特殊性」は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320" y="24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本当に特殊なのか？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320" y="26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多くは業界共通の課題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005840"/>
            <a:ext cx="2651760" cy="22860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60520" y="109728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1430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4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</a:defRPr>
            </a:pPr>
            <a:r>
              <a:t>標準化する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040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テンプレート・設定・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0400" y="24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BIツールの活用で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0400" y="26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カスタマイズを最小限に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005840"/>
            <a:ext cx="2651760" cy="2286000"/>
          </a:xfrm>
          <a:prstGeom prst="round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6600" y="1097280"/>
            <a:ext cx="640080" cy="640080"/>
          </a:xfrm>
          <a:prstGeom prst="ellipse">
            <a:avLst/>
          </a:prstGeom>
          <a:solidFill>
            <a:srgbClr val="2C7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1430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64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7AB0"/>
                </a:solidFill>
              </a:defRPr>
            </a:pPr>
            <a:r>
              <a:t>提案する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648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「カスタマイズありき」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6480" y="24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ではない新しい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6480" y="26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システム導入の形を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474720"/>
            <a:ext cx="8412480" cy="914400"/>
          </a:xfrm>
          <a:prstGeom prst="round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「うちは特殊だから」を「標準化で解決できる」に変える</a:t>
            </a:r>
          </a:p>
          <a:p>
            <a:pPr algn="ctr">
              <a:defRPr sz="1200" b="0">
                <a:solidFill>
                  <a:srgbClr val="C9A84C"/>
                </a:solidFill>
              </a:defRPr>
            </a:pPr>
            <a:r>
              <a:t>これが、ITコンサルタントの真の価値です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H A R M O N I C   i n s i g h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8B7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000" cy="51435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000" y="0"/>
            <a:ext cx="100000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C2F1E"/>
                </a:solidFill>
              </a:defRPr>
            </a:pPr>
            <a: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2F1E"/>
                </a:solidFill>
              </a:defRPr>
            </a:pPr>
            <a:r>
              <a:t>H A R M O N I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A84C"/>
                </a:solidFill>
              </a:defRPr>
            </a:pPr>
            <a:r>
              <a:t>i n s i g h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7355"/>
                </a:solidFill>
              </a:defRPr>
            </a:pPr>
            <a:r>
              <a:t>建設業DXの推進を、共に。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355"/>
                </a:solidFill>
              </a:defRPr>
            </a:pPr>
            <a:r>
              <a:t>Harmonic Insight 2026年3月12日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