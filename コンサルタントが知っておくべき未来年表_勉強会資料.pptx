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000" cy="51435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000" y="0"/>
            <a:ext cx="100000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9A84C"/>
                </a:solidFill>
              </a:defRPr>
            </a:pPr>
            <a:r>
              <a:t>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5486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C2F1E"/>
                </a:solidFill>
              </a:defRPr>
            </a:pPr>
            <a:r>
              <a:t>コンサルタントが</a:t>
            </a:r>
          </a:p>
          <a:p>
            <a:pPr algn="l">
              <a:defRPr sz="3200" b="1">
                <a:solidFill>
                  <a:srgbClr val="3C2F1E"/>
                </a:solidFill>
              </a:defRPr>
            </a:pPr>
            <a:r>
              <a:t>知っておくべき</a:t>
            </a:r>
          </a:p>
          <a:p>
            <a:pPr algn="l">
              <a:defRPr sz="3400" b="1">
                <a:solidFill>
                  <a:srgbClr val="8B7536"/>
                </a:solidFill>
              </a:defRPr>
            </a:pPr>
            <a:r>
              <a:t>未来年表 2025-2050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</a:p>
          <a:p>
            <a:pPr algn="l">
              <a:defRPr sz="1600" b="0">
                <a:solidFill>
                  <a:srgbClr val="8B7355"/>
                </a:solidFill>
              </a:defRPr>
            </a:pPr>
            <a:r>
              <a:t>～ 3年後・5年後のロードマップ策定のために 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2F1E"/>
                </a:solidFill>
              </a:defRPr>
            </a:pPr>
            <a:r>
              <a:t>H A R M O N I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A84C"/>
                </a:solidFill>
              </a:defRPr>
            </a:pPr>
            <a:r>
              <a:t>i n s i g h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355"/>
                </a:solidFill>
              </a:defRPr>
            </a:pPr>
            <a:r>
              <a:t>Harmonic Insight 2026年3月12日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なぜコンサルタントに「未来年表」が必要なのか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4572000" cy="9144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19728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02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4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ロードマップ策定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3年後・5年後の提案には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未来の変化を織り込む必要がある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194560"/>
            <a:ext cx="4572000" cy="9144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" y="2294560"/>
            <a:ext cx="411480" cy="411480"/>
          </a:xfrm>
          <a:prstGeom prst="ellipse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2995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4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クライアントへの説得力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7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数値に基づく未来予測で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5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提案の説得力が格段に上がる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291840"/>
            <a:ext cx="4572000" cy="9144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5760" y="339184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396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4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リスク回避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7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想定外の変化に備え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5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先手を打つ戦略が可能になる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1097280"/>
            <a:ext cx="3657600" cy="32004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7536"/>
                </a:solidFill>
              </a:defRPr>
            </a:pPr>
            <a:r>
              <a:t>本資料のカバー範囲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人口・社会構造の変化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1938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業界別AI代替率と年収変動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231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GDP・国際競争力の推移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5237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地域格差の拡大予測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816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世代別の影響と特性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生活・働き方の変容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401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環境・リスク要因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694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コンサル実務への活用法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日本の未来ダッシュボード 2025 → 2050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2651760" cy="14630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320" y="944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人口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320" y="1174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2025年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320" y="1354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1.23億人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71600" y="1414400"/>
            <a:ext cx="36576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4320" y="1174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2050年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4320" y="1354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0.95億人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965960"/>
            <a:ext cx="82296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965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-23%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914400"/>
            <a:ext cx="2651760" cy="14630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0400" y="944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高齢化率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0400" y="1174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2025年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0400" y="1354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28.6%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97680" y="1414400"/>
            <a:ext cx="36576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400" y="1174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2050年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400" y="1354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39.0%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1965960"/>
            <a:ext cx="822960" cy="274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965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+10pt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914400"/>
            <a:ext cx="2651760" cy="14630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6480" y="944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GDP世界順位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6480" y="1174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2025年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6480" y="1354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3位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23760" y="1414400"/>
            <a:ext cx="36576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6480" y="1174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2050年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6480" y="1354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8位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1965960"/>
            <a:ext cx="82296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1965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↓5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2651760"/>
            <a:ext cx="2651760" cy="14630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320" y="268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外国人比率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320" y="2911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2025年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320" y="309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3.5%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371600" y="3151760"/>
            <a:ext cx="36576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74320" y="2911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2050年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4320" y="309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7AB0"/>
                </a:solidFill>
              </a:defRPr>
            </a:pPr>
            <a:r>
              <a:t>12.8%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" y="3703320"/>
            <a:ext cx="822960" cy="274320"/>
          </a:xfrm>
          <a:prstGeom prst="roundRect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+9pt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2651760"/>
            <a:ext cx="2651760" cy="14630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50400" y="268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AI技術力順位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0400" y="2911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2025年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0400" y="309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6位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297680" y="3151760"/>
            <a:ext cx="36576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0400" y="2911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2050年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0400" y="309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3位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0" y="3703320"/>
            <a:ext cx="82296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0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↑3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2651760"/>
            <a:ext cx="2651760" cy="14630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6480" y="268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労働生産性順位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6480" y="2911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2025年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6480" y="309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28位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223760" y="3151760"/>
            <a:ext cx="36576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26480" y="2911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2050年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6480" y="309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15位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0" y="3703320"/>
            <a:ext cx="82296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0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↑13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社会変化マトリクス 2025-2050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人口・経済・技術・生活の4軸で未来を俯瞰する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80160"/>
          <a:ext cx="8686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  <a:gridCol w="1920240"/>
                <a:gridCol w="192024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2040年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2050年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人口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1.23億人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高齢化率28.6%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1.16億人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高齢化率31.2%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1.11億人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高齢化率35.3%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0.95億人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高齢化率39.0%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経済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GDP 540兆円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世界3位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GDP 520兆円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世界4位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GDP 480兆円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世界6位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GDP 430兆円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世界8位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技術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スマホ+AI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業務支援AI開始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ARグラス普及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AGI実現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体内センサー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創造協働AI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脳-PC接続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意識融合AI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働き方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リモート標準化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終身雇用30%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専門職主流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AI協働開始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プロジェクト型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実力主義社会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創造=労働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AI全業務支援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平均年収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420万円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(実質400万円)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480万円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(実質410万円)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530万円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(実質430万円)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580万円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(実質450万円)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4343400"/>
            <a:ext cx="8412480" cy="1828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32511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平均年収は上昇するが、中央値はほぼ横ばい → 格差拡大が最大のテーマ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業界別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9A84C"/>
                </a:solidFill>
              </a:defRPr>
            </a:pPr>
            <a:r>
              <a:t>AI代替率と年収変動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926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あなたのクライアントの業界は</a:t>
            </a:r>
            <a:br/>
            <a:r>
              <a:t>どのくらい変わるのか？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</a:defRPr>
            </a:pPr>
            <a:r>
              <a:t>H A R M O N I C   i n s i g h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業界別AI代替率の推移 2025→2050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業務時間ベースでAIが実行可能になる割合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88720"/>
          <a:ext cx="8686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822960"/>
                <a:gridCol w="822960"/>
                <a:gridCol w="822960"/>
                <a:gridCol w="42062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業界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2040年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2050年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中央値年収変動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製造業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-5% (格差拡大)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金融・保険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-21% (極端な二極化)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小売・流通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-13% (低賃金化)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運輸・物流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-8% (自動運転)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建設・不動産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+14% (人手不足)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医療・介護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+19% (人間性価値)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教育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+18% (創造性)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農業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+36% (食料安保)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行政・公務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+24% (専門性)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4343400"/>
            <a:ext cx="8412480" cy="18288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32511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注意: 平均年収は上がっても中央値は下がる業界が多い → 「平均年収+100%の罠」に注意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「平均年収+100%」の罠 ― 格差拡大の現実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平均は上がるのに、多くの人の実感は悪化する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114800" cy="3108960"/>
          </a:xfrm>
          <a:prstGeom prst="round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製造業の年収分布（2050年予測）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平均 900万円 の内訳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上位10%  AI設計者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73120"/>
            <a:ext cx="3200400" cy="120000"/>
          </a:xfrm>
          <a:prstGeom prst="round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7600" y="2253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2,000-3,000万円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上位30%  技術管理職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76040"/>
            <a:ext cx="2011680" cy="120000"/>
          </a:xfrm>
          <a:prstGeom prst="round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8880" y="2756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800-1,200万円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中央値   一般作業者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78960"/>
            <a:ext cx="914400" cy="120000"/>
          </a:xfrm>
          <a:prstGeom prst="round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1600" y="3258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380万円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下位30%  非正規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81880"/>
            <a:ext cx="640080" cy="120000"/>
          </a:xfrm>
          <a:prstGeom prst="round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7280" y="3761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250万円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280160"/>
            <a:ext cx="3931920" cy="310896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7AB0"/>
                </a:solidFill>
              </a:defRPr>
            </a:pPr>
            <a:r>
              <a:t>金融業の年収分布（2050年予測）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平均 1,100万円 の内訳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上位5%   AIアナリスト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2273120"/>
            <a:ext cx="3017520" cy="120000"/>
          </a:xfrm>
          <a:prstGeom prst="roundRect">
            <a:avLst/>
          </a:prstGeom>
          <a:solidFill>
            <a:srgbClr val="8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5280" y="2253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3,000万円以上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上位30%  営業・企画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2776040"/>
            <a:ext cx="1645920" cy="120000"/>
          </a:xfrm>
          <a:prstGeom prst="roundRect">
            <a:avLst/>
          </a:prstGeom>
          <a:solidFill>
            <a:srgbClr val="A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3680" y="2756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600-1,000万円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中央値   一般事務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3278960"/>
            <a:ext cx="822960" cy="120000"/>
          </a:xfrm>
          <a:prstGeom prst="round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0720" y="3258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380万円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下位30%  AI代替職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3781880"/>
            <a:ext cx="457200" cy="120000"/>
          </a:xfrm>
          <a:prstGeom prst="round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24960" y="3761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200万円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343400"/>
            <a:ext cx="8412480" cy="182880"/>
          </a:xfrm>
          <a:prstGeom prst="round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2511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同じ業界内でも最大12倍の格差 ― クライアントの「どの層」にいるかで提案が変わる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建設業 AI代替の詳細 ― 2050年の姿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コンサルタントとして特に知っておくべき業界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280160"/>
            <a:ext cx="2103120" cy="23774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1280160"/>
            <a:ext cx="2103120" cy="411480"/>
          </a:xfrm>
          <a:prstGeom prst="roundRect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設計業務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828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CAD作成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880" y="2028800"/>
            <a:ext cx="1440000" cy="100000"/>
          </a:xfrm>
          <a:prstGeom prst="roundRect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2880" y="1998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7AB0"/>
                </a:solidFill>
              </a:defRPr>
            </a:pPr>
            <a: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377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構造計算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880" y="2577440"/>
            <a:ext cx="1620000" cy="100000"/>
          </a:xfrm>
          <a:prstGeom prst="roundRect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2880" y="2547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7AB0"/>
                </a:solidFill>
              </a:defRPr>
            </a:pPr>
            <a: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29260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法規チェック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880" y="3126080"/>
            <a:ext cx="1710000" cy="100000"/>
          </a:xfrm>
          <a:prstGeom prst="roundRect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2880" y="30960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7AB0"/>
                </a:solidFill>
              </a:defRPr>
            </a:pPr>
            <a:r>
              <a:t>95%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1280160"/>
            <a:ext cx="2103120" cy="23774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23160" y="1280160"/>
            <a:ext cx="210312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施工業務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160" y="1828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測量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3160" y="2028800"/>
            <a:ext cx="1260000" cy="100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3160" y="1998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</a:defRPr>
            </a:pPr>
            <a:r>
              <a:t>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3160" y="2377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重機操作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3160" y="2577440"/>
            <a:ext cx="1080000" cy="100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3160" y="2547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</a:defRPr>
            </a:pPr>
            <a:r>
              <a:t>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3160" y="29260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品質検査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3160" y="3126080"/>
            <a:ext cx="1440000" cy="100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3160" y="30960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</a:defRPr>
            </a:pPr>
            <a:r>
              <a:t>80%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280160"/>
            <a:ext cx="2103120" cy="23774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63440" y="1280160"/>
            <a:ext cx="2103120" cy="4114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管理業務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3440" y="1828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工程管理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43440" y="2028800"/>
            <a:ext cx="1620000" cy="1000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3440" y="1998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085"/>
                </a:solidFill>
              </a:defRPr>
            </a:pPr>
            <a:r>
              <a:t>90%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3440" y="2377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資材発注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43440" y="2577440"/>
            <a:ext cx="1530000" cy="1000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3440" y="2547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085"/>
                </a:solidFill>
              </a:defRPr>
            </a:pPr>
            <a: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3440" y="29260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安全監視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43440" y="3126080"/>
            <a:ext cx="1260000" cy="1000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23440" y="30960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085"/>
                </a:solidFill>
              </a:defRPr>
            </a:pPr>
            <a:r>
              <a:t>70%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1280160"/>
            <a:ext cx="2103120" cy="23774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03720" y="1280160"/>
            <a:ext cx="210312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残存業務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83720" y="1828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創造的設計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83720" y="2028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t>人間が不可欠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83720" y="2377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現場判断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83720" y="2577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t>人間が不可欠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83720" y="29260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職人技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83720" y="3126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t>人間が不可欠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3840480"/>
            <a:ext cx="8412480" cy="640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8862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年収予測: 平均720万円 / 中央値480万円（+14%）― 人手不足で待遇は改善傾向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スマート建築設計者: 年収1,200万円  /  現場職人も技能向上で緩やかに改善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地域格差と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9A84C"/>
                </a:solidFill>
              </a:defRPr>
            </a:pPr>
            <a:r>
              <a:t>世代別の未来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926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コンサルの提案先が「どこ」で「誰」なのかで</a:t>
            </a:r>
            <a:br/>
            <a:r>
              <a:t>未来の見え方が全く異なる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</a:defRPr>
            </a:pPr>
            <a:r>
              <a:t>H A R M O N I C   i n s i g h 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地域格差の拡大予測 2025→2050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東京圏と地方圏の格差は2.7倍に拡大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8872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914400"/>
                <a:gridCol w="1371600"/>
                <a:gridCol w="9144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地域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2025年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人口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2050年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人口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変化率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2050年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平均年収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AI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活用度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東京圏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3,700万人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(30.1%)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2,100万人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(22.1%)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-43%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1,200万円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大阪圏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1,800万人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(14.6%)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1,200万人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(12.6%)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-33%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900万円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名古屋圏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1,100万人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(8.9%)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(8.4%)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-27%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950万円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地方中核都市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2,400万人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(19.5%)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1,900万人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(20.0%)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-21%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700万円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地方圏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4,000万人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(32.5%)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2,950万人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(31.1%)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-26%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450万円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3749039"/>
            <a:ext cx="4114800" cy="7315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7AB0"/>
                </a:solidFill>
              </a:defRPr>
            </a:pPr>
            <a:r>
              <a:t>コンサルへの示唆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クライアントの所在地域でDX提案内容が異なる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749039"/>
            <a:ext cx="3931920" cy="73152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提案のポイント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地方こそAI活用度の伸びしろが大きい（40%→潜在的80%）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世代別 人口・影響力の推移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クライアントの意思決定者は「どの世代」か？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887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371600"/>
                <a:gridCol w="1371600"/>
                <a:gridCol w="27432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世代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2025年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人口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2030年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影響力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2050年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影響力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主な特徴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α世代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(2020年～)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500万人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教育変革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社会主導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AIネイティブ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創造性重視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Z世代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(1997-2019年)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2,000万人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社会中核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指導・伝承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デジタル変革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価値観多様化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ミレニアル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(1981-1996年)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2,200万人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経営層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助言・サポート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ワークライフバランス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実用主義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X世代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(1965-1980年)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2,100万人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引退準備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知恵継承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現実主義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安定志向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ベビーブーマー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(1946-1964年)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1,800万人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後期高齢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100歳現役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豊富な経験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伝統価値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4206240"/>
            <a:ext cx="8412480" cy="3200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7536"/>
                </a:solidFill>
              </a:defRPr>
            </a:pPr>
            <a:r>
              <a:t>2030年の意思決定者はミレニアル世代 → ワークライフバランスとデジタルを重視した提案が効果的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生活と社会の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9A84C"/>
                </a:solidFill>
              </a:defRPr>
            </a:pPr>
            <a:r>
              <a:t>大変容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926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食・住・医療・教育…</a:t>
            </a:r>
            <a:br/>
            <a:r>
              <a:t>生活のあらゆる領域が変わる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</a:defRPr>
            </a:pPr>
            <a:r>
              <a:t>H A R M O N I C   i n s i g h 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生活カテゴリ別 変化サマリー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05840"/>
            <a:ext cx="274320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0058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2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食生活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880" y="1405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6C00"/>
                </a:solidFill>
              </a:defRPr>
            </a:pPr>
            <a:r>
              <a:t>現在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880" y="156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食費25%→階級社会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880" y="172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米価格倍増→食料安保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880" y="1955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6C00"/>
                </a:solidFill>
              </a:defRPr>
            </a:pPr>
            <a:r>
              <a:t>2050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880" y="211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食費格差3倍に拡大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880" y="227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水取引市場が確立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005840"/>
            <a:ext cx="274320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54680" y="1005840"/>
            <a:ext cx="2743200" cy="365760"/>
          </a:xfrm>
          <a:prstGeom prst="roundRect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02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住環境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4680" y="1405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C7AB0"/>
                </a:solidFill>
              </a:defRPr>
            </a:pPr>
            <a:r>
              <a:t>現在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4680" y="156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空き家800万戸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4680" y="172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都市部家賃高騰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4680" y="1955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C7AB0"/>
                </a:solidFill>
              </a:defRPr>
            </a:pPr>
            <a:r>
              <a:t>2050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4680" y="211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所有概念が消失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4680" y="227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住居格差10倍に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005840"/>
            <a:ext cx="274320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0" y="1005840"/>
            <a:ext cx="2743200" cy="3657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02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働き方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6480" y="1405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E44AD"/>
                </a:solidFill>
              </a:defRPr>
            </a:pPr>
            <a:r>
              <a:t>現在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6480" y="156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リモート標準化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6480" y="172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終身雇用30%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6480" y="1955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E44AD"/>
                </a:solidFill>
              </a:defRPr>
            </a:pPr>
            <a:r>
              <a:t>2050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6480" y="211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創造=労働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6480" y="2275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完全実力主義社会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" y="2926080"/>
            <a:ext cx="274320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2880" y="2926080"/>
            <a:ext cx="27432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294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健康・医療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880" y="3326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7AE60"/>
                </a:solidFill>
              </a:defRPr>
            </a:pPr>
            <a:r>
              <a:t>現在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880" y="348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医療費48兆円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880" y="364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医師不足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880" y="3876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7AE60"/>
                </a:solidFill>
              </a:defRPr>
            </a:pPr>
            <a:r>
              <a:t>2050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2880" y="403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平均寿命90歳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880" y="419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AI診断100%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4680" y="2926080"/>
            <a:ext cx="274320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54680" y="2926080"/>
            <a:ext cx="27432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54680" y="294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教育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4680" y="3326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7E22"/>
                </a:solidFill>
              </a:defRPr>
            </a:pPr>
            <a:r>
              <a:t>現在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4680" y="348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大学機能低下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4680" y="364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リスキリング需要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4680" y="3876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7E22"/>
                </a:solidFill>
              </a:defRPr>
            </a:pPr>
            <a:r>
              <a:t>2050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4680" y="403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教育階級社会完成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4680" y="419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脳直接学習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2926080"/>
            <a:ext cx="274320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26480" y="2926080"/>
            <a:ext cx="274320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294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お金・資産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6480" y="3326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392B"/>
                </a:solidFill>
              </a:defRPr>
            </a:pPr>
            <a:r>
              <a:t>現在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6480" y="348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NISA拡充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6480" y="364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格差5倍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6480" y="3876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392B"/>
                </a:solidFill>
              </a:defRPr>
            </a:pPr>
            <a:r>
              <a:t>2050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6480" y="403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格差社会固定化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6480" y="419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t>個人価値直接通貨化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GDP・国際競争力の推移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日本経済の相対的地位は低下するが、技術力は向上する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88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2040年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2050年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名目GDP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540兆円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520兆円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480兆円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430兆円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世界順位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1人当たりGDP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430万円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450万円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430万円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450万円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AI・技術競争力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世界6位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世界4位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世界3位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労働生産性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世界28位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世界22位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世界15位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94960" y="1188720"/>
            <a:ext cx="3383280" cy="22860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GDP減少の主要因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645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人口減少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15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23%減 → 労働力・消費が縮小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高齢化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273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AI恩恵は限定的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560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内需縮小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730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消費・投資の構造的減少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0175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他国の成長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187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インド・東南アジアの台頭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749039"/>
            <a:ext cx="8412480" cy="73152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明るい材料: AI・技術競争力は米中に次ぐ世界3位へ上昇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GDP規模は縮小するが、1人当たり生産性・技術力では世界トップクラスを維持 → DX推進が鍵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環境制約・リスク要因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気候変動・水資源・ブラックスワンへの備え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114800" cy="1645920"/>
          </a:xfrm>
          <a:prstGeom prst="round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</a:defRPr>
            </a:pPr>
            <a:r>
              <a:t>気候変動の経済影響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737360"/>
          <a:ext cx="3840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28016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2050年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自然災害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GDP-1.2%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GDP-2.8%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農業生産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-15%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-30%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エネルギーコスト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+40%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適応コスト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年3兆円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年8兆円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754880" y="1280160"/>
            <a:ext cx="3931920" cy="164592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ブラックスワン・リスク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46320" y="1737360"/>
          <a:ext cx="3200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リスク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確率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影響度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パンデミック再発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大規模自然災害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サイバー攻撃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地政学的緊張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AI制御不能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極高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3200400"/>
            <a:ext cx="8412480" cy="128016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コンサルタントとしての活用ポイント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ロードマップ策定時に「環境制約」をシナリオに組み込む ― 水資源・エネルギーコストの上昇は全業界に影響</a:t>
            </a:r>
          </a:p>
          <a:p>
            <a:pPr algn="l">
              <a:defRPr sz="1000" b="0">
                <a:solidFill>
                  <a:srgbClr val="333333"/>
                </a:solidFill>
              </a:defRPr>
            </a:pPr>
            <a:r>
              <a:t>サイバー攻撃リスク70% → セキュリティ投資は「コスト」ではなく「必須投資」として提案する</a:t>
            </a:r>
          </a:p>
          <a:p>
            <a:pPr algn="l">
              <a:defRPr sz="1000" b="0">
                <a:solidFill>
                  <a:srgbClr val="333333"/>
                </a:solidFill>
              </a:defRPr>
            </a:pPr>
            <a:r>
              <a:t>ブラックスワン事象を想定した「レジリエンス設計」をロードマップに標準で盛り込む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コンサル実務への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9A84C"/>
                </a:solidFill>
              </a:defRPr>
            </a:pPr>
            <a:r>
              <a:t>活用法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926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この未来年表を「3年後・5年後の</a:t>
            </a:r>
            <a:br/>
            <a:r>
              <a:t>ロードマップ」にどう落とし込むか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</a:defRPr>
            </a:pPr>
            <a:r>
              <a:t>H A R M O N I C   i n s i g h 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未来年表で見る 個人のキャリアシナリオ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「今30歳の人」と「今20歳の人」で未来がこれだけ違う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114800" cy="25603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7AB0"/>
                </a:solidFill>
              </a:defRPr>
            </a:pPr>
            <a:r>
              <a:t>現在30歳（1995年生まれ）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1737360"/>
            <a:ext cx="1188720" cy="365760"/>
          </a:xfrm>
          <a:prstGeom prst="chevron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7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30歳 2025年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5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中間管理職 / リスキリング必須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57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7AB0"/>
                </a:solidFill>
              </a:defRPr>
            </a:pPr>
            <a:r>
              <a:t>年収500万円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2240280"/>
            <a:ext cx="1188720" cy="365760"/>
          </a:xfrm>
          <a:prstGeom prst="chevron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70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35歳 2030年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6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AI協働 / 専門性特化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60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7AB0"/>
                </a:solidFill>
              </a:defRPr>
            </a:pPr>
            <a:r>
              <a:t>年収650万円</a:t>
            </a:r>
          </a:p>
        </p:txBody>
      </p:sp>
      <p:sp>
        <p:nvSpPr>
          <p:cNvPr id="16" name="Chevron 15"/>
          <p:cNvSpPr/>
          <p:nvPr/>
        </p:nvSpPr>
        <p:spPr>
          <a:xfrm>
            <a:off x="365760" y="2743200"/>
            <a:ext cx="1188720" cy="365760"/>
          </a:xfrm>
          <a:prstGeom prst="chevron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73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45歳 2040年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6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創造性重視 / プロジェクト型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7632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7AB0"/>
                </a:solidFill>
              </a:defRPr>
            </a:pPr>
            <a:r>
              <a:t>年収800万円</a:t>
            </a:r>
          </a:p>
        </p:txBody>
      </p:sp>
      <p:sp>
        <p:nvSpPr>
          <p:cNvPr id="20" name="Chevron 19"/>
          <p:cNvSpPr/>
          <p:nvPr/>
        </p:nvSpPr>
        <p:spPr>
          <a:xfrm>
            <a:off x="365760" y="3246120"/>
            <a:ext cx="1188720" cy="365760"/>
          </a:xfrm>
          <a:prstGeom prst="chevron">
            <a:avLst/>
          </a:prstGeom>
          <a:solidFill>
            <a:srgbClr val="A0C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7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55歳 2050年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6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知識継承 / コンサル型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661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7AB0"/>
                </a:solidFill>
              </a:defRPr>
            </a:pPr>
            <a:r>
              <a:t>年収750万円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280160"/>
            <a:ext cx="3931920" cy="2560320"/>
          </a:xfrm>
          <a:prstGeom prst="round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</a:defRPr>
            </a:pPr>
            <a:r>
              <a:t>現在20歳（α世代）</a:t>
            </a:r>
          </a:p>
        </p:txBody>
      </p:sp>
      <p:sp>
        <p:nvSpPr>
          <p:cNvPr id="26" name="Chevron 25"/>
          <p:cNvSpPr/>
          <p:nvPr/>
        </p:nvSpPr>
        <p:spPr>
          <a:xfrm>
            <a:off x="4846320" y="1737360"/>
            <a:ext cx="1188720" cy="365760"/>
          </a:xfrm>
          <a:prstGeom prst="chevron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1767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20歳 2025年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75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AIネイティブ学習 / 大学変革期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1757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E44AD"/>
                </a:solidFill>
              </a:defRPr>
            </a:pPr>
            <a:r>
              <a:t>デジタル完全統合</a:t>
            </a:r>
          </a:p>
        </p:txBody>
      </p:sp>
      <p:sp>
        <p:nvSpPr>
          <p:cNvPr id="30" name="Chevron 29"/>
          <p:cNvSpPr/>
          <p:nvPr/>
        </p:nvSpPr>
        <p:spPr>
          <a:xfrm>
            <a:off x="4846320" y="2240280"/>
            <a:ext cx="1188720" cy="365760"/>
          </a:xfrm>
          <a:prstGeom prst="chevron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270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25歳 2030年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26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AI協創職 / 高度専門化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260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E44AD"/>
                </a:solidFill>
              </a:defRPr>
            </a:pPr>
            <a:r>
              <a:t>創造性重視</a:t>
            </a:r>
          </a:p>
        </p:txBody>
      </p:sp>
      <p:sp>
        <p:nvSpPr>
          <p:cNvPr id="34" name="Chevron 33"/>
          <p:cNvSpPr/>
          <p:nvPr/>
        </p:nvSpPr>
        <p:spPr>
          <a:xfrm>
            <a:off x="4846320" y="2743200"/>
            <a:ext cx="1188720" cy="365760"/>
          </a:xfrm>
          <a:prstGeom prst="chevron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2773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35歳 2040年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76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社会中枢 / リーダー層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76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E44AD"/>
                </a:solidFill>
              </a:defRPr>
            </a:pPr>
            <a:r>
              <a:t>多様性・持続可能</a:t>
            </a:r>
          </a:p>
        </p:txBody>
      </p:sp>
      <p:sp>
        <p:nvSpPr>
          <p:cNvPr id="38" name="Chevron 37"/>
          <p:cNvSpPr/>
          <p:nvPr/>
        </p:nvSpPr>
        <p:spPr>
          <a:xfrm>
            <a:off x="4846320" y="3246120"/>
            <a:ext cx="1188720" cy="365760"/>
          </a:xfrm>
          <a:prstGeom prst="chevron">
            <a:avLst/>
          </a:prstGeom>
          <a:solidFill>
            <a:srgbClr val="C0A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327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45歳 2050年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26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社会変革主導 / 新文化創造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26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E44AD"/>
                </a:solidFill>
              </a:defRPr>
            </a:pPr>
            <a:r>
              <a:t>ポスト・シンギュラリティ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023360"/>
            <a:ext cx="8412480" cy="4572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7536"/>
                </a:solidFill>
              </a:defRPr>
            </a:pPr>
            <a:r>
              <a:t>クライアントの従業員の年齢層に応じた「キャリアシナリオ」を提示できると、提案の説得力が段違いに上がる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ロードマップ策定への活用フレームワーク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未来年表を「3年後・5年後」の具体的な計画に落とし込む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280160"/>
            <a:ext cx="274320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1280160"/>
            <a:ext cx="2743200" cy="73152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5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現状把握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19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クライアントの業界・地域・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80" y="237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世代構成を確認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834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未来年表の「どの列」を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80" y="3014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読めばいいか特定する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80360" y="2560320"/>
            <a:ext cx="320040" cy="22860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1280160"/>
            <a:ext cx="274320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1280160"/>
            <a:ext cx="2743200" cy="731520"/>
          </a:xfrm>
          <a:prstGeom prst="roundRect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5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ギャップ分析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0400" y="219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現状と2030年/2050年の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0400" y="237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差分を明確化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0400" y="2834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AI代替率・年収変動・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0400" y="3014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人口変化から影響度を算出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97880" y="2560320"/>
            <a:ext cx="320040" cy="22860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274320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280160"/>
            <a:ext cx="274320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5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ロードマップ化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920" y="219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3年後・5年後の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7920" y="237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マイルストーン設定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7920" y="2834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環境リスクも織り込んだ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7920" y="3014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シナリオプランニング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297680"/>
            <a:ext cx="8412480" cy="228600"/>
          </a:xfrm>
          <a:prstGeom prst="round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未来年表 × Fit &amp; Gap分析 = 説得力のあるロードマップ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未来年表の3つの活用視点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05840"/>
            <a:ext cx="274320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097280"/>
            <a:ext cx="731520" cy="73152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143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88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8860B"/>
                </a:solidFill>
              </a:defRPr>
            </a:pPr>
            <a:r>
              <a:t>企業戦略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人材戦略: 世代別特性に応じた採用・育成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事業戦略: AI代替率を考慮した事業転換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8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立地戦略: 地域格差を踏まえた拠点配置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005840"/>
            <a:ext cx="274320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60520" y="1097280"/>
            <a:ext cx="731520" cy="731520"/>
          </a:xfrm>
          <a:prstGeom prst="ellipse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143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40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7AB0"/>
                </a:solidFill>
              </a:defRPr>
            </a:pPr>
            <a:r>
              <a:t>個人キャリア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040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スキル: AI代替されにくい創造性・対人力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040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居住: 地域格差を踏まえた住まい選択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040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資産: インフレ・技術変化を考慮した投資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05840"/>
            <a:ext cx="274320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78040" y="109728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143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92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</a:defRPr>
            </a:pPr>
            <a:r>
              <a:t>政策提言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92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労働: AI代替に伴う雇用対策・再教育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792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地域: 地域格差是正・持続可能な地域創造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792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社会保障: 高齢化・人口減への制度設計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14800"/>
            <a:ext cx="8412480" cy="36576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3308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7536"/>
                </a:solidFill>
              </a:defRPr>
            </a:pPr>
            <a:r>
              <a:t>コンサルタントは「企業戦略」「個人キャリア」「政策」の3視点から未来を語れる存在であるべき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まとめ：未来を知り、未来を創る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05840"/>
            <a:ext cx="210312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8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人口減少は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880" y="19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不可避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880" y="228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2050年に0.95億人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880" y="246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(-23%)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880" y="264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しかし技術力で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880" y="282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世界3位へ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1005840"/>
            <a:ext cx="210312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54680" y="109728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143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316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格差拡大が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160" y="19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最大テーマ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3160" y="228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平均年収は上がるが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3160" y="246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中央値は横ばい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3160" y="264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地域格差は2.7倍に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005840"/>
            <a:ext cx="210312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94960" y="109728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1143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344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AI代替は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3440" y="19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脅威ではなく機会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3440" y="228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標準化・DX推進で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3440" y="246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生産性は飛躍的向上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3440" y="264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提案のチャンス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1005840"/>
            <a:ext cx="2103120" cy="29260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35240" y="109728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1143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372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60B"/>
                </a:solidFill>
              </a:defRPr>
            </a:pPr>
            <a:r>
              <a:t>未来年表は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3720" y="19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60B"/>
                </a:solidFill>
              </a:defRPr>
            </a:pPr>
            <a:r>
              <a:t>コンサルの武器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3720" y="228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数値に基づく提案で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720" y="246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説得力が格段に向上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3720" y="264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ロードマップの根拠に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023360"/>
            <a:ext cx="8412480" cy="457200"/>
          </a:xfrm>
          <a:prstGeom prst="round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0416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未来を知ることは、未来を創ること ― コンサルタントの真価はここにある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000" cy="51435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000" y="0"/>
            <a:ext cx="100000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C2F1E"/>
                </a:solidFill>
              </a:defRPr>
            </a:pPr>
            <a: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2F1E"/>
                </a:solidFill>
              </a:defRPr>
            </a:pPr>
            <a:r>
              <a:t>H A R M O N I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A84C"/>
                </a:solidFill>
              </a:defRPr>
            </a:pPr>
            <a:r>
              <a:t>i n s i g h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7355"/>
                </a:solidFill>
              </a:defRPr>
            </a:pPr>
            <a:r>
              <a:t>未来を知り、共に歩む。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355"/>
                </a:solidFill>
              </a:defRPr>
            </a:pPr>
            <a:r>
              <a:t>Harmonic Insight 2026年3月12日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