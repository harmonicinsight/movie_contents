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皆さん、こんにちは。Harmonic Insightの勉強会にようこそお越しくださいました。</a:t>
            </a:r>
          </a:p>
          <a:p>
            <a:r>
              <a:t>本日は「コンサルタントが知っておくべき未来年表 2025年から2050年」というテーマでお話しします。</a:t>
            </a:r>
          </a:p>
          <a:p>
            <a:r>
              <a:t>クライアントへのロードマップ策定や中長期計画の提案に、この未来予測データをどう活かすかを一緒に学んでいきましょう。</a:t>
            </a:r>
          </a:p>
          <a:p>
            <a:r>
              <a:t>約40分の勉強会です。どうぞ最後までお付き合いください。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まず、なぜコンサルタントに未来年表が必要なのかをお話しします。</a:t>
            </a:r>
          </a:p>
          <a:p>
            <a:r>
              <a:t>3つの理由があります。</a:t>
            </a:r>
          </a:p>
          <a:p>
            <a:r>
              <a:t>第一に、ロードマップ策定です。3年後・5年後の提案には、社会の変化を織り込む必要があります。</a:t>
            </a:r>
          </a:p>
          <a:p>
            <a:r>
              <a:t>第二に、クライアントへの説得力です。数値に基づく未来予測があれば、提案の信頼性が格段に上がります。</a:t>
            </a:r>
          </a:p>
          <a:p>
            <a:r>
              <a:t>第三に、リスク回避です。想定外の変化に備え、先手を打つ戦略が可能になります。</a:t>
            </a:r>
          </a:p>
          <a:p>
            <a:r>
              <a:t>右側に本資料のカバー範囲を示しています。人口・社会構造から、業界別AI代替率、GDP推移、地域格差、世代別影響、生活の変容、環境リスク、そしてコンサル実務への活用法まで、幅広くカバーします。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こちらは日本の未来ダッシュボードです。2025年から2050年の25年間で、日本がどう変わるかを6つの主要指標で俯瞰します。</a:t>
            </a:r>
          </a:p>
          <a:p>
            <a:r>
              <a:t>まず人口。1.23億人から0.95億人へ、23%も減少します。これは4人に1人がいなくなる計算です。</a:t>
            </a:r>
          </a:p>
          <a:p>
            <a:r>
              <a:t>高齢化率は28.6%から39%へ。国民の約4割が65歳以上になります。</a:t>
            </a:r>
          </a:p>
          <a:p>
            <a:r>
              <a:t>GDP世界順位は3位から8位へ下がります。ただし、これは他国の成長によるもので、日本が衰退するわけではありません。</a:t>
            </a:r>
          </a:p>
          <a:p>
            <a:r>
              <a:t>外国人比率は3.5%から12.8%へ。人手不足を外国人労働者で補う形が進みます。</a:t>
            </a:r>
          </a:p>
          <a:p>
            <a:r>
              <a:t>そして明るい材料もあります。AI技術力は6位から3位へ上昇、労働生産性も28位から15位へ大幅に改善します。</a:t>
            </a:r>
          </a:p>
          <a:p>
            <a:r>
              <a:t>このダッシュボードは、クライアントへの提案の冒頭に使うと非常にインパクトがあります。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この社会変化マトリクスは、人口・経済・技術・働き方・平均年収の5軸で、2025年から2050年までを5年刻みで俯瞰しています。</a:t>
            </a:r>
          </a:p>
          <a:p>
            <a:r>
              <a:t>人口は一貫して減少し、2050年には1億人を割ります。</a:t>
            </a:r>
          </a:p>
          <a:p>
            <a:r>
              <a:t>経済面ではGDPの絶対額が540兆円から430兆円に減少。世界順位も3位から8位に後退します。</a:t>
            </a:r>
          </a:p>
          <a:p>
            <a:r>
              <a:t>技術面では劇的な変化があります。2025年のスマホとAI業務支援から始まり、2030年にはARグラスが普及しAGIが実現。2040年には体内センサーや創造協働AIが登場し、2050年には脳とPCが直接接続される時代が来ると予測されています。</a:t>
            </a:r>
          </a:p>
          <a:p>
            <a:r>
              <a:t>働き方も大きく変わります。終身雇用は2025年の30%からさらに減少し、プロジェクト型・実力主義の社会に移行します。</a:t>
            </a:r>
          </a:p>
          <a:p>
            <a:r>
              <a:t>注目すべきは平均年収です。名目では420万円から580万円に上がりますが、実質ベースでは400万円から450万円。つまり、ほとんど変わらない。これが「格差拡大」という最大テーマにつながります。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ここからセクション1、業界別のAI代替率と年収変動に入ります。</a:t>
            </a:r>
          </a:p>
          <a:p>
            <a:r>
              <a:t>皆さんのクライアントの業界が、AIによってどのくらい変わるのか。</a:t>
            </a:r>
          </a:p>
          <a:p>
            <a:r>
              <a:t>これを正確に把握することが、的確な提案につながります。</a:t>
            </a:r>
          </a:p>
          <a:p>
            <a:r>
              <a:t>それでは具体的な数字を見ていきましょう。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業界別のAI代替率の推移を一覧で示しています。</a:t>
            </a:r>
          </a:p>
          <a:p>
            <a:r>
              <a:t>製造業は2025年の30%から2050年には90%まで代替が進みます。金融・保険は85%、小売・流通は80%と、多くの業界で過半数以上の業務がAIに置き換わります。</a:t>
            </a:r>
          </a:p>
          <a:p>
            <a:r>
              <a:t>一方、医療・介護は40%、教育は60%と、人間性や創造性が求められる分野は代替率が低めです。</a:t>
            </a:r>
          </a:p>
          <a:p>
            <a:r>
              <a:t>ここで最も重要なのは右端の「中央値年収変動」の列です。</a:t>
            </a:r>
          </a:p>
          <a:p>
            <a:r>
              <a:t>金融・保険はマイナス21%と極端な二極化。小売・流通はマイナス13%で低賃金化。</a:t>
            </a:r>
          </a:p>
          <a:p>
            <a:r>
              <a:t>逆に建設・不動産はプラス14%、医療・介護はプラス19%、農業はプラス36%と、人手不足の業界は年収が上がります。</a:t>
            </a:r>
          </a:p>
          <a:p>
            <a:r>
              <a:t>下のメモにある通り、「平均年収プラス100%の罠」に注意してください。平均は上がっても中央値は下がる業界が多いのです。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先ほどの「平均年収プラス100%の罠」を具体的に見てみましょう。</a:t>
            </a:r>
          </a:p>
          <a:p>
            <a:r>
              <a:t>左側は製造業の2050年予測です。平均年収は900万円と一見高く見えます。しかし、その内訳を見ると、上位10%のAI設計者が2,000万から3,000万円を稼ぐ一方、中央値の一般作業者は380万円。下位30%の非正規はわずか250万円です。</a:t>
            </a:r>
          </a:p>
          <a:p>
            <a:r>
              <a:t>右側の金融業はさらに極端です。平均1,100万円ですが、上位5%のAIアナリストが3,000万円以上。中央値の一般事務は380万円。下位30%のAI代替職は200万円にまで落ちます。</a:t>
            </a:r>
          </a:p>
          <a:p>
            <a:r>
              <a:t>同じ業界内で最大12倍の格差が生まれるということです。</a:t>
            </a:r>
          </a:p>
          <a:p>
            <a:r>
              <a:t>コンサルタントとして重要なのは、クライアントの従業員が「どの層」にいるかを見極めることです。それによって提案内容が全く変わってきます。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建設業のAI代替を詳しく見ていきます。コンサルタントの皆さんにとって建設業は主要なクライアントセクターですので、しっかり押さえましょう。</a:t>
            </a:r>
          </a:p>
          <a:p>
            <a:r>
              <a:t>設計業務では、CAD作成が80%、構造計算が90%、法規チェックが95%とほぼ完全にAI化されます。</a:t>
            </a:r>
          </a:p>
          <a:p>
            <a:r>
              <a:t>施工業務は、測量が70%、重機操作が60%、品質検査が80%です。</a:t>
            </a:r>
          </a:p>
          <a:p>
            <a:r>
              <a:t>管理業務も工程管理90%、資材発注85%と高い代替率です。</a:t>
            </a:r>
          </a:p>
          <a:p>
            <a:r>
              <a:t>一方、残存業務として「創造的設計」「現場判断」「職人技」は人間が不可欠な領域として残ります。</a:t>
            </a:r>
          </a:p>
          <a:p>
            <a:r>
              <a:t>年収予測は平均720万円、中央値480万円でプラス14%。人手不足により待遇は改善傾向にあります。</a:t>
            </a:r>
          </a:p>
          <a:p>
            <a:r>
              <a:t>特にスマート建築設計者は年収1,200万円と高額です。建設DXの提案では、この「残存業務」と「高付加価値人材」に焦点を当てると効果的です。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セクション2では、地域格差と世代別の未来を見ていきます。</a:t>
            </a:r>
          </a:p>
          <a:p>
            <a:r>
              <a:t>コンサルタントの提案先が「どこ」にあって「誰」が意思決定者なのかによって、未来の見え方は全く異なります。</a:t>
            </a:r>
          </a:p>
          <a:p>
            <a:r>
              <a:t>同じDX提案でも、東京の大企業と地方の中小企業では、まったく違うアプローチが必要です。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地域格差の拡大予測です。東京圏と地方圏の格差は2.7倍に広がると予測されています。</a:t>
            </a:r>
          </a:p>
          <a:p>
            <a:r>
              <a:t>東京圏は人口が43%減少しますが、平均年収は1,200万円でAI活用度は95%。</a:t>
            </a:r>
          </a:p>
          <a:p>
            <a:r>
              <a:t>一方、地方圏は26%の人口減少で、平均年収は450万円、AI活用度はわずか40%です。</a:t>
            </a:r>
          </a:p>
          <a:p>
            <a:r>
              <a:t>左下のコンサルへの示唆にある通り、クライアントの所在地域によってDX提案の内容を変える必要があります。</a:t>
            </a:r>
          </a:p>
          <a:p>
            <a:r>
              <a:t>そして右下の提案のポイントが重要です。地方こそAI活用度の伸びしろが大きい。現状40%のところを潜在的に80%まで引き上げられる可能性があります。</a:t>
            </a:r>
          </a:p>
          <a:p>
            <a:r>
              <a:t>つまり、地方のクライアントへのAI・DX提案は、むしろビジネスチャンスが大きいと言えます。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世代別の人口と影響力の推移を見ていきます。</a:t>
            </a:r>
          </a:p>
          <a:p>
            <a:r>
              <a:t>α世代は2020年以降生まれのAIネイティブ世代。2050年には社会を主導する世代になります。</a:t>
            </a:r>
          </a:p>
          <a:p>
            <a:r>
              <a:t>Z世代は現在社会の中核であり、デジタル変革と価値観の多様化を牽引しています。</a:t>
            </a:r>
          </a:p>
          <a:p>
            <a:r>
              <a:t>ミレニアル世代は2030年には経営層の主力。ワークライフバランスと実用主義が特徴です。</a:t>
            </a:r>
          </a:p>
          <a:p>
            <a:r>
              <a:t>X世代は引退準備に入りますが、豊富な知恵を次世代に継承する役割を担います。</a:t>
            </a:r>
          </a:p>
          <a:p>
            <a:r>
              <a:t>ベビーブーマーは後期高齢期ですが、100歳現役時代を迎え、経験と伝統の価値を守ります。</a:t>
            </a:r>
          </a:p>
          <a:p>
            <a:r>
              <a:t>下のメッセージが実務のポイントです。2030年の意思決定者はミレニアル世代です。ワークライフバランスとデジタルを重視した提案が最も効果的です。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セクション3では、生活と社会の大変容について見ていきます。</a:t>
            </a:r>
          </a:p>
          <a:p>
            <a:r>
              <a:t>食・住・医療・教育など、生活のあらゆる領域が劇的に変わります。</a:t>
            </a:r>
          </a:p>
          <a:p>
            <a:r>
              <a:t>これらの変化は、コンサルタントが企業への提案だけでなく、個人のキャリア相談や政策提言にも活用できる重要な情報です。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6つの生活カテゴリ別に、現在と2050年の変化をまとめています。</a:t>
            </a:r>
          </a:p>
          <a:p>
            <a:r>
              <a:t>食生活では、食費が階級社会化し格差が3倍に拡大。米の価格は倍増し、水の取引市場まで確立されます。</a:t>
            </a:r>
          </a:p>
          <a:p>
            <a:r>
              <a:t>住環境は空き家800万戸から所有概念の消失へ。住居格差は10倍に広がります。</a:t>
            </a:r>
          </a:p>
          <a:p>
            <a:r>
              <a:t>働き方は終身雇用30%から完全実力主義社会へ。創造性こそが労働価値になります。</a:t>
            </a:r>
          </a:p>
          <a:p>
            <a:r>
              <a:t>健康・医療は平均寿命90歳、AI診断100%の時代。医療費は48兆円から大幅に増加します。</a:t>
            </a:r>
          </a:p>
          <a:p>
            <a:r>
              <a:t>教育は大学機能の低下から教育階級社会の完成へ。最終的には脳への直接学習も研究が進みます。</a:t>
            </a:r>
          </a:p>
          <a:p>
            <a:r>
              <a:t>お金・資産では格差5倍から固定化へ。個人の価値が直接通貨化される世界が来ます。</a:t>
            </a:r>
          </a:p>
          <a:p>
            <a:r>
              <a:t>コンサルタントとしては、クライアント企業の従業員がこうした変化にどう対応すべきか、包括的な提案ができるようになります。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GDP・国際競争力の推移を見ていきます。</a:t>
            </a:r>
          </a:p>
          <a:p>
            <a:r>
              <a:t>名目GDPは540兆円から430兆円に減少し、世界順位は3位から8位に後退します。</a:t>
            </a:r>
          </a:p>
          <a:p>
            <a:r>
              <a:t>右側にGDP減少の主要因を4つ挙げています。人口減少23%による労働力と消費の縮小、高齢化によるAI恩恵の限定、内需の構造的な縮小、そしてインドや東南アジアなど他国の成長です。</a:t>
            </a:r>
          </a:p>
          <a:p>
            <a:r>
              <a:t>ただし、1人当たりGDPは430万円から450万円とほぼ横ばいで、国民一人ひとりの生産性は維持されます。</a:t>
            </a:r>
          </a:p>
          <a:p>
            <a:r>
              <a:t>そして明るい材料があります。AI・技術競争力は米中に次ぐ世界3位に上昇。労働生産性も28位から15位へ大幅に改善されます。</a:t>
            </a:r>
          </a:p>
          <a:p>
            <a:r>
              <a:t>つまり、GDP規模は縮小しても、技術力と生産性では世界トップクラスを維持できる。この「DX推進が鍵」というメッセージが、コンサルタントの提案の核になります。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環境制約とリスク要因について見ていきます。ロードマップ策定には、これらのリスクも織り込む必要があります。</a:t>
            </a:r>
          </a:p>
          <a:p>
            <a:r>
              <a:t>左側の気候変動の経済影響では、2050年に自然災害がGDPのマイナス2.8%、農業生産がマイナス30%、エネルギーコストがプラス40%と深刻な影響が予測されています。適応コストだけで年間8兆円が必要です。</a:t>
            </a:r>
          </a:p>
          <a:p>
            <a:r>
              <a:t>右側のブラックスワン・リスクでは、大規模自然災害の発生確率が60%、サイバー攻撃は70%と高い確率です。</a:t>
            </a:r>
          </a:p>
          <a:p>
            <a:r>
              <a:t>下のコンサルタントとしての活用ポイントをご覧ください。</a:t>
            </a:r>
          </a:p>
          <a:p>
            <a:r>
              <a:t>まず、ロードマップ策定時に環境制約をシナリオに組み込むこと。水資源やエネルギーコストの上昇は全業界に影響します。</a:t>
            </a:r>
          </a:p>
          <a:p>
            <a:r>
              <a:t>次に、サイバー攻撃リスク70%を踏まえ、セキュリティ投資はコストではなく必須投資として提案すること。</a:t>
            </a:r>
          </a:p>
          <a:p>
            <a:r>
              <a:t>そして、ブラックスワン事象を想定したレジリエンス設計をロードマップに標準で盛り込むことです。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いよいよ最後のセクション、コンサル実務への活用法に入ります。</a:t>
            </a:r>
          </a:p>
          <a:p>
            <a:r>
              <a:t>ここまで見てきた未来年表のデータを、具体的に3年後・5年後のロードマップにどう落とし込むか。</a:t>
            </a:r>
          </a:p>
          <a:p>
            <a:r>
              <a:t>実践的なフレームワークと活用例をお伝えします。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未来年表を個人のキャリアシナリオに落とし込んだ例です。</a:t>
            </a:r>
          </a:p>
          <a:p>
            <a:r>
              <a:t>左側は現在30歳、1995年生まれの方のシナリオ。30歳で中間管理職・年収500万円からスタートし、35歳でAI協働・専門性特化で650万円、45歳で創造性重視のプロジェクト型で800万円、55歳で知識継承・コンサル型で750万円という道筋です。</a:t>
            </a:r>
          </a:p>
          <a:p>
            <a:r>
              <a:t>右側は現在20歳、α世代の方。AIネイティブとして学び、25歳でAI協創職、35歳で社会中枢のリーダー層、45歳で社会変革を主導するポスト・シンギュラリティ世代です。</a:t>
            </a:r>
          </a:p>
          <a:p>
            <a:r>
              <a:t>下のメッセージが大切です。クライアントの従業員の年齢層に応じたキャリアシナリオを提示できると、提案の説得力が段違いに上がります。</a:t>
            </a:r>
          </a:p>
          <a:p>
            <a:r>
              <a:t>例えば、人材育成プログラムの提案では、30代と20代で全く異なるカリキュラムが必要だということを、このデータで示せるわけです。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未来年表をロードマップに落とし込む3ステップのフレームワークです。</a:t>
            </a:r>
          </a:p>
          <a:p>
            <a:r>
              <a:t>ステップ1は現状把握。クライアントの業界・地域・世代構成を確認し、未来年表のどの部分を読めばいいか特定します。</a:t>
            </a:r>
          </a:p>
          <a:p>
            <a:r>
              <a:t>ステップ2はギャップ分析。現状と2030年・2050年の差分を明確にし、AI代替率・年収変動・人口変化から影響度を算出します。</a:t>
            </a:r>
          </a:p>
          <a:p>
            <a:r>
              <a:t>ステップ3はロードマップ化。3年後・5年後のマイルストーンを設定し、環境リスクも織り込んだシナリオプランニングを行います。</a:t>
            </a:r>
          </a:p>
          <a:p>
            <a:r>
              <a:t>下のメッセージの通り、「未来年表 かける Fit&amp;Gap分析 イコール 説得力のあるロードマップ」です。</a:t>
            </a:r>
          </a:p>
          <a:p>
            <a:r>
              <a:t>このフレームワークを使えば、どのクライアントに対しても構造的に未来を見据えた提案ができるようになります。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未来年表の3つの活用視点をまとめました。</a:t>
            </a:r>
          </a:p>
          <a:p>
            <a:r>
              <a:t>1つ目は企業戦略。世代別特性に応じた人材の採用・育成、AI代替率を考慮した事業転換、地域格差を踏まえた拠点配置。これらを未来年表の数字で裏付けた提案ができます。</a:t>
            </a:r>
          </a:p>
          <a:p>
            <a:r>
              <a:t>2つ目は個人キャリア。AI代替されにくい創造性・対人力のスキル開発、地域格差を踏まえた住まい選択、インフレや技術変化を考慮した資産形成。個人向けのキャリアコンサルティングにも活用できます。</a:t>
            </a:r>
          </a:p>
          <a:p>
            <a:r>
              <a:t>3つ目は政策提言。AI代替に伴う雇用対策・再教育、地域格差の是正、高齢化・人口減に対応する社会保障制度の設計。自治体や業界団体への提言にも使えます。</a:t>
            </a:r>
          </a:p>
          <a:p>
            <a:r>
              <a:t>コンサルタントは、この3つの視点から未来を語れる存在であるべきです。そうすることで、単なるシステム提案ではなく、クライアントの未来を共に創るパートナーになれるのです。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本日のまとめです。4つのキーメッセージを確認しましょう。</a:t>
            </a:r>
          </a:p>
          <a:p>
            <a:r>
              <a:t>1つ目、人口減少は不可避。2050年に0.95億人、23%減。しかし技術力では世界3位に上昇します。悲観ではなく、戦略的に対応すべきテーマです。</a:t>
            </a:r>
          </a:p>
          <a:p>
            <a:r>
              <a:t>2つ目、格差拡大が最大のテーマ。平均年収は上がるが中央値は横ばい。地域格差は2.7倍に。クライアントの「どの層」「どの地域」かを見極めることが重要です。</a:t>
            </a:r>
          </a:p>
          <a:p>
            <a:r>
              <a:t>3つ目、AI代替は脅威ではなく機会。標準化・DX推進で生産性は飛躍的に向上します。これはコンサルタントにとって最大の提案チャンスです。</a:t>
            </a:r>
          </a:p>
          <a:p>
            <a:r>
              <a:t>4つ目、未来年表はコンサルの武器。数値に基づく提案で説得力が格段に向上し、ロードマップの根拠になります。</a:t>
            </a:r>
          </a:p>
          <a:p>
            <a:r>
              <a:t>「未来を知ることは、未来を創ること」。これがコンサルタントの真価です。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以上で本日の勉強会は終了です。ご清聴ありがとうございました。</a:t>
            </a:r>
          </a:p>
          <a:p>
            <a:r>
              <a:t>本日お伝えした未来年表のデータは、明日からの提案活動にすぐに活用いただけます。</a:t>
            </a:r>
          </a:p>
          <a:p>
            <a:r>
              <a:t>クライアントとの会話の中で「2050年には〇〇になる」と数字を添えて語るだけで、提案の深みが全く変わります。</a:t>
            </a:r>
          </a:p>
          <a:p>
            <a:r>
              <a:t>ぜひ今日の資料を手元に置いて、ロードマップ策定やクライアントへのプレゼンに活かしてください。</a:t>
            </a:r>
          </a:p>
          <a:p>
            <a:r>
              <a:t>ご質問やディスカッションがあれば、ぜひお気軽にどうぞ。</a:t>
            </a:r>
          </a:p>
          <a:p>
            <a:r>
              <a:t>Harmonic Insightは、未来を知り、共に歩むパートナーとして、皆さんのコンサルティング活動を支援してまいります。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000" cy="514350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000" y="0"/>
            <a:ext cx="100000" cy="51435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371600"/>
            <a:ext cx="2743200" cy="914400"/>
          </a:xfrm>
          <a:prstGeom prst="rect">
            <a:avLst/>
          </a:prstGeom>
          <a:noFill/>
        </p:spPr>
        <p:txBody>
          <a:bodyPr wrap="square">
            <a:spAutoFit/>
          </a:bodyPr>
          <a:lstStyle/>
          <a:p>
            <a:pPr algn="l">
              <a:defRPr sz="2200" b="0">
                <a:solidFill>
                  <a:srgbClr val="C9A84C"/>
                </a:solidFill>
              </a:defRPr>
            </a:pPr>
            <a:r>
              <a:t>Hi</a:t>
            </a:r>
          </a:p>
        </p:txBody>
      </p:sp>
      <p:sp>
        <p:nvSpPr>
          <p:cNvPr id="6" name="TextBox 5"/>
          <p:cNvSpPr txBox="1"/>
          <p:nvPr/>
        </p:nvSpPr>
        <p:spPr>
          <a:xfrm>
            <a:off x="3474720" y="548640"/>
            <a:ext cx="5303520" cy="2743200"/>
          </a:xfrm>
          <a:prstGeom prst="rect">
            <a:avLst/>
          </a:prstGeom>
          <a:noFill/>
        </p:spPr>
        <p:txBody>
          <a:bodyPr wrap="square">
            <a:spAutoFit/>
          </a:bodyPr>
          <a:lstStyle/>
          <a:p>
            <a:pPr algn="l">
              <a:defRPr sz="3200" b="1">
                <a:solidFill>
                  <a:srgbClr val="3C2F1E"/>
                </a:solidFill>
              </a:defRPr>
            </a:pPr>
            <a:r>
              <a:t>コンサルタントが</a:t>
            </a:r>
          </a:p>
          <a:p>
            <a:pPr algn="l">
              <a:defRPr sz="3200" b="1">
                <a:solidFill>
                  <a:srgbClr val="3C2F1E"/>
                </a:solidFill>
              </a:defRPr>
            </a:pPr>
            <a:r>
              <a:t>知っておくべき</a:t>
            </a:r>
          </a:p>
          <a:p>
            <a:pPr algn="l">
              <a:defRPr sz="3400" b="1">
                <a:solidFill>
                  <a:srgbClr val="8B7536"/>
                </a:solidFill>
              </a:defRPr>
            </a:pPr>
            <a:r>
              <a:t>未来年表 2025-2050</a:t>
            </a:r>
          </a:p>
          <a:p>
            <a:pPr algn="l">
              <a:defRPr sz="1200" b="0">
                <a:solidFill>
                  <a:srgbClr val="333333"/>
                </a:solidFill>
              </a:defRPr>
            </a:pPr>
          </a:p>
          <a:p>
            <a:pPr algn="l">
              <a:defRPr sz="1600" b="0">
                <a:solidFill>
                  <a:srgbClr val="8B7355"/>
                </a:solidFill>
              </a:defRPr>
            </a:pPr>
            <a:r>
              <a:t>～ 3年後・5年後のロードマップ策定のために ～</a:t>
            </a:r>
          </a:p>
        </p:txBody>
      </p:sp>
      <p:sp>
        <p:nvSpPr>
          <p:cNvPr id="7" name="TextBox 6"/>
          <p:cNvSpPr txBox="1"/>
          <p:nvPr/>
        </p:nvSpPr>
        <p:spPr>
          <a:xfrm>
            <a:off x="3474720" y="3474720"/>
            <a:ext cx="2743200" cy="548640"/>
          </a:xfrm>
          <a:prstGeom prst="rect">
            <a:avLst/>
          </a:prstGeom>
          <a:noFill/>
        </p:spPr>
        <p:txBody>
          <a:bodyPr wrap="square">
            <a:spAutoFit/>
          </a:bodyPr>
          <a:lstStyle/>
          <a:p>
            <a:pPr algn="l">
              <a:defRPr sz="1400" b="0">
                <a:solidFill>
                  <a:srgbClr val="3C2F1E"/>
                </a:solidFill>
              </a:defRPr>
            </a:pPr>
            <a:r>
              <a:t>H A R M O N I C</a:t>
            </a:r>
          </a:p>
        </p:txBody>
      </p:sp>
      <p:sp>
        <p:nvSpPr>
          <p:cNvPr id="8" name="TextBox 7"/>
          <p:cNvSpPr txBox="1"/>
          <p:nvPr/>
        </p:nvSpPr>
        <p:spPr>
          <a:xfrm>
            <a:off x="5486400" y="3474720"/>
            <a:ext cx="2743200" cy="548640"/>
          </a:xfrm>
          <a:prstGeom prst="rect">
            <a:avLst/>
          </a:prstGeom>
          <a:noFill/>
        </p:spPr>
        <p:txBody>
          <a:bodyPr wrap="square">
            <a:spAutoFit/>
          </a:bodyPr>
          <a:lstStyle/>
          <a:p>
            <a:pPr algn="l">
              <a:defRPr sz="1400" b="0">
                <a:solidFill>
                  <a:srgbClr val="C9A84C"/>
                </a:solidFill>
              </a:defRPr>
            </a:pPr>
            <a:r>
              <a:t>i n s i g h t</a:t>
            </a:r>
          </a:p>
        </p:txBody>
      </p:sp>
      <p:sp>
        <p:nvSpPr>
          <p:cNvPr id="9" name="TextBox 8"/>
          <p:cNvSpPr txBox="1"/>
          <p:nvPr/>
        </p:nvSpPr>
        <p:spPr>
          <a:xfrm>
            <a:off x="3474720" y="4114800"/>
            <a:ext cx="4572000" cy="274320"/>
          </a:xfrm>
          <a:prstGeom prst="rect">
            <a:avLst/>
          </a:prstGeom>
          <a:noFill/>
        </p:spPr>
        <p:txBody>
          <a:bodyPr wrap="square">
            <a:spAutoFit/>
          </a:bodyPr>
          <a:lstStyle/>
          <a:p>
            <a:pPr algn="l">
              <a:defRPr sz="1000" b="0">
                <a:solidFill>
                  <a:srgbClr val="8B7355"/>
                </a:solidFill>
              </a:defRPr>
            </a:pPr>
            <a:r>
              <a:t>Harmonic Insight 2026年3月12日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なぜコンサルタントに「未来年表」が必要なのか</a:t>
            </a:r>
          </a:p>
        </p:txBody>
      </p:sp>
      <p:sp>
        <p:nvSpPr>
          <p:cNvPr id="5" name="Rounded Rectangle 4"/>
          <p:cNvSpPr/>
          <p:nvPr/>
        </p:nvSpPr>
        <p:spPr>
          <a:xfrm>
            <a:off x="274320" y="1097280"/>
            <a:ext cx="4572000" cy="9144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65760" y="1197280"/>
            <a:ext cx="411480" cy="411480"/>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202280"/>
            <a:ext cx="411480" cy="365760"/>
          </a:xfrm>
          <a:prstGeom prst="rect">
            <a:avLst/>
          </a:prstGeom>
          <a:noFill/>
        </p:spPr>
        <p:txBody>
          <a:bodyPr wrap="square">
            <a:spAutoFit/>
          </a:bodyPr>
          <a:lstStyle/>
          <a:p>
            <a:pPr algn="ctr">
              <a:defRPr sz="1600" b="1">
                <a:solidFill>
                  <a:srgbClr val="FFFFFF"/>
                </a:solidFill>
              </a:defRPr>
            </a:pPr>
            <a:r>
              <a:t>1</a:t>
            </a:r>
          </a:p>
        </p:txBody>
      </p:sp>
      <p:sp>
        <p:nvSpPr>
          <p:cNvPr id="8" name="TextBox 7"/>
          <p:cNvSpPr txBox="1"/>
          <p:nvPr/>
        </p:nvSpPr>
        <p:spPr>
          <a:xfrm>
            <a:off x="914400" y="1147280"/>
            <a:ext cx="1828800" cy="274320"/>
          </a:xfrm>
          <a:prstGeom prst="rect">
            <a:avLst/>
          </a:prstGeom>
          <a:noFill/>
        </p:spPr>
        <p:txBody>
          <a:bodyPr wrap="square">
            <a:spAutoFit/>
          </a:bodyPr>
          <a:lstStyle/>
          <a:p>
            <a:pPr algn="l">
              <a:defRPr sz="1300" b="1">
                <a:solidFill>
                  <a:srgbClr val="333333"/>
                </a:solidFill>
              </a:defRPr>
            </a:pPr>
            <a:r>
              <a:t>ロードマップ策定</a:t>
            </a:r>
          </a:p>
        </p:txBody>
      </p:sp>
      <p:sp>
        <p:nvSpPr>
          <p:cNvPr id="9" name="TextBox 8"/>
          <p:cNvSpPr txBox="1"/>
          <p:nvPr/>
        </p:nvSpPr>
        <p:spPr>
          <a:xfrm>
            <a:off x="914400" y="1377280"/>
            <a:ext cx="3657600" cy="274320"/>
          </a:xfrm>
          <a:prstGeom prst="rect">
            <a:avLst/>
          </a:prstGeom>
          <a:noFill/>
        </p:spPr>
        <p:txBody>
          <a:bodyPr wrap="square">
            <a:spAutoFit/>
          </a:bodyPr>
          <a:lstStyle/>
          <a:p>
            <a:pPr algn="l">
              <a:defRPr sz="1000" b="0">
                <a:solidFill>
                  <a:srgbClr val="666666"/>
                </a:solidFill>
              </a:defRPr>
            </a:pPr>
            <a:r>
              <a:t>3年後・5年後の提案には</a:t>
            </a:r>
          </a:p>
        </p:txBody>
      </p:sp>
      <p:sp>
        <p:nvSpPr>
          <p:cNvPr id="10" name="TextBox 9"/>
          <p:cNvSpPr txBox="1"/>
          <p:nvPr/>
        </p:nvSpPr>
        <p:spPr>
          <a:xfrm>
            <a:off x="914400" y="1557280"/>
            <a:ext cx="3657600" cy="274320"/>
          </a:xfrm>
          <a:prstGeom prst="rect">
            <a:avLst/>
          </a:prstGeom>
          <a:noFill/>
        </p:spPr>
        <p:txBody>
          <a:bodyPr wrap="square">
            <a:spAutoFit/>
          </a:bodyPr>
          <a:lstStyle/>
          <a:p>
            <a:pPr algn="l">
              <a:defRPr sz="1000" b="0">
                <a:solidFill>
                  <a:srgbClr val="666666"/>
                </a:solidFill>
              </a:defRPr>
            </a:pPr>
            <a:r>
              <a:t>未来の変化を織り込む必要がある</a:t>
            </a:r>
          </a:p>
        </p:txBody>
      </p:sp>
      <p:sp>
        <p:nvSpPr>
          <p:cNvPr id="11" name="Rounded Rectangle 10"/>
          <p:cNvSpPr/>
          <p:nvPr/>
        </p:nvSpPr>
        <p:spPr>
          <a:xfrm>
            <a:off x="274320" y="2194560"/>
            <a:ext cx="4572000" cy="9144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65760" y="2294560"/>
            <a:ext cx="411480" cy="411480"/>
          </a:xfrm>
          <a:prstGeom prst="ellipse">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2299560"/>
            <a:ext cx="411480" cy="365760"/>
          </a:xfrm>
          <a:prstGeom prst="rect">
            <a:avLst/>
          </a:prstGeom>
          <a:noFill/>
        </p:spPr>
        <p:txBody>
          <a:bodyPr wrap="square">
            <a:spAutoFit/>
          </a:bodyPr>
          <a:lstStyle/>
          <a:p>
            <a:pPr algn="ctr">
              <a:defRPr sz="1600" b="1">
                <a:solidFill>
                  <a:srgbClr val="FFFFFF"/>
                </a:solidFill>
              </a:defRPr>
            </a:pPr>
            <a:r>
              <a:t>2</a:t>
            </a:r>
          </a:p>
        </p:txBody>
      </p:sp>
      <p:sp>
        <p:nvSpPr>
          <p:cNvPr id="14" name="TextBox 13"/>
          <p:cNvSpPr txBox="1"/>
          <p:nvPr/>
        </p:nvSpPr>
        <p:spPr>
          <a:xfrm>
            <a:off x="914400" y="2244560"/>
            <a:ext cx="1828800" cy="274320"/>
          </a:xfrm>
          <a:prstGeom prst="rect">
            <a:avLst/>
          </a:prstGeom>
          <a:noFill/>
        </p:spPr>
        <p:txBody>
          <a:bodyPr wrap="square">
            <a:spAutoFit/>
          </a:bodyPr>
          <a:lstStyle/>
          <a:p>
            <a:pPr algn="l">
              <a:defRPr sz="1300" b="1">
                <a:solidFill>
                  <a:srgbClr val="333333"/>
                </a:solidFill>
              </a:defRPr>
            </a:pPr>
            <a:r>
              <a:t>クライアントへの説得力</a:t>
            </a:r>
          </a:p>
        </p:txBody>
      </p:sp>
      <p:sp>
        <p:nvSpPr>
          <p:cNvPr id="15" name="TextBox 14"/>
          <p:cNvSpPr txBox="1"/>
          <p:nvPr/>
        </p:nvSpPr>
        <p:spPr>
          <a:xfrm>
            <a:off x="914400" y="2474560"/>
            <a:ext cx="3657600" cy="274320"/>
          </a:xfrm>
          <a:prstGeom prst="rect">
            <a:avLst/>
          </a:prstGeom>
          <a:noFill/>
        </p:spPr>
        <p:txBody>
          <a:bodyPr wrap="square">
            <a:spAutoFit/>
          </a:bodyPr>
          <a:lstStyle/>
          <a:p>
            <a:pPr algn="l">
              <a:defRPr sz="1000" b="0">
                <a:solidFill>
                  <a:srgbClr val="666666"/>
                </a:solidFill>
              </a:defRPr>
            </a:pPr>
            <a:r>
              <a:t>数値に基づく未来予測で</a:t>
            </a:r>
          </a:p>
        </p:txBody>
      </p:sp>
      <p:sp>
        <p:nvSpPr>
          <p:cNvPr id="16" name="TextBox 15"/>
          <p:cNvSpPr txBox="1"/>
          <p:nvPr/>
        </p:nvSpPr>
        <p:spPr>
          <a:xfrm>
            <a:off x="914400" y="2654560"/>
            <a:ext cx="3657600" cy="274320"/>
          </a:xfrm>
          <a:prstGeom prst="rect">
            <a:avLst/>
          </a:prstGeom>
          <a:noFill/>
        </p:spPr>
        <p:txBody>
          <a:bodyPr wrap="square">
            <a:spAutoFit/>
          </a:bodyPr>
          <a:lstStyle/>
          <a:p>
            <a:pPr algn="l">
              <a:defRPr sz="1000" b="0">
                <a:solidFill>
                  <a:srgbClr val="666666"/>
                </a:solidFill>
              </a:defRPr>
            </a:pPr>
            <a:r>
              <a:t>提案の説得力が格段に上がる</a:t>
            </a:r>
          </a:p>
        </p:txBody>
      </p:sp>
      <p:sp>
        <p:nvSpPr>
          <p:cNvPr id="17" name="Rounded Rectangle 16"/>
          <p:cNvSpPr/>
          <p:nvPr/>
        </p:nvSpPr>
        <p:spPr>
          <a:xfrm>
            <a:off x="274320" y="3291840"/>
            <a:ext cx="4572000" cy="9144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65760" y="3391840"/>
            <a:ext cx="411480" cy="411480"/>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 y="3396840"/>
            <a:ext cx="411480" cy="365760"/>
          </a:xfrm>
          <a:prstGeom prst="rect">
            <a:avLst/>
          </a:prstGeom>
          <a:noFill/>
        </p:spPr>
        <p:txBody>
          <a:bodyPr wrap="square">
            <a:spAutoFit/>
          </a:bodyPr>
          <a:lstStyle/>
          <a:p>
            <a:pPr algn="ctr">
              <a:defRPr sz="1600" b="1">
                <a:solidFill>
                  <a:srgbClr val="FFFFFF"/>
                </a:solidFill>
              </a:defRPr>
            </a:pPr>
            <a:r>
              <a:t>3</a:t>
            </a:r>
          </a:p>
        </p:txBody>
      </p:sp>
      <p:sp>
        <p:nvSpPr>
          <p:cNvPr id="20" name="TextBox 19"/>
          <p:cNvSpPr txBox="1"/>
          <p:nvPr/>
        </p:nvSpPr>
        <p:spPr>
          <a:xfrm>
            <a:off x="914400" y="3341840"/>
            <a:ext cx="1828800" cy="274320"/>
          </a:xfrm>
          <a:prstGeom prst="rect">
            <a:avLst/>
          </a:prstGeom>
          <a:noFill/>
        </p:spPr>
        <p:txBody>
          <a:bodyPr wrap="square">
            <a:spAutoFit/>
          </a:bodyPr>
          <a:lstStyle/>
          <a:p>
            <a:pPr algn="l">
              <a:defRPr sz="1300" b="1">
                <a:solidFill>
                  <a:srgbClr val="333333"/>
                </a:solidFill>
              </a:defRPr>
            </a:pPr>
            <a:r>
              <a:t>リスク回避</a:t>
            </a:r>
          </a:p>
        </p:txBody>
      </p:sp>
      <p:sp>
        <p:nvSpPr>
          <p:cNvPr id="21" name="TextBox 20"/>
          <p:cNvSpPr txBox="1"/>
          <p:nvPr/>
        </p:nvSpPr>
        <p:spPr>
          <a:xfrm>
            <a:off x="914400" y="3571840"/>
            <a:ext cx="3657600" cy="274320"/>
          </a:xfrm>
          <a:prstGeom prst="rect">
            <a:avLst/>
          </a:prstGeom>
          <a:noFill/>
        </p:spPr>
        <p:txBody>
          <a:bodyPr wrap="square">
            <a:spAutoFit/>
          </a:bodyPr>
          <a:lstStyle/>
          <a:p>
            <a:pPr algn="l">
              <a:defRPr sz="1000" b="0">
                <a:solidFill>
                  <a:srgbClr val="666666"/>
                </a:solidFill>
              </a:defRPr>
            </a:pPr>
            <a:r>
              <a:t>想定外の変化に備え</a:t>
            </a:r>
          </a:p>
        </p:txBody>
      </p:sp>
      <p:sp>
        <p:nvSpPr>
          <p:cNvPr id="22" name="TextBox 21"/>
          <p:cNvSpPr txBox="1"/>
          <p:nvPr/>
        </p:nvSpPr>
        <p:spPr>
          <a:xfrm>
            <a:off x="914400" y="3751840"/>
            <a:ext cx="3657600" cy="274320"/>
          </a:xfrm>
          <a:prstGeom prst="rect">
            <a:avLst/>
          </a:prstGeom>
          <a:noFill/>
        </p:spPr>
        <p:txBody>
          <a:bodyPr wrap="square">
            <a:spAutoFit/>
          </a:bodyPr>
          <a:lstStyle/>
          <a:p>
            <a:pPr algn="l">
              <a:defRPr sz="1000" b="0">
                <a:solidFill>
                  <a:srgbClr val="666666"/>
                </a:solidFill>
              </a:defRPr>
            </a:pPr>
            <a:r>
              <a:t>先手を打つ戦略が可能になる</a:t>
            </a:r>
          </a:p>
        </p:txBody>
      </p:sp>
      <p:sp>
        <p:nvSpPr>
          <p:cNvPr id="23" name="Rounded Rectangle 22"/>
          <p:cNvSpPr/>
          <p:nvPr/>
        </p:nvSpPr>
        <p:spPr>
          <a:xfrm>
            <a:off x="5120640" y="1097280"/>
            <a:ext cx="3657600" cy="32004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188720"/>
            <a:ext cx="3291840" cy="365760"/>
          </a:xfrm>
          <a:prstGeom prst="rect">
            <a:avLst/>
          </a:prstGeom>
          <a:noFill/>
        </p:spPr>
        <p:txBody>
          <a:bodyPr wrap="square">
            <a:spAutoFit/>
          </a:bodyPr>
          <a:lstStyle/>
          <a:p>
            <a:pPr algn="ctr">
              <a:defRPr sz="1300" b="1">
                <a:solidFill>
                  <a:srgbClr val="8B7536"/>
                </a:solidFill>
              </a:defRPr>
            </a:pPr>
            <a:r>
              <a:t>本資料のカバー範囲</a:t>
            </a:r>
          </a:p>
        </p:txBody>
      </p:sp>
      <p:sp>
        <p:nvSpPr>
          <p:cNvPr id="25" name="TextBox 24"/>
          <p:cNvSpPr txBox="1"/>
          <p:nvPr/>
        </p:nvSpPr>
        <p:spPr>
          <a:xfrm>
            <a:off x="5486400" y="1645920"/>
            <a:ext cx="3200400" cy="274320"/>
          </a:xfrm>
          <a:prstGeom prst="rect">
            <a:avLst/>
          </a:prstGeom>
          <a:noFill/>
        </p:spPr>
        <p:txBody>
          <a:bodyPr wrap="square">
            <a:spAutoFit/>
          </a:bodyPr>
          <a:lstStyle/>
          <a:p>
            <a:pPr algn="l">
              <a:defRPr sz="1000" b="0">
                <a:solidFill>
                  <a:srgbClr val="333333"/>
                </a:solidFill>
              </a:defRPr>
            </a:pPr>
            <a:r>
              <a:t>  人口・社会構造の変化</a:t>
            </a:r>
          </a:p>
        </p:txBody>
      </p:sp>
      <p:sp>
        <p:nvSpPr>
          <p:cNvPr id="26" name="TextBox 25"/>
          <p:cNvSpPr txBox="1"/>
          <p:nvPr/>
        </p:nvSpPr>
        <p:spPr>
          <a:xfrm>
            <a:off x="5486400" y="1938528"/>
            <a:ext cx="3200400" cy="274320"/>
          </a:xfrm>
          <a:prstGeom prst="rect">
            <a:avLst/>
          </a:prstGeom>
          <a:noFill/>
        </p:spPr>
        <p:txBody>
          <a:bodyPr wrap="square">
            <a:spAutoFit/>
          </a:bodyPr>
          <a:lstStyle/>
          <a:p>
            <a:pPr algn="l">
              <a:defRPr sz="1000" b="0">
                <a:solidFill>
                  <a:srgbClr val="333333"/>
                </a:solidFill>
              </a:defRPr>
            </a:pPr>
            <a:r>
              <a:t>  業界別AI代替率と年収変動</a:t>
            </a:r>
          </a:p>
        </p:txBody>
      </p:sp>
      <p:sp>
        <p:nvSpPr>
          <p:cNvPr id="27" name="TextBox 26"/>
          <p:cNvSpPr txBox="1"/>
          <p:nvPr/>
        </p:nvSpPr>
        <p:spPr>
          <a:xfrm>
            <a:off x="5486400" y="2231136"/>
            <a:ext cx="3200400" cy="274320"/>
          </a:xfrm>
          <a:prstGeom prst="rect">
            <a:avLst/>
          </a:prstGeom>
          <a:noFill/>
        </p:spPr>
        <p:txBody>
          <a:bodyPr wrap="square">
            <a:spAutoFit/>
          </a:bodyPr>
          <a:lstStyle/>
          <a:p>
            <a:pPr algn="l">
              <a:defRPr sz="1000" b="0">
                <a:solidFill>
                  <a:srgbClr val="333333"/>
                </a:solidFill>
              </a:defRPr>
            </a:pPr>
            <a:r>
              <a:t>  GDP・国際競争力の推移</a:t>
            </a:r>
          </a:p>
        </p:txBody>
      </p:sp>
      <p:sp>
        <p:nvSpPr>
          <p:cNvPr id="28" name="TextBox 27"/>
          <p:cNvSpPr txBox="1"/>
          <p:nvPr/>
        </p:nvSpPr>
        <p:spPr>
          <a:xfrm>
            <a:off x="5486400" y="2523744"/>
            <a:ext cx="3200400" cy="274320"/>
          </a:xfrm>
          <a:prstGeom prst="rect">
            <a:avLst/>
          </a:prstGeom>
          <a:noFill/>
        </p:spPr>
        <p:txBody>
          <a:bodyPr wrap="square">
            <a:spAutoFit/>
          </a:bodyPr>
          <a:lstStyle/>
          <a:p>
            <a:pPr algn="l">
              <a:defRPr sz="1000" b="0">
                <a:solidFill>
                  <a:srgbClr val="333333"/>
                </a:solidFill>
              </a:defRPr>
            </a:pPr>
            <a:r>
              <a:t>  地域格差の拡大予測</a:t>
            </a:r>
          </a:p>
        </p:txBody>
      </p:sp>
      <p:sp>
        <p:nvSpPr>
          <p:cNvPr id="29" name="TextBox 28"/>
          <p:cNvSpPr txBox="1"/>
          <p:nvPr/>
        </p:nvSpPr>
        <p:spPr>
          <a:xfrm>
            <a:off x="5486400" y="2816352"/>
            <a:ext cx="3200400" cy="274320"/>
          </a:xfrm>
          <a:prstGeom prst="rect">
            <a:avLst/>
          </a:prstGeom>
          <a:noFill/>
        </p:spPr>
        <p:txBody>
          <a:bodyPr wrap="square">
            <a:spAutoFit/>
          </a:bodyPr>
          <a:lstStyle/>
          <a:p>
            <a:pPr algn="l">
              <a:defRPr sz="1000" b="0">
                <a:solidFill>
                  <a:srgbClr val="333333"/>
                </a:solidFill>
              </a:defRPr>
            </a:pPr>
            <a:r>
              <a:t>  世代別の影響と特性</a:t>
            </a:r>
          </a:p>
        </p:txBody>
      </p:sp>
      <p:sp>
        <p:nvSpPr>
          <p:cNvPr id="30" name="TextBox 29"/>
          <p:cNvSpPr txBox="1"/>
          <p:nvPr/>
        </p:nvSpPr>
        <p:spPr>
          <a:xfrm>
            <a:off x="5486400" y="3108960"/>
            <a:ext cx="3200400" cy="274320"/>
          </a:xfrm>
          <a:prstGeom prst="rect">
            <a:avLst/>
          </a:prstGeom>
          <a:noFill/>
        </p:spPr>
        <p:txBody>
          <a:bodyPr wrap="square">
            <a:spAutoFit/>
          </a:bodyPr>
          <a:lstStyle/>
          <a:p>
            <a:pPr algn="l">
              <a:defRPr sz="1000" b="0">
                <a:solidFill>
                  <a:srgbClr val="333333"/>
                </a:solidFill>
              </a:defRPr>
            </a:pPr>
            <a:r>
              <a:t>  生活・働き方の変容</a:t>
            </a:r>
          </a:p>
        </p:txBody>
      </p:sp>
      <p:sp>
        <p:nvSpPr>
          <p:cNvPr id="31" name="TextBox 30"/>
          <p:cNvSpPr txBox="1"/>
          <p:nvPr/>
        </p:nvSpPr>
        <p:spPr>
          <a:xfrm>
            <a:off x="5486400" y="3401568"/>
            <a:ext cx="3200400" cy="274320"/>
          </a:xfrm>
          <a:prstGeom prst="rect">
            <a:avLst/>
          </a:prstGeom>
          <a:noFill/>
        </p:spPr>
        <p:txBody>
          <a:bodyPr wrap="square">
            <a:spAutoFit/>
          </a:bodyPr>
          <a:lstStyle/>
          <a:p>
            <a:pPr algn="l">
              <a:defRPr sz="1000" b="0">
                <a:solidFill>
                  <a:srgbClr val="333333"/>
                </a:solidFill>
              </a:defRPr>
            </a:pPr>
            <a:r>
              <a:t>  環境・リスク要因</a:t>
            </a:r>
          </a:p>
        </p:txBody>
      </p:sp>
      <p:sp>
        <p:nvSpPr>
          <p:cNvPr id="32" name="TextBox 31"/>
          <p:cNvSpPr txBox="1"/>
          <p:nvPr/>
        </p:nvSpPr>
        <p:spPr>
          <a:xfrm>
            <a:off x="5486400" y="3694176"/>
            <a:ext cx="3200400" cy="274320"/>
          </a:xfrm>
          <a:prstGeom prst="rect">
            <a:avLst/>
          </a:prstGeom>
          <a:noFill/>
        </p:spPr>
        <p:txBody>
          <a:bodyPr wrap="square">
            <a:spAutoFit/>
          </a:bodyPr>
          <a:lstStyle/>
          <a:p>
            <a:pPr algn="l">
              <a:defRPr sz="1000" b="0">
                <a:solidFill>
                  <a:srgbClr val="333333"/>
                </a:solidFill>
              </a:defRPr>
            </a:pPr>
            <a:r>
              <a:t>  コンサル実務への活用法</a:t>
            </a:r>
          </a:p>
        </p:txBody>
      </p:sp>
      <p:sp>
        <p:nvSpPr>
          <p:cNvPr id="33" name="Rectangle 32"/>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35" name="TextBox 34"/>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日本の未来ダッシュボード 2025 → 2050</a:t>
            </a:r>
          </a:p>
        </p:txBody>
      </p:sp>
      <p:sp>
        <p:nvSpPr>
          <p:cNvPr id="5" name="Rounded Rectangle 4"/>
          <p:cNvSpPr/>
          <p:nvPr/>
        </p:nvSpPr>
        <p:spPr>
          <a:xfrm>
            <a:off x="274320" y="914400"/>
            <a:ext cx="2651760" cy="14630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320" y="944400"/>
            <a:ext cx="2560320" cy="274320"/>
          </a:xfrm>
          <a:prstGeom prst="rect">
            <a:avLst/>
          </a:prstGeom>
          <a:noFill/>
        </p:spPr>
        <p:txBody>
          <a:bodyPr wrap="square">
            <a:spAutoFit/>
          </a:bodyPr>
          <a:lstStyle/>
          <a:p>
            <a:pPr algn="ctr">
              <a:defRPr sz="1100" b="0">
                <a:solidFill>
                  <a:srgbClr val="666666"/>
                </a:solidFill>
              </a:defRPr>
            </a:pPr>
            <a:r>
              <a:t>人口</a:t>
            </a:r>
          </a:p>
        </p:txBody>
      </p:sp>
      <p:sp>
        <p:nvSpPr>
          <p:cNvPr id="7" name="TextBox 6"/>
          <p:cNvSpPr txBox="1"/>
          <p:nvPr/>
        </p:nvSpPr>
        <p:spPr>
          <a:xfrm>
            <a:off x="324320" y="1174400"/>
            <a:ext cx="1097280" cy="228600"/>
          </a:xfrm>
          <a:prstGeom prst="rect">
            <a:avLst/>
          </a:prstGeom>
          <a:noFill/>
        </p:spPr>
        <p:txBody>
          <a:bodyPr wrap="square">
            <a:spAutoFit/>
          </a:bodyPr>
          <a:lstStyle/>
          <a:p>
            <a:pPr algn="ctr">
              <a:defRPr sz="800" b="0">
                <a:solidFill>
                  <a:srgbClr val="666666"/>
                </a:solidFill>
              </a:defRPr>
            </a:pPr>
            <a:r>
              <a:t>2025年</a:t>
            </a:r>
          </a:p>
        </p:txBody>
      </p:sp>
      <p:sp>
        <p:nvSpPr>
          <p:cNvPr id="8" name="TextBox 7"/>
          <p:cNvSpPr txBox="1"/>
          <p:nvPr/>
        </p:nvSpPr>
        <p:spPr>
          <a:xfrm>
            <a:off x="324320" y="1354400"/>
            <a:ext cx="1097280" cy="365760"/>
          </a:xfrm>
          <a:prstGeom prst="rect">
            <a:avLst/>
          </a:prstGeom>
          <a:noFill/>
        </p:spPr>
        <p:txBody>
          <a:bodyPr wrap="square">
            <a:spAutoFit/>
          </a:bodyPr>
          <a:lstStyle/>
          <a:p>
            <a:pPr algn="ctr">
              <a:defRPr sz="1600" b="1">
                <a:solidFill>
                  <a:srgbClr val="333333"/>
                </a:solidFill>
              </a:defRPr>
            </a:pPr>
            <a:r>
              <a:t>1.23億人</a:t>
            </a:r>
          </a:p>
        </p:txBody>
      </p:sp>
      <p:sp>
        <p:nvSpPr>
          <p:cNvPr id="9" name="Right Arrow 8"/>
          <p:cNvSpPr/>
          <p:nvPr/>
        </p:nvSpPr>
        <p:spPr>
          <a:xfrm>
            <a:off x="1371600" y="1414400"/>
            <a:ext cx="36576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4320" y="1174400"/>
            <a:ext cx="1097280" cy="228600"/>
          </a:xfrm>
          <a:prstGeom prst="rect">
            <a:avLst/>
          </a:prstGeom>
          <a:noFill/>
        </p:spPr>
        <p:txBody>
          <a:bodyPr wrap="square">
            <a:spAutoFit/>
          </a:bodyPr>
          <a:lstStyle/>
          <a:p>
            <a:pPr algn="ctr">
              <a:defRPr sz="800" b="0">
                <a:solidFill>
                  <a:srgbClr val="666666"/>
                </a:solidFill>
              </a:defRPr>
            </a:pPr>
            <a:r>
              <a:t>2050年</a:t>
            </a:r>
          </a:p>
        </p:txBody>
      </p:sp>
      <p:sp>
        <p:nvSpPr>
          <p:cNvPr id="11" name="TextBox 10"/>
          <p:cNvSpPr txBox="1"/>
          <p:nvPr/>
        </p:nvSpPr>
        <p:spPr>
          <a:xfrm>
            <a:off x="1574320" y="1354400"/>
            <a:ext cx="1097280" cy="365760"/>
          </a:xfrm>
          <a:prstGeom prst="rect">
            <a:avLst/>
          </a:prstGeom>
          <a:noFill/>
        </p:spPr>
        <p:txBody>
          <a:bodyPr wrap="square">
            <a:spAutoFit/>
          </a:bodyPr>
          <a:lstStyle/>
          <a:p>
            <a:pPr algn="ctr">
              <a:defRPr sz="1600" b="1">
                <a:solidFill>
                  <a:srgbClr val="C0392B"/>
                </a:solidFill>
              </a:defRPr>
            </a:pPr>
            <a:r>
              <a:t>0.95億人</a:t>
            </a:r>
          </a:p>
        </p:txBody>
      </p:sp>
      <p:sp>
        <p:nvSpPr>
          <p:cNvPr id="12" name="Rounded Rectangle 11"/>
          <p:cNvSpPr/>
          <p:nvPr/>
        </p:nvSpPr>
        <p:spPr>
          <a:xfrm>
            <a:off x="1188720" y="1965960"/>
            <a:ext cx="822960" cy="27432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1965960"/>
            <a:ext cx="822960" cy="274320"/>
          </a:xfrm>
          <a:prstGeom prst="rect">
            <a:avLst/>
          </a:prstGeom>
          <a:noFill/>
        </p:spPr>
        <p:txBody>
          <a:bodyPr wrap="square">
            <a:spAutoFit/>
          </a:bodyPr>
          <a:lstStyle/>
          <a:p>
            <a:pPr algn="ctr">
              <a:defRPr sz="1000" b="1">
                <a:solidFill>
                  <a:srgbClr val="FFFFFF"/>
                </a:solidFill>
              </a:defRPr>
            </a:pPr>
            <a:r>
              <a:t>-23%</a:t>
            </a:r>
          </a:p>
        </p:txBody>
      </p:sp>
      <p:sp>
        <p:nvSpPr>
          <p:cNvPr id="14" name="Rounded Rectangle 13"/>
          <p:cNvSpPr/>
          <p:nvPr/>
        </p:nvSpPr>
        <p:spPr>
          <a:xfrm>
            <a:off x="3200400" y="914400"/>
            <a:ext cx="2651760" cy="14630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50400" y="944400"/>
            <a:ext cx="2560320" cy="274320"/>
          </a:xfrm>
          <a:prstGeom prst="rect">
            <a:avLst/>
          </a:prstGeom>
          <a:noFill/>
        </p:spPr>
        <p:txBody>
          <a:bodyPr wrap="square">
            <a:spAutoFit/>
          </a:bodyPr>
          <a:lstStyle/>
          <a:p>
            <a:pPr algn="ctr">
              <a:defRPr sz="1100" b="0">
                <a:solidFill>
                  <a:srgbClr val="666666"/>
                </a:solidFill>
              </a:defRPr>
            </a:pPr>
            <a:r>
              <a:t>高齢化率</a:t>
            </a:r>
          </a:p>
        </p:txBody>
      </p:sp>
      <p:sp>
        <p:nvSpPr>
          <p:cNvPr id="16" name="TextBox 15"/>
          <p:cNvSpPr txBox="1"/>
          <p:nvPr/>
        </p:nvSpPr>
        <p:spPr>
          <a:xfrm>
            <a:off x="3250400" y="1174400"/>
            <a:ext cx="1097280" cy="228600"/>
          </a:xfrm>
          <a:prstGeom prst="rect">
            <a:avLst/>
          </a:prstGeom>
          <a:noFill/>
        </p:spPr>
        <p:txBody>
          <a:bodyPr wrap="square">
            <a:spAutoFit/>
          </a:bodyPr>
          <a:lstStyle/>
          <a:p>
            <a:pPr algn="ctr">
              <a:defRPr sz="800" b="0">
                <a:solidFill>
                  <a:srgbClr val="666666"/>
                </a:solidFill>
              </a:defRPr>
            </a:pPr>
            <a:r>
              <a:t>2025年</a:t>
            </a:r>
          </a:p>
        </p:txBody>
      </p:sp>
      <p:sp>
        <p:nvSpPr>
          <p:cNvPr id="17" name="TextBox 16"/>
          <p:cNvSpPr txBox="1"/>
          <p:nvPr/>
        </p:nvSpPr>
        <p:spPr>
          <a:xfrm>
            <a:off x="3250400" y="1354400"/>
            <a:ext cx="1097280" cy="365760"/>
          </a:xfrm>
          <a:prstGeom prst="rect">
            <a:avLst/>
          </a:prstGeom>
          <a:noFill/>
        </p:spPr>
        <p:txBody>
          <a:bodyPr wrap="square">
            <a:spAutoFit/>
          </a:bodyPr>
          <a:lstStyle/>
          <a:p>
            <a:pPr algn="ctr">
              <a:defRPr sz="1600" b="1">
                <a:solidFill>
                  <a:srgbClr val="333333"/>
                </a:solidFill>
              </a:defRPr>
            </a:pPr>
            <a:r>
              <a:t>28.6%</a:t>
            </a:r>
          </a:p>
        </p:txBody>
      </p:sp>
      <p:sp>
        <p:nvSpPr>
          <p:cNvPr id="18" name="Right Arrow 17"/>
          <p:cNvSpPr/>
          <p:nvPr/>
        </p:nvSpPr>
        <p:spPr>
          <a:xfrm>
            <a:off x="4297680" y="1414400"/>
            <a:ext cx="36576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0400" y="1174400"/>
            <a:ext cx="1097280" cy="228600"/>
          </a:xfrm>
          <a:prstGeom prst="rect">
            <a:avLst/>
          </a:prstGeom>
          <a:noFill/>
        </p:spPr>
        <p:txBody>
          <a:bodyPr wrap="square">
            <a:spAutoFit/>
          </a:bodyPr>
          <a:lstStyle/>
          <a:p>
            <a:pPr algn="ctr">
              <a:defRPr sz="800" b="0">
                <a:solidFill>
                  <a:srgbClr val="666666"/>
                </a:solidFill>
              </a:defRPr>
            </a:pPr>
            <a:r>
              <a:t>2050年</a:t>
            </a:r>
          </a:p>
        </p:txBody>
      </p:sp>
      <p:sp>
        <p:nvSpPr>
          <p:cNvPr id="20" name="TextBox 19"/>
          <p:cNvSpPr txBox="1"/>
          <p:nvPr/>
        </p:nvSpPr>
        <p:spPr>
          <a:xfrm>
            <a:off x="4500400" y="1354400"/>
            <a:ext cx="1097280" cy="365760"/>
          </a:xfrm>
          <a:prstGeom prst="rect">
            <a:avLst/>
          </a:prstGeom>
          <a:noFill/>
        </p:spPr>
        <p:txBody>
          <a:bodyPr wrap="square">
            <a:spAutoFit/>
          </a:bodyPr>
          <a:lstStyle/>
          <a:p>
            <a:pPr algn="ctr">
              <a:defRPr sz="1600" b="1">
                <a:solidFill>
                  <a:srgbClr val="E67E22"/>
                </a:solidFill>
              </a:defRPr>
            </a:pPr>
            <a:r>
              <a:t>39.0%</a:t>
            </a:r>
          </a:p>
        </p:txBody>
      </p:sp>
      <p:sp>
        <p:nvSpPr>
          <p:cNvPr id="21" name="Rounded Rectangle 20"/>
          <p:cNvSpPr/>
          <p:nvPr/>
        </p:nvSpPr>
        <p:spPr>
          <a:xfrm>
            <a:off x="4114800" y="1965960"/>
            <a:ext cx="822960" cy="27432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0" y="1965960"/>
            <a:ext cx="822960" cy="274320"/>
          </a:xfrm>
          <a:prstGeom prst="rect">
            <a:avLst/>
          </a:prstGeom>
          <a:noFill/>
        </p:spPr>
        <p:txBody>
          <a:bodyPr wrap="square">
            <a:spAutoFit/>
          </a:bodyPr>
          <a:lstStyle/>
          <a:p>
            <a:pPr algn="ctr">
              <a:defRPr sz="1000" b="1">
                <a:solidFill>
                  <a:srgbClr val="FFFFFF"/>
                </a:solidFill>
              </a:defRPr>
            </a:pPr>
            <a:r>
              <a:t>+10pt</a:t>
            </a:r>
          </a:p>
        </p:txBody>
      </p:sp>
      <p:sp>
        <p:nvSpPr>
          <p:cNvPr id="23" name="Rounded Rectangle 22"/>
          <p:cNvSpPr/>
          <p:nvPr/>
        </p:nvSpPr>
        <p:spPr>
          <a:xfrm>
            <a:off x="6126480" y="914400"/>
            <a:ext cx="2651760" cy="14630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480" y="944400"/>
            <a:ext cx="2560320" cy="274320"/>
          </a:xfrm>
          <a:prstGeom prst="rect">
            <a:avLst/>
          </a:prstGeom>
          <a:noFill/>
        </p:spPr>
        <p:txBody>
          <a:bodyPr wrap="square">
            <a:spAutoFit/>
          </a:bodyPr>
          <a:lstStyle/>
          <a:p>
            <a:pPr algn="ctr">
              <a:defRPr sz="1100" b="0">
                <a:solidFill>
                  <a:srgbClr val="666666"/>
                </a:solidFill>
              </a:defRPr>
            </a:pPr>
            <a:r>
              <a:t>GDP世界順位</a:t>
            </a:r>
          </a:p>
        </p:txBody>
      </p:sp>
      <p:sp>
        <p:nvSpPr>
          <p:cNvPr id="25" name="TextBox 24"/>
          <p:cNvSpPr txBox="1"/>
          <p:nvPr/>
        </p:nvSpPr>
        <p:spPr>
          <a:xfrm>
            <a:off x="6176480" y="1174400"/>
            <a:ext cx="1097280" cy="228600"/>
          </a:xfrm>
          <a:prstGeom prst="rect">
            <a:avLst/>
          </a:prstGeom>
          <a:noFill/>
        </p:spPr>
        <p:txBody>
          <a:bodyPr wrap="square">
            <a:spAutoFit/>
          </a:bodyPr>
          <a:lstStyle/>
          <a:p>
            <a:pPr algn="ctr">
              <a:defRPr sz="800" b="0">
                <a:solidFill>
                  <a:srgbClr val="666666"/>
                </a:solidFill>
              </a:defRPr>
            </a:pPr>
            <a:r>
              <a:t>2025年</a:t>
            </a:r>
          </a:p>
        </p:txBody>
      </p:sp>
      <p:sp>
        <p:nvSpPr>
          <p:cNvPr id="26" name="TextBox 25"/>
          <p:cNvSpPr txBox="1"/>
          <p:nvPr/>
        </p:nvSpPr>
        <p:spPr>
          <a:xfrm>
            <a:off x="6176480" y="1354400"/>
            <a:ext cx="1097280" cy="365760"/>
          </a:xfrm>
          <a:prstGeom prst="rect">
            <a:avLst/>
          </a:prstGeom>
          <a:noFill/>
        </p:spPr>
        <p:txBody>
          <a:bodyPr wrap="square">
            <a:spAutoFit/>
          </a:bodyPr>
          <a:lstStyle/>
          <a:p>
            <a:pPr algn="ctr">
              <a:defRPr sz="1600" b="1">
                <a:solidFill>
                  <a:srgbClr val="333333"/>
                </a:solidFill>
              </a:defRPr>
            </a:pPr>
            <a:r>
              <a:t>3位</a:t>
            </a:r>
          </a:p>
        </p:txBody>
      </p:sp>
      <p:sp>
        <p:nvSpPr>
          <p:cNvPr id="27" name="Right Arrow 26"/>
          <p:cNvSpPr/>
          <p:nvPr/>
        </p:nvSpPr>
        <p:spPr>
          <a:xfrm>
            <a:off x="7223760" y="1414400"/>
            <a:ext cx="36576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26480" y="1174400"/>
            <a:ext cx="1097280" cy="228600"/>
          </a:xfrm>
          <a:prstGeom prst="rect">
            <a:avLst/>
          </a:prstGeom>
          <a:noFill/>
        </p:spPr>
        <p:txBody>
          <a:bodyPr wrap="square">
            <a:spAutoFit/>
          </a:bodyPr>
          <a:lstStyle/>
          <a:p>
            <a:pPr algn="ctr">
              <a:defRPr sz="800" b="0">
                <a:solidFill>
                  <a:srgbClr val="666666"/>
                </a:solidFill>
              </a:defRPr>
            </a:pPr>
            <a:r>
              <a:t>2050年</a:t>
            </a:r>
          </a:p>
        </p:txBody>
      </p:sp>
      <p:sp>
        <p:nvSpPr>
          <p:cNvPr id="29" name="TextBox 28"/>
          <p:cNvSpPr txBox="1"/>
          <p:nvPr/>
        </p:nvSpPr>
        <p:spPr>
          <a:xfrm>
            <a:off x="7426480" y="1354400"/>
            <a:ext cx="1097280" cy="365760"/>
          </a:xfrm>
          <a:prstGeom prst="rect">
            <a:avLst/>
          </a:prstGeom>
          <a:noFill/>
        </p:spPr>
        <p:txBody>
          <a:bodyPr wrap="square">
            <a:spAutoFit/>
          </a:bodyPr>
          <a:lstStyle/>
          <a:p>
            <a:pPr algn="ctr">
              <a:defRPr sz="1600" b="1">
                <a:solidFill>
                  <a:srgbClr val="C0392B"/>
                </a:solidFill>
              </a:defRPr>
            </a:pPr>
            <a:r>
              <a:t>8位</a:t>
            </a:r>
          </a:p>
        </p:txBody>
      </p:sp>
      <p:sp>
        <p:nvSpPr>
          <p:cNvPr id="30" name="Rounded Rectangle 29"/>
          <p:cNvSpPr/>
          <p:nvPr/>
        </p:nvSpPr>
        <p:spPr>
          <a:xfrm>
            <a:off x="7040880" y="1965960"/>
            <a:ext cx="822960" cy="27432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0" y="1965960"/>
            <a:ext cx="822960" cy="274320"/>
          </a:xfrm>
          <a:prstGeom prst="rect">
            <a:avLst/>
          </a:prstGeom>
          <a:noFill/>
        </p:spPr>
        <p:txBody>
          <a:bodyPr wrap="square">
            <a:spAutoFit/>
          </a:bodyPr>
          <a:lstStyle/>
          <a:p>
            <a:pPr algn="ctr">
              <a:defRPr sz="1000" b="1">
                <a:solidFill>
                  <a:srgbClr val="FFFFFF"/>
                </a:solidFill>
              </a:defRPr>
            </a:pPr>
            <a:r>
              <a:t>↓5</a:t>
            </a:r>
          </a:p>
        </p:txBody>
      </p:sp>
      <p:sp>
        <p:nvSpPr>
          <p:cNvPr id="32" name="Rounded Rectangle 31"/>
          <p:cNvSpPr/>
          <p:nvPr/>
        </p:nvSpPr>
        <p:spPr>
          <a:xfrm>
            <a:off x="274320" y="2651760"/>
            <a:ext cx="2651760" cy="14630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4320" y="2681760"/>
            <a:ext cx="2560320" cy="274320"/>
          </a:xfrm>
          <a:prstGeom prst="rect">
            <a:avLst/>
          </a:prstGeom>
          <a:noFill/>
        </p:spPr>
        <p:txBody>
          <a:bodyPr wrap="square">
            <a:spAutoFit/>
          </a:bodyPr>
          <a:lstStyle/>
          <a:p>
            <a:pPr algn="ctr">
              <a:defRPr sz="1100" b="0">
                <a:solidFill>
                  <a:srgbClr val="666666"/>
                </a:solidFill>
              </a:defRPr>
            </a:pPr>
            <a:r>
              <a:t>外国人比率</a:t>
            </a:r>
          </a:p>
        </p:txBody>
      </p:sp>
      <p:sp>
        <p:nvSpPr>
          <p:cNvPr id="34" name="TextBox 33"/>
          <p:cNvSpPr txBox="1"/>
          <p:nvPr/>
        </p:nvSpPr>
        <p:spPr>
          <a:xfrm>
            <a:off x="324320" y="2911760"/>
            <a:ext cx="1097280" cy="228600"/>
          </a:xfrm>
          <a:prstGeom prst="rect">
            <a:avLst/>
          </a:prstGeom>
          <a:noFill/>
        </p:spPr>
        <p:txBody>
          <a:bodyPr wrap="square">
            <a:spAutoFit/>
          </a:bodyPr>
          <a:lstStyle/>
          <a:p>
            <a:pPr algn="ctr">
              <a:defRPr sz="800" b="0">
                <a:solidFill>
                  <a:srgbClr val="666666"/>
                </a:solidFill>
              </a:defRPr>
            </a:pPr>
            <a:r>
              <a:t>2025年</a:t>
            </a:r>
          </a:p>
        </p:txBody>
      </p:sp>
      <p:sp>
        <p:nvSpPr>
          <p:cNvPr id="35" name="TextBox 34"/>
          <p:cNvSpPr txBox="1"/>
          <p:nvPr/>
        </p:nvSpPr>
        <p:spPr>
          <a:xfrm>
            <a:off x="324320" y="3091760"/>
            <a:ext cx="1097280" cy="365760"/>
          </a:xfrm>
          <a:prstGeom prst="rect">
            <a:avLst/>
          </a:prstGeom>
          <a:noFill/>
        </p:spPr>
        <p:txBody>
          <a:bodyPr wrap="square">
            <a:spAutoFit/>
          </a:bodyPr>
          <a:lstStyle/>
          <a:p>
            <a:pPr algn="ctr">
              <a:defRPr sz="1600" b="1">
                <a:solidFill>
                  <a:srgbClr val="333333"/>
                </a:solidFill>
              </a:defRPr>
            </a:pPr>
            <a:r>
              <a:t>3.5%</a:t>
            </a:r>
          </a:p>
        </p:txBody>
      </p:sp>
      <p:sp>
        <p:nvSpPr>
          <p:cNvPr id="36" name="Right Arrow 35"/>
          <p:cNvSpPr/>
          <p:nvPr/>
        </p:nvSpPr>
        <p:spPr>
          <a:xfrm>
            <a:off x="1371600" y="3151760"/>
            <a:ext cx="36576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574320" y="2911760"/>
            <a:ext cx="1097280" cy="228600"/>
          </a:xfrm>
          <a:prstGeom prst="rect">
            <a:avLst/>
          </a:prstGeom>
          <a:noFill/>
        </p:spPr>
        <p:txBody>
          <a:bodyPr wrap="square">
            <a:spAutoFit/>
          </a:bodyPr>
          <a:lstStyle/>
          <a:p>
            <a:pPr algn="ctr">
              <a:defRPr sz="800" b="0">
                <a:solidFill>
                  <a:srgbClr val="666666"/>
                </a:solidFill>
              </a:defRPr>
            </a:pPr>
            <a:r>
              <a:t>2050年</a:t>
            </a:r>
          </a:p>
        </p:txBody>
      </p:sp>
      <p:sp>
        <p:nvSpPr>
          <p:cNvPr id="38" name="TextBox 37"/>
          <p:cNvSpPr txBox="1"/>
          <p:nvPr/>
        </p:nvSpPr>
        <p:spPr>
          <a:xfrm>
            <a:off x="1574320" y="3091760"/>
            <a:ext cx="1097280" cy="365760"/>
          </a:xfrm>
          <a:prstGeom prst="rect">
            <a:avLst/>
          </a:prstGeom>
          <a:noFill/>
        </p:spPr>
        <p:txBody>
          <a:bodyPr wrap="square">
            <a:spAutoFit/>
          </a:bodyPr>
          <a:lstStyle/>
          <a:p>
            <a:pPr algn="ctr">
              <a:defRPr sz="1600" b="1">
                <a:solidFill>
                  <a:srgbClr val="2C7AB0"/>
                </a:solidFill>
              </a:defRPr>
            </a:pPr>
            <a:r>
              <a:t>12.8%</a:t>
            </a:r>
          </a:p>
        </p:txBody>
      </p:sp>
      <p:sp>
        <p:nvSpPr>
          <p:cNvPr id="39" name="Rounded Rectangle 38"/>
          <p:cNvSpPr/>
          <p:nvPr/>
        </p:nvSpPr>
        <p:spPr>
          <a:xfrm>
            <a:off x="1188720" y="3703320"/>
            <a:ext cx="822960" cy="274320"/>
          </a:xfrm>
          <a:prstGeom prst="round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88720" y="3703320"/>
            <a:ext cx="822960" cy="274320"/>
          </a:xfrm>
          <a:prstGeom prst="rect">
            <a:avLst/>
          </a:prstGeom>
          <a:noFill/>
        </p:spPr>
        <p:txBody>
          <a:bodyPr wrap="square">
            <a:spAutoFit/>
          </a:bodyPr>
          <a:lstStyle/>
          <a:p>
            <a:pPr algn="ctr">
              <a:defRPr sz="1000" b="1">
                <a:solidFill>
                  <a:srgbClr val="FFFFFF"/>
                </a:solidFill>
              </a:defRPr>
            </a:pPr>
            <a:r>
              <a:t>+9pt</a:t>
            </a:r>
          </a:p>
        </p:txBody>
      </p:sp>
      <p:sp>
        <p:nvSpPr>
          <p:cNvPr id="41" name="Rounded Rectangle 40"/>
          <p:cNvSpPr/>
          <p:nvPr/>
        </p:nvSpPr>
        <p:spPr>
          <a:xfrm>
            <a:off x="3200400" y="2651760"/>
            <a:ext cx="2651760" cy="14630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50400" y="2681760"/>
            <a:ext cx="2560320" cy="274320"/>
          </a:xfrm>
          <a:prstGeom prst="rect">
            <a:avLst/>
          </a:prstGeom>
          <a:noFill/>
        </p:spPr>
        <p:txBody>
          <a:bodyPr wrap="square">
            <a:spAutoFit/>
          </a:bodyPr>
          <a:lstStyle/>
          <a:p>
            <a:pPr algn="ctr">
              <a:defRPr sz="1100" b="0">
                <a:solidFill>
                  <a:srgbClr val="666666"/>
                </a:solidFill>
              </a:defRPr>
            </a:pPr>
            <a:r>
              <a:t>AI技術力順位</a:t>
            </a:r>
          </a:p>
        </p:txBody>
      </p:sp>
      <p:sp>
        <p:nvSpPr>
          <p:cNvPr id="43" name="TextBox 42"/>
          <p:cNvSpPr txBox="1"/>
          <p:nvPr/>
        </p:nvSpPr>
        <p:spPr>
          <a:xfrm>
            <a:off x="3250400" y="2911760"/>
            <a:ext cx="1097280" cy="228600"/>
          </a:xfrm>
          <a:prstGeom prst="rect">
            <a:avLst/>
          </a:prstGeom>
          <a:noFill/>
        </p:spPr>
        <p:txBody>
          <a:bodyPr wrap="square">
            <a:spAutoFit/>
          </a:bodyPr>
          <a:lstStyle/>
          <a:p>
            <a:pPr algn="ctr">
              <a:defRPr sz="800" b="0">
                <a:solidFill>
                  <a:srgbClr val="666666"/>
                </a:solidFill>
              </a:defRPr>
            </a:pPr>
            <a:r>
              <a:t>2025年</a:t>
            </a:r>
          </a:p>
        </p:txBody>
      </p:sp>
      <p:sp>
        <p:nvSpPr>
          <p:cNvPr id="44" name="TextBox 43"/>
          <p:cNvSpPr txBox="1"/>
          <p:nvPr/>
        </p:nvSpPr>
        <p:spPr>
          <a:xfrm>
            <a:off x="3250400" y="3091760"/>
            <a:ext cx="1097280" cy="365760"/>
          </a:xfrm>
          <a:prstGeom prst="rect">
            <a:avLst/>
          </a:prstGeom>
          <a:noFill/>
        </p:spPr>
        <p:txBody>
          <a:bodyPr wrap="square">
            <a:spAutoFit/>
          </a:bodyPr>
          <a:lstStyle/>
          <a:p>
            <a:pPr algn="ctr">
              <a:defRPr sz="1600" b="1">
                <a:solidFill>
                  <a:srgbClr val="333333"/>
                </a:solidFill>
              </a:defRPr>
            </a:pPr>
            <a:r>
              <a:t>6位</a:t>
            </a:r>
          </a:p>
        </p:txBody>
      </p:sp>
      <p:sp>
        <p:nvSpPr>
          <p:cNvPr id="45" name="Right Arrow 44"/>
          <p:cNvSpPr/>
          <p:nvPr/>
        </p:nvSpPr>
        <p:spPr>
          <a:xfrm>
            <a:off x="4297680" y="3151760"/>
            <a:ext cx="36576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00400" y="2911760"/>
            <a:ext cx="1097280" cy="228600"/>
          </a:xfrm>
          <a:prstGeom prst="rect">
            <a:avLst/>
          </a:prstGeom>
          <a:noFill/>
        </p:spPr>
        <p:txBody>
          <a:bodyPr wrap="square">
            <a:spAutoFit/>
          </a:bodyPr>
          <a:lstStyle/>
          <a:p>
            <a:pPr algn="ctr">
              <a:defRPr sz="800" b="0">
                <a:solidFill>
                  <a:srgbClr val="666666"/>
                </a:solidFill>
              </a:defRPr>
            </a:pPr>
            <a:r>
              <a:t>2050年</a:t>
            </a:r>
          </a:p>
        </p:txBody>
      </p:sp>
      <p:sp>
        <p:nvSpPr>
          <p:cNvPr id="47" name="TextBox 46"/>
          <p:cNvSpPr txBox="1"/>
          <p:nvPr/>
        </p:nvSpPr>
        <p:spPr>
          <a:xfrm>
            <a:off x="4500400" y="3091760"/>
            <a:ext cx="1097280" cy="365760"/>
          </a:xfrm>
          <a:prstGeom prst="rect">
            <a:avLst/>
          </a:prstGeom>
          <a:noFill/>
        </p:spPr>
        <p:txBody>
          <a:bodyPr wrap="square">
            <a:spAutoFit/>
          </a:bodyPr>
          <a:lstStyle/>
          <a:p>
            <a:pPr algn="ctr">
              <a:defRPr sz="1600" b="1">
                <a:solidFill>
                  <a:srgbClr val="27AE60"/>
                </a:solidFill>
              </a:defRPr>
            </a:pPr>
            <a:r>
              <a:t>3位</a:t>
            </a:r>
          </a:p>
        </p:txBody>
      </p:sp>
      <p:sp>
        <p:nvSpPr>
          <p:cNvPr id="48" name="Rounded Rectangle 47"/>
          <p:cNvSpPr/>
          <p:nvPr/>
        </p:nvSpPr>
        <p:spPr>
          <a:xfrm>
            <a:off x="4114800" y="3703320"/>
            <a:ext cx="822960"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0" y="3703320"/>
            <a:ext cx="822960" cy="274320"/>
          </a:xfrm>
          <a:prstGeom prst="rect">
            <a:avLst/>
          </a:prstGeom>
          <a:noFill/>
        </p:spPr>
        <p:txBody>
          <a:bodyPr wrap="square">
            <a:spAutoFit/>
          </a:bodyPr>
          <a:lstStyle/>
          <a:p>
            <a:pPr algn="ctr">
              <a:defRPr sz="1000" b="1">
                <a:solidFill>
                  <a:srgbClr val="FFFFFF"/>
                </a:solidFill>
              </a:defRPr>
            </a:pPr>
            <a:r>
              <a:t>↑3</a:t>
            </a:r>
          </a:p>
        </p:txBody>
      </p:sp>
      <p:sp>
        <p:nvSpPr>
          <p:cNvPr id="50" name="Rounded Rectangle 49"/>
          <p:cNvSpPr/>
          <p:nvPr/>
        </p:nvSpPr>
        <p:spPr>
          <a:xfrm>
            <a:off x="6126480" y="2651760"/>
            <a:ext cx="2651760" cy="14630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76480" y="2681760"/>
            <a:ext cx="2560320" cy="274320"/>
          </a:xfrm>
          <a:prstGeom prst="rect">
            <a:avLst/>
          </a:prstGeom>
          <a:noFill/>
        </p:spPr>
        <p:txBody>
          <a:bodyPr wrap="square">
            <a:spAutoFit/>
          </a:bodyPr>
          <a:lstStyle/>
          <a:p>
            <a:pPr algn="ctr">
              <a:defRPr sz="1100" b="0">
                <a:solidFill>
                  <a:srgbClr val="666666"/>
                </a:solidFill>
              </a:defRPr>
            </a:pPr>
            <a:r>
              <a:t>労働生産性順位</a:t>
            </a:r>
          </a:p>
        </p:txBody>
      </p:sp>
      <p:sp>
        <p:nvSpPr>
          <p:cNvPr id="52" name="TextBox 51"/>
          <p:cNvSpPr txBox="1"/>
          <p:nvPr/>
        </p:nvSpPr>
        <p:spPr>
          <a:xfrm>
            <a:off x="6176480" y="2911760"/>
            <a:ext cx="1097280" cy="228600"/>
          </a:xfrm>
          <a:prstGeom prst="rect">
            <a:avLst/>
          </a:prstGeom>
          <a:noFill/>
        </p:spPr>
        <p:txBody>
          <a:bodyPr wrap="square">
            <a:spAutoFit/>
          </a:bodyPr>
          <a:lstStyle/>
          <a:p>
            <a:pPr algn="ctr">
              <a:defRPr sz="800" b="0">
                <a:solidFill>
                  <a:srgbClr val="666666"/>
                </a:solidFill>
              </a:defRPr>
            </a:pPr>
            <a:r>
              <a:t>2025年</a:t>
            </a:r>
          </a:p>
        </p:txBody>
      </p:sp>
      <p:sp>
        <p:nvSpPr>
          <p:cNvPr id="53" name="TextBox 52"/>
          <p:cNvSpPr txBox="1"/>
          <p:nvPr/>
        </p:nvSpPr>
        <p:spPr>
          <a:xfrm>
            <a:off x="6176480" y="3091760"/>
            <a:ext cx="1097280" cy="365760"/>
          </a:xfrm>
          <a:prstGeom prst="rect">
            <a:avLst/>
          </a:prstGeom>
          <a:noFill/>
        </p:spPr>
        <p:txBody>
          <a:bodyPr wrap="square">
            <a:spAutoFit/>
          </a:bodyPr>
          <a:lstStyle/>
          <a:p>
            <a:pPr algn="ctr">
              <a:defRPr sz="1600" b="1">
                <a:solidFill>
                  <a:srgbClr val="333333"/>
                </a:solidFill>
              </a:defRPr>
            </a:pPr>
            <a:r>
              <a:t>28位</a:t>
            </a:r>
          </a:p>
        </p:txBody>
      </p:sp>
      <p:sp>
        <p:nvSpPr>
          <p:cNvPr id="54" name="Right Arrow 53"/>
          <p:cNvSpPr/>
          <p:nvPr/>
        </p:nvSpPr>
        <p:spPr>
          <a:xfrm>
            <a:off x="7223760" y="3151760"/>
            <a:ext cx="365760" cy="18288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26480" y="2911760"/>
            <a:ext cx="1097280" cy="228600"/>
          </a:xfrm>
          <a:prstGeom prst="rect">
            <a:avLst/>
          </a:prstGeom>
          <a:noFill/>
        </p:spPr>
        <p:txBody>
          <a:bodyPr wrap="square">
            <a:spAutoFit/>
          </a:bodyPr>
          <a:lstStyle/>
          <a:p>
            <a:pPr algn="ctr">
              <a:defRPr sz="800" b="0">
                <a:solidFill>
                  <a:srgbClr val="666666"/>
                </a:solidFill>
              </a:defRPr>
            </a:pPr>
            <a:r>
              <a:t>2050年</a:t>
            </a:r>
          </a:p>
        </p:txBody>
      </p:sp>
      <p:sp>
        <p:nvSpPr>
          <p:cNvPr id="56" name="TextBox 55"/>
          <p:cNvSpPr txBox="1"/>
          <p:nvPr/>
        </p:nvSpPr>
        <p:spPr>
          <a:xfrm>
            <a:off x="7426480" y="3091760"/>
            <a:ext cx="1097280" cy="365760"/>
          </a:xfrm>
          <a:prstGeom prst="rect">
            <a:avLst/>
          </a:prstGeom>
          <a:noFill/>
        </p:spPr>
        <p:txBody>
          <a:bodyPr wrap="square">
            <a:spAutoFit/>
          </a:bodyPr>
          <a:lstStyle/>
          <a:p>
            <a:pPr algn="ctr">
              <a:defRPr sz="1600" b="1">
                <a:solidFill>
                  <a:srgbClr val="27AE60"/>
                </a:solidFill>
              </a:defRPr>
            </a:pPr>
            <a:r>
              <a:t>15位</a:t>
            </a:r>
          </a:p>
        </p:txBody>
      </p:sp>
      <p:sp>
        <p:nvSpPr>
          <p:cNvPr id="57" name="Rounded Rectangle 56"/>
          <p:cNvSpPr/>
          <p:nvPr/>
        </p:nvSpPr>
        <p:spPr>
          <a:xfrm>
            <a:off x="7040880" y="3703320"/>
            <a:ext cx="822960"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40880" y="3703320"/>
            <a:ext cx="822960" cy="274320"/>
          </a:xfrm>
          <a:prstGeom prst="rect">
            <a:avLst/>
          </a:prstGeom>
          <a:noFill/>
        </p:spPr>
        <p:txBody>
          <a:bodyPr wrap="square">
            <a:spAutoFit/>
          </a:bodyPr>
          <a:lstStyle/>
          <a:p>
            <a:pPr algn="ctr">
              <a:defRPr sz="1000" b="1">
                <a:solidFill>
                  <a:srgbClr val="FFFFFF"/>
                </a:solidFill>
              </a:defRPr>
            </a:pPr>
            <a:r>
              <a:t>↑13</a:t>
            </a:r>
          </a:p>
        </p:txBody>
      </p:sp>
      <p:sp>
        <p:nvSpPr>
          <p:cNvPr id="59" name="Rectangle 58"/>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61" name="TextBox 60"/>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社会変化マトリクス 2025-2050</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人口・経済・技術・生活の4軸で未来を俯瞰する</a:t>
            </a:r>
          </a:p>
        </p:txBody>
      </p:sp>
      <p:graphicFrame>
        <p:nvGraphicFramePr>
          <p:cNvPr id="6" name="Table 5"/>
          <p:cNvGraphicFramePr>
            <a:graphicFrameLocks noGrp="1"/>
          </p:cNvGraphicFramePr>
          <p:nvPr/>
        </p:nvGraphicFramePr>
        <p:xfrm>
          <a:off x="182880" y="1280160"/>
          <a:ext cx="8686800" cy="3017520"/>
        </p:xfrm>
        <a:graphic>
          <a:graphicData uri="http://schemas.openxmlformats.org/drawingml/2006/table">
            <a:tbl>
              <a:tblPr firstRow="1" bandRow="1">
                <a:tableStyleId>{5C22544A-7EE6-4342-B048-85BDC9FD1C3A}</a:tableStyleId>
              </a:tblPr>
              <a:tblGrid>
                <a:gridCol w="1097280"/>
                <a:gridCol w="1920240"/>
                <a:gridCol w="1920240"/>
                <a:gridCol w="1920240"/>
                <a:gridCol w="1828800"/>
              </a:tblGrid>
              <a:tr h="502920">
                <a:tc>
                  <a:txBody>
                    <a:bodyPr/>
                    <a:lstStyle/>
                    <a:p>
                      <a:pPr algn="ctr">
                        <a:defRPr sz="900" b="1">
                          <a:solidFill>
                            <a:srgbClr val="FFFFFF"/>
                          </a:solidFill>
                        </a:defRPr>
                      </a:pPr>
                    </a:p>
                  </a:txBody>
                  <a:tcPr anchor="ctr">
                    <a:solidFill>
                      <a:srgbClr val="8B7536"/>
                    </a:solidFill>
                  </a:tcPr>
                </a:tc>
                <a:tc>
                  <a:txBody>
                    <a:bodyPr/>
                    <a:lstStyle/>
                    <a:p>
                      <a:pPr algn="ctr">
                        <a:defRPr sz="900" b="1">
                          <a:solidFill>
                            <a:srgbClr val="FFFFFF"/>
                          </a:solidFill>
                        </a:defRPr>
                      </a:pPr>
                      <a:r>
                        <a:t>2025年</a:t>
                      </a:r>
                    </a:p>
                  </a:txBody>
                  <a:tcPr anchor="ctr">
                    <a:solidFill>
                      <a:srgbClr val="8B7536"/>
                    </a:solidFill>
                  </a:tcPr>
                </a:tc>
                <a:tc>
                  <a:txBody>
                    <a:bodyPr/>
                    <a:lstStyle/>
                    <a:p>
                      <a:pPr algn="ctr">
                        <a:defRPr sz="900" b="1">
                          <a:solidFill>
                            <a:srgbClr val="FFFFFF"/>
                          </a:solidFill>
                        </a:defRPr>
                      </a:pPr>
                      <a:r>
                        <a:t>2030年</a:t>
                      </a:r>
                    </a:p>
                  </a:txBody>
                  <a:tcPr anchor="ctr">
                    <a:solidFill>
                      <a:srgbClr val="8B7536"/>
                    </a:solidFill>
                  </a:tcPr>
                </a:tc>
                <a:tc>
                  <a:txBody>
                    <a:bodyPr/>
                    <a:lstStyle/>
                    <a:p>
                      <a:pPr algn="ctr">
                        <a:defRPr sz="900" b="1">
                          <a:solidFill>
                            <a:srgbClr val="FFFFFF"/>
                          </a:solidFill>
                        </a:defRPr>
                      </a:pPr>
                      <a:r>
                        <a:t>2040年</a:t>
                      </a:r>
                    </a:p>
                  </a:txBody>
                  <a:tcPr anchor="ctr">
                    <a:solidFill>
                      <a:srgbClr val="8B7536"/>
                    </a:solidFill>
                  </a:tcPr>
                </a:tc>
                <a:tc>
                  <a:txBody>
                    <a:bodyPr/>
                    <a:lstStyle/>
                    <a:p>
                      <a:pPr algn="ctr">
                        <a:defRPr sz="900" b="1">
                          <a:solidFill>
                            <a:srgbClr val="FFFFFF"/>
                          </a:solidFill>
                        </a:defRPr>
                      </a:pPr>
                      <a:r>
                        <a:t>2050年</a:t>
                      </a:r>
                    </a:p>
                  </a:txBody>
                  <a:tcPr anchor="ctr">
                    <a:solidFill>
                      <a:srgbClr val="8B7536"/>
                    </a:solidFill>
                  </a:tcPr>
                </a:tc>
              </a:tr>
              <a:tr h="502920">
                <a:tc>
                  <a:txBody>
                    <a:bodyPr/>
                    <a:lstStyle/>
                    <a:p>
                      <a:pPr>
                        <a:defRPr sz="900">
                          <a:solidFill>
                            <a:srgbClr val="333333"/>
                          </a:solidFill>
                        </a:defRPr>
                      </a:pPr>
                      <a:r>
                        <a:t>人口</a:t>
                      </a:r>
                    </a:p>
                  </a:txBody>
                  <a:tcPr anchor="ctr">
                    <a:solidFill>
                      <a:srgbClr val="F9F6F0"/>
                    </a:solidFill>
                  </a:tcPr>
                </a:tc>
                <a:tc>
                  <a:txBody>
                    <a:bodyPr/>
                    <a:lstStyle/>
                    <a:p>
                      <a:pPr>
                        <a:defRPr sz="900">
                          <a:solidFill>
                            <a:srgbClr val="333333"/>
                          </a:solidFill>
                        </a:defRPr>
                      </a:pPr>
                      <a:r>
                        <a:t>1.23億人</a:t>
                      </a:r>
                    </a:p>
                    <a:p>
                      <a:pPr>
                        <a:defRPr sz="900">
                          <a:solidFill>
                            <a:srgbClr val="333333"/>
                          </a:solidFill>
                        </a:defRPr>
                      </a:pPr>
                      <a:r>
                        <a:t>高齢化率28.6%</a:t>
                      </a:r>
                    </a:p>
                  </a:txBody>
                  <a:tcPr anchor="ctr">
                    <a:solidFill>
                      <a:srgbClr val="F9F6F0"/>
                    </a:solidFill>
                  </a:tcPr>
                </a:tc>
                <a:tc>
                  <a:txBody>
                    <a:bodyPr/>
                    <a:lstStyle/>
                    <a:p>
                      <a:pPr>
                        <a:defRPr sz="900">
                          <a:solidFill>
                            <a:srgbClr val="333333"/>
                          </a:solidFill>
                        </a:defRPr>
                      </a:pPr>
                      <a:r>
                        <a:t>1.16億人</a:t>
                      </a:r>
                    </a:p>
                    <a:p>
                      <a:pPr>
                        <a:defRPr sz="900">
                          <a:solidFill>
                            <a:srgbClr val="333333"/>
                          </a:solidFill>
                        </a:defRPr>
                      </a:pPr>
                      <a:r>
                        <a:t>高齢化率31.2%</a:t>
                      </a:r>
                    </a:p>
                  </a:txBody>
                  <a:tcPr anchor="ctr">
                    <a:solidFill>
                      <a:srgbClr val="F9F6F0"/>
                    </a:solidFill>
                  </a:tcPr>
                </a:tc>
                <a:tc>
                  <a:txBody>
                    <a:bodyPr/>
                    <a:lstStyle/>
                    <a:p>
                      <a:pPr>
                        <a:defRPr sz="900">
                          <a:solidFill>
                            <a:srgbClr val="333333"/>
                          </a:solidFill>
                        </a:defRPr>
                      </a:pPr>
                      <a:r>
                        <a:t>1.11億人</a:t>
                      </a:r>
                    </a:p>
                    <a:p>
                      <a:pPr>
                        <a:defRPr sz="900">
                          <a:solidFill>
                            <a:srgbClr val="333333"/>
                          </a:solidFill>
                        </a:defRPr>
                      </a:pPr>
                      <a:r>
                        <a:t>高齢化率35.3%</a:t>
                      </a:r>
                    </a:p>
                  </a:txBody>
                  <a:tcPr anchor="ctr">
                    <a:solidFill>
                      <a:srgbClr val="F9F6F0"/>
                    </a:solidFill>
                  </a:tcPr>
                </a:tc>
                <a:tc>
                  <a:txBody>
                    <a:bodyPr/>
                    <a:lstStyle/>
                    <a:p>
                      <a:pPr>
                        <a:defRPr sz="900">
                          <a:solidFill>
                            <a:srgbClr val="333333"/>
                          </a:solidFill>
                        </a:defRPr>
                      </a:pPr>
                      <a:r>
                        <a:t>0.95億人</a:t>
                      </a:r>
                    </a:p>
                    <a:p>
                      <a:pPr>
                        <a:defRPr sz="900">
                          <a:solidFill>
                            <a:srgbClr val="333333"/>
                          </a:solidFill>
                        </a:defRPr>
                      </a:pPr>
                      <a:r>
                        <a:t>高齢化率39.0%</a:t>
                      </a:r>
                    </a:p>
                  </a:txBody>
                  <a:tcPr anchor="ctr">
                    <a:solidFill>
                      <a:srgbClr val="F9F6F0"/>
                    </a:solidFill>
                  </a:tcPr>
                </a:tc>
              </a:tr>
              <a:tr h="502920">
                <a:tc>
                  <a:txBody>
                    <a:bodyPr/>
                    <a:lstStyle/>
                    <a:p>
                      <a:pPr>
                        <a:defRPr sz="900">
                          <a:solidFill>
                            <a:srgbClr val="333333"/>
                          </a:solidFill>
                        </a:defRPr>
                      </a:pPr>
                      <a:r>
                        <a:t>経済</a:t>
                      </a:r>
                    </a:p>
                  </a:txBody>
                  <a:tcPr anchor="ctr">
                    <a:solidFill>
                      <a:srgbClr val="F0E8D5"/>
                    </a:solidFill>
                  </a:tcPr>
                </a:tc>
                <a:tc>
                  <a:txBody>
                    <a:bodyPr/>
                    <a:lstStyle/>
                    <a:p>
                      <a:pPr>
                        <a:defRPr sz="900">
                          <a:solidFill>
                            <a:srgbClr val="333333"/>
                          </a:solidFill>
                        </a:defRPr>
                      </a:pPr>
                      <a:r>
                        <a:t>GDP 540兆円</a:t>
                      </a:r>
                    </a:p>
                    <a:p>
                      <a:pPr>
                        <a:defRPr sz="900">
                          <a:solidFill>
                            <a:srgbClr val="333333"/>
                          </a:solidFill>
                        </a:defRPr>
                      </a:pPr>
                      <a:r>
                        <a:t>世界3位</a:t>
                      </a:r>
                    </a:p>
                  </a:txBody>
                  <a:tcPr anchor="ctr">
                    <a:solidFill>
                      <a:srgbClr val="F0E8D5"/>
                    </a:solidFill>
                  </a:tcPr>
                </a:tc>
                <a:tc>
                  <a:txBody>
                    <a:bodyPr/>
                    <a:lstStyle/>
                    <a:p>
                      <a:pPr>
                        <a:defRPr sz="900">
                          <a:solidFill>
                            <a:srgbClr val="333333"/>
                          </a:solidFill>
                        </a:defRPr>
                      </a:pPr>
                      <a:r>
                        <a:t>GDP 520兆円</a:t>
                      </a:r>
                    </a:p>
                    <a:p>
                      <a:pPr>
                        <a:defRPr sz="900">
                          <a:solidFill>
                            <a:srgbClr val="333333"/>
                          </a:solidFill>
                        </a:defRPr>
                      </a:pPr>
                      <a:r>
                        <a:t>世界4位</a:t>
                      </a:r>
                    </a:p>
                  </a:txBody>
                  <a:tcPr anchor="ctr">
                    <a:solidFill>
                      <a:srgbClr val="F0E8D5"/>
                    </a:solidFill>
                  </a:tcPr>
                </a:tc>
                <a:tc>
                  <a:txBody>
                    <a:bodyPr/>
                    <a:lstStyle/>
                    <a:p>
                      <a:pPr>
                        <a:defRPr sz="900">
                          <a:solidFill>
                            <a:srgbClr val="333333"/>
                          </a:solidFill>
                        </a:defRPr>
                      </a:pPr>
                      <a:r>
                        <a:t>GDP 480兆円</a:t>
                      </a:r>
                    </a:p>
                    <a:p>
                      <a:pPr>
                        <a:defRPr sz="900">
                          <a:solidFill>
                            <a:srgbClr val="333333"/>
                          </a:solidFill>
                        </a:defRPr>
                      </a:pPr>
                      <a:r>
                        <a:t>世界6位</a:t>
                      </a:r>
                    </a:p>
                  </a:txBody>
                  <a:tcPr anchor="ctr">
                    <a:solidFill>
                      <a:srgbClr val="F0E8D5"/>
                    </a:solidFill>
                  </a:tcPr>
                </a:tc>
                <a:tc>
                  <a:txBody>
                    <a:bodyPr/>
                    <a:lstStyle/>
                    <a:p>
                      <a:pPr>
                        <a:defRPr sz="900">
                          <a:solidFill>
                            <a:srgbClr val="333333"/>
                          </a:solidFill>
                        </a:defRPr>
                      </a:pPr>
                      <a:r>
                        <a:t>GDP 430兆円</a:t>
                      </a:r>
                    </a:p>
                    <a:p>
                      <a:pPr>
                        <a:defRPr sz="900">
                          <a:solidFill>
                            <a:srgbClr val="333333"/>
                          </a:solidFill>
                        </a:defRPr>
                      </a:pPr>
                      <a:r>
                        <a:t>世界8位</a:t>
                      </a:r>
                    </a:p>
                  </a:txBody>
                  <a:tcPr anchor="ctr">
                    <a:solidFill>
                      <a:srgbClr val="F0E8D5"/>
                    </a:solidFill>
                  </a:tcPr>
                </a:tc>
              </a:tr>
              <a:tr h="502920">
                <a:tc>
                  <a:txBody>
                    <a:bodyPr/>
                    <a:lstStyle/>
                    <a:p>
                      <a:pPr>
                        <a:defRPr sz="900">
                          <a:solidFill>
                            <a:srgbClr val="333333"/>
                          </a:solidFill>
                        </a:defRPr>
                      </a:pPr>
                      <a:r>
                        <a:t>技術</a:t>
                      </a:r>
                    </a:p>
                  </a:txBody>
                  <a:tcPr anchor="ctr">
                    <a:solidFill>
                      <a:srgbClr val="F9F6F0"/>
                    </a:solidFill>
                  </a:tcPr>
                </a:tc>
                <a:tc>
                  <a:txBody>
                    <a:bodyPr/>
                    <a:lstStyle/>
                    <a:p>
                      <a:pPr>
                        <a:defRPr sz="900">
                          <a:solidFill>
                            <a:srgbClr val="333333"/>
                          </a:solidFill>
                        </a:defRPr>
                      </a:pPr>
                      <a:r>
                        <a:t>スマホ+AI</a:t>
                      </a:r>
                    </a:p>
                    <a:p>
                      <a:pPr>
                        <a:defRPr sz="900">
                          <a:solidFill>
                            <a:srgbClr val="333333"/>
                          </a:solidFill>
                        </a:defRPr>
                      </a:pPr>
                      <a:r>
                        <a:t>業務支援AI開始</a:t>
                      </a:r>
                    </a:p>
                  </a:txBody>
                  <a:tcPr anchor="ctr">
                    <a:solidFill>
                      <a:srgbClr val="F9F6F0"/>
                    </a:solidFill>
                  </a:tcPr>
                </a:tc>
                <a:tc>
                  <a:txBody>
                    <a:bodyPr/>
                    <a:lstStyle/>
                    <a:p>
                      <a:pPr>
                        <a:defRPr sz="900">
                          <a:solidFill>
                            <a:srgbClr val="333333"/>
                          </a:solidFill>
                        </a:defRPr>
                      </a:pPr>
                      <a:r>
                        <a:t>ARグラス普及</a:t>
                      </a:r>
                    </a:p>
                    <a:p>
                      <a:pPr>
                        <a:defRPr sz="900">
                          <a:solidFill>
                            <a:srgbClr val="333333"/>
                          </a:solidFill>
                        </a:defRPr>
                      </a:pPr>
                      <a:r>
                        <a:t>AGI実現</a:t>
                      </a:r>
                    </a:p>
                  </a:txBody>
                  <a:tcPr anchor="ctr">
                    <a:solidFill>
                      <a:srgbClr val="F9F6F0"/>
                    </a:solidFill>
                  </a:tcPr>
                </a:tc>
                <a:tc>
                  <a:txBody>
                    <a:bodyPr/>
                    <a:lstStyle/>
                    <a:p>
                      <a:pPr>
                        <a:defRPr sz="900">
                          <a:solidFill>
                            <a:srgbClr val="333333"/>
                          </a:solidFill>
                        </a:defRPr>
                      </a:pPr>
                      <a:r>
                        <a:t>体内センサー</a:t>
                      </a:r>
                    </a:p>
                    <a:p>
                      <a:pPr>
                        <a:defRPr sz="900">
                          <a:solidFill>
                            <a:srgbClr val="333333"/>
                          </a:solidFill>
                        </a:defRPr>
                      </a:pPr>
                      <a:r>
                        <a:t>創造協働AI</a:t>
                      </a:r>
                    </a:p>
                  </a:txBody>
                  <a:tcPr anchor="ctr">
                    <a:solidFill>
                      <a:srgbClr val="F9F6F0"/>
                    </a:solidFill>
                  </a:tcPr>
                </a:tc>
                <a:tc>
                  <a:txBody>
                    <a:bodyPr/>
                    <a:lstStyle/>
                    <a:p>
                      <a:pPr>
                        <a:defRPr sz="900">
                          <a:solidFill>
                            <a:srgbClr val="333333"/>
                          </a:solidFill>
                        </a:defRPr>
                      </a:pPr>
                      <a:r>
                        <a:t>脳-PC接続</a:t>
                      </a:r>
                    </a:p>
                    <a:p>
                      <a:pPr>
                        <a:defRPr sz="900">
                          <a:solidFill>
                            <a:srgbClr val="333333"/>
                          </a:solidFill>
                        </a:defRPr>
                      </a:pPr>
                      <a:r>
                        <a:t>意識融合AI</a:t>
                      </a:r>
                    </a:p>
                  </a:txBody>
                  <a:tcPr anchor="ctr">
                    <a:solidFill>
                      <a:srgbClr val="F9F6F0"/>
                    </a:solidFill>
                  </a:tcPr>
                </a:tc>
              </a:tr>
              <a:tr h="502920">
                <a:tc>
                  <a:txBody>
                    <a:bodyPr/>
                    <a:lstStyle/>
                    <a:p>
                      <a:pPr>
                        <a:defRPr sz="900">
                          <a:solidFill>
                            <a:srgbClr val="333333"/>
                          </a:solidFill>
                        </a:defRPr>
                      </a:pPr>
                      <a:r>
                        <a:t>働き方</a:t>
                      </a:r>
                    </a:p>
                  </a:txBody>
                  <a:tcPr anchor="ctr">
                    <a:solidFill>
                      <a:srgbClr val="F0E8D5"/>
                    </a:solidFill>
                  </a:tcPr>
                </a:tc>
                <a:tc>
                  <a:txBody>
                    <a:bodyPr/>
                    <a:lstStyle/>
                    <a:p>
                      <a:pPr>
                        <a:defRPr sz="900">
                          <a:solidFill>
                            <a:srgbClr val="333333"/>
                          </a:solidFill>
                        </a:defRPr>
                      </a:pPr>
                      <a:r>
                        <a:t>リモート標準化</a:t>
                      </a:r>
                    </a:p>
                    <a:p>
                      <a:pPr>
                        <a:defRPr sz="900">
                          <a:solidFill>
                            <a:srgbClr val="333333"/>
                          </a:solidFill>
                        </a:defRPr>
                      </a:pPr>
                      <a:r>
                        <a:t>終身雇用30%</a:t>
                      </a:r>
                    </a:p>
                  </a:txBody>
                  <a:tcPr anchor="ctr">
                    <a:solidFill>
                      <a:srgbClr val="F0E8D5"/>
                    </a:solidFill>
                  </a:tcPr>
                </a:tc>
                <a:tc>
                  <a:txBody>
                    <a:bodyPr/>
                    <a:lstStyle/>
                    <a:p>
                      <a:pPr>
                        <a:defRPr sz="900">
                          <a:solidFill>
                            <a:srgbClr val="333333"/>
                          </a:solidFill>
                        </a:defRPr>
                      </a:pPr>
                      <a:r>
                        <a:t>専門職主流</a:t>
                      </a:r>
                    </a:p>
                    <a:p>
                      <a:pPr>
                        <a:defRPr sz="900">
                          <a:solidFill>
                            <a:srgbClr val="333333"/>
                          </a:solidFill>
                        </a:defRPr>
                      </a:pPr>
                      <a:r>
                        <a:t>AI協働開始</a:t>
                      </a:r>
                    </a:p>
                  </a:txBody>
                  <a:tcPr anchor="ctr">
                    <a:solidFill>
                      <a:srgbClr val="F0E8D5"/>
                    </a:solidFill>
                  </a:tcPr>
                </a:tc>
                <a:tc>
                  <a:txBody>
                    <a:bodyPr/>
                    <a:lstStyle/>
                    <a:p>
                      <a:pPr>
                        <a:defRPr sz="900">
                          <a:solidFill>
                            <a:srgbClr val="333333"/>
                          </a:solidFill>
                        </a:defRPr>
                      </a:pPr>
                      <a:r>
                        <a:t>プロジェクト型</a:t>
                      </a:r>
                    </a:p>
                    <a:p>
                      <a:pPr>
                        <a:defRPr sz="900">
                          <a:solidFill>
                            <a:srgbClr val="333333"/>
                          </a:solidFill>
                        </a:defRPr>
                      </a:pPr>
                      <a:r>
                        <a:t>実力主義社会</a:t>
                      </a:r>
                    </a:p>
                  </a:txBody>
                  <a:tcPr anchor="ctr">
                    <a:solidFill>
                      <a:srgbClr val="F0E8D5"/>
                    </a:solidFill>
                  </a:tcPr>
                </a:tc>
                <a:tc>
                  <a:txBody>
                    <a:bodyPr/>
                    <a:lstStyle/>
                    <a:p>
                      <a:pPr>
                        <a:defRPr sz="900">
                          <a:solidFill>
                            <a:srgbClr val="333333"/>
                          </a:solidFill>
                        </a:defRPr>
                      </a:pPr>
                      <a:r>
                        <a:t>創造=労働</a:t>
                      </a:r>
                    </a:p>
                    <a:p>
                      <a:pPr>
                        <a:defRPr sz="900">
                          <a:solidFill>
                            <a:srgbClr val="333333"/>
                          </a:solidFill>
                        </a:defRPr>
                      </a:pPr>
                      <a:r>
                        <a:t>AI全業務支援</a:t>
                      </a:r>
                    </a:p>
                  </a:txBody>
                  <a:tcPr anchor="ctr">
                    <a:solidFill>
                      <a:srgbClr val="F0E8D5"/>
                    </a:solidFill>
                  </a:tcPr>
                </a:tc>
              </a:tr>
              <a:tr h="502920">
                <a:tc>
                  <a:txBody>
                    <a:bodyPr/>
                    <a:lstStyle/>
                    <a:p>
                      <a:pPr>
                        <a:defRPr sz="900">
                          <a:solidFill>
                            <a:srgbClr val="333333"/>
                          </a:solidFill>
                        </a:defRPr>
                      </a:pPr>
                      <a:r>
                        <a:t>平均年収</a:t>
                      </a:r>
                    </a:p>
                  </a:txBody>
                  <a:tcPr anchor="ctr">
                    <a:solidFill>
                      <a:srgbClr val="F9F6F0"/>
                    </a:solidFill>
                  </a:tcPr>
                </a:tc>
                <a:tc>
                  <a:txBody>
                    <a:bodyPr/>
                    <a:lstStyle/>
                    <a:p>
                      <a:pPr>
                        <a:defRPr sz="900">
                          <a:solidFill>
                            <a:srgbClr val="333333"/>
                          </a:solidFill>
                        </a:defRPr>
                      </a:pPr>
                      <a:r>
                        <a:t>420万円</a:t>
                      </a:r>
                    </a:p>
                    <a:p>
                      <a:pPr>
                        <a:defRPr sz="900">
                          <a:solidFill>
                            <a:srgbClr val="333333"/>
                          </a:solidFill>
                        </a:defRPr>
                      </a:pPr>
                      <a:r>
                        <a:t>(実質400万円)</a:t>
                      </a:r>
                    </a:p>
                  </a:txBody>
                  <a:tcPr anchor="ctr">
                    <a:solidFill>
                      <a:srgbClr val="F9F6F0"/>
                    </a:solidFill>
                  </a:tcPr>
                </a:tc>
                <a:tc>
                  <a:txBody>
                    <a:bodyPr/>
                    <a:lstStyle/>
                    <a:p>
                      <a:pPr>
                        <a:defRPr sz="900">
                          <a:solidFill>
                            <a:srgbClr val="333333"/>
                          </a:solidFill>
                        </a:defRPr>
                      </a:pPr>
                      <a:r>
                        <a:t>480万円</a:t>
                      </a:r>
                    </a:p>
                    <a:p>
                      <a:pPr>
                        <a:defRPr sz="900">
                          <a:solidFill>
                            <a:srgbClr val="333333"/>
                          </a:solidFill>
                        </a:defRPr>
                      </a:pPr>
                      <a:r>
                        <a:t>(実質410万円)</a:t>
                      </a:r>
                    </a:p>
                  </a:txBody>
                  <a:tcPr anchor="ctr">
                    <a:solidFill>
                      <a:srgbClr val="F9F6F0"/>
                    </a:solidFill>
                  </a:tcPr>
                </a:tc>
                <a:tc>
                  <a:txBody>
                    <a:bodyPr/>
                    <a:lstStyle/>
                    <a:p>
                      <a:pPr>
                        <a:defRPr sz="900">
                          <a:solidFill>
                            <a:srgbClr val="333333"/>
                          </a:solidFill>
                        </a:defRPr>
                      </a:pPr>
                      <a:r>
                        <a:t>530万円</a:t>
                      </a:r>
                    </a:p>
                    <a:p>
                      <a:pPr>
                        <a:defRPr sz="900">
                          <a:solidFill>
                            <a:srgbClr val="333333"/>
                          </a:solidFill>
                        </a:defRPr>
                      </a:pPr>
                      <a:r>
                        <a:t>(実質430万円)</a:t>
                      </a:r>
                    </a:p>
                  </a:txBody>
                  <a:tcPr anchor="ctr">
                    <a:solidFill>
                      <a:srgbClr val="F9F6F0"/>
                    </a:solidFill>
                  </a:tcPr>
                </a:tc>
                <a:tc>
                  <a:txBody>
                    <a:bodyPr/>
                    <a:lstStyle/>
                    <a:p>
                      <a:pPr>
                        <a:defRPr sz="900">
                          <a:solidFill>
                            <a:srgbClr val="333333"/>
                          </a:solidFill>
                        </a:defRPr>
                      </a:pPr>
                      <a:r>
                        <a:t>580万円</a:t>
                      </a:r>
                    </a:p>
                    <a:p>
                      <a:pPr>
                        <a:defRPr sz="900">
                          <a:solidFill>
                            <a:srgbClr val="333333"/>
                          </a:solidFill>
                        </a:defRPr>
                      </a:pPr>
                      <a:r>
                        <a:t>(実質450万円)</a:t>
                      </a:r>
                    </a:p>
                  </a:txBody>
                  <a:tcPr anchor="ctr">
                    <a:solidFill>
                      <a:srgbClr val="F9F6F0"/>
                    </a:solidFill>
                  </a:tcPr>
                </a:tc>
              </a:tr>
            </a:tbl>
          </a:graphicData>
        </a:graphic>
      </p:graphicFrame>
      <p:sp>
        <p:nvSpPr>
          <p:cNvPr id="7" name="Rounded Rectangle 6"/>
          <p:cNvSpPr/>
          <p:nvPr/>
        </p:nvSpPr>
        <p:spPr>
          <a:xfrm>
            <a:off x="274320" y="4343400"/>
            <a:ext cx="8412480" cy="1828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325112"/>
            <a:ext cx="8229600" cy="182880"/>
          </a:xfrm>
          <a:prstGeom prst="rect">
            <a:avLst/>
          </a:prstGeom>
          <a:noFill/>
        </p:spPr>
        <p:txBody>
          <a:bodyPr wrap="square">
            <a:spAutoFit/>
          </a:bodyPr>
          <a:lstStyle/>
          <a:p>
            <a:pPr algn="ctr">
              <a:defRPr sz="900" b="1">
                <a:solidFill>
                  <a:srgbClr val="C0392B"/>
                </a:solidFill>
              </a:defRPr>
            </a:pPr>
            <a:r>
              <a:t>平均年収は上昇するが、中央値はほぼ横ばい → 格差拡大が最大のテーマ</a:t>
            </a:r>
          </a:p>
        </p:txBody>
      </p:sp>
      <p:sp>
        <p:nvSpPr>
          <p:cNvPr id="9" name="Rectangle 8"/>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11" name="TextBox 10"/>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926080" cy="51435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926080" y="0"/>
            <a:ext cx="621792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0"/>
            <a:ext cx="2286000" cy="1371600"/>
          </a:xfrm>
          <a:prstGeom prst="rect">
            <a:avLst/>
          </a:prstGeom>
          <a:noFill/>
        </p:spPr>
        <p:txBody>
          <a:bodyPr wrap="square">
            <a:spAutoFit/>
          </a:bodyPr>
          <a:lstStyle/>
          <a:p>
            <a:pPr algn="ctr">
              <a:defRPr sz="6000" b="1">
                <a:solidFill>
                  <a:srgbClr val="FFFFFF"/>
                </a:solidFill>
              </a:defRPr>
            </a:pPr>
            <a:r>
              <a:t>01</a:t>
            </a:r>
          </a:p>
        </p:txBody>
      </p:sp>
      <p:sp>
        <p:nvSpPr>
          <p:cNvPr id="5" name="TextBox 4"/>
          <p:cNvSpPr txBox="1"/>
          <p:nvPr/>
        </p:nvSpPr>
        <p:spPr>
          <a:xfrm>
            <a:off x="3200400" y="1097280"/>
            <a:ext cx="5486400" cy="731520"/>
          </a:xfrm>
          <a:prstGeom prst="rect">
            <a:avLst/>
          </a:prstGeom>
          <a:noFill/>
        </p:spPr>
        <p:txBody>
          <a:bodyPr wrap="square">
            <a:spAutoFit/>
          </a:bodyPr>
          <a:lstStyle/>
          <a:p>
            <a:pPr algn="l">
              <a:defRPr sz="2800" b="0">
                <a:solidFill>
                  <a:srgbClr val="FFFFFF"/>
                </a:solidFill>
              </a:defRPr>
            </a:pPr>
            <a:r>
              <a:t>業界別</a:t>
            </a:r>
          </a:p>
        </p:txBody>
      </p:sp>
      <p:sp>
        <p:nvSpPr>
          <p:cNvPr id="6" name="TextBox 5"/>
          <p:cNvSpPr txBox="1"/>
          <p:nvPr/>
        </p:nvSpPr>
        <p:spPr>
          <a:xfrm>
            <a:off x="3200400" y="1828800"/>
            <a:ext cx="5486400" cy="731520"/>
          </a:xfrm>
          <a:prstGeom prst="rect">
            <a:avLst/>
          </a:prstGeom>
          <a:noFill/>
        </p:spPr>
        <p:txBody>
          <a:bodyPr wrap="square">
            <a:spAutoFit/>
          </a:bodyPr>
          <a:lstStyle/>
          <a:p>
            <a:pPr algn="l">
              <a:defRPr sz="3400" b="1">
                <a:solidFill>
                  <a:srgbClr val="C9A84C"/>
                </a:solidFill>
              </a:defRPr>
            </a:pPr>
            <a:r>
              <a:t>AI代替率と年収変動</a:t>
            </a:r>
          </a:p>
        </p:txBody>
      </p:sp>
      <p:sp>
        <p:nvSpPr>
          <p:cNvPr id="7" name="TextBox 6"/>
          <p:cNvSpPr txBox="1"/>
          <p:nvPr/>
        </p:nvSpPr>
        <p:spPr>
          <a:xfrm>
            <a:off x="3200400" y="2926080"/>
            <a:ext cx="5486400" cy="914400"/>
          </a:xfrm>
          <a:prstGeom prst="rect">
            <a:avLst/>
          </a:prstGeom>
          <a:noFill/>
        </p:spPr>
        <p:txBody>
          <a:bodyPr wrap="square">
            <a:spAutoFit/>
          </a:bodyPr>
          <a:lstStyle/>
          <a:p>
            <a:pPr algn="l">
              <a:defRPr sz="1400" b="0">
                <a:solidFill>
                  <a:srgbClr val="AAAAAA"/>
                </a:solidFill>
              </a:defRPr>
            </a:pPr>
            <a:r>
              <a:t>あなたのクライアントの業界は</a:t>
            </a:r>
            <a:br/>
            <a:r>
              <a:t>どのくらい変わるのか？</a:t>
            </a:r>
          </a:p>
        </p:txBody>
      </p:sp>
      <p:sp>
        <p:nvSpPr>
          <p:cNvPr id="8" name="TextBox 7"/>
          <p:cNvSpPr txBox="1"/>
          <p:nvPr/>
        </p:nvSpPr>
        <p:spPr>
          <a:xfrm>
            <a:off x="3200400" y="4114800"/>
            <a:ext cx="2743200" cy="274320"/>
          </a:xfrm>
          <a:prstGeom prst="rect">
            <a:avLst/>
          </a:prstGeom>
          <a:noFill/>
        </p:spPr>
        <p:txBody>
          <a:bodyPr wrap="square">
            <a:spAutoFit/>
          </a:bodyPr>
          <a:lstStyle/>
          <a:p>
            <a:pPr algn="l">
              <a:defRPr sz="800" b="0">
                <a:solidFill>
                  <a:srgbClr val="888888"/>
                </a:solidFill>
              </a:defRPr>
            </a:pPr>
            <a:r>
              <a:t>H A R M O N I C   i n s i g h 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業界別AI代替率の推移 2025→2050</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業務時間ベースでAIが実行可能になる割合</a:t>
            </a:r>
          </a:p>
        </p:txBody>
      </p:sp>
      <p:graphicFrame>
        <p:nvGraphicFramePr>
          <p:cNvPr id="6" name="Table 5"/>
          <p:cNvGraphicFramePr>
            <a:graphicFrameLocks noGrp="1"/>
          </p:cNvGraphicFramePr>
          <p:nvPr/>
        </p:nvGraphicFramePr>
        <p:xfrm>
          <a:off x="182880" y="1188720"/>
          <a:ext cx="8686800" cy="3291840"/>
        </p:xfrm>
        <a:graphic>
          <a:graphicData uri="http://schemas.openxmlformats.org/drawingml/2006/table">
            <a:tbl>
              <a:tblPr firstRow="1" bandRow="1">
                <a:tableStyleId>{5C22544A-7EE6-4342-B048-85BDC9FD1C3A}</a:tableStyleId>
              </a:tblPr>
              <a:tblGrid>
                <a:gridCol w="1188720"/>
                <a:gridCol w="822960"/>
                <a:gridCol w="822960"/>
                <a:gridCol w="822960"/>
                <a:gridCol w="822960"/>
                <a:gridCol w="4206240"/>
              </a:tblGrid>
              <a:tr h="329184">
                <a:tc>
                  <a:txBody>
                    <a:bodyPr/>
                    <a:lstStyle/>
                    <a:p>
                      <a:pPr algn="ctr">
                        <a:defRPr sz="900" b="1">
                          <a:solidFill>
                            <a:srgbClr val="FFFFFF"/>
                          </a:solidFill>
                        </a:defRPr>
                      </a:pPr>
                      <a:r>
                        <a:t>業界</a:t>
                      </a:r>
                    </a:p>
                  </a:txBody>
                  <a:tcPr anchor="ctr">
                    <a:solidFill>
                      <a:srgbClr val="8B7536"/>
                    </a:solidFill>
                  </a:tcPr>
                </a:tc>
                <a:tc>
                  <a:txBody>
                    <a:bodyPr/>
                    <a:lstStyle/>
                    <a:p>
                      <a:pPr algn="ctr">
                        <a:defRPr sz="900" b="1">
                          <a:solidFill>
                            <a:srgbClr val="FFFFFF"/>
                          </a:solidFill>
                        </a:defRPr>
                      </a:pPr>
                      <a:r>
                        <a:t>2025年</a:t>
                      </a:r>
                    </a:p>
                  </a:txBody>
                  <a:tcPr anchor="ctr">
                    <a:solidFill>
                      <a:srgbClr val="8B7536"/>
                    </a:solidFill>
                  </a:tcPr>
                </a:tc>
                <a:tc>
                  <a:txBody>
                    <a:bodyPr/>
                    <a:lstStyle/>
                    <a:p>
                      <a:pPr algn="ctr">
                        <a:defRPr sz="900" b="1">
                          <a:solidFill>
                            <a:srgbClr val="FFFFFF"/>
                          </a:solidFill>
                        </a:defRPr>
                      </a:pPr>
                      <a:r>
                        <a:t>2030年</a:t>
                      </a:r>
                    </a:p>
                  </a:txBody>
                  <a:tcPr anchor="ctr">
                    <a:solidFill>
                      <a:srgbClr val="8B7536"/>
                    </a:solidFill>
                  </a:tcPr>
                </a:tc>
                <a:tc>
                  <a:txBody>
                    <a:bodyPr/>
                    <a:lstStyle/>
                    <a:p>
                      <a:pPr algn="ctr">
                        <a:defRPr sz="900" b="1">
                          <a:solidFill>
                            <a:srgbClr val="FFFFFF"/>
                          </a:solidFill>
                        </a:defRPr>
                      </a:pPr>
                      <a:r>
                        <a:t>2040年</a:t>
                      </a:r>
                    </a:p>
                  </a:txBody>
                  <a:tcPr anchor="ctr">
                    <a:solidFill>
                      <a:srgbClr val="8B7536"/>
                    </a:solidFill>
                  </a:tcPr>
                </a:tc>
                <a:tc>
                  <a:txBody>
                    <a:bodyPr/>
                    <a:lstStyle/>
                    <a:p>
                      <a:pPr algn="ctr">
                        <a:defRPr sz="900" b="1">
                          <a:solidFill>
                            <a:srgbClr val="FFFFFF"/>
                          </a:solidFill>
                        </a:defRPr>
                      </a:pPr>
                      <a:r>
                        <a:t>2050年</a:t>
                      </a:r>
                    </a:p>
                  </a:txBody>
                  <a:tcPr anchor="ctr">
                    <a:solidFill>
                      <a:srgbClr val="8B7536"/>
                    </a:solidFill>
                  </a:tcPr>
                </a:tc>
                <a:tc>
                  <a:txBody>
                    <a:bodyPr/>
                    <a:lstStyle/>
                    <a:p>
                      <a:pPr algn="ctr">
                        <a:defRPr sz="900" b="1">
                          <a:solidFill>
                            <a:srgbClr val="FFFFFF"/>
                          </a:solidFill>
                        </a:defRPr>
                      </a:pPr>
                      <a:r>
                        <a:t>中央値年収変動</a:t>
                      </a:r>
                    </a:p>
                  </a:txBody>
                  <a:tcPr anchor="ctr">
                    <a:solidFill>
                      <a:srgbClr val="8B7536"/>
                    </a:solidFill>
                  </a:tcPr>
                </a:tc>
              </a:tr>
              <a:tr h="329184">
                <a:tc>
                  <a:txBody>
                    <a:bodyPr/>
                    <a:lstStyle/>
                    <a:p>
                      <a:pPr>
                        <a:defRPr sz="900">
                          <a:solidFill>
                            <a:srgbClr val="333333"/>
                          </a:solidFill>
                        </a:defRPr>
                      </a:pPr>
                      <a:r>
                        <a:t>製造業</a:t>
                      </a:r>
                    </a:p>
                  </a:txBody>
                  <a:tcPr anchor="ctr">
                    <a:solidFill>
                      <a:srgbClr val="F9F6F0"/>
                    </a:solidFill>
                  </a:tcPr>
                </a:tc>
                <a:tc>
                  <a:txBody>
                    <a:bodyPr/>
                    <a:lstStyle/>
                    <a:p>
                      <a:pPr>
                        <a:defRPr sz="900">
                          <a:solidFill>
                            <a:srgbClr val="333333"/>
                          </a:solidFill>
                        </a:defRPr>
                      </a:pPr>
                      <a:r>
                        <a:t>30%</a:t>
                      </a:r>
                    </a:p>
                  </a:txBody>
                  <a:tcPr anchor="ctr">
                    <a:solidFill>
                      <a:srgbClr val="F9F6F0"/>
                    </a:solidFill>
                  </a:tcPr>
                </a:tc>
                <a:tc>
                  <a:txBody>
                    <a:bodyPr/>
                    <a:lstStyle/>
                    <a:p>
                      <a:pPr>
                        <a:defRPr sz="900">
                          <a:solidFill>
                            <a:srgbClr val="333333"/>
                          </a:solidFill>
                        </a:defRPr>
                      </a:pPr>
                      <a:r>
                        <a:t>45%</a:t>
                      </a:r>
                    </a:p>
                  </a:txBody>
                  <a:tcPr anchor="ctr">
                    <a:solidFill>
                      <a:srgbClr val="F9F6F0"/>
                    </a:solidFill>
                  </a:tcPr>
                </a:tc>
                <a:tc>
                  <a:txBody>
                    <a:bodyPr/>
                    <a:lstStyle/>
                    <a:p>
                      <a:pPr>
                        <a:defRPr sz="900">
                          <a:solidFill>
                            <a:srgbClr val="333333"/>
                          </a:solidFill>
                        </a:defRPr>
                      </a:pPr>
                      <a:r>
                        <a:t>75%</a:t>
                      </a:r>
                    </a:p>
                  </a:txBody>
                  <a:tcPr anchor="ctr">
                    <a:solidFill>
                      <a:srgbClr val="F9F6F0"/>
                    </a:solidFill>
                  </a:tcPr>
                </a:tc>
                <a:tc>
                  <a:txBody>
                    <a:bodyPr/>
                    <a:lstStyle/>
                    <a:p>
                      <a:pPr>
                        <a:defRPr sz="900">
                          <a:solidFill>
                            <a:srgbClr val="333333"/>
                          </a:solidFill>
                        </a:defRPr>
                      </a:pPr>
                      <a:r>
                        <a:t>90%</a:t>
                      </a:r>
                    </a:p>
                  </a:txBody>
                  <a:tcPr anchor="ctr">
                    <a:solidFill>
                      <a:srgbClr val="F9F6F0"/>
                    </a:solidFill>
                  </a:tcPr>
                </a:tc>
                <a:tc>
                  <a:txBody>
                    <a:bodyPr/>
                    <a:lstStyle/>
                    <a:p>
                      <a:pPr>
                        <a:defRPr sz="900">
                          <a:solidFill>
                            <a:srgbClr val="333333"/>
                          </a:solidFill>
                        </a:defRPr>
                      </a:pPr>
                      <a:r>
                        <a:t>-5% (格差拡大)</a:t>
                      </a:r>
                    </a:p>
                  </a:txBody>
                  <a:tcPr anchor="ctr">
                    <a:solidFill>
                      <a:srgbClr val="F9F6F0"/>
                    </a:solidFill>
                  </a:tcPr>
                </a:tc>
              </a:tr>
              <a:tr h="329184">
                <a:tc>
                  <a:txBody>
                    <a:bodyPr/>
                    <a:lstStyle/>
                    <a:p>
                      <a:pPr>
                        <a:defRPr sz="900">
                          <a:solidFill>
                            <a:srgbClr val="333333"/>
                          </a:solidFill>
                        </a:defRPr>
                      </a:pPr>
                      <a:r>
                        <a:t>金融・保険</a:t>
                      </a:r>
                    </a:p>
                  </a:txBody>
                  <a:tcPr anchor="ctr">
                    <a:solidFill>
                      <a:srgbClr val="F0E8D5"/>
                    </a:solidFill>
                  </a:tcPr>
                </a:tc>
                <a:tc>
                  <a:txBody>
                    <a:bodyPr/>
                    <a:lstStyle/>
                    <a:p>
                      <a:pPr>
                        <a:defRPr sz="900">
                          <a:solidFill>
                            <a:srgbClr val="333333"/>
                          </a:solidFill>
                        </a:defRPr>
                      </a:pPr>
                      <a:r>
                        <a:t>25%</a:t>
                      </a:r>
                    </a:p>
                  </a:txBody>
                  <a:tcPr anchor="ctr">
                    <a:solidFill>
                      <a:srgbClr val="F0E8D5"/>
                    </a:solidFill>
                  </a:tcPr>
                </a:tc>
                <a:tc>
                  <a:txBody>
                    <a:bodyPr/>
                    <a:lstStyle/>
                    <a:p>
                      <a:pPr>
                        <a:defRPr sz="900">
                          <a:solidFill>
                            <a:srgbClr val="333333"/>
                          </a:solidFill>
                        </a:defRPr>
                      </a:pPr>
                      <a:r>
                        <a:t>35%</a:t>
                      </a:r>
                    </a:p>
                  </a:txBody>
                  <a:tcPr anchor="ctr">
                    <a:solidFill>
                      <a:srgbClr val="F0E8D5"/>
                    </a:solidFill>
                  </a:tcPr>
                </a:tc>
                <a:tc>
                  <a:txBody>
                    <a:bodyPr/>
                    <a:lstStyle/>
                    <a:p>
                      <a:pPr>
                        <a:defRPr sz="900">
                          <a:solidFill>
                            <a:srgbClr val="333333"/>
                          </a:solidFill>
                        </a:defRPr>
                      </a:pPr>
                      <a:r>
                        <a:t>65%</a:t>
                      </a:r>
                    </a:p>
                  </a:txBody>
                  <a:tcPr anchor="ctr">
                    <a:solidFill>
                      <a:srgbClr val="F0E8D5"/>
                    </a:solidFill>
                  </a:tcPr>
                </a:tc>
                <a:tc>
                  <a:txBody>
                    <a:bodyPr/>
                    <a:lstStyle/>
                    <a:p>
                      <a:pPr>
                        <a:defRPr sz="900">
                          <a:solidFill>
                            <a:srgbClr val="333333"/>
                          </a:solidFill>
                        </a:defRPr>
                      </a:pPr>
                      <a:r>
                        <a:t>85%</a:t>
                      </a:r>
                    </a:p>
                  </a:txBody>
                  <a:tcPr anchor="ctr">
                    <a:solidFill>
                      <a:srgbClr val="F0E8D5"/>
                    </a:solidFill>
                  </a:tcPr>
                </a:tc>
                <a:tc>
                  <a:txBody>
                    <a:bodyPr/>
                    <a:lstStyle/>
                    <a:p>
                      <a:pPr>
                        <a:defRPr sz="900">
                          <a:solidFill>
                            <a:srgbClr val="333333"/>
                          </a:solidFill>
                        </a:defRPr>
                      </a:pPr>
                      <a:r>
                        <a:t>-21% (極端な二極化)</a:t>
                      </a:r>
                    </a:p>
                  </a:txBody>
                  <a:tcPr anchor="ctr">
                    <a:solidFill>
                      <a:srgbClr val="F0E8D5"/>
                    </a:solidFill>
                  </a:tcPr>
                </a:tc>
              </a:tr>
              <a:tr h="329184">
                <a:tc>
                  <a:txBody>
                    <a:bodyPr/>
                    <a:lstStyle/>
                    <a:p>
                      <a:pPr>
                        <a:defRPr sz="900">
                          <a:solidFill>
                            <a:srgbClr val="333333"/>
                          </a:solidFill>
                        </a:defRPr>
                      </a:pPr>
                      <a:r>
                        <a:t>小売・流通</a:t>
                      </a:r>
                    </a:p>
                  </a:txBody>
                  <a:tcPr anchor="ctr">
                    <a:solidFill>
                      <a:srgbClr val="F9F6F0"/>
                    </a:solidFill>
                  </a:tcPr>
                </a:tc>
                <a:tc>
                  <a:txBody>
                    <a:bodyPr/>
                    <a:lstStyle/>
                    <a:p>
                      <a:pPr>
                        <a:defRPr sz="900">
                          <a:solidFill>
                            <a:srgbClr val="333333"/>
                          </a:solidFill>
                        </a:defRPr>
                      </a:pPr>
                      <a:r>
                        <a:t>20%</a:t>
                      </a:r>
                    </a:p>
                  </a:txBody>
                  <a:tcPr anchor="ctr">
                    <a:solidFill>
                      <a:srgbClr val="F9F6F0"/>
                    </a:solidFill>
                  </a:tcPr>
                </a:tc>
                <a:tc>
                  <a:txBody>
                    <a:bodyPr/>
                    <a:lstStyle/>
                    <a:p>
                      <a:pPr>
                        <a:defRPr sz="900">
                          <a:solidFill>
                            <a:srgbClr val="333333"/>
                          </a:solidFill>
                        </a:defRPr>
                      </a:pPr>
                      <a:r>
                        <a:t>40%</a:t>
                      </a:r>
                    </a:p>
                  </a:txBody>
                  <a:tcPr anchor="ctr">
                    <a:solidFill>
                      <a:srgbClr val="F9F6F0"/>
                    </a:solidFill>
                  </a:tcPr>
                </a:tc>
                <a:tc>
                  <a:txBody>
                    <a:bodyPr/>
                    <a:lstStyle/>
                    <a:p>
                      <a:pPr>
                        <a:defRPr sz="900">
                          <a:solidFill>
                            <a:srgbClr val="333333"/>
                          </a:solidFill>
                        </a:defRPr>
                      </a:pPr>
                      <a:r>
                        <a:t>70%</a:t>
                      </a:r>
                    </a:p>
                  </a:txBody>
                  <a:tcPr anchor="ctr">
                    <a:solidFill>
                      <a:srgbClr val="F9F6F0"/>
                    </a:solidFill>
                  </a:tcPr>
                </a:tc>
                <a:tc>
                  <a:txBody>
                    <a:bodyPr/>
                    <a:lstStyle/>
                    <a:p>
                      <a:pPr>
                        <a:defRPr sz="900">
                          <a:solidFill>
                            <a:srgbClr val="333333"/>
                          </a:solidFill>
                        </a:defRPr>
                      </a:pPr>
                      <a:r>
                        <a:t>80%</a:t>
                      </a:r>
                    </a:p>
                  </a:txBody>
                  <a:tcPr anchor="ctr">
                    <a:solidFill>
                      <a:srgbClr val="F9F6F0"/>
                    </a:solidFill>
                  </a:tcPr>
                </a:tc>
                <a:tc>
                  <a:txBody>
                    <a:bodyPr/>
                    <a:lstStyle/>
                    <a:p>
                      <a:pPr>
                        <a:defRPr sz="900">
                          <a:solidFill>
                            <a:srgbClr val="333333"/>
                          </a:solidFill>
                        </a:defRPr>
                      </a:pPr>
                      <a:r>
                        <a:t>-13% (低賃金化)</a:t>
                      </a:r>
                    </a:p>
                  </a:txBody>
                  <a:tcPr anchor="ctr">
                    <a:solidFill>
                      <a:srgbClr val="F9F6F0"/>
                    </a:solidFill>
                  </a:tcPr>
                </a:tc>
              </a:tr>
              <a:tr h="329184">
                <a:tc>
                  <a:txBody>
                    <a:bodyPr/>
                    <a:lstStyle/>
                    <a:p>
                      <a:pPr>
                        <a:defRPr sz="900">
                          <a:solidFill>
                            <a:srgbClr val="333333"/>
                          </a:solidFill>
                        </a:defRPr>
                      </a:pPr>
                      <a:r>
                        <a:t>運輸・物流</a:t>
                      </a:r>
                    </a:p>
                  </a:txBody>
                  <a:tcPr anchor="ctr">
                    <a:solidFill>
                      <a:srgbClr val="F0E8D5"/>
                    </a:solidFill>
                  </a:tcPr>
                </a:tc>
                <a:tc>
                  <a:txBody>
                    <a:bodyPr/>
                    <a:lstStyle/>
                    <a:p>
                      <a:pPr>
                        <a:defRPr sz="900">
                          <a:solidFill>
                            <a:srgbClr val="333333"/>
                          </a:solidFill>
                        </a:defRPr>
                      </a:pPr>
                      <a:r>
                        <a:t>15%</a:t>
                      </a:r>
                    </a:p>
                  </a:txBody>
                  <a:tcPr anchor="ctr">
                    <a:solidFill>
                      <a:srgbClr val="F0E8D5"/>
                    </a:solidFill>
                  </a:tcPr>
                </a:tc>
                <a:tc>
                  <a:txBody>
                    <a:bodyPr/>
                    <a:lstStyle/>
                    <a:p>
                      <a:pPr>
                        <a:defRPr sz="900">
                          <a:solidFill>
                            <a:srgbClr val="333333"/>
                          </a:solidFill>
                        </a:defRPr>
                      </a:pPr>
                      <a:r>
                        <a:t>30%</a:t>
                      </a:r>
                    </a:p>
                  </a:txBody>
                  <a:tcPr anchor="ctr">
                    <a:solidFill>
                      <a:srgbClr val="F0E8D5"/>
                    </a:solidFill>
                  </a:tcPr>
                </a:tc>
                <a:tc>
                  <a:txBody>
                    <a:bodyPr/>
                    <a:lstStyle/>
                    <a:p>
                      <a:pPr>
                        <a:defRPr sz="900">
                          <a:solidFill>
                            <a:srgbClr val="333333"/>
                          </a:solidFill>
                        </a:defRPr>
                      </a:pPr>
                      <a:r>
                        <a:t>60%</a:t>
                      </a:r>
                    </a:p>
                  </a:txBody>
                  <a:tcPr anchor="ctr">
                    <a:solidFill>
                      <a:srgbClr val="F0E8D5"/>
                    </a:solidFill>
                  </a:tcPr>
                </a:tc>
                <a:tc>
                  <a:txBody>
                    <a:bodyPr/>
                    <a:lstStyle/>
                    <a:p>
                      <a:pPr>
                        <a:defRPr sz="900">
                          <a:solidFill>
                            <a:srgbClr val="333333"/>
                          </a:solidFill>
                        </a:defRPr>
                      </a:pPr>
                      <a:r>
                        <a:t>85%</a:t>
                      </a:r>
                    </a:p>
                  </a:txBody>
                  <a:tcPr anchor="ctr">
                    <a:solidFill>
                      <a:srgbClr val="F0E8D5"/>
                    </a:solidFill>
                  </a:tcPr>
                </a:tc>
                <a:tc>
                  <a:txBody>
                    <a:bodyPr/>
                    <a:lstStyle/>
                    <a:p>
                      <a:pPr>
                        <a:defRPr sz="900">
                          <a:solidFill>
                            <a:srgbClr val="333333"/>
                          </a:solidFill>
                        </a:defRPr>
                      </a:pPr>
                      <a:r>
                        <a:t>-8% (自動運転)</a:t>
                      </a:r>
                    </a:p>
                  </a:txBody>
                  <a:tcPr anchor="ctr">
                    <a:solidFill>
                      <a:srgbClr val="F0E8D5"/>
                    </a:solidFill>
                  </a:tcPr>
                </a:tc>
              </a:tr>
              <a:tr h="329184">
                <a:tc>
                  <a:txBody>
                    <a:bodyPr/>
                    <a:lstStyle/>
                    <a:p>
                      <a:pPr>
                        <a:defRPr sz="900">
                          <a:solidFill>
                            <a:srgbClr val="333333"/>
                          </a:solidFill>
                        </a:defRPr>
                      </a:pPr>
                      <a:r>
                        <a:t>建設・不動産</a:t>
                      </a:r>
                    </a:p>
                  </a:txBody>
                  <a:tcPr anchor="ctr">
                    <a:solidFill>
                      <a:srgbClr val="F9F6F0"/>
                    </a:solidFill>
                  </a:tcPr>
                </a:tc>
                <a:tc>
                  <a:txBody>
                    <a:bodyPr/>
                    <a:lstStyle/>
                    <a:p>
                      <a:pPr>
                        <a:defRPr sz="900">
                          <a:solidFill>
                            <a:srgbClr val="333333"/>
                          </a:solidFill>
                        </a:defRPr>
                      </a:pPr>
                      <a:r>
                        <a:t>20%</a:t>
                      </a:r>
                    </a:p>
                  </a:txBody>
                  <a:tcPr anchor="ctr">
                    <a:solidFill>
                      <a:srgbClr val="F9F6F0"/>
                    </a:solidFill>
                  </a:tcPr>
                </a:tc>
                <a:tc>
                  <a:txBody>
                    <a:bodyPr/>
                    <a:lstStyle/>
                    <a:p>
                      <a:pPr>
                        <a:defRPr sz="900">
                          <a:solidFill>
                            <a:srgbClr val="333333"/>
                          </a:solidFill>
                        </a:defRPr>
                      </a:pPr>
                      <a:r>
                        <a:t>25%</a:t>
                      </a:r>
                    </a:p>
                  </a:txBody>
                  <a:tcPr anchor="ctr">
                    <a:solidFill>
                      <a:srgbClr val="F9F6F0"/>
                    </a:solidFill>
                  </a:tcPr>
                </a:tc>
                <a:tc>
                  <a:txBody>
                    <a:bodyPr/>
                    <a:lstStyle/>
                    <a:p>
                      <a:pPr>
                        <a:defRPr sz="900">
                          <a:solidFill>
                            <a:srgbClr val="333333"/>
                          </a:solidFill>
                        </a:defRPr>
                      </a:pPr>
                      <a:r>
                        <a:t>50%</a:t>
                      </a:r>
                    </a:p>
                  </a:txBody>
                  <a:tcPr anchor="ctr">
                    <a:solidFill>
                      <a:srgbClr val="F9F6F0"/>
                    </a:solidFill>
                  </a:tcPr>
                </a:tc>
                <a:tc>
                  <a:txBody>
                    <a:bodyPr/>
                    <a:lstStyle/>
                    <a:p>
                      <a:pPr>
                        <a:defRPr sz="900">
                          <a:solidFill>
                            <a:srgbClr val="333333"/>
                          </a:solidFill>
                        </a:defRPr>
                      </a:pPr>
                      <a:r>
                        <a:t>65%</a:t>
                      </a:r>
                    </a:p>
                  </a:txBody>
                  <a:tcPr anchor="ctr">
                    <a:solidFill>
                      <a:srgbClr val="F9F6F0"/>
                    </a:solidFill>
                  </a:tcPr>
                </a:tc>
                <a:tc>
                  <a:txBody>
                    <a:bodyPr/>
                    <a:lstStyle/>
                    <a:p>
                      <a:pPr>
                        <a:defRPr sz="900">
                          <a:solidFill>
                            <a:srgbClr val="333333"/>
                          </a:solidFill>
                        </a:defRPr>
                      </a:pPr>
                      <a:r>
                        <a:t>+14% (人手不足)</a:t>
                      </a:r>
                    </a:p>
                  </a:txBody>
                  <a:tcPr anchor="ctr">
                    <a:solidFill>
                      <a:srgbClr val="F9F6F0"/>
                    </a:solidFill>
                  </a:tcPr>
                </a:tc>
              </a:tr>
              <a:tr h="329184">
                <a:tc>
                  <a:txBody>
                    <a:bodyPr/>
                    <a:lstStyle/>
                    <a:p>
                      <a:pPr>
                        <a:defRPr sz="900">
                          <a:solidFill>
                            <a:srgbClr val="333333"/>
                          </a:solidFill>
                        </a:defRPr>
                      </a:pPr>
                      <a:r>
                        <a:t>医療・介護</a:t>
                      </a:r>
                    </a:p>
                  </a:txBody>
                  <a:tcPr anchor="ctr">
                    <a:solidFill>
                      <a:srgbClr val="F0E8D5"/>
                    </a:solidFill>
                  </a:tcPr>
                </a:tc>
                <a:tc>
                  <a:txBody>
                    <a:bodyPr/>
                    <a:lstStyle/>
                    <a:p>
                      <a:pPr>
                        <a:defRPr sz="900">
                          <a:solidFill>
                            <a:srgbClr val="333333"/>
                          </a:solidFill>
                        </a:defRPr>
                      </a:pPr>
                      <a:r>
                        <a:t>10%</a:t>
                      </a:r>
                    </a:p>
                  </a:txBody>
                  <a:tcPr anchor="ctr">
                    <a:solidFill>
                      <a:srgbClr val="F0E8D5"/>
                    </a:solidFill>
                  </a:tcPr>
                </a:tc>
                <a:tc>
                  <a:txBody>
                    <a:bodyPr/>
                    <a:lstStyle/>
                    <a:p>
                      <a:pPr>
                        <a:defRPr sz="900">
                          <a:solidFill>
                            <a:srgbClr val="333333"/>
                          </a:solidFill>
                        </a:defRPr>
                      </a:pPr>
                      <a:r>
                        <a:t>15%</a:t>
                      </a:r>
                    </a:p>
                  </a:txBody>
                  <a:tcPr anchor="ctr">
                    <a:solidFill>
                      <a:srgbClr val="F0E8D5"/>
                    </a:solidFill>
                  </a:tcPr>
                </a:tc>
                <a:tc>
                  <a:txBody>
                    <a:bodyPr/>
                    <a:lstStyle/>
                    <a:p>
                      <a:pPr>
                        <a:defRPr sz="900">
                          <a:solidFill>
                            <a:srgbClr val="333333"/>
                          </a:solidFill>
                        </a:defRPr>
                      </a:pPr>
                      <a:r>
                        <a:t>25%</a:t>
                      </a:r>
                    </a:p>
                  </a:txBody>
                  <a:tcPr anchor="ctr">
                    <a:solidFill>
                      <a:srgbClr val="F0E8D5"/>
                    </a:solidFill>
                  </a:tcPr>
                </a:tc>
                <a:tc>
                  <a:txBody>
                    <a:bodyPr/>
                    <a:lstStyle/>
                    <a:p>
                      <a:pPr>
                        <a:defRPr sz="900">
                          <a:solidFill>
                            <a:srgbClr val="333333"/>
                          </a:solidFill>
                        </a:defRPr>
                      </a:pPr>
                      <a:r>
                        <a:t>40%</a:t>
                      </a:r>
                    </a:p>
                  </a:txBody>
                  <a:tcPr anchor="ctr">
                    <a:solidFill>
                      <a:srgbClr val="F0E8D5"/>
                    </a:solidFill>
                  </a:tcPr>
                </a:tc>
                <a:tc>
                  <a:txBody>
                    <a:bodyPr/>
                    <a:lstStyle/>
                    <a:p>
                      <a:pPr>
                        <a:defRPr sz="900">
                          <a:solidFill>
                            <a:srgbClr val="333333"/>
                          </a:solidFill>
                        </a:defRPr>
                      </a:pPr>
                      <a:r>
                        <a:t>+19% (人間性価値)</a:t>
                      </a:r>
                    </a:p>
                  </a:txBody>
                  <a:tcPr anchor="ctr">
                    <a:solidFill>
                      <a:srgbClr val="F0E8D5"/>
                    </a:solidFill>
                  </a:tcPr>
                </a:tc>
              </a:tr>
              <a:tr h="329184">
                <a:tc>
                  <a:txBody>
                    <a:bodyPr/>
                    <a:lstStyle/>
                    <a:p>
                      <a:pPr>
                        <a:defRPr sz="900">
                          <a:solidFill>
                            <a:srgbClr val="333333"/>
                          </a:solidFill>
                        </a:defRPr>
                      </a:pPr>
                      <a:r>
                        <a:t>教育</a:t>
                      </a:r>
                    </a:p>
                  </a:txBody>
                  <a:tcPr anchor="ctr">
                    <a:solidFill>
                      <a:srgbClr val="F9F6F0"/>
                    </a:solidFill>
                  </a:tcPr>
                </a:tc>
                <a:tc>
                  <a:txBody>
                    <a:bodyPr/>
                    <a:lstStyle/>
                    <a:p>
                      <a:pPr>
                        <a:defRPr sz="900">
                          <a:solidFill>
                            <a:srgbClr val="333333"/>
                          </a:solidFill>
                        </a:defRPr>
                      </a:pPr>
                      <a:r>
                        <a:t>5%</a:t>
                      </a:r>
                    </a:p>
                  </a:txBody>
                  <a:tcPr anchor="ctr">
                    <a:solidFill>
                      <a:srgbClr val="F9F6F0"/>
                    </a:solidFill>
                  </a:tcPr>
                </a:tc>
                <a:tc>
                  <a:txBody>
                    <a:bodyPr/>
                    <a:lstStyle/>
                    <a:p>
                      <a:pPr>
                        <a:defRPr sz="900">
                          <a:solidFill>
                            <a:srgbClr val="333333"/>
                          </a:solidFill>
                        </a:defRPr>
                      </a:pPr>
                      <a:r>
                        <a:t>20%</a:t>
                      </a:r>
                    </a:p>
                  </a:txBody>
                  <a:tcPr anchor="ctr">
                    <a:solidFill>
                      <a:srgbClr val="F9F6F0"/>
                    </a:solidFill>
                  </a:tcPr>
                </a:tc>
                <a:tc>
                  <a:txBody>
                    <a:bodyPr/>
                    <a:lstStyle/>
                    <a:p>
                      <a:pPr>
                        <a:defRPr sz="900">
                          <a:solidFill>
                            <a:srgbClr val="333333"/>
                          </a:solidFill>
                        </a:defRPr>
                      </a:pPr>
                      <a:r>
                        <a:t>45%</a:t>
                      </a:r>
                    </a:p>
                  </a:txBody>
                  <a:tcPr anchor="ctr">
                    <a:solidFill>
                      <a:srgbClr val="F9F6F0"/>
                    </a:solidFill>
                  </a:tcPr>
                </a:tc>
                <a:tc>
                  <a:txBody>
                    <a:bodyPr/>
                    <a:lstStyle/>
                    <a:p>
                      <a:pPr>
                        <a:defRPr sz="900">
                          <a:solidFill>
                            <a:srgbClr val="333333"/>
                          </a:solidFill>
                        </a:defRPr>
                      </a:pPr>
                      <a:r>
                        <a:t>60%</a:t>
                      </a:r>
                    </a:p>
                  </a:txBody>
                  <a:tcPr anchor="ctr">
                    <a:solidFill>
                      <a:srgbClr val="F9F6F0"/>
                    </a:solidFill>
                  </a:tcPr>
                </a:tc>
                <a:tc>
                  <a:txBody>
                    <a:bodyPr/>
                    <a:lstStyle/>
                    <a:p>
                      <a:pPr>
                        <a:defRPr sz="900">
                          <a:solidFill>
                            <a:srgbClr val="333333"/>
                          </a:solidFill>
                        </a:defRPr>
                      </a:pPr>
                      <a:r>
                        <a:t>+18% (創造性)</a:t>
                      </a:r>
                    </a:p>
                  </a:txBody>
                  <a:tcPr anchor="ctr">
                    <a:solidFill>
                      <a:srgbClr val="F9F6F0"/>
                    </a:solidFill>
                  </a:tcPr>
                </a:tc>
              </a:tr>
              <a:tr h="329184">
                <a:tc>
                  <a:txBody>
                    <a:bodyPr/>
                    <a:lstStyle/>
                    <a:p>
                      <a:pPr>
                        <a:defRPr sz="900">
                          <a:solidFill>
                            <a:srgbClr val="333333"/>
                          </a:solidFill>
                        </a:defRPr>
                      </a:pPr>
                      <a:r>
                        <a:t>農業</a:t>
                      </a:r>
                    </a:p>
                  </a:txBody>
                  <a:tcPr anchor="ctr">
                    <a:solidFill>
                      <a:srgbClr val="F0E8D5"/>
                    </a:solidFill>
                  </a:tcPr>
                </a:tc>
                <a:tc>
                  <a:txBody>
                    <a:bodyPr/>
                    <a:lstStyle/>
                    <a:p>
                      <a:pPr>
                        <a:defRPr sz="900">
                          <a:solidFill>
                            <a:srgbClr val="333333"/>
                          </a:solidFill>
                        </a:defRPr>
                      </a:pPr>
                      <a:r>
                        <a:t>25%</a:t>
                      </a:r>
                    </a:p>
                  </a:txBody>
                  <a:tcPr anchor="ctr">
                    <a:solidFill>
                      <a:srgbClr val="F0E8D5"/>
                    </a:solidFill>
                  </a:tcPr>
                </a:tc>
                <a:tc>
                  <a:txBody>
                    <a:bodyPr/>
                    <a:lstStyle/>
                    <a:p>
                      <a:pPr>
                        <a:defRPr sz="900">
                          <a:solidFill>
                            <a:srgbClr val="333333"/>
                          </a:solidFill>
                        </a:defRPr>
                      </a:pPr>
                      <a:r>
                        <a:t>40%</a:t>
                      </a:r>
                    </a:p>
                  </a:txBody>
                  <a:tcPr anchor="ctr">
                    <a:solidFill>
                      <a:srgbClr val="F0E8D5"/>
                    </a:solidFill>
                  </a:tcPr>
                </a:tc>
                <a:tc>
                  <a:txBody>
                    <a:bodyPr/>
                    <a:lstStyle/>
                    <a:p>
                      <a:pPr>
                        <a:defRPr sz="900">
                          <a:solidFill>
                            <a:srgbClr val="333333"/>
                          </a:solidFill>
                        </a:defRPr>
                      </a:pPr>
                      <a:r>
                        <a:t>70%</a:t>
                      </a:r>
                    </a:p>
                  </a:txBody>
                  <a:tcPr anchor="ctr">
                    <a:solidFill>
                      <a:srgbClr val="F0E8D5"/>
                    </a:solidFill>
                  </a:tcPr>
                </a:tc>
                <a:tc>
                  <a:txBody>
                    <a:bodyPr/>
                    <a:lstStyle/>
                    <a:p>
                      <a:pPr>
                        <a:defRPr sz="900">
                          <a:solidFill>
                            <a:srgbClr val="333333"/>
                          </a:solidFill>
                        </a:defRPr>
                      </a:pPr>
                      <a:r>
                        <a:t>80%</a:t>
                      </a:r>
                    </a:p>
                  </a:txBody>
                  <a:tcPr anchor="ctr">
                    <a:solidFill>
                      <a:srgbClr val="F0E8D5"/>
                    </a:solidFill>
                  </a:tcPr>
                </a:tc>
                <a:tc>
                  <a:txBody>
                    <a:bodyPr/>
                    <a:lstStyle/>
                    <a:p>
                      <a:pPr>
                        <a:defRPr sz="900">
                          <a:solidFill>
                            <a:srgbClr val="333333"/>
                          </a:solidFill>
                        </a:defRPr>
                      </a:pPr>
                      <a:r>
                        <a:t>+36% (食料安保)</a:t>
                      </a:r>
                    </a:p>
                  </a:txBody>
                  <a:tcPr anchor="ctr">
                    <a:solidFill>
                      <a:srgbClr val="F0E8D5"/>
                    </a:solidFill>
                  </a:tcPr>
                </a:tc>
              </a:tr>
              <a:tr h="329184">
                <a:tc>
                  <a:txBody>
                    <a:bodyPr/>
                    <a:lstStyle/>
                    <a:p>
                      <a:pPr>
                        <a:defRPr sz="900">
                          <a:solidFill>
                            <a:srgbClr val="333333"/>
                          </a:solidFill>
                        </a:defRPr>
                      </a:pPr>
                      <a:r>
                        <a:t>行政・公務</a:t>
                      </a:r>
                    </a:p>
                  </a:txBody>
                  <a:tcPr anchor="ctr">
                    <a:solidFill>
                      <a:srgbClr val="F9F6F0"/>
                    </a:solidFill>
                  </a:tcPr>
                </a:tc>
                <a:tc>
                  <a:txBody>
                    <a:bodyPr/>
                    <a:lstStyle/>
                    <a:p>
                      <a:pPr>
                        <a:defRPr sz="900">
                          <a:solidFill>
                            <a:srgbClr val="333333"/>
                          </a:solidFill>
                        </a:defRPr>
                      </a:pPr>
                      <a:r>
                        <a:t>5%</a:t>
                      </a:r>
                    </a:p>
                  </a:txBody>
                  <a:tcPr anchor="ctr">
                    <a:solidFill>
                      <a:srgbClr val="F9F6F0"/>
                    </a:solidFill>
                  </a:tcPr>
                </a:tc>
                <a:tc>
                  <a:txBody>
                    <a:bodyPr/>
                    <a:lstStyle/>
                    <a:p>
                      <a:pPr>
                        <a:defRPr sz="900">
                          <a:solidFill>
                            <a:srgbClr val="333333"/>
                          </a:solidFill>
                        </a:defRPr>
                      </a:pPr>
                      <a:r>
                        <a:t>15%</a:t>
                      </a:r>
                    </a:p>
                  </a:txBody>
                  <a:tcPr anchor="ctr">
                    <a:solidFill>
                      <a:srgbClr val="F9F6F0"/>
                    </a:solidFill>
                  </a:tcPr>
                </a:tc>
                <a:tc>
                  <a:txBody>
                    <a:bodyPr/>
                    <a:lstStyle/>
                    <a:p>
                      <a:pPr>
                        <a:defRPr sz="900">
                          <a:solidFill>
                            <a:srgbClr val="333333"/>
                          </a:solidFill>
                        </a:defRPr>
                      </a:pPr>
                      <a:r>
                        <a:t>35%</a:t>
                      </a:r>
                    </a:p>
                  </a:txBody>
                  <a:tcPr anchor="ctr">
                    <a:solidFill>
                      <a:srgbClr val="F9F6F0"/>
                    </a:solidFill>
                  </a:tcPr>
                </a:tc>
                <a:tc>
                  <a:txBody>
                    <a:bodyPr/>
                    <a:lstStyle/>
                    <a:p>
                      <a:pPr>
                        <a:defRPr sz="900">
                          <a:solidFill>
                            <a:srgbClr val="333333"/>
                          </a:solidFill>
                        </a:defRPr>
                      </a:pPr>
                      <a:r>
                        <a:t>55%</a:t>
                      </a:r>
                    </a:p>
                  </a:txBody>
                  <a:tcPr anchor="ctr">
                    <a:solidFill>
                      <a:srgbClr val="F9F6F0"/>
                    </a:solidFill>
                  </a:tcPr>
                </a:tc>
                <a:tc>
                  <a:txBody>
                    <a:bodyPr/>
                    <a:lstStyle/>
                    <a:p>
                      <a:pPr>
                        <a:defRPr sz="900">
                          <a:solidFill>
                            <a:srgbClr val="333333"/>
                          </a:solidFill>
                        </a:defRPr>
                      </a:pPr>
                      <a:r>
                        <a:t>+24% (専門性)</a:t>
                      </a:r>
                    </a:p>
                  </a:txBody>
                  <a:tcPr anchor="ctr">
                    <a:solidFill>
                      <a:srgbClr val="F9F6F0"/>
                    </a:solidFill>
                  </a:tcPr>
                </a:tc>
              </a:tr>
            </a:tbl>
          </a:graphicData>
        </a:graphic>
      </p:graphicFrame>
      <p:sp>
        <p:nvSpPr>
          <p:cNvPr id="7" name="Rounded Rectangle 6"/>
          <p:cNvSpPr/>
          <p:nvPr/>
        </p:nvSpPr>
        <p:spPr>
          <a:xfrm>
            <a:off x="274320" y="4343400"/>
            <a:ext cx="8412480" cy="182880"/>
          </a:xfrm>
          <a:prstGeom prst="roundRect">
            <a:avLst/>
          </a:prstGeom>
          <a:solidFill>
            <a:srgbClr val="FF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325112"/>
            <a:ext cx="8229600" cy="182880"/>
          </a:xfrm>
          <a:prstGeom prst="rect">
            <a:avLst/>
          </a:prstGeom>
          <a:noFill/>
        </p:spPr>
        <p:txBody>
          <a:bodyPr wrap="square">
            <a:spAutoFit/>
          </a:bodyPr>
          <a:lstStyle/>
          <a:p>
            <a:pPr algn="ctr">
              <a:defRPr sz="900" b="1">
                <a:solidFill>
                  <a:srgbClr val="C0392B"/>
                </a:solidFill>
              </a:defRPr>
            </a:pPr>
            <a:r>
              <a:t>注意: 平均年収は上がっても中央値は下がる業界が多い → 「平均年収+100%の罠」に注意</a:t>
            </a:r>
          </a:p>
        </p:txBody>
      </p:sp>
      <p:sp>
        <p:nvSpPr>
          <p:cNvPr id="9" name="Rectangle 8"/>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11" name="TextBox 10"/>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「平均年収+100%」の罠 ― 格差拡大の現実</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平均は上がるのに、多くの人の実感は悪化する</a:t>
            </a:r>
          </a:p>
        </p:txBody>
      </p:sp>
      <p:sp>
        <p:nvSpPr>
          <p:cNvPr id="6" name="Rounded Rectangle 5"/>
          <p:cNvSpPr/>
          <p:nvPr/>
        </p:nvSpPr>
        <p:spPr>
          <a:xfrm>
            <a:off x="274320" y="1280160"/>
            <a:ext cx="4114800" cy="3108960"/>
          </a:xfrm>
          <a:prstGeom prst="roundRect">
            <a:avLst/>
          </a:prstGeom>
          <a:solidFill>
            <a:srgbClr val="FFF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71600"/>
            <a:ext cx="3657600" cy="274320"/>
          </a:xfrm>
          <a:prstGeom prst="rect">
            <a:avLst/>
          </a:prstGeom>
          <a:noFill/>
        </p:spPr>
        <p:txBody>
          <a:bodyPr wrap="square">
            <a:spAutoFit/>
          </a:bodyPr>
          <a:lstStyle/>
          <a:p>
            <a:pPr algn="l">
              <a:defRPr sz="1300" b="1">
                <a:solidFill>
                  <a:srgbClr val="E67E22"/>
                </a:solidFill>
              </a:defRPr>
            </a:pPr>
            <a:r>
              <a:t>製造業の年収分布（2050年予測）</a:t>
            </a:r>
          </a:p>
        </p:txBody>
      </p:sp>
      <p:sp>
        <p:nvSpPr>
          <p:cNvPr id="8" name="TextBox 7"/>
          <p:cNvSpPr txBox="1"/>
          <p:nvPr/>
        </p:nvSpPr>
        <p:spPr>
          <a:xfrm>
            <a:off x="457200" y="1737360"/>
            <a:ext cx="3657600" cy="274320"/>
          </a:xfrm>
          <a:prstGeom prst="rect">
            <a:avLst/>
          </a:prstGeom>
          <a:noFill/>
        </p:spPr>
        <p:txBody>
          <a:bodyPr wrap="square">
            <a:spAutoFit/>
          </a:bodyPr>
          <a:lstStyle/>
          <a:p>
            <a:pPr algn="l">
              <a:defRPr sz="1200" b="1">
                <a:solidFill>
                  <a:srgbClr val="333333"/>
                </a:solidFill>
              </a:defRPr>
            </a:pPr>
            <a:r>
              <a:t>平均 900万円 の内訳</a:t>
            </a:r>
          </a:p>
        </p:txBody>
      </p:sp>
      <p:sp>
        <p:nvSpPr>
          <p:cNvPr id="9" name="TextBox 8"/>
          <p:cNvSpPr txBox="1"/>
          <p:nvPr/>
        </p:nvSpPr>
        <p:spPr>
          <a:xfrm>
            <a:off x="457200" y="2103120"/>
            <a:ext cx="2286000" cy="228600"/>
          </a:xfrm>
          <a:prstGeom prst="rect">
            <a:avLst/>
          </a:prstGeom>
          <a:noFill/>
        </p:spPr>
        <p:txBody>
          <a:bodyPr wrap="square">
            <a:spAutoFit/>
          </a:bodyPr>
          <a:lstStyle/>
          <a:p>
            <a:pPr algn="l">
              <a:defRPr sz="900" b="0">
                <a:solidFill>
                  <a:srgbClr val="333333"/>
                </a:solidFill>
              </a:defRPr>
            </a:pPr>
            <a:r>
              <a:t>上位10%  AI設計者</a:t>
            </a:r>
          </a:p>
        </p:txBody>
      </p:sp>
      <p:sp>
        <p:nvSpPr>
          <p:cNvPr id="10" name="Rounded Rectangle 9"/>
          <p:cNvSpPr/>
          <p:nvPr/>
        </p:nvSpPr>
        <p:spPr>
          <a:xfrm>
            <a:off x="457200" y="2273120"/>
            <a:ext cx="3200400" cy="120000"/>
          </a:xfrm>
          <a:prstGeom prst="roundRect">
            <a:avLst/>
          </a:prstGeom>
          <a:solidFill>
            <a:srgbClr val="FF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87600" y="2253120"/>
            <a:ext cx="1371600" cy="182880"/>
          </a:xfrm>
          <a:prstGeom prst="rect">
            <a:avLst/>
          </a:prstGeom>
          <a:noFill/>
        </p:spPr>
        <p:txBody>
          <a:bodyPr wrap="square">
            <a:spAutoFit/>
          </a:bodyPr>
          <a:lstStyle/>
          <a:p>
            <a:pPr algn="l">
              <a:defRPr sz="900" b="1">
                <a:solidFill>
                  <a:srgbClr val="333333"/>
                </a:solidFill>
              </a:defRPr>
            </a:pPr>
            <a:r>
              <a:t>2,000-3,000万円</a:t>
            </a:r>
          </a:p>
        </p:txBody>
      </p:sp>
      <p:sp>
        <p:nvSpPr>
          <p:cNvPr id="12" name="TextBox 11"/>
          <p:cNvSpPr txBox="1"/>
          <p:nvPr/>
        </p:nvSpPr>
        <p:spPr>
          <a:xfrm>
            <a:off x="457200" y="2606040"/>
            <a:ext cx="2286000" cy="228600"/>
          </a:xfrm>
          <a:prstGeom prst="rect">
            <a:avLst/>
          </a:prstGeom>
          <a:noFill/>
        </p:spPr>
        <p:txBody>
          <a:bodyPr wrap="square">
            <a:spAutoFit/>
          </a:bodyPr>
          <a:lstStyle/>
          <a:p>
            <a:pPr algn="l">
              <a:defRPr sz="900" b="0">
                <a:solidFill>
                  <a:srgbClr val="333333"/>
                </a:solidFill>
              </a:defRPr>
            </a:pPr>
            <a:r>
              <a:t>上位30%  技術管理職</a:t>
            </a:r>
          </a:p>
        </p:txBody>
      </p:sp>
      <p:sp>
        <p:nvSpPr>
          <p:cNvPr id="13" name="Rounded Rectangle 12"/>
          <p:cNvSpPr/>
          <p:nvPr/>
        </p:nvSpPr>
        <p:spPr>
          <a:xfrm>
            <a:off x="457200" y="2776040"/>
            <a:ext cx="2011680" cy="120000"/>
          </a:xfrm>
          <a:prstGeom prst="roundRect">
            <a:avLst/>
          </a:prstGeom>
          <a:solidFill>
            <a:srgbClr val="FFD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8880" y="2756040"/>
            <a:ext cx="1371600" cy="182880"/>
          </a:xfrm>
          <a:prstGeom prst="rect">
            <a:avLst/>
          </a:prstGeom>
          <a:noFill/>
        </p:spPr>
        <p:txBody>
          <a:bodyPr wrap="square">
            <a:spAutoFit/>
          </a:bodyPr>
          <a:lstStyle/>
          <a:p>
            <a:pPr algn="l">
              <a:defRPr sz="900" b="1">
                <a:solidFill>
                  <a:srgbClr val="333333"/>
                </a:solidFill>
              </a:defRPr>
            </a:pPr>
            <a:r>
              <a:t>800-1,200万円</a:t>
            </a:r>
          </a:p>
        </p:txBody>
      </p:sp>
      <p:sp>
        <p:nvSpPr>
          <p:cNvPr id="15" name="TextBox 14"/>
          <p:cNvSpPr txBox="1"/>
          <p:nvPr/>
        </p:nvSpPr>
        <p:spPr>
          <a:xfrm>
            <a:off x="457200" y="3108960"/>
            <a:ext cx="2286000" cy="228600"/>
          </a:xfrm>
          <a:prstGeom prst="rect">
            <a:avLst/>
          </a:prstGeom>
          <a:noFill/>
        </p:spPr>
        <p:txBody>
          <a:bodyPr wrap="square">
            <a:spAutoFit/>
          </a:bodyPr>
          <a:lstStyle/>
          <a:p>
            <a:pPr algn="l">
              <a:defRPr sz="900" b="0">
                <a:solidFill>
                  <a:srgbClr val="333333"/>
                </a:solidFill>
              </a:defRPr>
            </a:pPr>
            <a:r>
              <a:t>中央値   一般作業者</a:t>
            </a:r>
          </a:p>
        </p:txBody>
      </p:sp>
      <p:sp>
        <p:nvSpPr>
          <p:cNvPr id="16" name="Rounded Rectangle 15"/>
          <p:cNvSpPr/>
          <p:nvPr/>
        </p:nvSpPr>
        <p:spPr>
          <a:xfrm>
            <a:off x="457200" y="3278960"/>
            <a:ext cx="914400" cy="120000"/>
          </a:xfrm>
          <a:prstGeom prst="round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01600" y="3258960"/>
            <a:ext cx="1371600" cy="182880"/>
          </a:xfrm>
          <a:prstGeom prst="rect">
            <a:avLst/>
          </a:prstGeom>
          <a:noFill/>
        </p:spPr>
        <p:txBody>
          <a:bodyPr wrap="square">
            <a:spAutoFit/>
          </a:bodyPr>
          <a:lstStyle/>
          <a:p>
            <a:pPr algn="l">
              <a:defRPr sz="900" b="1">
                <a:solidFill>
                  <a:srgbClr val="333333"/>
                </a:solidFill>
              </a:defRPr>
            </a:pPr>
            <a:r>
              <a:t>380万円</a:t>
            </a:r>
          </a:p>
        </p:txBody>
      </p:sp>
      <p:sp>
        <p:nvSpPr>
          <p:cNvPr id="18" name="TextBox 17"/>
          <p:cNvSpPr txBox="1"/>
          <p:nvPr/>
        </p:nvSpPr>
        <p:spPr>
          <a:xfrm>
            <a:off x="457200" y="3611880"/>
            <a:ext cx="2286000" cy="228600"/>
          </a:xfrm>
          <a:prstGeom prst="rect">
            <a:avLst/>
          </a:prstGeom>
          <a:noFill/>
        </p:spPr>
        <p:txBody>
          <a:bodyPr wrap="square">
            <a:spAutoFit/>
          </a:bodyPr>
          <a:lstStyle/>
          <a:p>
            <a:pPr algn="l">
              <a:defRPr sz="900" b="0">
                <a:solidFill>
                  <a:srgbClr val="333333"/>
                </a:solidFill>
              </a:defRPr>
            </a:pPr>
            <a:r>
              <a:t>下位30%  非正規</a:t>
            </a:r>
          </a:p>
        </p:txBody>
      </p:sp>
      <p:sp>
        <p:nvSpPr>
          <p:cNvPr id="19" name="Rounded Rectangle 18"/>
          <p:cNvSpPr/>
          <p:nvPr/>
        </p:nvSpPr>
        <p:spPr>
          <a:xfrm>
            <a:off x="457200" y="3781880"/>
            <a:ext cx="640080" cy="120000"/>
          </a:xfrm>
          <a:prstGeom prst="roundRect">
            <a:avLst/>
          </a:prstGeom>
          <a:solidFill>
            <a:srgbClr val="FF8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27280" y="3761880"/>
            <a:ext cx="1371600" cy="182880"/>
          </a:xfrm>
          <a:prstGeom prst="rect">
            <a:avLst/>
          </a:prstGeom>
          <a:noFill/>
        </p:spPr>
        <p:txBody>
          <a:bodyPr wrap="square">
            <a:spAutoFit/>
          </a:bodyPr>
          <a:lstStyle/>
          <a:p>
            <a:pPr algn="l">
              <a:defRPr sz="900" b="1">
                <a:solidFill>
                  <a:srgbClr val="333333"/>
                </a:solidFill>
              </a:defRPr>
            </a:pPr>
            <a:r>
              <a:t>250万円</a:t>
            </a:r>
          </a:p>
        </p:txBody>
      </p:sp>
      <p:sp>
        <p:nvSpPr>
          <p:cNvPr id="21" name="Rounded Rectangle 20"/>
          <p:cNvSpPr/>
          <p:nvPr/>
        </p:nvSpPr>
        <p:spPr>
          <a:xfrm>
            <a:off x="4754880" y="1280160"/>
            <a:ext cx="3931920" cy="3108960"/>
          </a:xfrm>
          <a:prstGeom prst="round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0" y="1371600"/>
            <a:ext cx="3657600" cy="274320"/>
          </a:xfrm>
          <a:prstGeom prst="rect">
            <a:avLst/>
          </a:prstGeom>
          <a:noFill/>
        </p:spPr>
        <p:txBody>
          <a:bodyPr wrap="square">
            <a:spAutoFit/>
          </a:bodyPr>
          <a:lstStyle/>
          <a:p>
            <a:pPr algn="l">
              <a:defRPr sz="1300" b="1">
                <a:solidFill>
                  <a:srgbClr val="2C7AB0"/>
                </a:solidFill>
              </a:defRPr>
            </a:pPr>
            <a:r>
              <a:t>金融業の年収分布（2050年予測）</a:t>
            </a:r>
          </a:p>
        </p:txBody>
      </p:sp>
      <p:sp>
        <p:nvSpPr>
          <p:cNvPr id="23" name="TextBox 22"/>
          <p:cNvSpPr txBox="1"/>
          <p:nvPr/>
        </p:nvSpPr>
        <p:spPr>
          <a:xfrm>
            <a:off x="4937760" y="1737360"/>
            <a:ext cx="3657600" cy="274320"/>
          </a:xfrm>
          <a:prstGeom prst="rect">
            <a:avLst/>
          </a:prstGeom>
          <a:noFill/>
        </p:spPr>
        <p:txBody>
          <a:bodyPr wrap="square">
            <a:spAutoFit/>
          </a:bodyPr>
          <a:lstStyle/>
          <a:p>
            <a:pPr algn="l">
              <a:defRPr sz="1200" b="1">
                <a:solidFill>
                  <a:srgbClr val="333333"/>
                </a:solidFill>
              </a:defRPr>
            </a:pPr>
            <a:r>
              <a:t>平均 1,100万円 の内訳</a:t>
            </a:r>
          </a:p>
        </p:txBody>
      </p:sp>
      <p:sp>
        <p:nvSpPr>
          <p:cNvPr id="24" name="TextBox 23"/>
          <p:cNvSpPr txBox="1"/>
          <p:nvPr/>
        </p:nvSpPr>
        <p:spPr>
          <a:xfrm>
            <a:off x="4937760" y="2103120"/>
            <a:ext cx="2286000" cy="228600"/>
          </a:xfrm>
          <a:prstGeom prst="rect">
            <a:avLst/>
          </a:prstGeom>
          <a:noFill/>
        </p:spPr>
        <p:txBody>
          <a:bodyPr wrap="square">
            <a:spAutoFit/>
          </a:bodyPr>
          <a:lstStyle/>
          <a:p>
            <a:pPr algn="l">
              <a:defRPr sz="900" b="0">
                <a:solidFill>
                  <a:srgbClr val="333333"/>
                </a:solidFill>
              </a:defRPr>
            </a:pPr>
            <a:r>
              <a:t>上位5%   AIアナリスト</a:t>
            </a:r>
          </a:p>
        </p:txBody>
      </p:sp>
      <p:sp>
        <p:nvSpPr>
          <p:cNvPr id="25" name="Rounded Rectangle 24"/>
          <p:cNvSpPr/>
          <p:nvPr/>
        </p:nvSpPr>
        <p:spPr>
          <a:xfrm>
            <a:off x="4937760" y="2273120"/>
            <a:ext cx="3017520" cy="120000"/>
          </a:xfrm>
          <a:prstGeom prst="roundRect">
            <a:avLst/>
          </a:prstGeom>
          <a:solidFill>
            <a:srgbClr val="80B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85280" y="2253120"/>
            <a:ext cx="1371600" cy="182880"/>
          </a:xfrm>
          <a:prstGeom prst="rect">
            <a:avLst/>
          </a:prstGeom>
          <a:noFill/>
        </p:spPr>
        <p:txBody>
          <a:bodyPr wrap="square">
            <a:spAutoFit/>
          </a:bodyPr>
          <a:lstStyle/>
          <a:p>
            <a:pPr algn="l">
              <a:defRPr sz="900" b="1">
                <a:solidFill>
                  <a:srgbClr val="333333"/>
                </a:solidFill>
              </a:defRPr>
            </a:pPr>
            <a:r>
              <a:t>3,000万円以上</a:t>
            </a:r>
          </a:p>
        </p:txBody>
      </p:sp>
      <p:sp>
        <p:nvSpPr>
          <p:cNvPr id="27" name="TextBox 26"/>
          <p:cNvSpPr txBox="1"/>
          <p:nvPr/>
        </p:nvSpPr>
        <p:spPr>
          <a:xfrm>
            <a:off x="4937760" y="2606040"/>
            <a:ext cx="2286000" cy="228600"/>
          </a:xfrm>
          <a:prstGeom prst="rect">
            <a:avLst/>
          </a:prstGeom>
          <a:noFill/>
        </p:spPr>
        <p:txBody>
          <a:bodyPr wrap="square">
            <a:spAutoFit/>
          </a:bodyPr>
          <a:lstStyle/>
          <a:p>
            <a:pPr algn="l">
              <a:defRPr sz="900" b="0">
                <a:solidFill>
                  <a:srgbClr val="333333"/>
                </a:solidFill>
              </a:defRPr>
            </a:pPr>
            <a:r>
              <a:t>上位30%  営業・企画</a:t>
            </a:r>
          </a:p>
        </p:txBody>
      </p:sp>
      <p:sp>
        <p:nvSpPr>
          <p:cNvPr id="28" name="Rounded Rectangle 27"/>
          <p:cNvSpPr/>
          <p:nvPr/>
        </p:nvSpPr>
        <p:spPr>
          <a:xfrm>
            <a:off x="4937760" y="2776040"/>
            <a:ext cx="1645920" cy="120000"/>
          </a:xfrm>
          <a:prstGeom prst="roundRect">
            <a:avLst/>
          </a:prstGeom>
          <a:solidFill>
            <a:srgbClr val="A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13680" y="2756040"/>
            <a:ext cx="1371600" cy="182880"/>
          </a:xfrm>
          <a:prstGeom prst="rect">
            <a:avLst/>
          </a:prstGeom>
          <a:noFill/>
        </p:spPr>
        <p:txBody>
          <a:bodyPr wrap="square">
            <a:spAutoFit/>
          </a:bodyPr>
          <a:lstStyle/>
          <a:p>
            <a:pPr algn="l">
              <a:defRPr sz="900" b="1">
                <a:solidFill>
                  <a:srgbClr val="333333"/>
                </a:solidFill>
              </a:defRPr>
            </a:pPr>
            <a:r>
              <a:t>600-1,000万円</a:t>
            </a:r>
          </a:p>
        </p:txBody>
      </p:sp>
      <p:sp>
        <p:nvSpPr>
          <p:cNvPr id="30" name="TextBox 29"/>
          <p:cNvSpPr txBox="1"/>
          <p:nvPr/>
        </p:nvSpPr>
        <p:spPr>
          <a:xfrm>
            <a:off x="4937760" y="3108960"/>
            <a:ext cx="2286000" cy="228600"/>
          </a:xfrm>
          <a:prstGeom prst="rect">
            <a:avLst/>
          </a:prstGeom>
          <a:noFill/>
        </p:spPr>
        <p:txBody>
          <a:bodyPr wrap="square">
            <a:spAutoFit/>
          </a:bodyPr>
          <a:lstStyle/>
          <a:p>
            <a:pPr algn="l">
              <a:defRPr sz="900" b="0">
                <a:solidFill>
                  <a:srgbClr val="333333"/>
                </a:solidFill>
              </a:defRPr>
            </a:pPr>
            <a:r>
              <a:t>中央値   一般事務</a:t>
            </a:r>
          </a:p>
        </p:txBody>
      </p:sp>
      <p:sp>
        <p:nvSpPr>
          <p:cNvPr id="31" name="Rounded Rectangle 30"/>
          <p:cNvSpPr/>
          <p:nvPr/>
        </p:nvSpPr>
        <p:spPr>
          <a:xfrm>
            <a:off x="4937760" y="3278960"/>
            <a:ext cx="822960" cy="120000"/>
          </a:xfrm>
          <a:prstGeom prst="round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90720" y="3258960"/>
            <a:ext cx="1371600" cy="182880"/>
          </a:xfrm>
          <a:prstGeom prst="rect">
            <a:avLst/>
          </a:prstGeom>
          <a:noFill/>
        </p:spPr>
        <p:txBody>
          <a:bodyPr wrap="square">
            <a:spAutoFit/>
          </a:bodyPr>
          <a:lstStyle/>
          <a:p>
            <a:pPr algn="l">
              <a:defRPr sz="900" b="1">
                <a:solidFill>
                  <a:srgbClr val="333333"/>
                </a:solidFill>
              </a:defRPr>
            </a:pPr>
            <a:r>
              <a:t>380万円</a:t>
            </a:r>
          </a:p>
        </p:txBody>
      </p:sp>
      <p:sp>
        <p:nvSpPr>
          <p:cNvPr id="33" name="TextBox 32"/>
          <p:cNvSpPr txBox="1"/>
          <p:nvPr/>
        </p:nvSpPr>
        <p:spPr>
          <a:xfrm>
            <a:off x="4937760" y="3611880"/>
            <a:ext cx="2286000" cy="228600"/>
          </a:xfrm>
          <a:prstGeom prst="rect">
            <a:avLst/>
          </a:prstGeom>
          <a:noFill/>
        </p:spPr>
        <p:txBody>
          <a:bodyPr wrap="square">
            <a:spAutoFit/>
          </a:bodyPr>
          <a:lstStyle/>
          <a:p>
            <a:pPr algn="l">
              <a:defRPr sz="900" b="0">
                <a:solidFill>
                  <a:srgbClr val="333333"/>
                </a:solidFill>
              </a:defRPr>
            </a:pPr>
            <a:r>
              <a:t>下位30%  AI代替職</a:t>
            </a:r>
          </a:p>
        </p:txBody>
      </p:sp>
      <p:sp>
        <p:nvSpPr>
          <p:cNvPr id="34" name="Rounded Rectangle 33"/>
          <p:cNvSpPr/>
          <p:nvPr/>
        </p:nvSpPr>
        <p:spPr>
          <a:xfrm>
            <a:off x="4937760" y="3781880"/>
            <a:ext cx="457200" cy="120000"/>
          </a:xfrm>
          <a:prstGeom prst="roundRect">
            <a:avLst/>
          </a:prstGeom>
          <a:solidFill>
            <a:srgbClr val="FF8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24960" y="3761880"/>
            <a:ext cx="1371600" cy="182880"/>
          </a:xfrm>
          <a:prstGeom prst="rect">
            <a:avLst/>
          </a:prstGeom>
          <a:noFill/>
        </p:spPr>
        <p:txBody>
          <a:bodyPr wrap="square">
            <a:spAutoFit/>
          </a:bodyPr>
          <a:lstStyle/>
          <a:p>
            <a:pPr algn="l">
              <a:defRPr sz="900" b="1">
                <a:solidFill>
                  <a:srgbClr val="333333"/>
                </a:solidFill>
              </a:defRPr>
            </a:pPr>
            <a:r>
              <a:t>200万円</a:t>
            </a:r>
          </a:p>
        </p:txBody>
      </p:sp>
      <p:sp>
        <p:nvSpPr>
          <p:cNvPr id="36" name="Rounded Rectangle 35"/>
          <p:cNvSpPr/>
          <p:nvPr/>
        </p:nvSpPr>
        <p:spPr>
          <a:xfrm>
            <a:off x="274320" y="4343400"/>
            <a:ext cx="8412480" cy="182880"/>
          </a:xfrm>
          <a:prstGeom prst="round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325112"/>
            <a:ext cx="8229600" cy="182880"/>
          </a:xfrm>
          <a:prstGeom prst="rect">
            <a:avLst/>
          </a:prstGeom>
          <a:noFill/>
        </p:spPr>
        <p:txBody>
          <a:bodyPr wrap="square">
            <a:spAutoFit/>
          </a:bodyPr>
          <a:lstStyle/>
          <a:p>
            <a:pPr algn="ctr">
              <a:defRPr sz="900" b="1">
                <a:solidFill>
                  <a:srgbClr val="C0392B"/>
                </a:solidFill>
              </a:defRPr>
            </a:pPr>
            <a:r>
              <a:t>同じ業界内でも最大12倍の格差 ― クライアントの「どの層」にいるかで提案が変わる</a:t>
            </a:r>
          </a:p>
        </p:txBody>
      </p:sp>
      <p:sp>
        <p:nvSpPr>
          <p:cNvPr id="38" name="Rectangle 37"/>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40" name="TextBox 39"/>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建設業 AI代替の詳細 ― 2050年の姿</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コンサルタントとして特に知っておくべき業界</a:t>
            </a:r>
          </a:p>
        </p:txBody>
      </p:sp>
      <p:sp>
        <p:nvSpPr>
          <p:cNvPr id="6" name="Rounded Rectangle 5"/>
          <p:cNvSpPr/>
          <p:nvPr/>
        </p:nvSpPr>
        <p:spPr>
          <a:xfrm>
            <a:off x="182880" y="1280160"/>
            <a:ext cx="2103120" cy="23774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82880" y="1280160"/>
            <a:ext cx="2103120" cy="411480"/>
          </a:xfrm>
          <a:prstGeom prst="round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1298448"/>
            <a:ext cx="2103120" cy="365760"/>
          </a:xfrm>
          <a:prstGeom prst="rect">
            <a:avLst/>
          </a:prstGeom>
          <a:noFill/>
        </p:spPr>
        <p:txBody>
          <a:bodyPr wrap="square">
            <a:spAutoFit/>
          </a:bodyPr>
          <a:lstStyle/>
          <a:p>
            <a:pPr algn="ctr">
              <a:defRPr sz="1300" b="1">
                <a:solidFill>
                  <a:srgbClr val="FFFFFF"/>
                </a:solidFill>
              </a:defRPr>
            </a:pPr>
            <a:r>
              <a:t>設計業務</a:t>
            </a:r>
          </a:p>
        </p:txBody>
      </p:sp>
      <p:sp>
        <p:nvSpPr>
          <p:cNvPr id="9" name="TextBox 8"/>
          <p:cNvSpPr txBox="1"/>
          <p:nvPr/>
        </p:nvSpPr>
        <p:spPr>
          <a:xfrm>
            <a:off x="262880" y="1828800"/>
            <a:ext cx="1188720" cy="228600"/>
          </a:xfrm>
          <a:prstGeom prst="rect">
            <a:avLst/>
          </a:prstGeom>
          <a:noFill/>
        </p:spPr>
        <p:txBody>
          <a:bodyPr wrap="square">
            <a:spAutoFit/>
          </a:bodyPr>
          <a:lstStyle/>
          <a:p>
            <a:pPr algn="l">
              <a:defRPr sz="1100" b="0">
                <a:solidFill>
                  <a:srgbClr val="333333"/>
                </a:solidFill>
              </a:defRPr>
            </a:pPr>
            <a:r>
              <a:t>CAD作成</a:t>
            </a:r>
          </a:p>
        </p:txBody>
      </p:sp>
      <p:sp>
        <p:nvSpPr>
          <p:cNvPr id="10" name="Rounded Rectangle 9"/>
          <p:cNvSpPr/>
          <p:nvPr/>
        </p:nvSpPr>
        <p:spPr>
          <a:xfrm>
            <a:off x="262880" y="2028800"/>
            <a:ext cx="1440000" cy="100000"/>
          </a:xfrm>
          <a:prstGeom prst="round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2880" y="1998800"/>
            <a:ext cx="457200" cy="182880"/>
          </a:xfrm>
          <a:prstGeom prst="rect">
            <a:avLst/>
          </a:prstGeom>
          <a:noFill/>
        </p:spPr>
        <p:txBody>
          <a:bodyPr wrap="square">
            <a:spAutoFit/>
          </a:bodyPr>
          <a:lstStyle/>
          <a:p>
            <a:pPr algn="l">
              <a:defRPr sz="900" b="1">
                <a:solidFill>
                  <a:srgbClr val="2C7AB0"/>
                </a:solidFill>
              </a:defRPr>
            </a:pPr>
            <a:r>
              <a:t>80%</a:t>
            </a:r>
          </a:p>
        </p:txBody>
      </p:sp>
      <p:sp>
        <p:nvSpPr>
          <p:cNvPr id="12" name="TextBox 11"/>
          <p:cNvSpPr txBox="1"/>
          <p:nvPr/>
        </p:nvSpPr>
        <p:spPr>
          <a:xfrm>
            <a:off x="262880" y="2377440"/>
            <a:ext cx="1188720" cy="228600"/>
          </a:xfrm>
          <a:prstGeom prst="rect">
            <a:avLst/>
          </a:prstGeom>
          <a:noFill/>
        </p:spPr>
        <p:txBody>
          <a:bodyPr wrap="square">
            <a:spAutoFit/>
          </a:bodyPr>
          <a:lstStyle/>
          <a:p>
            <a:pPr algn="l">
              <a:defRPr sz="1100" b="0">
                <a:solidFill>
                  <a:srgbClr val="333333"/>
                </a:solidFill>
              </a:defRPr>
            </a:pPr>
            <a:r>
              <a:t>構造計算</a:t>
            </a:r>
          </a:p>
        </p:txBody>
      </p:sp>
      <p:sp>
        <p:nvSpPr>
          <p:cNvPr id="13" name="Rounded Rectangle 12"/>
          <p:cNvSpPr/>
          <p:nvPr/>
        </p:nvSpPr>
        <p:spPr>
          <a:xfrm>
            <a:off x="262880" y="2577440"/>
            <a:ext cx="1620000" cy="100000"/>
          </a:xfrm>
          <a:prstGeom prst="round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02880" y="2547440"/>
            <a:ext cx="457200" cy="182880"/>
          </a:xfrm>
          <a:prstGeom prst="rect">
            <a:avLst/>
          </a:prstGeom>
          <a:noFill/>
        </p:spPr>
        <p:txBody>
          <a:bodyPr wrap="square">
            <a:spAutoFit/>
          </a:bodyPr>
          <a:lstStyle/>
          <a:p>
            <a:pPr algn="l">
              <a:defRPr sz="900" b="1">
                <a:solidFill>
                  <a:srgbClr val="2C7AB0"/>
                </a:solidFill>
              </a:defRPr>
            </a:pPr>
            <a:r>
              <a:t>90%</a:t>
            </a:r>
          </a:p>
        </p:txBody>
      </p:sp>
      <p:sp>
        <p:nvSpPr>
          <p:cNvPr id="15" name="TextBox 14"/>
          <p:cNvSpPr txBox="1"/>
          <p:nvPr/>
        </p:nvSpPr>
        <p:spPr>
          <a:xfrm>
            <a:off x="262880" y="2926080"/>
            <a:ext cx="1188720" cy="228600"/>
          </a:xfrm>
          <a:prstGeom prst="rect">
            <a:avLst/>
          </a:prstGeom>
          <a:noFill/>
        </p:spPr>
        <p:txBody>
          <a:bodyPr wrap="square">
            <a:spAutoFit/>
          </a:bodyPr>
          <a:lstStyle/>
          <a:p>
            <a:pPr algn="l">
              <a:defRPr sz="1100" b="0">
                <a:solidFill>
                  <a:srgbClr val="333333"/>
                </a:solidFill>
              </a:defRPr>
            </a:pPr>
            <a:r>
              <a:t>法規チェック</a:t>
            </a:r>
          </a:p>
        </p:txBody>
      </p:sp>
      <p:sp>
        <p:nvSpPr>
          <p:cNvPr id="16" name="Rounded Rectangle 15"/>
          <p:cNvSpPr/>
          <p:nvPr/>
        </p:nvSpPr>
        <p:spPr>
          <a:xfrm>
            <a:off x="262880" y="3126080"/>
            <a:ext cx="1710000" cy="100000"/>
          </a:xfrm>
          <a:prstGeom prst="round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92880" y="3096080"/>
            <a:ext cx="457200" cy="182880"/>
          </a:xfrm>
          <a:prstGeom prst="rect">
            <a:avLst/>
          </a:prstGeom>
          <a:noFill/>
        </p:spPr>
        <p:txBody>
          <a:bodyPr wrap="square">
            <a:spAutoFit/>
          </a:bodyPr>
          <a:lstStyle/>
          <a:p>
            <a:pPr algn="l">
              <a:defRPr sz="900" b="1">
                <a:solidFill>
                  <a:srgbClr val="2C7AB0"/>
                </a:solidFill>
              </a:defRPr>
            </a:pPr>
            <a:r>
              <a:t>95%</a:t>
            </a:r>
          </a:p>
        </p:txBody>
      </p:sp>
      <p:sp>
        <p:nvSpPr>
          <p:cNvPr id="18" name="Rounded Rectangle 17"/>
          <p:cNvSpPr/>
          <p:nvPr/>
        </p:nvSpPr>
        <p:spPr>
          <a:xfrm>
            <a:off x="2423160" y="1280160"/>
            <a:ext cx="2103120" cy="23774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423160" y="1280160"/>
            <a:ext cx="2103120" cy="41148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1298448"/>
            <a:ext cx="2103120" cy="365760"/>
          </a:xfrm>
          <a:prstGeom prst="rect">
            <a:avLst/>
          </a:prstGeom>
          <a:noFill/>
        </p:spPr>
        <p:txBody>
          <a:bodyPr wrap="square">
            <a:spAutoFit/>
          </a:bodyPr>
          <a:lstStyle/>
          <a:p>
            <a:pPr algn="ctr">
              <a:defRPr sz="1300" b="1">
                <a:solidFill>
                  <a:srgbClr val="FFFFFF"/>
                </a:solidFill>
              </a:defRPr>
            </a:pPr>
            <a:r>
              <a:t>施工業務</a:t>
            </a:r>
          </a:p>
        </p:txBody>
      </p:sp>
      <p:sp>
        <p:nvSpPr>
          <p:cNvPr id="21" name="TextBox 20"/>
          <p:cNvSpPr txBox="1"/>
          <p:nvPr/>
        </p:nvSpPr>
        <p:spPr>
          <a:xfrm>
            <a:off x="2503160" y="1828800"/>
            <a:ext cx="1188720" cy="228600"/>
          </a:xfrm>
          <a:prstGeom prst="rect">
            <a:avLst/>
          </a:prstGeom>
          <a:noFill/>
        </p:spPr>
        <p:txBody>
          <a:bodyPr wrap="square">
            <a:spAutoFit/>
          </a:bodyPr>
          <a:lstStyle/>
          <a:p>
            <a:pPr algn="l">
              <a:defRPr sz="1100" b="0">
                <a:solidFill>
                  <a:srgbClr val="333333"/>
                </a:solidFill>
              </a:defRPr>
            </a:pPr>
            <a:r>
              <a:t>測量</a:t>
            </a:r>
          </a:p>
        </p:txBody>
      </p:sp>
      <p:sp>
        <p:nvSpPr>
          <p:cNvPr id="22" name="Rounded Rectangle 21"/>
          <p:cNvSpPr/>
          <p:nvPr/>
        </p:nvSpPr>
        <p:spPr>
          <a:xfrm>
            <a:off x="2503160" y="2028800"/>
            <a:ext cx="1260000" cy="10000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83160" y="1998800"/>
            <a:ext cx="457200" cy="182880"/>
          </a:xfrm>
          <a:prstGeom prst="rect">
            <a:avLst/>
          </a:prstGeom>
          <a:noFill/>
        </p:spPr>
        <p:txBody>
          <a:bodyPr wrap="square">
            <a:spAutoFit/>
          </a:bodyPr>
          <a:lstStyle/>
          <a:p>
            <a:pPr algn="l">
              <a:defRPr sz="900" b="1">
                <a:solidFill>
                  <a:srgbClr val="E67E22"/>
                </a:solidFill>
              </a:defRPr>
            </a:pPr>
            <a:r>
              <a:t>70%</a:t>
            </a:r>
          </a:p>
        </p:txBody>
      </p:sp>
      <p:sp>
        <p:nvSpPr>
          <p:cNvPr id="24" name="TextBox 23"/>
          <p:cNvSpPr txBox="1"/>
          <p:nvPr/>
        </p:nvSpPr>
        <p:spPr>
          <a:xfrm>
            <a:off x="2503160" y="2377440"/>
            <a:ext cx="1188720" cy="228600"/>
          </a:xfrm>
          <a:prstGeom prst="rect">
            <a:avLst/>
          </a:prstGeom>
          <a:noFill/>
        </p:spPr>
        <p:txBody>
          <a:bodyPr wrap="square">
            <a:spAutoFit/>
          </a:bodyPr>
          <a:lstStyle/>
          <a:p>
            <a:pPr algn="l">
              <a:defRPr sz="1100" b="0">
                <a:solidFill>
                  <a:srgbClr val="333333"/>
                </a:solidFill>
              </a:defRPr>
            </a:pPr>
            <a:r>
              <a:t>重機操作</a:t>
            </a:r>
          </a:p>
        </p:txBody>
      </p:sp>
      <p:sp>
        <p:nvSpPr>
          <p:cNvPr id="25" name="Rounded Rectangle 24"/>
          <p:cNvSpPr/>
          <p:nvPr/>
        </p:nvSpPr>
        <p:spPr>
          <a:xfrm>
            <a:off x="2503160" y="2577440"/>
            <a:ext cx="1080000" cy="10000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3160" y="2547440"/>
            <a:ext cx="457200" cy="182880"/>
          </a:xfrm>
          <a:prstGeom prst="rect">
            <a:avLst/>
          </a:prstGeom>
          <a:noFill/>
        </p:spPr>
        <p:txBody>
          <a:bodyPr wrap="square">
            <a:spAutoFit/>
          </a:bodyPr>
          <a:lstStyle/>
          <a:p>
            <a:pPr algn="l">
              <a:defRPr sz="900" b="1">
                <a:solidFill>
                  <a:srgbClr val="E67E22"/>
                </a:solidFill>
              </a:defRPr>
            </a:pPr>
            <a:r>
              <a:t>60%</a:t>
            </a:r>
          </a:p>
        </p:txBody>
      </p:sp>
      <p:sp>
        <p:nvSpPr>
          <p:cNvPr id="27" name="TextBox 26"/>
          <p:cNvSpPr txBox="1"/>
          <p:nvPr/>
        </p:nvSpPr>
        <p:spPr>
          <a:xfrm>
            <a:off x="2503160" y="2926080"/>
            <a:ext cx="1188720" cy="228600"/>
          </a:xfrm>
          <a:prstGeom prst="rect">
            <a:avLst/>
          </a:prstGeom>
          <a:noFill/>
        </p:spPr>
        <p:txBody>
          <a:bodyPr wrap="square">
            <a:spAutoFit/>
          </a:bodyPr>
          <a:lstStyle/>
          <a:p>
            <a:pPr algn="l">
              <a:defRPr sz="1100" b="0">
                <a:solidFill>
                  <a:srgbClr val="333333"/>
                </a:solidFill>
              </a:defRPr>
            </a:pPr>
            <a:r>
              <a:t>品質検査</a:t>
            </a:r>
          </a:p>
        </p:txBody>
      </p:sp>
      <p:sp>
        <p:nvSpPr>
          <p:cNvPr id="28" name="Rounded Rectangle 27"/>
          <p:cNvSpPr/>
          <p:nvPr/>
        </p:nvSpPr>
        <p:spPr>
          <a:xfrm>
            <a:off x="2503160" y="3126080"/>
            <a:ext cx="1440000" cy="10000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63160" y="3096080"/>
            <a:ext cx="457200" cy="182880"/>
          </a:xfrm>
          <a:prstGeom prst="rect">
            <a:avLst/>
          </a:prstGeom>
          <a:noFill/>
        </p:spPr>
        <p:txBody>
          <a:bodyPr wrap="square">
            <a:spAutoFit/>
          </a:bodyPr>
          <a:lstStyle/>
          <a:p>
            <a:pPr algn="l">
              <a:defRPr sz="900" b="1">
                <a:solidFill>
                  <a:srgbClr val="E67E22"/>
                </a:solidFill>
              </a:defRPr>
            </a:pPr>
            <a:r>
              <a:t>80%</a:t>
            </a:r>
          </a:p>
        </p:txBody>
      </p:sp>
      <p:sp>
        <p:nvSpPr>
          <p:cNvPr id="30" name="Rounded Rectangle 29"/>
          <p:cNvSpPr/>
          <p:nvPr/>
        </p:nvSpPr>
        <p:spPr>
          <a:xfrm>
            <a:off x="4663440" y="1280160"/>
            <a:ext cx="2103120" cy="23774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663440" y="1280160"/>
            <a:ext cx="2103120" cy="41148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63440" y="1298448"/>
            <a:ext cx="2103120" cy="365760"/>
          </a:xfrm>
          <a:prstGeom prst="rect">
            <a:avLst/>
          </a:prstGeom>
          <a:noFill/>
        </p:spPr>
        <p:txBody>
          <a:bodyPr wrap="square">
            <a:spAutoFit/>
          </a:bodyPr>
          <a:lstStyle/>
          <a:p>
            <a:pPr algn="ctr">
              <a:defRPr sz="1300" b="1">
                <a:solidFill>
                  <a:srgbClr val="FFFFFF"/>
                </a:solidFill>
              </a:defRPr>
            </a:pPr>
            <a:r>
              <a:t>管理業務</a:t>
            </a:r>
          </a:p>
        </p:txBody>
      </p:sp>
      <p:sp>
        <p:nvSpPr>
          <p:cNvPr id="33" name="TextBox 32"/>
          <p:cNvSpPr txBox="1"/>
          <p:nvPr/>
        </p:nvSpPr>
        <p:spPr>
          <a:xfrm>
            <a:off x="4743440" y="1828800"/>
            <a:ext cx="1188720" cy="228600"/>
          </a:xfrm>
          <a:prstGeom prst="rect">
            <a:avLst/>
          </a:prstGeom>
          <a:noFill/>
        </p:spPr>
        <p:txBody>
          <a:bodyPr wrap="square">
            <a:spAutoFit/>
          </a:bodyPr>
          <a:lstStyle/>
          <a:p>
            <a:pPr algn="l">
              <a:defRPr sz="1100" b="0">
                <a:solidFill>
                  <a:srgbClr val="333333"/>
                </a:solidFill>
              </a:defRPr>
            </a:pPr>
            <a:r>
              <a:t>工程管理</a:t>
            </a:r>
          </a:p>
        </p:txBody>
      </p:sp>
      <p:sp>
        <p:nvSpPr>
          <p:cNvPr id="34" name="Rounded Rectangle 33"/>
          <p:cNvSpPr/>
          <p:nvPr/>
        </p:nvSpPr>
        <p:spPr>
          <a:xfrm>
            <a:off x="4743440" y="2028800"/>
            <a:ext cx="1620000" cy="10000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3440" y="1998800"/>
            <a:ext cx="457200" cy="182880"/>
          </a:xfrm>
          <a:prstGeom prst="rect">
            <a:avLst/>
          </a:prstGeom>
          <a:noFill/>
        </p:spPr>
        <p:txBody>
          <a:bodyPr wrap="square">
            <a:spAutoFit/>
          </a:bodyPr>
          <a:lstStyle/>
          <a:p>
            <a:pPr algn="l">
              <a:defRPr sz="900" b="1">
                <a:solidFill>
                  <a:srgbClr val="16A085"/>
                </a:solidFill>
              </a:defRPr>
            </a:pPr>
            <a:r>
              <a:t>90%</a:t>
            </a:r>
          </a:p>
        </p:txBody>
      </p:sp>
      <p:sp>
        <p:nvSpPr>
          <p:cNvPr id="36" name="TextBox 35"/>
          <p:cNvSpPr txBox="1"/>
          <p:nvPr/>
        </p:nvSpPr>
        <p:spPr>
          <a:xfrm>
            <a:off x="4743440" y="2377440"/>
            <a:ext cx="1188720" cy="228600"/>
          </a:xfrm>
          <a:prstGeom prst="rect">
            <a:avLst/>
          </a:prstGeom>
          <a:noFill/>
        </p:spPr>
        <p:txBody>
          <a:bodyPr wrap="square">
            <a:spAutoFit/>
          </a:bodyPr>
          <a:lstStyle/>
          <a:p>
            <a:pPr algn="l">
              <a:defRPr sz="1100" b="0">
                <a:solidFill>
                  <a:srgbClr val="333333"/>
                </a:solidFill>
              </a:defRPr>
            </a:pPr>
            <a:r>
              <a:t>資材発注</a:t>
            </a:r>
          </a:p>
        </p:txBody>
      </p:sp>
      <p:sp>
        <p:nvSpPr>
          <p:cNvPr id="37" name="Rounded Rectangle 36"/>
          <p:cNvSpPr/>
          <p:nvPr/>
        </p:nvSpPr>
        <p:spPr>
          <a:xfrm>
            <a:off x="4743440" y="2577440"/>
            <a:ext cx="1530000" cy="10000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3440" y="2547440"/>
            <a:ext cx="457200" cy="182880"/>
          </a:xfrm>
          <a:prstGeom prst="rect">
            <a:avLst/>
          </a:prstGeom>
          <a:noFill/>
        </p:spPr>
        <p:txBody>
          <a:bodyPr wrap="square">
            <a:spAutoFit/>
          </a:bodyPr>
          <a:lstStyle/>
          <a:p>
            <a:pPr algn="l">
              <a:defRPr sz="900" b="1">
                <a:solidFill>
                  <a:srgbClr val="16A085"/>
                </a:solidFill>
              </a:defRPr>
            </a:pPr>
            <a:r>
              <a:t>85%</a:t>
            </a:r>
          </a:p>
        </p:txBody>
      </p:sp>
      <p:sp>
        <p:nvSpPr>
          <p:cNvPr id="39" name="TextBox 38"/>
          <p:cNvSpPr txBox="1"/>
          <p:nvPr/>
        </p:nvSpPr>
        <p:spPr>
          <a:xfrm>
            <a:off x="4743440" y="2926080"/>
            <a:ext cx="1188720" cy="228600"/>
          </a:xfrm>
          <a:prstGeom prst="rect">
            <a:avLst/>
          </a:prstGeom>
          <a:noFill/>
        </p:spPr>
        <p:txBody>
          <a:bodyPr wrap="square">
            <a:spAutoFit/>
          </a:bodyPr>
          <a:lstStyle/>
          <a:p>
            <a:pPr algn="l">
              <a:defRPr sz="1100" b="0">
                <a:solidFill>
                  <a:srgbClr val="333333"/>
                </a:solidFill>
              </a:defRPr>
            </a:pPr>
            <a:r>
              <a:t>安全監視</a:t>
            </a:r>
          </a:p>
        </p:txBody>
      </p:sp>
      <p:sp>
        <p:nvSpPr>
          <p:cNvPr id="40" name="Rounded Rectangle 39"/>
          <p:cNvSpPr/>
          <p:nvPr/>
        </p:nvSpPr>
        <p:spPr>
          <a:xfrm>
            <a:off x="4743440" y="3126080"/>
            <a:ext cx="1260000" cy="100000"/>
          </a:xfrm>
          <a:prstGeom prst="roundRect">
            <a:avLst/>
          </a:prstGeom>
          <a:solidFill>
            <a:srgbClr val="16A0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23440" y="3096080"/>
            <a:ext cx="457200" cy="182880"/>
          </a:xfrm>
          <a:prstGeom prst="rect">
            <a:avLst/>
          </a:prstGeom>
          <a:noFill/>
        </p:spPr>
        <p:txBody>
          <a:bodyPr wrap="square">
            <a:spAutoFit/>
          </a:bodyPr>
          <a:lstStyle/>
          <a:p>
            <a:pPr algn="l">
              <a:defRPr sz="900" b="1">
                <a:solidFill>
                  <a:srgbClr val="16A085"/>
                </a:solidFill>
              </a:defRPr>
            </a:pPr>
            <a:r>
              <a:t>70%</a:t>
            </a:r>
          </a:p>
        </p:txBody>
      </p:sp>
      <p:sp>
        <p:nvSpPr>
          <p:cNvPr id="42" name="Rounded Rectangle 41"/>
          <p:cNvSpPr/>
          <p:nvPr/>
        </p:nvSpPr>
        <p:spPr>
          <a:xfrm>
            <a:off x="6903720" y="1280160"/>
            <a:ext cx="2103120" cy="23774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903720" y="1280160"/>
            <a:ext cx="2103120" cy="41148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03720" y="1298448"/>
            <a:ext cx="2103120" cy="365760"/>
          </a:xfrm>
          <a:prstGeom prst="rect">
            <a:avLst/>
          </a:prstGeom>
          <a:noFill/>
        </p:spPr>
        <p:txBody>
          <a:bodyPr wrap="square">
            <a:spAutoFit/>
          </a:bodyPr>
          <a:lstStyle/>
          <a:p>
            <a:pPr algn="ctr">
              <a:defRPr sz="1300" b="1">
                <a:solidFill>
                  <a:srgbClr val="FFFFFF"/>
                </a:solidFill>
              </a:defRPr>
            </a:pPr>
            <a:r>
              <a:t>残存業務</a:t>
            </a:r>
          </a:p>
        </p:txBody>
      </p:sp>
      <p:sp>
        <p:nvSpPr>
          <p:cNvPr id="45" name="TextBox 44"/>
          <p:cNvSpPr txBox="1"/>
          <p:nvPr/>
        </p:nvSpPr>
        <p:spPr>
          <a:xfrm>
            <a:off x="6983720" y="1828800"/>
            <a:ext cx="1188720" cy="228600"/>
          </a:xfrm>
          <a:prstGeom prst="rect">
            <a:avLst/>
          </a:prstGeom>
          <a:noFill/>
        </p:spPr>
        <p:txBody>
          <a:bodyPr wrap="square">
            <a:spAutoFit/>
          </a:bodyPr>
          <a:lstStyle/>
          <a:p>
            <a:pPr algn="l">
              <a:defRPr sz="1100" b="0">
                <a:solidFill>
                  <a:srgbClr val="333333"/>
                </a:solidFill>
              </a:defRPr>
            </a:pPr>
            <a:r>
              <a:t>創造的設計</a:t>
            </a:r>
          </a:p>
        </p:txBody>
      </p:sp>
      <p:sp>
        <p:nvSpPr>
          <p:cNvPr id="46" name="TextBox 45"/>
          <p:cNvSpPr txBox="1"/>
          <p:nvPr/>
        </p:nvSpPr>
        <p:spPr>
          <a:xfrm>
            <a:off x="6983720" y="2028800"/>
            <a:ext cx="1828800" cy="182880"/>
          </a:xfrm>
          <a:prstGeom prst="rect">
            <a:avLst/>
          </a:prstGeom>
          <a:noFill/>
        </p:spPr>
        <p:txBody>
          <a:bodyPr wrap="square">
            <a:spAutoFit/>
          </a:bodyPr>
          <a:lstStyle/>
          <a:p>
            <a:pPr algn="l">
              <a:defRPr sz="900" b="1">
                <a:solidFill>
                  <a:srgbClr val="27AE60"/>
                </a:solidFill>
              </a:defRPr>
            </a:pPr>
            <a:r>
              <a:t>人間が不可欠</a:t>
            </a:r>
          </a:p>
        </p:txBody>
      </p:sp>
      <p:sp>
        <p:nvSpPr>
          <p:cNvPr id="47" name="TextBox 46"/>
          <p:cNvSpPr txBox="1"/>
          <p:nvPr/>
        </p:nvSpPr>
        <p:spPr>
          <a:xfrm>
            <a:off x="6983720" y="2377440"/>
            <a:ext cx="1188720" cy="228600"/>
          </a:xfrm>
          <a:prstGeom prst="rect">
            <a:avLst/>
          </a:prstGeom>
          <a:noFill/>
        </p:spPr>
        <p:txBody>
          <a:bodyPr wrap="square">
            <a:spAutoFit/>
          </a:bodyPr>
          <a:lstStyle/>
          <a:p>
            <a:pPr algn="l">
              <a:defRPr sz="1100" b="0">
                <a:solidFill>
                  <a:srgbClr val="333333"/>
                </a:solidFill>
              </a:defRPr>
            </a:pPr>
            <a:r>
              <a:t>現場判断</a:t>
            </a:r>
          </a:p>
        </p:txBody>
      </p:sp>
      <p:sp>
        <p:nvSpPr>
          <p:cNvPr id="48" name="TextBox 47"/>
          <p:cNvSpPr txBox="1"/>
          <p:nvPr/>
        </p:nvSpPr>
        <p:spPr>
          <a:xfrm>
            <a:off x="6983720" y="2577440"/>
            <a:ext cx="1828800" cy="182880"/>
          </a:xfrm>
          <a:prstGeom prst="rect">
            <a:avLst/>
          </a:prstGeom>
          <a:noFill/>
        </p:spPr>
        <p:txBody>
          <a:bodyPr wrap="square">
            <a:spAutoFit/>
          </a:bodyPr>
          <a:lstStyle/>
          <a:p>
            <a:pPr algn="l">
              <a:defRPr sz="900" b="1">
                <a:solidFill>
                  <a:srgbClr val="27AE60"/>
                </a:solidFill>
              </a:defRPr>
            </a:pPr>
            <a:r>
              <a:t>人間が不可欠</a:t>
            </a:r>
          </a:p>
        </p:txBody>
      </p:sp>
      <p:sp>
        <p:nvSpPr>
          <p:cNvPr id="49" name="TextBox 48"/>
          <p:cNvSpPr txBox="1"/>
          <p:nvPr/>
        </p:nvSpPr>
        <p:spPr>
          <a:xfrm>
            <a:off x="6983720" y="2926080"/>
            <a:ext cx="1188720" cy="228600"/>
          </a:xfrm>
          <a:prstGeom prst="rect">
            <a:avLst/>
          </a:prstGeom>
          <a:noFill/>
        </p:spPr>
        <p:txBody>
          <a:bodyPr wrap="square">
            <a:spAutoFit/>
          </a:bodyPr>
          <a:lstStyle/>
          <a:p>
            <a:pPr algn="l">
              <a:defRPr sz="1100" b="0">
                <a:solidFill>
                  <a:srgbClr val="333333"/>
                </a:solidFill>
              </a:defRPr>
            </a:pPr>
            <a:r>
              <a:t>職人技</a:t>
            </a:r>
          </a:p>
        </p:txBody>
      </p:sp>
      <p:sp>
        <p:nvSpPr>
          <p:cNvPr id="50" name="TextBox 49"/>
          <p:cNvSpPr txBox="1"/>
          <p:nvPr/>
        </p:nvSpPr>
        <p:spPr>
          <a:xfrm>
            <a:off x="6983720" y="3126080"/>
            <a:ext cx="1828800" cy="182880"/>
          </a:xfrm>
          <a:prstGeom prst="rect">
            <a:avLst/>
          </a:prstGeom>
          <a:noFill/>
        </p:spPr>
        <p:txBody>
          <a:bodyPr wrap="square">
            <a:spAutoFit/>
          </a:bodyPr>
          <a:lstStyle/>
          <a:p>
            <a:pPr algn="l">
              <a:defRPr sz="900" b="1">
                <a:solidFill>
                  <a:srgbClr val="27AE60"/>
                </a:solidFill>
              </a:defRPr>
            </a:pPr>
            <a:r>
              <a:t>人間が不可欠</a:t>
            </a:r>
          </a:p>
        </p:txBody>
      </p:sp>
      <p:sp>
        <p:nvSpPr>
          <p:cNvPr id="51" name="Rounded Rectangle 50"/>
          <p:cNvSpPr/>
          <p:nvPr/>
        </p:nvSpPr>
        <p:spPr>
          <a:xfrm>
            <a:off x="274320" y="3840480"/>
            <a:ext cx="8412480" cy="640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886200"/>
            <a:ext cx="8046720" cy="548640"/>
          </a:xfrm>
          <a:prstGeom prst="rect">
            <a:avLst/>
          </a:prstGeom>
          <a:noFill/>
        </p:spPr>
        <p:txBody>
          <a:bodyPr wrap="square">
            <a:spAutoFit/>
          </a:bodyPr>
          <a:lstStyle/>
          <a:p>
            <a:pPr algn="l">
              <a:defRPr sz="1000" b="1">
                <a:solidFill>
                  <a:srgbClr val="333333"/>
                </a:solidFill>
              </a:defRPr>
            </a:pPr>
            <a:r>
              <a:t>年収予測: 平均720万円 / 中央値480万円（+14%）― 人手不足で待遇は改善傾向</a:t>
            </a:r>
          </a:p>
          <a:p>
            <a:pPr algn="l">
              <a:defRPr sz="1000" b="0">
                <a:solidFill>
                  <a:srgbClr val="666666"/>
                </a:solidFill>
              </a:defRPr>
            </a:pPr>
            <a:r>
              <a:t>スマート建築設計者: 年収1,200万円  /  現場職人も技能向上で緩やかに改善</a:t>
            </a:r>
          </a:p>
        </p:txBody>
      </p:sp>
      <p:sp>
        <p:nvSpPr>
          <p:cNvPr id="53" name="Rectangle 52"/>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55" name="TextBox 54"/>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926080" cy="51435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926080" y="0"/>
            <a:ext cx="621792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0"/>
            <a:ext cx="2286000" cy="1371600"/>
          </a:xfrm>
          <a:prstGeom prst="rect">
            <a:avLst/>
          </a:prstGeom>
          <a:noFill/>
        </p:spPr>
        <p:txBody>
          <a:bodyPr wrap="square">
            <a:spAutoFit/>
          </a:bodyPr>
          <a:lstStyle/>
          <a:p>
            <a:pPr algn="ctr">
              <a:defRPr sz="6000" b="1">
                <a:solidFill>
                  <a:srgbClr val="FFFFFF"/>
                </a:solidFill>
              </a:defRPr>
            </a:pPr>
            <a:r>
              <a:t>02</a:t>
            </a:r>
          </a:p>
        </p:txBody>
      </p:sp>
      <p:sp>
        <p:nvSpPr>
          <p:cNvPr id="5" name="TextBox 4"/>
          <p:cNvSpPr txBox="1"/>
          <p:nvPr/>
        </p:nvSpPr>
        <p:spPr>
          <a:xfrm>
            <a:off x="3200400" y="1097280"/>
            <a:ext cx="5486400" cy="731520"/>
          </a:xfrm>
          <a:prstGeom prst="rect">
            <a:avLst/>
          </a:prstGeom>
          <a:noFill/>
        </p:spPr>
        <p:txBody>
          <a:bodyPr wrap="square">
            <a:spAutoFit/>
          </a:bodyPr>
          <a:lstStyle/>
          <a:p>
            <a:pPr algn="l">
              <a:defRPr sz="2800" b="0">
                <a:solidFill>
                  <a:srgbClr val="FFFFFF"/>
                </a:solidFill>
              </a:defRPr>
            </a:pPr>
            <a:r>
              <a:t>地域格差と</a:t>
            </a:r>
          </a:p>
        </p:txBody>
      </p:sp>
      <p:sp>
        <p:nvSpPr>
          <p:cNvPr id="6" name="TextBox 5"/>
          <p:cNvSpPr txBox="1"/>
          <p:nvPr/>
        </p:nvSpPr>
        <p:spPr>
          <a:xfrm>
            <a:off x="3200400" y="1828800"/>
            <a:ext cx="5486400" cy="731520"/>
          </a:xfrm>
          <a:prstGeom prst="rect">
            <a:avLst/>
          </a:prstGeom>
          <a:noFill/>
        </p:spPr>
        <p:txBody>
          <a:bodyPr wrap="square">
            <a:spAutoFit/>
          </a:bodyPr>
          <a:lstStyle/>
          <a:p>
            <a:pPr algn="l">
              <a:defRPr sz="3400" b="1">
                <a:solidFill>
                  <a:srgbClr val="C9A84C"/>
                </a:solidFill>
              </a:defRPr>
            </a:pPr>
            <a:r>
              <a:t>世代別の未来</a:t>
            </a:r>
          </a:p>
        </p:txBody>
      </p:sp>
      <p:sp>
        <p:nvSpPr>
          <p:cNvPr id="7" name="TextBox 6"/>
          <p:cNvSpPr txBox="1"/>
          <p:nvPr/>
        </p:nvSpPr>
        <p:spPr>
          <a:xfrm>
            <a:off x="3200400" y="2926080"/>
            <a:ext cx="5486400" cy="914400"/>
          </a:xfrm>
          <a:prstGeom prst="rect">
            <a:avLst/>
          </a:prstGeom>
          <a:noFill/>
        </p:spPr>
        <p:txBody>
          <a:bodyPr wrap="square">
            <a:spAutoFit/>
          </a:bodyPr>
          <a:lstStyle/>
          <a:p>
            <a:pPr algn="l">
              <a:defRPr sz="1400" b="0">
                <a:solidFill>
                  <a:srgbClr val="AAAAAA"/>
                </a:solidFill>
              </a:defRPr>
            </a:pPr>
            <a:r>
              <a:t>コンサルの提案先が「どこ」で「誰」なのかで</a:t>
            </a:r>
            <a:br/>
            <a:r>
              <a:t>未来の見え方が全く異なる</a:t>
            </a:r>
          </a:p>
        </p:txBody>
      </p:sp>
      <p:sp>
        <p:nvSpPr>
          <p:cNvPr id="8" name="TextBox 7"/>
          <p:cNvSpPr txBox="1"/>
          <p:nvPr/>
        </p:nvSpPr>
        <p:spPr>
          <a:xfrm>
            <a:off x="3200400" y="4114800"/>
            <a:ext cx="2743200" cy="274320"/>
          </a:xfrm>
          <a:prstGeom prst="rect">
            <a:avLst/>
          </a:prstGeom>
          <a:noFill/>
        </p:spPr>
        <p:txBody>
          <a:bodyPr wrap="square">
            <a:spAutoFit/>
          </a:bodyPr>
          <a:lstStyle/>
          <a:p>
            <a:pPr algn="l">
              <a:defRPr sz="800" b="0">
                <a:solidFill>
                  <a:srgbClr val="888888"/>
                </a:solidFill>
              </a:defRPr>
            </a:pPr>
            <a:r>
              <a:t>H A R M O N I C   i n s i g h 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地域格差の拡大予測 2025→2050</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東京圏と地方圏の格差は2.7倍に拡大</a:t>
            </a:r>
          </a:p>
        </p:txBody>
      </p:sp>
      <p:graphicFrame>
        <p:nvGraphicFramePr>
          <p:cNvPr id="6" name="Table 5"/>
          <p:cNvGraphicFramePr>
            <a:graphicFrameLocks noGrp="1"/>
          </p:cNvGraphicFramePr>
          <p:nvPr/>
        </p:nvGraphicFramePr>
        <p:xfrm>
          <a:off x="182880" y="1188720"/>
          <a:ext cx="7315200" cy="2377440"/>
        </p:xfrm>
        <a:graphic>
          <a:graphicData uri="http://schemas.openxmlformats.org/drawingml/2006/table">
            <a:tbl>
              <a:tblPr firstRow="1" bandRow="1">
                <a:tableStyleId>{5C22544A-7EE6-4342-B048-85BDC9FD1C3A}</a:tableStyleId>
              </a:tblPr>
              <a:tblGrid>
                <a:gridCol w="1371600"/>
                <a:gridCol w="1371600"/>
                <a:gridCol w="1371600"/>
                <a:gridCol w="914400"/>
                <a:gridCol w="1371600"/>
                <a:gridCol w="914400"/>
              </a:tblGrid>
              <a:tr h="396240">
                <a:tc>
                  <a:txBody>
                    <a:bodyPr/>
                    <a:lstStyle/>
                    <a:p>
                      <a:pPr algn="ctr">
                        <a:defRPr sz="900" b="1">
                          <a:solidFill>
                            <a:srgbClr val="FFFFFF"/>
                          </a:solidFill>
                        </a:defRPr>
                      </a:pPr>
                      <a:r>
                        <a:t>地域</a:t>
                      </a:r>
                    </a:p>
                  </a:txBody>
                  <a:tcPr anchor="ctr">
                    <a:solidFill>
                      <a:srgbClr val="8B7536"/>
                    </a:solidFill>
                  </a:tcPr>
                </a:tc>
                <a:tc>
                  <a:txBody>
                    <a:bodyPr/>
                    <a:lstStyle/>
                    <a:p>
                      <a:pPr algn="ctr">
                        <a:defRPr sz="900" b="1">
                          <a:solidFill>
                            <a:srgbClr val="FFFFFF"/>
                          </a:solidFill>
                        </a:defRPr>
                      </a:pPr>
                      <a:r>
                        <a:t>2025年</a:t>
                      </a:r>
                    </a:p>
                    <a:p>
                      <a:pPr algn="ctr">
                        <a:defRPr sz="900" b="1">
                          <a:solidFill>
                            <a:srgbClr val="FFFFFF"/>
                          </a:solidFill>
                        </a:defRPr>
                      </a:pPr>
                      <a:r>
                        <a:t>人口</a:t>
                      </a:r>
                    </a:p>
                  </a:txBody>
                  <a:tcPr anchor="ctr">
                    <a:solidFill>
                      <a:srgbClr val="8B7536"/>
                    </a:solidFill>
                  </a:tcPr>
                </a:tc>
                <a:tc>
                  <a:txBody>
                    <a:bodyPr/>
                    <a:lstStyle/>
                    <a:p>
                      <a:pPr algn="ctr">
                        <a:defRPr sz="900" b="1">
                          <a:solidFill>
                            <a:srgbClr val="FFFFFF"/>
                          </a:solidFill>
                        </a:defRPr>
                      </a:pPr>
                      <a:r>
                        <a:t>2050年</a:t>
                      </a:r>
                    </a:p>
                    <a:p>
                      <a:pPr algn="ctr">
                        <a:defRPr sz="900" b="1">
                          <a:solidFill>
                            <a:srgbClr val="FFFFFF"/>
                          </a:solidFill>
                        </a:defRPr>
                      </a:pPr>
                      <a:r>
                        <a:t>人口</a:t>
                      </a:r>
                    </a:p>
                  </a:txBody>
                  <a:tcPr anchor="ctr">
                    <a:solidFill>
                      <a:srgbClr val="8B7536"/>
                    </a:solidFill>
                  </a:tcPr>
                </a:tc>
                <a:tc>
                  <a:txBody>
                    <a:bodyPr/>
                    <a:lstStyle/>
                    <a:p>
                      <a:pPr algn="ctr">
                        <a:defRPr sz="900" b="1">
                          <a:solidFill>
                            <a:srgbClr val="FFFFFF"/>
                          </a:solidFill>
                        </a:defRPr>
                      </a:pPr>
                      <a:r>
                        <a:t>変化率</a:t>
                      </a:r>
                    </a:p>
                  </a:txBody>
                  <a:tcPr anchor="ctr">
                    <a:solidFill>
                      <a:srgbClr val="8B7536"/>
                    </a:solidFill>
                  </a:tcPr>
                </a:tc>
                <a:tc>
                  <a:txBody>
                    <a:bodyPr/>
                    <a:lstStyle/>
                    <a:p>
                      <a:pPr algn="ctr">
                        <a:defRPr sz="900" b="1">
                          <a:solidFill>
                            <a:srgbClr val="FFFFFF"/>
                          </a:solidFill>
                        </a:defRPr>
                      </a:pPr>
                      <a:r>
                        <a:t>2050年</a:t>
                      </a:r>
                    </a:p>
                    <a:p>
                      <a:pPr algn="ctr">
                        <a:defRPr sz="900" b="1">
                          <a:solidFill>
                            <a:srgbClr val="FFFFFF"/>
                          </a:solidFill>
                        </a:defRPr>
                      </a:pPr>
                      <a:r>
                        <a:t>平均年収</a:t>
                      </a:r>
                    </a:p>
                  </a:txBody>
                  <a:tcPr anchor="ctr">
                    <a:solidFill>
                      <a:srgbClr val="8B7536"/>
                    </a:solidFill>
                  </a:tcPr>
                </a:tc>
                <a:tc>
                  <a:txBody>
                    <a:bodyPr/>
                    <a:lstStyle/>
                    <a:p>
                      <a:pPr algn="ctr">
                        <a:defRPr sz="900" b="1">
                          <a:solidFill>
                            <a:srgbClr val="FFFFFF"/>
                          </a:solidFill>
                        </a:defRPr>
                      </a:pPr>
                      <a:r>
                        <a:t>AI</a:t>
                      </a:r>
                    </a:p>
                    <a:p>
                      <a:pPr algn="ctr">
                        <a:defRPr sz="900" b="1">
                          <a:solidFill>
                            <a:srgbClr val="FFFFFF"/>
                          </a:solidFill>
                        </a:defRPr>
                      </a:pPr>
                      <a:r>
                        <a:t>活用度</a:t>
                      </a:r>
                    </a:p>
                  </a:txBody>
                  <a:tcPr anchor="ctr">
                    <a:solidFill>
                      <a:srgbClr val="8B7536"/>
                    </a:solidFill>
                  </a:tcPr>
                </a:tc>
              </a:tr>
              <a:tr h="396240">
                <a:tc>
                  <a:txBody>
                    <a:bodyPr/>
                    <a:lstStyle/>
                    <a:p>
                      <a:pPr>
                        <a:defRPr sz="900">
                          <a:solidFill>
                            <a:srgbClr val="333333"/>
                          </a:solidFill>
                        </a:defRPr>
                      </a:pPr>
                      <a:r>
                        <a:t>東京圏</a:t>
                      </a:r>
                    </a:p>
                  </a:txBody>
                  <a:tcPr anchor="ctr">
                    <a:solidFill>
                      <a:srgbClr val="F9F6F0"/>
                    </a:solidFill>
                  </a:tcPr>
                </a:tc>
                <a:tc>
                  <a:txBody>
                    <a:bodyPr/>
                    <a:lstStyle/>
                    <a:p>
                      <a:pPr>
                        <a:defRPr sz="900">
                          <a:solidFill>
                            <a:srgbClr val="333333"/>
                          </a:solidFill>
                        </a:defRPr>
                      </a:pPr>
                      <a:r>
                        <a:t>3,700万人</a:t>
                      </a:r>
                    </a:p>
                    <a:p>
                      <a:pPr>
                        <a:defRPr sz="900">
                          <a:solidFill>
                            <a:srgbClr val="333333"/>
                          </a:solidFill>
                        </a:defRPr>
                      </a:pPr>
                      <a:r>
                        <a:t>(30.1%)</a:t>
                      </a:r>
                    </a:p>
                  </a:txBody>
                  <a:tcPr anchor="ctr">
                    <a:solidFill>
                      <a:srgbClr val="F9F6F0"/>
                    </a:solidFill>
                  </a:tcPr>
                </a:tc>
                <a:tc>
                  <a:txBody>
                    <a:bodyPr/>
                    <a:lstStyle/>
                    <a:p>
                      <a:pPr>
                        <a:defRPr sz="900">
                          <a:solidFill>
                            <a:srgbClr val="333333"/>
                          </a:solidFill>
                        </a:defRPr>
                      </a:pPr>
                      <a:r>
                        <a:t>2,100万人</a:t>
                      </a:r>
                    </a:p>
                    <a:p>
                      <a:pPr>
                        <a:defRPr sz="900">
                          <a:solidFill>
                            <a:srgbClr val="333333"/>
                          </a:solidFill>
                        </a:defRPr>
                      </a:pPr>
                      <a:r>
                        <a:t>(22.1%)</a:t>
                      </a:r>
                    </a:p>
                  </a:txBody>
                  <a:tcPr anchor="ctr">
                    <a:solidFill>
                      <a:srgbClr val="F9F6F0"/>
                    </a:solidFill>
                  </a:tcPr>
                </a:tc>
                <a:tc>
                  <a:txBody>
                    <a:bodyPr/>
                    <a:lstStyle/>
                    <a:p>
                      <a:pPr>
                        <a:defRPr sz="900">
                          <a:solidFill>
                            <a:srgbClr val="333333"/>
                          </a:solidFill>
                        </a:defRPr>
                      </a:pPr>
                      <a:r>
                        <a:t>-43%</a:t>
                      </a:r>
                    </a:p>
                  </a:txBody>
                  <a:tcPr anchor="ctr">
                    <a:solidFill>
                      <a:srgbClr val="F9F6F0"/>
                    </a:solidFill>
                  </a:tcPr>
                </a:tc>
                <a:tc>
                  <a:txBody>
                    <a:bodyPr/>
                    <a:lstStyle/>
                    <a:p>
                      <a:pPr>
                        <a:defRPr sz="900">
                          <a:solidFill>
                            <a:srgbClr val="333333"/>
                          </a:solidFill>
                        </a:defRPr>
                      </a:pPr>
                      <a:r>
                        <a:t>1,200万円</a:t>
                      </a:r>
                    </a:p>
                  </a:txBody>
                  <a:tcPr anchor="ctr">
                    <a:solidFill>
                      <a:srgbClr val="F9F6F0"/>
                    </a:solidFill>
                  </a:tcPr>
                </a:tc>
                <a:tc>
                  <a:txBody>
                    <a:bodyPr/>
                    <a:lstStyle/>
                    <a:p>
                      <a:pPr>
                        <a:defRPr sz="900">
                          <a:solidFill>
                            <a:srgbClr val="333333"/>
                          </a:solidFill>
                        </a:defRPr>
                      </a:pPr>
                      <a:r>
                        <a:t>95%</a:t>
                      </a:r>
                    </a:p>
                  </a:txBody>
                  <a:tcPr anchor="ctr">
                    <a:solidFill>
                      <a:srgbClr val="F9F6F0"/>
                    </a:solidFill>
                  </a:tcPr>
                </a:tc>
              </a:tr>
              <a:tr h="396240">
                <a:tc>
                  <a:txBody>
                    <a:bodyPr/>
                    <a:lstStyle/>
                    <a:p>
                      <a:pPr>
                        <a:defRPr sz="900">
                          <a:solidFill>
                            <a:srgbClr val="333333"/>
                          </a:solidFill>
                        </a:defRPr>
                      </a:pPr>
                      <a:r>
                        <a:t>大阪圏</a:t>
                      </a:r>
                    </a:p>
                  </a:txBody>
                  <a:tcPr anchor="ctr">
                    <a:solidFill>
                      <a:srgbClr val="F0E8D5"/>
                    </a:solidFill>
                  </a:tcPr>
                </a:tc>
                <a:tc>
                  <a:txBody>
                    <a:bodyPr/>
                    <a:lstStyle/>
                    <a:p>
                      <a:pPr>
                        <a:defRPr sz="900">
                          <a:solidFill>
                            <a:srgbClr val="333333"/>
                          </a:solidFill>
                        </a:defRPr>
                      </a:pPr>
                      <a:r>
                        <a:t>1,800万人</a:t>
                      </a:r>
                    </a:p>
                    <a:p>
                      <a:pPr>
                        <a:defRPr sz="900">
                          <a:solidFill>
                            <a:srgbClr val="333333"/>
                          </a:solidFill>
                        </a:defRPr>
                      </a:pPr>
                      <a:r>
                        <a:t>(14.6%)</a:t>
                      </a:r>
                    </a:p>
                  </a:txBody>
                  <a:tcPr anchor="ctr">
                    <a:solidFill>
                      <a:srgbClr val="F0E8D5"/>
                    </a:solidFill>
                  </a:tcPr>
                </a:tc>
                <a:tc>
                  <a:txBody>
                    <a:bodyPr/>
                    <a:lstStyle/>
                    <a:p>
                      <a:pPr>
                        <a:defRPr sz="900">
                          <a:solidFill>
                            <a:srgbClr val="333333"/>
                          </a:solidFill>
                        </a:defRPr>
                      </a:pPr>
                      <a:r>
                        <a:t>1,200万人</a:t>
                      </a:r>
                    </a:p>
                    <a:p>
                      <a:pPr>
                        <a:defRPr sz="900">
                          <a:solidFill>
                            <a:srgbClr val="333333"/>
                          </a:solidFill>
                        </a:defRPr>
                      </a:pPr>
                      <a:r>
                        <a:t>(12.6%)</a:t>
                      </a:r>
                    </a:p>
                  </a:txBody>
                  <a:tcPr anchor="ctr">
                    <a:solidFill>
                      <a:srgbClr val="F0E8D5"/>
                    </a:solidFill>
                  </a:tcPr>
                </a:tc>
                <a:tc>
                  <a:txBody>
                    <a:bodyPr/>
                    <a:lstStyle/>
                    <a:p>
                      <a:pPr>
                        <a:defRPr sz="900">
                          <a:solidFill>
                            <a:srgbClr val="333333"/>
                          </a:solidFill>
                        </a:defRPr>
                      </a:pPr>
                      <a:r>
                        <a:t>-33%</a:t>
                      </a:r>
                    </a:p>
                  </a:txBody>
                  <a:tcPr anchor="ctr">
                    <a:solidFill>
                      <a:srgbClr val="F0E8D5"/>
                    </a:solidFill>
                  </a:tcPr>
                </a:tc>
                <a:tc>
                  <a:txBody>
                    <a:bodyPr/>
                    <a:lstStyle/>
                    <a:p>
                      <a:pPr>
                        <a:defRPr sz="900">
                          <a:solidFill>
                            <a:srgbClr val="333333"/>
                          </a:solidFill>
                        </a:defRPr>
                      </a:pPr>
                      <a:r>
                        <a:t>900万円</a:t>
                      </a:r>
                    </a:p>
                  </a:txBody>
                  <a:tcPr anchor="ctr">
                    <a:solidFill>
                      <a:srgbClr val="F0E8D5"/>
                    </a:solidFill>
                  </a:tcPr>
                </a:tc>
                <a:tc>
                  <a:txBody>
                    <a:bodyPr/>
                    <a:lstStyle/>
                    <a:p>
                      <a:pPr>
                        <a:defRPr sz="900">
                          <a:solidFill>
                            <a:srgbClr val="333333"/>
                          </a:solidFill>
                        </a:defRPr>
                      </a:pPr>
                      <a:r>
                        <a:t>85%</a:t>
                      </a:r>
                    </a:p>
                  </a:txBody>
                  <a:tcPr anchor="ctr">
                    <a:solidFill>
                      <a:srgbClr val="F0E8D5"/>
                    </a:solidFill>
                  </a:tcPr>
                </a:tc>
              </a:tr>
              <a:tr h="396240">
                <a:tc>
                  <a:txBody>
                    <a:bodyPr/>
                    <a:lstStyle/>
                    <a:p>
                      <a:pPr>
                        <a:defRPr sz="900">
                          <a:solidFill>
                            <a:srgbClr val="333333"/>
                          </a:solidFill>
                        </a:defRPr>
                      </a:pPr>
                      <a:r>
                        <a:t>名古屋圏</a:t>
                      </a:r>
                    </a:p>
                  </a:txBody>
                  <a:tcPr anchor="ctr">
                    <a:solidFill>
                      <a:srgbClr val="F9F6F0"/>
                    </a:solidFill>
                  </a:tcPr>
                </a:tc>
                <a:tc>
                  <a:txBody>
                    <a:bodyPr/>
                    <a:lstStyle/>
                    <a:p>
                      <a:pPr>
                        <a:defRPr sz="900">
                          <a:solidFill>
                            <a:srgbClr val="333333"/>
                          </a:solidFill>
                        </a:defRPr>
                      </a:pPr>
                      <a:r>
                        <a:t>1,100万人</a:t>
                      </a:r>
                    </a:p>
                    <a:p>
                      <a:pPr>
                        <a:defRPr sz="900">
                          <a:solidFill>
                            <a:srgbClr val="333333"/>
                          </a:solidFill>
                        </a:defRPr>
                      </a:pPr>
                      <a:r>
                        <a:t>(8.9%)</a:t>
                      </a:r>
                    </a:p>
                  </a:txBody>
                  <a:tcPr anchor="ctr">
                    <a:solidFill>
                      <a:srgbClr val="F9F6F0"/>
                    </a:solidFill>
                  </a:tcPr>
                </a:tc>
                <a:tc>
                  <a:txBody>
                    <a:bodyPr/>
                    <a:lstStyle/>
                    <a:p>
                      <a:pPr>
                        <a:defRPr sz="900">
                          <a:solidFill>
                            <a:srgbClr val="333333"/>
                          </a:solidFill>
                        </a:defRPr>
                      </a:pPr>
                      <a:r>
                        <a:t>800万人</a:t>
                      </a:r>
                    </a:p>
                    <a:p>
                      <a:pPr>
                        <a:defRPr sz="900">
                          <a:solidFill>
                            <a:srgbClr val="333333"/>
                          </a:solidFill>
                        </a:defRPr>
                      </a:pPr>
                      <a:r>
                        <a:t>(8.4%)</a:t>
                      </a:r>
                    </a:p>
                  </a:txBody>
                  <a:tcPr anchor="ctr">
                    <a:solidFill>
                      <a:srgbClr val="F9F6F0"/>
                    </a:solidFill>
                  </a:tcPr>
                </a:tc>
                <a:tc>
                  <a:txBody>
                    <a:bodyPr/>
                    <a:lstStyle/>
                    <a:p>
                      <a:pPr>
                        <a:defRPr sz="900">
                          <a:solidFill>
                            <a:srgbClr val="333333"/>
                          </a:solidFill>
                        </a:defRPr>
                      </a:pPr>
                      <a:r>
                        <a:t>-27%</a:t>
                      </a:r>
                    </a:p>
                  </a:txBody>
                  <a:tcPr anchor="ctr">
                    <a:solidFill>
                      <a:srgbClr val="F9F6F0"/>
                    </a:solidFill>
                  </a:tcPr>
                </a:tc>
                <a:tc>
                  <a:txBody>
                    <a:bodyPr/>
                    <a:lstStyle/>
                    <a:p>
                      <a:pPr>
                        <a:defRPr sz="900">
                          <a:solidFill>
                            <a:srgbClr val="333333"/>
                          </a:solidFill>
                        </a:defRPr>
                      </a:pPr>
                      <a:r>
                        <a:t>950万円</a:t>
                      </a:r>
                    </a:p>
                  </a:txBody>
                  <a:tcPr anchor="ctr">
                    <a:solidFill>
                      <a:srgbClr val="F9F6F0"/>
                    </a:solidFill>
                  </a:tcPr>
                </a:tc>
                <a:tc>
                  <a:txBody>
                    <a:bodyPr/>
                    <a:lstStyle/>
                    <a:p>
                      <a:pPr>
                        <a:defRPr sz="900">
                          <a:solidFill>
                            <a:srgbClr val="333333"/>
                          </a:solidFill>
                        </a:defRPr>
                      </a:pPr>
                      <a:r>
                        <a:t>80%</a:t>
                      </a:r>
                    </a:p>
                  </a:txBody>
                  <a:tcPr anchor="ctr">
                    <a:solidFill>
                      <a:srgbClr val="F9F6F0"/>
                    </a:solidFill>
                  </a:tcPr>
                </a:tc>
              </a:tr>
              <a:tr h="396240">
                <a:tc>
                  <a:txBody>
                    <a:bodyPr/>
                    <a:lstStyle/>
                    <a:p>
                      <a:pPr>
                        <a:defRPr sz="900">
                          <a:solidFill>
                            <a:srgbClr val="333333"/>
                          </a:solidFill>
                        </a:defRPr>
                      </a:pPr>
                      <a:r>
                        <a:t>地方中核都市</a:t>
                      </a:r>
                    </a:p>
                  </a:txBody>
                  <a:tcPr anchor="ctr">
                    <a:solidFill>
                      <a:srgbClr val="F0E8D5"/>
                    </a:solidFill>
                  </a:tcPr>
                </a:tc>
                <a:tc>
                  <a:txBody>
                    <a:bodyPr/>
                    <a:lstStyle/>
                    <a:p>
                      <a:pPr>
                        <a:defRPr sz="900">
                          <a:solidFill>
                            <a:srgbClr val="333333"/>
                          </a:solidFill>
                        </a:defRPr>
                      </a:pPr>
                      <a:r>
                        <a:t>2,400万人</a:t>
                      </a:r>
                    </a:p>
                    <a:p>
                      <a:pPr>
                        <a:defRPr sz="900">
                          <a:solidFill>
                            <a:srgbClr val="333333"/>
                          </a:solidFill>
                        </a:defRPr>
                      </a:pPr>
                      <a:r>
                        <a:t>(19.5%)</a:t>
                      </a:r>
                    </a:p>
                  </a:txBody>
                  <a:tcPr anchor="ctr">
                    <a:solidFill>
                      <a:srgbClr val="F0E8D5"/>
                    </a:solidFill>
                  </a:tcPr>
                </a:tc>
                <a:tc>
                  <a:txBody>
                    <a:bodyPr/>
                    <a:lstStyle/>
                    <a:p>
                      <a:pPr>
                        <a:defRPr sz="900">
                          <a:solidFill>
                            <a:srgbClr val="333333"/>
                          </a:solidFill>
                        </a:defRPr>
                      </a:pPr>
                      <a:r>
                        <a:t>1,900万人</a:t>
                      </a:r>
                    </a:p>
                    <a:p>
                      <a:pPr>
                        <a:defRPr sz="900">
                          <a:solidFill>
                            <a:srgbClr val="333333"/>
                          </a:solidFill>
                        </a:defRPr>
                      </a:pPr>
                      <a:r>
                        <a:t>(20.0%)</a:t>
                      </a:r>
                    </a:p>
                  </a:txBody>
                  <a:tcPr anchor="ctr">
                    <a:solidFill>
                      <a:srgbClr val="F0E8D5"/>
                    </a:solidFill>
                  </a:tcPr>
                </a:tc>
                <a:tc>
                  <a:txBody>
                    <a:bodyPr/>
                    <a:lstStyle/>
                    <a:p>
                      <a:pPr>
                        <a:defRPr sz="900">
                          <a:solidFill>
                            <a:srgbClr val="333333"/>
                          </a:solidFill>
                        </a:defRPr>
                      </a:pPr>
                      <a:r>
                        <a:t>-21%</a:t>
                      </a:r>
                    </a:p>
                  </a:txBody>
                  <a:tcPr anchor="ctr">
                    <a:solidFill>
                      <a:srgbClr val="F0E8D5"/>
                    </a:solidFill>
                  </a:tcPr>
                </a:tc>
                <a:tc>
                  <a:txBody>
                    <a:bodyPr/>
                    <a:lstStyle/>
                    <a:p>
                      <a:pPr>
                        <a:defRPr sz="900">
                          <a:solidFill>
                            <a:srgbClr val="333333"/>
                          </a:solidFill>
                        </a:defRPr>
                      </a:pPr>
                      <a:r>
                        <a:t>700万円</a:t>
                      </a:r>
                    </a:p>
                  </a:txBody>
                  <a:tcPr anchor="ctr">
                    <a:solidFill>
                      <a:srgbClr val="F0E8D5"/>
                    </a:solidFill>
                  </a:tcPr>
                </a:tc>
                <a:tc>
                  <a:txBody>
                    <a:bodyPr/>
                    <a:lstStyle/>
                    <a:p>
                      <a:pPr>
                        <a:defRPr sz="900">
                          <a:solidFill>
                            <a:srgbClr val="333333"/>
                          </a:solidFill>
                        </a:defRPr>
                      </a:pPr>
                      <a:r>
                        <a:t>70%</a:t>
                      </a:r>
                    </a:p>
                  </a:txBody>
                  <a:tcPr anchor="ctr">
                    <a:solidFill>
                      <a:srgbClr val="F0E8D5"/>
                    </a:solidFill>
                  </a:tcPr>
                </a:tc>
              </a:tr>
              <a:tr h="396240">
                <a:tc>
                  <a:txBody>
                    <a:bodyPr/>
                    <a:lstStyle/>
                    <a:p>
                      <a:pPr>
                        <a:defRPr sz="900">
                          <a:solidFill>
                            <a:srgbClr val="333333"/>
                          </a:solidFill>
                        </a:defRPr>
                      </a:pPr>
                      <a:r>
                        <a:t>地方圏</a:t>
                      </a:r>
                    </a:p>
                  </a:txBody>
                  <a:tcPr anchor="ctr">
                    <a:solidFill>
                      <a:srgbClr val="F9F6F0"/>
                    </a:solidFill>
                  </a:tcPr>
                </a:tc>
                <a:tc>
                  <a:txBody>
                    <a:bodyPr/>
                    <a:lstStyle/>
                    <a:p>
                      <a:pPr>
                        <a:defRPr sz="900">
                          <a:solidFill>
                            <a:srgbClr val="333333"/>
                          </a:solidFill>
                        </a:defRPr>
                      </a:pPr>
                      <a:r>
                        <a:t>4,000万人</a:t>
                      </a:r>
                    </a:p>
                    <a:p>
                      <a:pPr>
                        <a:defRPr sz="900">
                          <a:solidFill>
                            <a:srgbClr val="333333"/>
                          </a:solidFill>
                        </a:defRPr>
                      </a:pPr>
                      <a:r>
                        <a:t>(32.5%)</a:t>
                      </a:r>
                    </a:p>
                  </a:txBody>
                  <a:tcPr anchor="ctr">
                    <a:solidFill>
                      <a:srgbClr val="F9F6F0"/>
                    </a:solidFill>
                  </a:tcPr>
                </a:tc>
                <a:tc>
                  <a:txBody>
                    <a:bodyPr/>
                    <a:lstStyle/>
                    <a:p>
                      <a:pPr>
                        <a:defRPr sz="900">
                          <a:solidFill>
                            <a:srgbClr val="333333"/>
                          </a:solidFill>
                        </a:defRPr>
                      </a:pPr>
                      <a:r>
                        <a:t>2,950万人</a:t>
                      </a:r>
                    </a:p>
                    <a:p>
                      <a:pPr>
                        <a:defRPr sz="900">
                          <a:solidFill>
                            <a:srgbClr val="333333"/>
                          </a:solidFill>
                        </a:defRPr>
                      </a:pPr>
                      <a:r>
                        <a:t>(31.1%)</a:t>
                      </a:r>
                    </a:p>
                  </a:txBody>
                  <a:tcPr anchor="ctr">
                    <a:solidFill>
                      <a:srgbClr val="F9F6F0"/>
                    </a:solidFill>
                  </a:tcPr>
                </a:tc>
                <a:tc>
                  <a:txBody>
                    <a:bodyPr/>
                    <a:lstStyle/>
                    <a:p>
                      <a:pPr>
                        <a:defRPr sz="900">
                          <a:solidFill>
                            <a:srgbClr val="333333"/>
                          </a:solidFill>
                        </a:defRPr>
                      </a:pPr>
                      <a:r>
                        <a:t>-26%</a:t>
                      </a:r>
                    </a:p>
                  </a:txBody>
                  <a:tcPr anchor="ctr">
                    <a:solidFill>
                      <a:srgbClr val="F9F6F0"/>
                    </a:solidFill>
                  </a:tcPr>
                </a:tc>
                <a:tc>
                  <a:txBody>
                    <a:bodyPr/>
                    <a:lstStyle/>
                    <a:p>
                      <a:pPr>
                        <a:defRPr sz="900">
                          <a:solidFill>
                            <a:srgbClr val="333333"/>
                          </a:solidFill>
                        </a:defRPr>
                      </a:pPr>
                      <a:r>
                        <a:t>450万円</a:t>
                      </a:r>
                    </a:p>
                  </a:txBody>
                  <a:tcPr anchor="ctr">
                    <a:solidFill>
                      <a:srgbClr val="F9F6F0"/>
                    </a:solidFill>
                  </a:tcPr>
                </a:tc>
                <a:tc>
                  <a:txBody>
                    <a:bodyPr/>
                    <a:lstStyle/>
                    <a:p>
                      <a:pPr>
                        <a:defRPr sz="900">
                          <a:solidFill>
                            <a:srgbClr val="333333"/>
                          </a:solidFill>
                        </a:defRPr>
                      </a:pPr>
                      <a:r>
                        <a:t>40%</a:t>
                      </a:r>
                    </a:p>
                  </a:txBody>
                  <a:tcPr anchor="ctr">
                    <a:solidFill>
                      <a:srgbClr val="F9F6F0"/>
                    </a:solidFill>
                  </a:tcPr>
                </a:tc>
              </a:tr>
            </a:tbl>
          </a:graphicData>
        </a:graphic>
      </p:graphicFrame>
      <p:sp>
        <p:nvSpPr>
          <p:cNvPr id="7" name="Rounded Rectangle 6"/>
          <p:cNvSpPr/>
          <p:nvPr/>
        </p:nvSpPr>
        <p:spPr>
          <a:xfrm>
            <a:off x="274320" y="3749039"/>
            <a:ext cx="4114800" cy="731520"/>
          </a:xfrm>
          <a:prstGeom prst="round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794760"/>
            <a:ext cx="3840480" cy="274320"/>
          </a:xfrm>
          <a:prstGeom prst="rect">
            <a:avLst/>
          </a:prstGeom>
          <a:noFill/>
        </p:spPr>
        <p:txBody>
          <a:bodyPr wrap="square">
            <a:spAutoFit/>
          </a:bodyPr>
          <a:lstStyle/>
          <a:p>
            <a:pPr algn="l">
              <a:defRPr sz="1100" b="1">
                <a:solidFill>
                  <a:srgbClr val="2C7AB0"/>
                </a:solidFill>
              </a:defRPr>
            </a:pPr>
            <a:r>
              <a:t>コンサルへの示唆</a:t>
            </a:r>
          </a:p>
        </p:txBody>
      </p:sp>
      <p:sp>
        <p:nvSpPr>
          <p:cNvPr id="9" name="TextBox 8"/>
          <p:cNvSpPr txBox="1"/>
          <p:nvPr/>
        </p:nvSpPr>
        <p:spPr>
          <a:xfrm>
            <a:off x="457200" y="4069080"/>
            <a:ext cx="3840480" cy="274320"/>
          </a:xfrm>
          <a:prstGeom prst="rect">
            <a:avLst/>
          </a:prstGeom>
          <a:noFill/>
        </p:spPr>
        <p:txBody>
          <a:bodyPr wrap="square">
            <a:spAutoFit/>
          </a:bodyPr>
          <a:lstStyle/>
          <a:p>
            <a:pPr algn="l">
              <a:defRPr sz="1000" b="0">
                <a:solidFill>
                  <a:srgbClr val="333333"/>
                </a:solidFill>
              </a:defRPr>
            </a:pPr>
            <a:r>
              <a:t>クライアントの所在地域でDX提案内容が異なる</a:t>
            </a:r>
          </a:p>
        </p:txBody>
      </p:sp>
      <p:sp>
        <p:nvSpPr>
          <p:cNvPr id="10" name="Rounded Rectangle 9"/>
          <p:cNvSpPr/>
          <p:nvPr/>
        </p:nvSpPr>
        <p:spPr>
          <a:xfrm>
            <a:off x="4754880" y="3749039"/>
            <a:ext cx="3931920" cy="731520"/>
          </a:xfrm>
          <a:prstGeom prst="roundRect">
            <a:avLst/>
          </a:prstGeom>
          <a:solidFill>
            <a:srgbClr val="E8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3794760"/>
            <a:ext cx="3657600" cy="274320"/>
          </a:xfrm>
          <a:prstGeom prst="rect">
            <a:avLst/>
          </a:prstGeom>
          <a:noFill/>
        </p:spPr>
        <p:txBody>
          <a:bodyPr wrap="square">
            <a:spAutoFit/>
          </a:bodyPr>
          <a:lstStyle/>
          <a:p>
            <a:pPr algn="l">
              <a:defRPr sz="1100" b="1">
                <a:solidFill>
                  <a:srgbClr val="27AE60"/>
                </a:solidFill>
              </a:defRPr>
            </a:pPr>
            <a:r>
              <a:t>提案のポイント</a:t>
            </a:r>
          </a:p>
        </p:txBody>
      </p:sp>
      <p:sp>
        <p:nvSpPr>
          <p:cNvPr id="12" name="TextBox 11"/>
          <p:cNvSpPr txBox="1"/>
          <p:nvPr/>
        </p:nvSpPr>
        <p:spPr>
          <a:xfrm>
            <a:off x="4937760" y="4069080"/>
            <a:ext cx="3657600" cy="274320"/>
          </a:xfrm>
          <a:prstGeom prst="rect">
            <a:avLst/>
          </a:prstGeom>
          <a:noFill/>
        </p:spPr>
        <p:txBody>
          <a:bodyPr wrap="square">
            <a:spAutoFit/>
          </a:bodyPr>
          <a:lstStyle/>
          <a:p>
            <a:pPr algn="l">
              <a:defRPr sz="1000" b="0">
                <a:solidFill>
                  <a:srgbClr val="333333"/>
                </a:solidFill>
              </a:defRPr>
            </a:pPr>
            <a:r>
              <a:t>地方こそAI活用度の伸びしろが大きい（40%→潜在的80%）</a:t>
            </a:r>
          </a:p>
        </p:txBody>
      </p:sp>
      <p:sp>
        <p:nvSpPr>
          <p:cNvPr id="13" name="Rectangle 12"/>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15" name="TextBox 14"/>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世代別 人口・影響力の推移</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クライアントの意思決定者は「どの世代」か？</a:t>
            </a:r>
          </a:p>
        </p:txBody>
      </p:sp>
      <p:graphicFrame>
        <p:nvGraphicFramePr>
          <p:cNvPr id="6" name="Table 5"/>
          <p:cNvGraphicFramePr>
            <a:graphicFrameLocks noGrp="1"/>
          </p:cNvGraphicFramePr>
          <p:nvPr/>
        </p:nvGraphicFramePr>
        <p:xfrm>
          <a:off x="182880" y="1188720"/>
          <a:ext cx="8046720" cy="2926080"/>
        </p:xfrm>
        <a:graphic>
          <a:graphicData uri="http://schemas.openxmlformats.org/drawingml/2006/table">
            <a:tbl>
              <a:tblPr firstRow="1" bandRow="1">
                <a:tableStyleId>{5C22544A-7EE6-4342-B048-85BDC9FD1C3A}</a:tableStyleId>
              </a:tblPr>
              <a:tblGrid>
                <a:gridCol w="1463040"/>
                <a:gridCol w="1097280"/>
                <a:gridCol w="1371600"/>
                <a:gridCol w="1371600"/>
                <a:gridCol w="2743200"/>
              </a:tblGrid>
              <a:tr h="487680">
                <a:tc>
                  <a:txBody>
                    <a:bodyPr/>
                    <a:lstStyle/>
                    <a:p>
                      <a:pPr algn="ctr">
                        <a:defRPr sz="900" b="1">
                          <a:solidFill>
                            <a:srgbClr val="FFFFFF"/>
                          </a:solidFill>
                        </a:defRPr>
                      </a:pPr>
                      <a:r>
                        <a:t>世代</a:t>
                      </a:r>
                    </a:p>
                  </a:txBody>
                  <a:tcPr anchor="ctr">
                    <a:solidFill>
                      <a:srgbClr val="8B7536"/>
                    </a:solidFill>
                  </a:tcPr>
                </a:tc>
                <a:tc>
                  <a:txBody>
                    <a:bodyPr/>
                    <a:lstStyle/>
                    <a:p>
                      <a:pPr algn="ctr">
                        <a:defRPr sz="900" b="1">
                          <a:solidFill>
                            <a:srgbClr val="FFFFFF"/>
                          </a:solidFill>
                        </a:defRPr>
                      </a:pPr>
                      <a:r>
                        <a:t>2025年</a:t>
                      </a:r>
                    </a:p>
                    <a:p>
                      <a:pPr algn="ctr">
                        <a:defRPr sz="900" b="1">
                          <a:solidFill>
                            <a:srgbClr val="FFFFFF"/>
                          </a:solidFill>
                        </a:defRPr>
                      </a:pPr>
                      <a:r>
                        <a:t>人口</a:t>
                      </a:r>
                    </a:p>
                  </a:txBody>
                  <a:tcPr anchor="ctr">
                    <a:solidFill>
                      <a:srgbClr val="8B7536"/>
                    </a:solidFill>
                  </a:tcPr>
                </a:tc>
                <a:tc>
                  <a:txBody>
                    <a:bodyPr/>
                    <a:lstStyle/>
                    <a:p>
                      <a:pPr algn="ctr">
                        <a:defRPr sz="900" b="1">
                          <a:solidFill>
                            <a:srgbClr val="FFFFFF"/>
                          </a:solidFill>
                        </a:defRPr>
                      </a:pPr>
                      <a:r>
                        <a:t>2030年</a:t>
                      </a:r>
                    </a:p>
                    <a:p>
                      <a:pPr algn="ctr">
                        <a:defRPr sz="900" b="1">
                          <a:solidFill>
                            <a:srgbClr val="FFFFFF"/>
                          </a:solidFill>
                        </a:defRPr>
                      </a:pPr>
                      <a:r>
                        <a:t>影響力</a:t>
                      </a:r>
                    </a:p>
                  </a:txBody>
                  <a:tcPr anchor="ctr">
                    <a:solidFill>
                      <a:srgbClr val="8B7536"/>
                    </a:solidFill>
                  </a:tcPr>
                </a:tc>
                <a:tc>
                  <a:txBody>
                    <a:bodyPr/>
                    <a:lstStyle/>
                    <a:p>
                      <a:pPr algn="ctr">
                        <a:defRPr sz="900" b="1">
                          <a:solidFill>
                            <a:srgbClr val="FFFFFF"/>
                          </a:solidFill>
                        </a:defRPr>
                      </a:pPr>
                      <a:r>
                        <a:t>2050年</a:t>
                      </a:r>
                    </a:p>
                    <a:p>
                      <a:pPr algn="ctr">
                        <a:defRPr sz="900" b="1">
                          <a:solidFill>
                            <a:srgbClr val="FFFFFF"/>
                          </a:solidFill>
                        </a:defRPr>
                      </a:pPr>
                      <a:r>
                        <a:t>影響力</a:t>
                      </a:r>
                    </a:p>
                  </a:txBody>
                  <a:tcPr anchor="ctr">
                    <a:solidFill>
                      <a:srgbClr val="8B7536"/>
                    </a:solidFill>
                  </a:tcPr>
                </a:tc>
                <a:tc>
                  <a:txBody>
                    <a:bodyPr/>
                    <a:lstStyle/>
                    <a:p>
                      <a:pPr algn="ctr">
                        <a:defRPr sz="900" b="1">
                          <a:solidFill>
                            <a:srgbClr val="FFFFFF"/>
                          </a:solidFill>
                        </a:defRPr>
                      </a:pPr>
                      <a:r>
                        <a:t>主な特徴</a:t>
                      </a:r>
                    </a:p>
                  </a:txBody>
                  <a:tcPr anchor="ctr">
                    <a:solidFill>
                      <a:srgbClr val="8B7536"/>
                    </a:solidFill>
                  </a:tcPr>
                </a:tc>
              </a:tr>
              <a:tr h="487680">
                <a:tc>
                  <a:txBody>
                    <a:bodyPr/>
                    <a:lstStyle/>
                    <a:p>
                      <a:pPr>
                        <a:defRPr sz="900">
                          <a:solidFill>
                            <a:srgbClr val="333333"/>
                          </a:solidFill>
                        </a:defRPr>
                      </a:pPr>
                      <a:r>
                        <a:t>α世代</a:t>
                      </a:r>
                    </a:p>
                    <a:p>
                      <a:pPr>
                        <a:defRPr sz="900">
                          <a:solidFill>
                            <a:srgbClr val="333333"/>
                          </a:solidFill>
                        </a:defRPr>
                      </a:pPr>
                      <a:r>
                        <a:t>(2020年～)</a:t>
                      </a:r>
                    </a:p>
                  </a:txBody>
                  <a:tcPr anchor="ctr">
                    <a:solidFill>
                      <a:srgbClr val="F9F6F0"/>
                    </a:solidFill>
                  </a:tcPr>
                </a:tc>
                <a:tc>
                  <a:txBody>
                    <a:bodyPr/>
                    <a:lstStyle/>
                    <a:p>
                      <a:pPr>
                        <a:defRPr sz="900">
                          <a:solidFill>
                            <a:srgbClr val="333333"/>
                          </a:solidFill>
                        </a:defRPr>
                      </a:pPr>
                      <a:r>
                        <a:t>500万人</a:t>
                      </a:r>
                    </a:p>
                  </a:txBody>
                  <a:tcPr anchor="ctr">
                    <a:solidFill>
                      <a:srgbClr val="F9F6F0"/>
                    </a:solidFill>
                  </a:tcPr>
                </a:tc>
                <a:tc>
                  <a:txBody>
                    <a:bodyPr/>
                    <a:lstStyle/>
                    <a:p>
                      <a:pPr>
                        <a:defRPr sz="900">
                          <a:solidFill>
                            <a:srgbClr val="333333"/>
                          </a:solidFill>
                        </a:defRPr>
                      </a:pPr>
                      <a:r>
                        <a:t>教育変革</a:t>
                      </a:r>
                    </a:p>
                  </a:txBody>
                  <a:tcPr anchor="ctr">
                    <a:solidFill>
                      <a:srgbClr val="F9F6F0"/>
                    </a:solidFill>
                  </a:tcPr>
                </a:tc>
                <a:tc>
                  <a:txBody>
                    <a:bodyPr/>
                    <a:lstStyle/>
                    <a:p>
                      <a:pPr>
                        <a:defRPr sz="900">
                          <a:solidFill>
                            <a:srgbClr val="333333"/>
                          </a:solidFill>
                        </a:defRPr>
                      </a:pPr>
                      <a:r>
                        <a:t>社会主導</a:t>
                      </a:r>
                    </a:p>
                  </a:txBody>
                  <a:tcPr anchor="ctr">
                    <a:solidFill>
                      <a:srgbClr val="F9F6F0"/>
                    </a:solidFill>
                  </a:tcPr>
                </a:tc>
                <a:tc>
                  <a:txBody>
                    <a:bodyPr/>
                    <a:lstStyle/>
                    <a:p>
                      <a:pPr>
                        <a:defRPr sz="900">
                          <a:solidFill>
                            <a:srgbClr val="333333"/>
                          </a:solidFill>
                        </a:defRPr>
                      </a:pPr>
                      <a:r>
                        <a:t>AIネイティブ</a:t>
                      </a:r>
                    </a:p>
                    <a:p>
                      <a:pPr>
                        <a:defRPr sz="900">
                          <a:solidFill>
                            <a:srgbClr val="333333"/>
                          </a:solidFill>
                        </a:defRPr>
                      </a:pPr>
                      <a:r>
                        <a:t>創造性重視</a:t>
                      </a:r>
                    </a:p>
                  </a:txBody>
                  <a:tcPr anchor="ctr">
                    <a:solidFill>
                      <a:srgbClr val="F9F6F0"/>
                    </a:solidFill>
                  </a:tcPr>
                </a:tc>
              </a:tr>
              <a:tr h="487680">
                <a:tc>
                  <a:txBody>
                    <a:bodyPr/>
                    <a:lstStyle/>
                    <a:p>
                      <a:pPr>
                        <a:defRPr sz="900">
                          <a:solidFill>
                            <a:srgbClr val="333333"/>
                          </a:solidFill>
                        </a:defRPr>
                      </a:pPr>
                      <a:r>
                        <a:t>Z世代</a:t>
                      </a:r>
                    </a:p>
                    <a:p>
                      <a:pPr>
                        <a:defRPr sz="900">
                          <a:solidFill>
                            <a:srgbClr val="333333"/>
                          </a:solidFill>
                        </a:defRPr>
                      </a:pPr>
                      <a:r>
                        <a:t>(1997-2019年)</a:t>
                      </a:r>
                    </a:p>
                  </a:txBody>
                  <a:tcPr anchor="ctr">
                    <a:solidFill>
                      <a:srgbClr val="F0E8D5"/>
                    </a:solidFill>
                  </a:tcPr>
                </a:tc>
                <a:tc>
                  <a:txBody>
                    <a:bodyPr/>
                    <a:lstStyle/>
                    <a:p>
                      <a:pPr>
                        <a:defRPr sz="900">
                          <a:solidFill>
                            <a:srgbClr val="333333"/>
                          </a:solidFill>
                        </a:defRPr>
                      </a:pPr>
                      <a:r>
                        <a:t>2,000万人</a:t>
                      </a:r>
                    </a:p>
                  </a:txBody>
                  <a:tcPr anchor="ctr">
                    <a:solidFill>
                      <a:srgbClr val="F0E8D5"/>
                    </a:solidFill>
                  </a:tcPr>
                </a:tc>
                <a:tc>
                  <a:txBody>
                    <a:bodyPr/>
                    <a:lstStyle/>
                    <a:p>
                      <a:pPr>
                        <a:defRPr sz="900">
                          <a:solidFill>
                            <a:srgbClr val="333333"/>
                          </a:solidFill>
                        </a:defRPr>
                      </a:pPr>
                      <a:r>
                        <a:t>社会中核</a:t>
                      </a:r>
                    </a:p>
                  </a:txBody>
                  <a:tcPr anchor="ctr">
                    <a:solidFill>
                      <a:srgbClr val="F0E8D5"/>
                    </a:solidFill>
                  </a:tcPr>
                </a:tc>
                <a:tc>
                  <a:txBody>
                    <a:bodyPr/>
                    <a:lstStyle/>
                    <a:p>
                      <a:pPr>
                        <a:defRPr sz="900">
                          <a:solidFill>
                            <a:srgbClr val="333333"/>
                          </a:solidFill>
                        </a:defRPr>
                      </a:pPr>
                      <a:r>
                        <a:t>指導・伝承</a:t>
                      </a:r>
                    </a:p>
                  </a:txBody>
                  <a:tcPr anchor="ctr">
                    <a:solidFill>
                      <a:srgbClr val="F0E8D5"/>
                    </a:solidFill>
                  </a:tcPr>
                </a:tc>
                <a:tc>
                  <a:txBody>
                    <a:bodyPr/>
                    <a:lstStyle/>
                    <a:p>
                      <a:pPr>
                        <a:defRPr sz="900">
                          <a:solidFill>
                            <a:srgbClr val="333333"/>
                          </a:solidFill>
                        </a:defRPr>
                      </a:pPr>
                      <a:r>
                        <a:t>デジタル変革</a:t>
                      </a:r>
                    </a:p>
                    <a:p>
                      <a:pPr>
                        <a:defRPr sz="900">
                          <a:solidFill>
                            <a:srgbClr val="333333"/>
                          </a:solidFill>
                        </a:defRPr>
                      </a:pPr>
                      <a:r>
                        <a:t>価値観多様化</a:t>
                      </a:r>
                    </a:p>
                  </a:txBody>
                  <a:tcPr anchor="ctr">
                    <a:solidFill>
                      <a:srgbClr val="F0E8D5"/>
                    </a:solidFill>
                  </a:tcPr>
                </a:tc>
              </a:tr>
              <a:tr h="487680">
                <a:tc>
                  <a:txBody>
                    <a:bodyPr/>
                    <a:lstStyle/>
                    <a:p>
                      <a:pPr>
                        <a:defRPr sz="900">
                          <a:solidFill>
                            <a:srgbClr val="333333"/>
                          </a:solidFill>
                        </a:defRPr>
                      </a:pPr>
                      <a:r>
                        <a:t>ミレニアル</a:t>
                      </a:r>
                    </a:p>
                    <a:p>
                      <a:pPr>
                        <a:defRPr sz="900">
                          <a:solidFill>
                            <a:srgbClr val="333333"/>
                          </a:solidFill>
                        </a:defRPr>
                      </a:pPr>
                      <a:r>
                        <a:t>(1981-1996年)</a:t>
                      </a:r>
                    </a:p>
                  </a:txBody>
                  <a:tcPr anchor="ctr">
                    <a:solidFill>
                      <a:srgbClr val="F9F6F0"/>
                    </a:solidFill>
                  </a:tcPr>
                </a:tc>
                <a:tc>
                  <a:txBody>
                    <a:bodyPr/>
                    <a:lstStyle/>
                    <a:p>
                      <a:pPr>
                        <a:defRPr sz="900">
                          <a:solidFill>
                            <a:srgbClr val="333333"/>
                          </a:solidFill>
                        </a:defRPr>
                      </a:pPr>
                      <a:r>
                        <a:t>2,200万人</a:t>
                      </a:r>
                    </a:p>
                  </a:txBody>
                  <a:tcPr anchor="ctr">
                    <a:solidFill>
                      <a:srgbClr val="F9F6F0"/>
                    </a:solidFill>
                  </a:tcPr>
                </a:tc>
                <a:tc>
                  <a:txBody>
                    <a:bodyPr/>
                    <a:lstStyle/>
                    <a:p>
                      <a:pPr>
                        <a:defRPr sz="900">
                          <a:solidFill>
                            <a:srgbClr val="333333"/>
                          </a:solidFill>
                        </a:defRPr>
                      </a:pPr>
                      <a:r>
                        <a:t>経営層</a:t>
                      </a:r>
                    </a:p>
                  </a:txBody>
                  <a:tcPr anchor="ctr">
                    <a:solidFill>
                      <a:srgbClr val="F9F6F0"/>
                    </a:solidFill>
                  </a:tcPr>
                </a:tc>
                <a:tc>
                  <a:txBody>
                    <a:bodyPr/>
                    <a:lstStyle/>
                    <a:p>
                      <a:pPr>
                        <a:defRPr sz="900">
                          <a:solidFill>
                            <a:srgbClr val="333333"/>
                          </a:solidFill>
                        </a:defRPr>
                      </a:pPr>
                      <a:r>
                        <a:t>助言・サポート</a:t>
                      </a:r>
                    </a:p>
                  </a:txBody>
                  <a:tcPr anchor="ctr">
                    <a:solidFill>
                      <a:srgbClr val="F9F6F0"/>
                    </a:solidFill>
                  </a:tcPr>
                </a:tc>
                <a:tc>
                  <a:txBody>
                    <a:bodyPr/>
                    <a:lstStyle/>
                    <a:p>
                      <a:pPr>
                        <a:defRPr sz="900">
                          <a:solidFill>
                            <a:srgbClr val="333333"/>
                          </a:solidFill>
                        </a:defRPr>
                      </a:pPr>
                      <a:r>
                        <a:t>ワークライフバランス</a:t>
                      </a:r>
                    </a:p>
                    <a:p>
                      <a:pPr>
                        <a:defRPr sz="900">
                          <a:solidFill>
                            <a:srgbClr val="333333"/>
                          </a:solidFill>
                        </a:defRPr>
                      </a:pPr>
                      <a:r>
                        <a:t>実用主義</a:t>
                      </a:r>
                    </a:p>
                  </a:txBody>
                  <a:tcPr anchor="ctr">
                    <a:solidFill>
                      <a:srgbClr val="F9F6F0"/>
                    </a:solidFill>
                  </a:tcPr>
                </a:tc>
              </a:tr>
              <a:tr h="487680">
                <a:tc>
                  <a:txBody>
                    <a:bodyPr/>
                    <a:lstStyle/>
                    <a:p>
                      <a:pPr>
                        <a:defRPr sz="900">
                          <a:solidFill>
                            <a:srgbClr val="333333"/>
                          </a:solidFill>
                        </a:defRPr>
                      </a:pPr>
                      <a:r>
                        <a:t>X世代</a:t>
                      </a:r>
                    </a:p>
                    <a:p>
                      <a:pPr>
                        <a:defRPr sz="900">
                          <a:solidFill>
                            <a:srgbClr val="333333"/>
                          </a:solidFill>
                        </a:defRPr>
                      </a:pPr>
                      <a:r>
                        <a:t>(1965-1980年)</a:t>
                      </a:r>
                    </a:p>
                  </a:txBody>
                  <a:tcPr anchor="ctr">
                    <a:solidFill>
                      <a:srgbClr val="F0E8D5"/>
                    </a:solidFill>
                  </a:tcPr>
                </a:tc>
                <a:tc>
                  <a:txBody>
                    <a:bodyPr/>
                    <a:lstStyle/>
                    <a:p>
                      <a:pPr>
                        <a:defRPr sz="900">
                          <a:solidFill>
                            <a:srgbClr val="333333"/>
                          </a:solidFill>
                        </a:defRPr>
                      </a:pPr>
                      <a:r>
                        <a:t>2,100万人</a:t>
                      </a:r>
                    </a:p>
                  </a:txBody>
                  <a:tcPr anchor="ctr">
                    <a:solidFill>
                      <a:srgbClr val="F0E8D5"/>
                    </a:solidFill>
                  </a:tcPr>
                </a:tc>
                <a:tc>
                  <a:txBody>
                    <a:bodyPr/>
                    <a:lstStyle/>
                    <a:p>
                      <a:pPr>
                        <a:defRPr sz="900">
                          <a:solidFill>
                            <a:srgbClr val="333333"/>
                          </a:solidFill>
                        </a:defRPr>
                      </a:pPr>
                      <a:r>
                        <a:t>引退準備</a:t>
                      </a:r>
                    </a:p>
                  </a:txBody>
                  <a:tcPr anchor="ctr">
                    <a:solidFill>
                      <a:srgbClr val="F0E8D5"/>
                    </a:solidFill>
                  </a:tcPr>
                </a:tc>
                <a:tc>
                  <a:txBody>
                    <a:bodyPr/>
                    <a:lstStyle/>
                    <a:p>
                      <a:pPr>
                        <a:defRPr sz="900">
                          <a:solidFill>
                            <a:srgbClr val="333333"/>
                          </a:solidFill>
                        </a:defRPr>
                      </a:pPr>
                      <a:r>
                        <a:t>知恵継承</a:t>
                      </a:r>
                    </a:p>
                  </a:txBody>
                  <a:tcPr anchor="ctr">
                    <a:solidFill>
                      <a:srgbClr val="F0E8D5"/>
                    </a:solidFill>
                  </a:tcPr>
                </a:tc>
                <a:tc>
                  <a:txBody>
                    <a:bodyPr/>
                    <a:lstStyle/>
                    <a:p>
                      <a:pPr>
                        <a:defRPr sz="900">
                          <a:solidFill>
                            <a:srgbClr val="333333"/>
                          </a:solidFill>
                        </a:defRPr>
                      </a:pPr>
                      <a:r>
                        <a:t>現実主義</a:t>
                      </a:r>
                    </a:p>
                    <a:p>
                      <a:pPr>
                        <a:defRPr sz="900">
                          <a:solidFill>
                            <a:srgbClr val="333333"/>
                          </a:solidFill>
                        </a:defRPr>
                      </a:pPr>
                      <a:r>
                        <a:t>安定志向</a:t>
                      </a:r>
                    </a:p>
                  </a:txBody>
                  <a:tcPr anchor="ctr">
                    <a:solidFill>
                      <a:srgbClr val="F0E8D5"/>
                    </a:solidFill>
                  </a:tcPr>
                </a:tc>
              </a:tr>
              <a:tr h="487680">
                <a:tc>
                  <a:txBody>
                    <a:bodyPr/>
                    <a:lstStyle/>
                    <a:p>
                      <a:pPr>
                        <a:defRPr sz="900">
                          <a:solidFill>
                            <a:srgbClr val="333333"/>
                          </a:solidFill>
                        </a:defRPr>
                      </a:pPr>
                      <a:r>
                        <a:t>ベビーブーマー</a:t>
                      </a:r>
                    </a:p>
                    <a:p>
                      <a:pPr>
                        <a:defRPr sz="900">
                          <a:solidFill>
                            <a:srgbClr val="333333"/>
                          </a:solidFill>
                        </a:defRPr>
                      </a:pPr>
                      <a:r>
                        <a:t>(1946-1964年)</a:t>
                      </a:r>
                    </a:p>
                  </a:txBody>
                  <a:tcPr anchor="ctr">
                    <a:solidFill>
                      <a:srgbClr val="F9F6F0"/>
                    </a:solidFill>
                  </a:tcPr>
                </a:tc>
                <a:tc>
                  <a:txBody>
                    <a:bodyPr/>
                    <a:lstStyle/>
                    <a:p>
                      <a:pPr>
                        <a:defRPr sz="900">
                          <a:solidFill>
                            <a:srgbClr val="333333"/>
                          </a:solidFill>
                        </a:defRPr>
                      </a:pPr>
                      <a:r>
                        <a:t>1,800万人</a:t>
                      </a:r>
                    </a:p>
                  </a:txBody>
                  <a:tcPr anchor="ctr">
                    <a:solidFill>
                      <a:srgbClr val="F9F6F0"/>
                    </a:solidFill>
                  </a:tcPr>
                </a:tc>
                <a:tc>
                  <a:txBody>
                    <a:bodyPr/>
                    <a:lstStyle/>
                    <a:p>
                      <a:pPr>
                        <a:defRPr sz="900">
                          <a:solidFill>
                            <a:srgbClr val="333333"/>
                          </a:solidFill>
                        </a:defRPr>
                      </a:pPr>
                      <a:r>
                        <a:t>後期高齢</a:t>
                      </a:r>
                    </a:p>
                  </a:txBody>
                  <a:tcPr anchor="ctr">
                    <a:solidFill>
                      <a:srgbClr val="F9F6F0"/>
                    </a:solidFill>
                  </a:tcPr>
                </a:tc>
                <a:tc>
                  <a:txBody>
                    <a:bodyPr/>
                    <a:lstStyle/>
                    <a:p>
                      <a:pPr>
                        <a:defRPr sz="900">
                          <a:solidFill>
                            <a:srgbClr val="333333"/>
                          </a:solidFill>
                        </a:defRPr>
                      </a:pPr>
                      <a:r>
                        <a:t>100歳現役</a:t>
                      </a:r>
                    </a:p>
                  </a:txBody>
                  <a:tcPr anchor="ctr">
                    <a:solidFill>
                      <a:srgbClr val="F9F6F0"/>
                    </a:solidFill>
                  </a:tcPr>
                </a:tc>
                <a:tc>
                  <a:txBody>
                    <a:bodyPr/>
                    <a:lstStyle/>
                    <a:p>
                      <a:pPr>
                        <a:defRPr sz="900">
                          <a:solidFill>
                            <a:srgbClr val="333333"/>
                          </a:solidFill>
                        </a:defRPr>
                      </a:pPr>
                      <a:r>
                        <a:t>豊富な経験</a:t>
                      </a:r>
                    </a:p>
                    <a:p>
                      <a:pPr>
                        <a:defRPr sz="900">
                          <a:solidFill>
                            <a:srgbClr val="333333"/>
                          </a:solidFill>
                        </a:defRPr>
                      </a:pPr>
                      <a:r>
                        <a:t>伝統価値</a:t>
                      </a:r>
                    </a:p>
                  </a:txBody>
                  <a:tcPr anchor="ctr">
                    <a:solidFill>
                      <a:srgbClr val="F9F6F0"/>
                    </a:solidFill>
                  </a:tcPr>
                </a:tc>
              </a:tr>
            </a:tbl>
          </a:graphicData>
        </a:graphic>
      </p:graphicFrame>
      <p:sp>
        <p:nvSpPr>
          <p:cNvPr id="7" name="Rounded Rectangle 6"/>
          <p:cNvSpPr/>
          <p:nvPr/>
        </p:nvSpPr>
        <p:spPr>
          <a:xfrm>
            <a:off x="274320" y="4206240"/>
            <a:ext cx="8412480" cy="32004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224528"/>
            <a:ext cx="8229600" cy="274320"/>
          </a:xfrm>
          <a:prstGeom prst="rect">
            <a:avLst/>
          </a:prstGeom>
          <a:noFill/>
        </p:spPr>
        <p:txBody>
          <a:bodyPr wrap="square">
            <a:spAutoFit/>
          </a:bodyPr>
          <a:lstStyle/>
          <a:p>
            <a:pPr algn="ctr">
              <a:defRPr sz="900" b="1">
                <a:solidFill>
                  <a:srgbClr val="8B7536"/>
                </a:solidFill>
              </a:defRPr>
            </a:pPr>
            <a:r>
              <a:t>2030年の意思決定者はミレニアル世代 → ワークライフバランスとデジタルを重視した提案が効果的</a:t>
            </a:r>
          </a:p>
        </p:txBody>
      </p:sp>
      <p:sp>
        <p:nvSpPr>
          <p:cNvPr id="9" name="Rectangle 8"/>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11" name="TextBox 10"/>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926080" cy="51435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926080" y="0"/>
            <a:ext cx="621792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0"/>
            <a:ext cx="2286000" cy="1371600"/>
          </a:xfrm>
          <a:prstGeom prst="rect">
            <a:avLst/>
          </a:prstGeom>
          <a:noFill/>
        </p:spPr>
        <p:txBody>
          <a:bodyPr wrap="square">
            <a:spAutoFit/>
          </a:bodyPr>
          <a:lstStyle/>
          <a:p>
            <a:pPr algn="ctr">
              <a:defRPr sz="6000" b="1">
                <a:solidFill>
                  <a:srgbClr val="FFFFFF"/>
                </a:solidFill>
              </a:defRPr>
            </a:pPr>
            <a:r>
              <a:t>03</a:t>
            </a:r>
          </a:p>
        </p:txBody>
      </p:sp>
      <p:sp>
        <p:nvSpPr>
          <p:cNvPr id="5" name="TextBox 4"/>
          <p:cNvSpPr txBox="1"/>
          <p:nvPr/>
        </p:nvSpPr>
        <p:spPr>
          <a:xfrm>
            <a:off x="3200400" y="1097280"/>
            <a:ext cx="5486400" cy="731520"/>
          </a:xfrm>
          <a:prstGeom prst="rect">
            <a:avLst/>
          </a:prstGeom>
          <a:noFill/>
        </p:spPr>
        <p:txBody>
          <a:bodyPr wrap="square">
            <a:spAutoFit/>
          </a:bodyPr>
          <a:lstStyle/>
          <a:p>
            <a:pPr algn="l">
              <a:defRPr sz="2800" b="0">
                <a:solidFill>
                  <a:srgbClr val="FFFFFF"/>
                </a:solidFill>
              </a:defRPr>
            </a:pPr>
            <a:r>
              <a:t>生活と社会の</a:t>
            </a:r>
          </a:p>
        </p:txBody>
      </p:sp>
      <p:sp>
        <p:nvSpPr>
          <p:cNvPr id="6" name="TextBox 5"/>
          <p:cNvSpPr txBox="1"/>
          <p:nvPr/>
        </p:nvSpPr>
        <p:spPr>
          <a:xfrm>
            <a:off x="3200400" y="1828800"/>
            <a:ext cx="5486400" cy="731520"/>
          </a:xfrm>
          <a:prstGeom prst="rect">
            <a:avLst/>
          </a:prstGeom>
          <a:noFill/>
        </p:spPr>
        <p:txBody>
          <a:bodyPr wrap="square">
            <a:spAutoFit/>
          </a:bodyPr>
          <a:lstStyle/>
          <a:p>
            <a:pPr algn="l">
              <a:defRPr sz="3400" b="1">
                <a:solidFill>
                  <a:srgbClr val="C9A84C"/>
                </a:solidFill>
              </a:defRPr>
            </a:pPr>
            <a:r>
              <a:t>大変容</a:t>
            </a:r>
          </a:p>
        </p:txBody>
      </p:sp>
      <p:sp>
        <p:nvSpPr>
          <p:cNvPr id="7" name="TextBox 6"/>
          <p:cNvSpPr txBox="1"/>
          <p:nvPr/>
        </p:nvSpPr>
        <p:spPr>
          <a:xfrm>
            <a:off x="3200400" y="2926080"/>
            <a:ext cx="5486400" cy="914400"/>
          </a:xfrm>
          <a:prstGeom prst="rect">
            <a:avLst/>
          </a:prstGeom>
          <a:noFill/>
        </p:spPr>
        <p:txBody>
          <a:bodyPr wrap="square">
            <a:spAutoFit/>
          </a:bodyPr>
          <a:lstStyle/>
          <a:p>
            <a:pPr algn="l">
              <a:defRPr sz="1400" b="0">
                <a:solidFill>
                  <a:srgbClr val="AAAAAA"/>
                </a:solidFill>
              </a:defRPr>
            </a:pPr>
            <a:r>
              <a:t>食・住・医療・教育…</a:t>
            </a:r>
            <a:br/>
            <a:r>
              <a:t>生活のあらゆる領域が変わる</a:t>
            </a:r>
          </a:p>
        </p:txBody>
      </p:sp>
      <p:sp>
        <p:nvSpPr>
          <p:cNvPr id="8" name="TextBox 7"/>
          <p:cNvSpPr txBox="1"/>
          <p:nvPr/>
        </p:nvSpPr>
        <p:spPr>
          <a:xfrm>
            <a:off x="3200400" y="4114800"/>
            <a:ext cx="2743200" cy="274320"/>
          </a:xfrm>
          <a:prstGeom prst="rect">
            <a:avLst/>
          </a:prstGeom>
          <a:noFill/>
        </p:spPr>
        <p:txBody>
          <a:bodyPr wrap="square">
            <a:spAutoFit/>
          </a:bodyPr>
          <a:lstStyle/>
          <a:p>
            <a:pPr algn="l">
              <a:defRPr sz="800" b="0">
                <a:solidFill>
                  <a:srgbClr val="888888"/>
                </a:solidFill>
              </a:defRPr>
            </a:pPr>
            <a:r>
              <a:t>H A R M O N I C   i n s i g h 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生活カテゴリ別 変化サマリー</a:t>
            </a:r>
          </a:p>
        </p:txBody>
      </p:sp>
      <p:sp>
        <p:nvSpPr>
          <p:cNvPr id="5" name="Rounded Rectangle 4"/>
          <p:cNvSpPr/>
          <p:nvPr/>
        </p:nvSpPr>
        <p:spPr>
          <a:xfrm>
            <a:off x="182880" y="1005840"/>
            <a:ext cx="274320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82880" y="1005840"/>
            <a:ext cx="2743200" cy="365760"/>
          </a:xfrm>
          <a:prstGeom prst="round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 y="1025840"/>
            <a:ext cx="2743200" cy="320040"/>
          </a:xfrm>
          <a:prstGeom prst="rect">
            <a:avLst/>
          </a:prstGeom>
          <a:noFill/>
        </p:spPr>
        <p:txBody>
          <a:bodyPr wrap="square">
            <a:spAutoFit/>
          </a:bodyPr>
          <a:lstStyle/>
          <a:p>
            <a:pPr algn="ctr">
              <a:defRPr sz="1200" b="1">
                <a:solidFill>
                  <a:srgbClr val="FFFFFF"/>
                </a:solidFill>
              </a:defRPr>
            </a:pPr>
            <a:r>
              <a:t>食生活</a:t>
            </a:r>
          </a:p>
        </p:txBody>
      </p:sp>
      <p:sp>
        <p:nvSpPr>
          <p:cNvPr id="8" name="TextBox 7"/>
          <p:cNvSpPr txBox="1"/>
          <p:nvPr/>
        </p:nvSpPr>
        <p:spPr>
          <a:xfrm>
            <a:off x="232880" y="1405840"/>
            <a:ext cx="548640" cy="182880"/>
          </a:xfrm>
          <a:prstGeom prst="rect">
            <a:avLst/>
          </a:prstGeom>
          <a:noFill/>
        </p:spPr>
        <p:txBody>
          <a:bodyPr wrap="square">
            <a:spAutoFit/>
          </a:bodyPr>
          <a:lstStyle/>
          <a:p>
            <a:pPr algn="l">
              <a:defRPr sz="800" b="1">
                <a:solidFill>
                  <a:srgbClr val="E86C00"/>
                </a:solidFill>
              </a:defRPr>
            </a:pPr>
            <a:r>
              <a:t>現在</a:t>
            </a:r>
          </a:p>
        </p:txBody>
      </p:sp>
      <p:sp>
        <p:nvSpPr>
          <p:cNvPr id="9" name="TextBox 8"/>
          <p:cNvSpPr txBox="1"/>
          <p:nvPr/>
        </p:nvSpPr>
        <p:spPr>
          <a:xfrm>
            <a:off x="232880" y="1565840"/>
            <a:ext cx="2560320" cy="182880"/>
          </a:xfrm>
          <a:prstGeom prst="rect">
            <a:avLst/>
          </a:prstGeom>
          <a:noFill/>
        </p:spPr>
        <p:txBody>
          <a:bodyPr wrap="square">
            <a:spAutoFit/>
          </a:bodyPr>
          <a:lstStyle/>
          <a:p>
            <a:pPr algn="l">
              <a:defRPr sz="900" b="0">
                <a:solidFill>
                  <a:srgbClr val="666666"/>
                </a:solidFill>
              </a:defRPr>
            </a:pPr>
            <a:r>
              <a:t>食費25%→階級社会</a:t>
            </a:r>
          </a:p>
        </p:txBody>
      </p:sp>
      <p:sp>
        <p:nvSpPr>
          <p:cNvPr id="10" name="TextBox 9"/>
          <p:cNvSpPr txBox="1"/>
          <p:nvPr/>
        </p:nvSpPr>
        <p:spPr>
          <a:xfrm>
            <a:off x="232880" y="1725840"/>
            <a:ext cx="2560320" cy="182880"/>
          </a:xfrm>
          <a:prstGeom prst="rect">
            <a:avLst/>
          </a:prstGeom>
          <a:noFill/>
        </p:spPr>
        <p:txBody>
          <a:bodyPr wrap="square">
            <a:spAutoFit/>
          </a:bodyPr>
          <a:lstStyle/>
          <a:p>
            <a:pPr algn="l">
              <a:defRPr sz="900" b="0">
                <a:solidFill>
                  <a:srgbClr val="666666"/>
                </a:solidFill>
              </a:defRPr>
            </a:pPr>
            <a:r>
              <a:t>米価格倍増→食料安保</a:t>
            </a:r>
          </a:p>
        </p:txBody>
      </p:sp>
      <p:sp>
        <p:nvSpPr>
          <p:cNvPr id="11" name="TextBox 10"/>
          <p:cNvSpPr txBox="1"/>
          <p:nvPr/>
        </p:nvSpPr>
        <p:spPr>
          <a:xfrm>
            <a:off x="232880" y="1955840"/>
            <a:ext cx="548640" cy="182880"/>
          </a:xfrm>
          <a:prstGeom prst="rect">
            <a:avLst/>
          </a:prstGeom>
          <a:noFill/>
        </p:spPr>
        <p:txBody>
          <a:bodyPr wrap="square">
            <a:spAutoFit/>
          </a:bodyPr>
          <a:lstStyle/>
          <a:p>
            <a:pPr algn="l">
              <a:defRPr sz="800" b="1">
                <a:solidFill>
                  <a:srgbClr val="E86C00"/>
                </a:solidFill>
              </a:defRPr>
            </a:pPr>
            <a:r>
              <a:t>2050</a:t>
            </a:r>
          </a:p>
        </p:txBody>
      </p:sp>
      <p:sp>
        <p:nvSpPr>
          <p:cNvPr id="12" name="TextBox 11"/>
          <p:cNvSpPr txBox="1"/>
          <p:nvPr/>
        </p:nvSpPr>
        <p:spPr>
          <a:xfrm>
            <a:off x="232880" y="2115840"/>
            <a:ext cx="2560320" cy="182880"/>
          </a:xfrm>
          <a:prstGeom prst="rect">
            <a:avLst/>
          </a:prstGeom>
          <a:noFill/>
        </p:spPr>
        <p:txBody>
          <a:bodyPr wrap="square">
            <a:spAutoFit/>
          </a:bodyPr>
          <a:lstStyle/>
          <a:p>
            <a:pPr algn="l">
              <a:defRPr sz="900" b="1">
                <a:solidFill>
                  <a:srgbClr val="333333"/>
                </a:solidFill>
              </a:defRPr>
            </a:pPr>
            <a:r>
              <a:t>食費格差3倍に拡大</a:t>
            </a:r>
          </a:p>
        </p:txBody>
      </p:sp>
      <p:sp>
        <p:nvSpPr>
          <p:cNvPr id="13" name="TextBox 12"/>
          <p:cNvSpPr txBox="1"/>
          <p:nvPr/>
        </p:nvSpPr>
        <p:spPr>
          <a:xfrm>
            <a:off x="232880" y="2275840"/>
            <a:ext cx="2560320" cy="182880"/>
          </a:xfrm>
          <a:prstGeom prst="rect">
            <a:avLst/>
          </a:prstGeom>
          <a:noFill/>
        </p:spPr>
        <p:txBody>
          <a:bodyPr wrap="square">
            <a:spAutoFit/>
          </a:bodyPr>
          <a:lstStyle/>
          <a:p>
            <a:pPr algn="l">
              <a:defRPr sz="900" b="1">
                <a:solidFill>
                  <a:srgbClr val="333333"/>
                </a:solidFill>
              </a:defRPr>
            </a:pPr>
            <a:r>
              <a:t>水取引市場が確立</a:t>
            </a:r>
          </a:p>
        </p:txBody>
      </p:sp>
      <p:sp>
        <p:nvSpPr>
          <p:cNvPr id="14" name="Rounded Rectangle 13"/>
          <p:cNvSpPr/>
          <p:nvPr/>
        </p:nvSpPr>
        <p:spPr>
          <a:xfrm>
            <a:off x="3154680" y="1005840"/>
            <a:ext cx="274320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154680" y="1005840"/>
            <a:ext cx="2743200" cy="365760"/>
          </a:xfrm>
          <a:prstGeom prst="round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54680" y="1025840"/>
            <a:ext cx="2743200" cy="320040"/>
          </a:xfrm>
          <a:prstGeom prst="rect">
            <a:avLst/>
          </a:prstGeom>
          <a:noFill/>
        </p:spPr>
        <p:txBody>
          <a:bodyPr wrap="square">
            <a:spAutoFit/>
          </a:bodyPr>
          <a:lstStyle/>
          <a:p>
            <a:pPr algn="ctr">
              <a:defRPr sz="1200" b="1">
                <a:solidFill>
                  <a:srgbClr val="FFFFFF"/>
                </a:solidFill>
              </a:defRPr>
            </a:pPr>
            <a:r>
              <a:t>住環境</a:t>
            </a:r>
          </a:p>
        </p:txBody>
      </p:sp>
      <p:sp>
        <p:nvSpPr>
          <p:cNvPr id="17" name="TextBox 16"/>
          <p:cNvSpPr txBox="1"/>
          <p:nvPr/>
        </p:nvSpPr>
        <p:spPr>
          <a:xfrm>
            <a:off x="3204680" y="1405840"/>
            <a:ext cx="548640" cy="182880"/>
          </a:xfrm>
          <a:prstGeom prst="rect">
            <a:avLst/>
          </a:prstGeom>
          <a:noFill/>
        </p:spPr>
        <p:txBody>
          <a:bodyPr wrap="square">
            <a:spAutoFit/>
          </a:bodyPr>
          <a:lstStyle/>
          <a:p>
            <a:pPr algn="l">
              <a:defRPr sz="800" b="1">
                <a:solidFill>
                  <a:srgbClr val="2C7AB0"/>
                </a:solidFill>
              </a:defRPr>
            </a:pPr>
            <a:r>
              <a:t>現在</a:t>
            </a:r>
          </a:p>
        </p:txBody>
      </p:sp>
      <p:sp>
        <p:nvSpPr>
          <p:cNvPr id="18" name="TextBox 17"/>
          <p:cNvSpPr txBox="1"/>
          <p:nvPr/>
        </p:nvSpPr>
        <p:spPr>
          <a:xfrm>
            <a:off x="3204680" y="1565840"/>
            <a:ext cx="2560320" cy="182880"/>
          </a:xfrm>
          <a:prstGeom prst="rect">
            <a:avLst/>
          </a:prstGeom>
          <a:noFill/>
        </p:spPr>
        <p:txBody>
          <a:bodyPr wrap="square">
            <a:spAutoFit/>
          </a:bodyPr>
          <a:lstStyle/>
          <a:p>
            <a:pPr algn="l">
              <a:defRPr sz="900" b="0">
                <a:solidFill>
                  <a:srgbClr val="666666"/>
                </a:solidFill>
              </a:defRPr>
            </a:pPr>
            <a:r>
              <a:t>空き家800万戸</a:t>
            </a:r>
          </a:p>
        </p:txBody>
      </p:sp>
      <p:sp>
        <p:nvSpPr>
          <p:cNvPr id="19" name="TextBox 18"/>
          <p:cNvSpPr txBox="1"/>
          <p:nvPr/>
        </p:nvSpPr>
        <p:spPr>
          <a:xfrm>
            <a:off x="3204680" y="1725840"/>
            <a:ext cx="2560320" cy="182880"/>
          </a:xfrm>
          <a:prstGeom prst="rect">
            <a:avLst/>
          </a:prstGeom>
          <a:noFill/>
        </p:spPr>
        <p:txBody>
          <a:bodyPr wrap="square">
            <a:spAutoFit/>
          </a:bodyPr>
          <a:lstStyle/>
          <a:p>
            <a:pPr algn="l">
              <a:defRPr sz="900" b="0">
                <a:solidFill>
                  <a:srgbClr val="666666"/>
                </a:solidFill>
              </a:defRPr>
            </a:pPr>
            <a:r>
              <a:t>都市部家賃高騰</a:t>
            </a:r>
          </a:p>
        </p:txBody>
      </p:sp>
      <p:sp>
        <p:nvSpPr>
          <p:cNvPr id="20" name="TextBox 19"/>
          <p:cNvSpPr txBox="1"/>
          <p:nvPr/>
        </p:nvSpPr>
        <p:spPr>
          <a:xfrm>
            <a:off x="3204680" y="1955840"/>
            <a:ext cx="548640" cy="182880"/>
          </a:xfrm>
          <a:prstGeom prst="rect">
            <a:avLst/>
          </a:prstGeom>
          <a:noFill/>
        </p:spPr>
        <p:txBody>
          <a:bodyPr wrap="square">
            <a:spAutoFit/>
          </a:bodyPr>
          <a:lstStyle/>
          <a:p>
            <a:pPr algn="l">
              <a:defRPr sz="800" b="1">
                <a:solidFill>
                  <a:srgbClr val="2C7AB0"/>
                </a:solidFill>
              </a:defRPr>
            </a:pPr>
            <a:r>
              <a:t>2050</a:t>
            </a:r>
          </a:p>
        </p:txBody>
      </p:sp>
      <p:sp>
        <p:nvSpPr>
          <p:cNvPr id="21" name="TextBox 20"/>
          <p:cNvSpPr txBox="1"/>
          <p:nvPr/>
        </p:nvSpPr>
        <p:spPr>
          <a:xfrm>
            <a:off x="3204680" y="2115840"/>
            <a:ext cx="2560320" cy="182880"/>
          </a:xfrm>
          <a:prstGeom prst="rect">
            <a:avLst/>
          </a:prstGeom>
          <a:noFill/>
        </p:spPr>
        <p:txBody>
          <a:bodyPr wrap="square">
            <a:spAutoFit/>
          </a:bodyPr>
          <a:lstStyle/>
          <a:p>
            <a:pPr algn="l">
              <a:defRPr sz="900" b="1">
                <a:solidFill>
                  <a:srgbClr val="333333"/>
                </a:solidFill>
              </a:defRPr>
            </a:pPr>
            <a:r>
              <a:t>所有概念が消失</a:t>
            </a:r>
          </a:p>
        </p:txBody>
      </p:sp>
      <p:sp>
        <p:nvSpPr>
          <p:cNvPr id="22" name="TextBox 21"/>
          <p:cNvSpPr txBox="1"/>
          <p:nvPr/>
        </p:nvSpPr>
        <p:spPr>
          <a:xfrm>
            <a:off x="3204680" y="2275840"/>
            <a:ext cx="2560320" cy="182880"/>
          </a:xfrm>
          <a:prstGeom prst="rect">
            <a:avLst/>
          </a:prstGeom>
          <a:noFill/>
        </p:spPr>
        <p:txBody>
          <a:bodyPr wrap="square">
            <a:spAutoFit/>
          </a:bodyPr>
          <a:lstStyle/>
          <a:p>
            <a:pPr algn="l">
              <a:defRPr sz="900" b="1">
                <a:solidFill>
                  <a:srgbClr val="333333"/>
                </a:solidFill>
              </a:defRPr>
            </a:pPr>
            <a:r>
              <a:t>住居格差10倍に</a:t>
            </a:r>
          </a:p>
        </p:txBody>
      </p:sp>
      <p:sp>
        <p:nvSpPr>
          <p:cNvPr id="23" name="Rounded Rectangle 22"/>
          <p:cNvSpPr/>
          <p:nvPr/>
        </p:nvSpPr>
        <p:spPr>
          <a:xfrm>
            <a:off x="6126480" y="1005840"/>
            <a:ext cx="274320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26480" y="1005840"/>
            <a:ext cx="2743200" cy="36576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0" y="1025840"/>
            <a:ext cx="2743200" cy="320040"/>
          </a:xfrm>
          <a:prstGeom prst="rect">
            <a:avLst/>
          </a:prstGeom>
          <a:noFill/>
        </p:spPr>
        <p:txBody>
          <a:bodyPr wrap="square">
            <a:spAutoFit/>
          </a:bodyPr>
          <a:lstStyle/>
          <a:p>
            <a:pPr algn="ctr">
              <a:defRPr sz="1200" b="1">
                <a:solidFill>
                  <a:srgbClr val="FFFFFF"/>
                </a:solidFill>
              </a:defRPr>
            </a:pPr>
            <a:r>
              <a:t>働き方</a:t>
            </a:r>
          </a:p>
        </p:txBody>
      </p:sp>
      <p:sp>
        <p:nvSpPr>
          <p:cNvPr id="26" name="TextBox 25"/>
          <p:cNvSpPr txBox="1"/>
          <p:nvPr/>
        </p:nvSpPr>
        <p:spPr>
          <a:xfrm>
            <a:off x="6176480" y="1405840"/>
            <a:ext cx="548640" cy="182880"/>
          </a:xfrm>
          <a:prstGeom prst="rect">
            <a:avLst/>
          </a:prstGeom>
          <a:noFill/>
        </p:spPr>
        <p:txBody>
          <a:bodyPr wrap="square">
            <a:spAutoFit/>
          </a:bodyPr>
          <a:lstStyle/>
          <a:p>
            <a:pPr algn="l">
              <a:defRPr sz="800" b="1">
                <a:solidFill>
                  <a:srgbClr val="8E44AD"/>
                </a:solidFill>
              </a:defRPr>
            </a:pPr>
            <a:r>
              <a:t>現在</a:t>
            </a:r>
          </a:p>
        </p:txBody>
      </p:sp>
      <p:sp>
        <p:nvSpPr>
          <p:cNvPr id="27" name="TextBox 26"/>
          <p:cNvSpPr txBox="1"/>
          <p:nvPr/>
        </p:nvSpPr>
        <p:spPr>
          <a:xfrm>
            <a:off x="6176480" y="1565840"/>
            <a:ext cx="2560320" cy="182880"/>
          </a:xfrm>
          <a:prstGeom prst="rect">
            <a:avLst/>
          </a:prstGeom>
          <a:noFill/>
        </p:spPr>
        <p:txBody>
          <a:bodyPr wrap="square">
            <a:spAutoFit/>
          </a:bodyPr>
          <a:lstStyle/>
          <a:p>
            <a:pPr algn="l">
              <a:defRPr sz="900" b="0">
                <a:solidFill>
                  <a:srgbClr val="666666"/>
                </a:solidFill>
              </a:defRPr>
            </a:pPr>
            <a:r>
              <a:t>リモート標準化</a:t>
            </a:r>
          </a:p>
        </p:txBody>
      </p:sp>
      <p:sp>
        <p:nvSpPr>
          <p:cNvPr id="28" name="TextBox 27"/>
          <p:cNvSpPr txBox="1"/>
          <p:nvPr/>
        </p:nvSpPr>
        <p:spPr>
          <a:xfrm>
            <a:off x="6176480" y="1725840"/>
            <a:ext cx="2560320" cy="182880"/>
          </a:xfrm>
          <a:prstGeom prst="rect">
            <a:avLst/>
          </a:prstGeom>
          <a:noFill/>
        </p:spPr>
        <p:txBody>
          <a:bodyPr wrap="square">
            <a:spAutoFit/>
          </a:bodyPr>
          <a:lstStyle/>
          <a:p>
            <a:pPr algn="l">
              <a:defRPr sz="900" b="0">
                <a:solidFill>
                  <a:srgbClr val="666666"/>
                </a:solidFill>
              </a:defRPr>
            </a:pPr>
            <a:r>
              <a:t>終身雇用30%</a:t>
            </a:r>
          </a:p>
        </p:txBody>
      </p:sp>
      <p:sp>
        <p:nvSpPr>
          <p:cNvPr id="29" name="TextBox 28"/>
          <p:cNvSpPr txBox="1"/>
          <p:nvPr/>
        </p:nvSpPr>
        <p:spPr>
          <a:xfrm>
            <a:off x="6176480" y="1955840"/>
            <a:ext cx="548640" cy="182880"/>
          </a:xfrm>
          <a:prstGeom prst="rect">
            <a:avLst/>
          </a:prstGeom>
          <a:noFill/>
        </p:spPr>
        <p:txBody>
          <a:bodyPr wrap="square">
            <a:spAutoFit/>
          </a:bodyPr>
          <a:lstStyle/>
          <a:p>
            <a:pPr algn="l">
              <a:defRPr sz="800" b="1">
                <a:solidFill>
                  <a:srgbClr val="8E44AD"/>
                </a:solidFill>
              </a:defRPr>
            </a:pPr>
            <a:r>
              <a:t>2050</a:t>
            </a:r>
          </a:p>
        </p:txBody>
      </p:sp>
      <p:sp>
        <p:nvSpPr>
          <p:cNvPr id="30" name="TextBox 29"/>
          <p:cNvSpPr txBox="1"/>
          <p:nvPr/>
        </p:nvSpPr>
        <p:spPr>
          <a:xfrm>
            <a:off x="6176480" y="2115840"/>
            <a:ext cx="2560320" cy="182880"/>
          </a:xfrm>
          <a:prstGeom prst="rect">
            <a:avLst/>
          </a:prstGeom>
          <a:noFill/>
        </p:spPr>
        <p:txBody>
          <a:bodyPr wrap="square">
            <a:spAutoFit/>
          </a:bodyPr>
          <a:lstStyle/>
          <a:p>
            <a:pPr algn="l">
              <a:defRPr sz="900" b="1">
                <a:solidFill>
                  <a:srgbClr val="333333"/>
                </a:solidFill>
              </a:defRPr>
            </a:pPr>
            <a:r>
              <a:t>創造=労働</a:t>
            </a:r>
          </a:p>
        </p:txBody>
      </p:sp>
      <p:sp>
        <p:nvSpPr>
          <p:cNvPr id="31" name="TextBox 30"/>
          <p:cNvSpPr txBox="1"/>
          <p:nvPr/>
        </p:nvSpPr>
        <p:spPr>
          <a:xfrm>
            <a:off x="6176480" y="2275840"/>
            <a:ext cx="2560320" cy="182880"/>
          </a:xfrm>
          <a:prstGeom prst="rect">
            <a:avLst/>
          </a:prstGeom>
          <a:noFill/>
        </p:spPr>
        <p:txBody>
          <a:bodyPr wrap="square">
            <a:spAutoFit/>
          </a:bodyPr>
          <a:lstStyle/>
          <a:p>
            <a:pPr algn="l">
              <a:defRPr sz="900" b="1">
                <a:solidFill>
                  <a:srgbClr val="333333"/>
                </a:solidFill>
              </a:defRPr>
            </a:pPr>
            <a:r>
              <a:t>完全実力主義社会</a:t>
            </a:r>
          </a:p>
        </p:txBody>
      </p:sp>
      <p:sp>
        <p:nvSpPr>
          <p:cNvPr id="32" name="Rounded Rectangle 31"/>
          <p:cNvSpPr/>
          <p:nvPr/>
        </p:nvSpPr>
        <p:spPr>
          <a:xfrm>
            <a:off x="182880" y="2926080"/>
            <a:ext cx="274320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82880" y="2926080"/>
            <a:ext cx="2743200" cy="36576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 y="2946080"/>
            <a:ext cx="2743200" cy="320040"/>
          </a:xfrm>
          <a:prstGeom prst="rect">
            <a:avLst/>
          </a:prstGeom>
          <a:noFill/>
        </p:spPr>
        <p:txBody>
          <a:bodyPr wrap="square">
            <a:spAutoFit/>
          </a:bodyPr>
          <a:lstStyle/>
          <a:p>
            <a:pPr algn="ctr">
              <a:defRPr sz="1200" b="1">
                <a:solidFill>
                  <a:srgbClr val="FFFFFF"/>
                </a:solidFill>
              </a:defRPr>
            </a:pPr>
            <a:r>
              <a:t>健康・医療</a:t>
            </a:r>
          </a:p>
        </p:txBody>
      </p:sp>
      <p:sp>
        <p:nvSpPr>
          <p:cNvPr id="35" name="TextBox 34"/>
          <p:cNvSpPr txBox="1"/>
          <p:nvPr/>
        </p:nvSpPr>
        <p:spPr>
          <a:xfrm>
            <a:off x="232880" y="3326080"/>
            <a:ext cx="548640" cy="182880"/>
          </a:xfrm>
          <a:prstGeom prst="rect">
            <a:avLst/>
          </a:prstGeom>
          <a:noFill/>
        </p:spPr>
        <p:txBody>
          <a:bodyPr wrap="square">
            <a:spAutoFit/>
          </a:bodyPr>
          <a:lstStyle/>
          <a:p>
            <a:pPr algn="l">
              <a:defRPr sz="800" b="1">
                <a:solidFill>
                  <a:srgbClr val="27AE60"/>
                </a:solidFill>
              </a:defRPr>
            </a:pPr>
            <a:r>
              <a:t>現在</a:t>
            </a:r>
          </a:p>
        </p:txBody>
      </p:sp>
      <p:sp>
        <p:nvSpPr>
          <p:cNvPr id="36" name="TextBox 35"/>
          <p:cNvSpPr txBox="1"/>
          <p:nvPr/>
        </p:nvSpPr>
        <p:spPr>
          <a:xfrm>
            <a:off x="232880" y="3486080"/>
            <a:ext cx="2560320" cy="182880"/>
          </a:xfrm>
          <a:prstGeom prst="rect">
            <a:avLst/>
          </a:prstGeom>
          <a:noFill/>
        </p:spPr>
        <p:txBody>
          <a:bodyPr wrap="square">
            <a:spAutoFit/>
          </a:bodyPr>
          <a:lstStyle/>
          <a:p>
            <a:pPr algn="l">
              <a:defRPr sz="900" b="0">
                <a:solidFill>
                  <a:srgbClr val="666666"/>
                </a:solidFill>
              </a:defRPr>
            </a:pPr>
            <a:r>
              <a:t>医療費48兆円</a:t>
            </a:r>
          </a:p>
        </p:txBody>
      </p:sp>
      <p:sp>
        <p:nvSpPr>
          <p:cNvPr id="37" name="TextBox 36"/>
          <p:cNvSpPr txBox="1"/>
          <p:nvPr/>
        </p:nvSpPr>
        <p:spPr>
          <a:xfrm>
            <a:off x="232880" y="3646080"/>
            <a:ext cx="2560320" cy="182880"/>
          </a:xfrm>
          <a:prstGeom prst="rect">
            <a:avLst/>
          </a:prstGeom>
          <a:noFill/>
        </p:spPr>
        <p:txBody>
          <a:bodyPr wrap="square">
            <a:spAutoFit/>
          </a:bodyPr>
          <a:lstStyle/>
          <a:p>
            <a:pPr algn="l">
              <a:defRPr sz="900" b="0">
                <a:solidFill>
                  <a:srgbClr val="666666"/>
                </a:solidFill>
              </a:defRPr>
            </a:pPr>
            <a:r>
              <a:t>医師不足</a:t>
            </a:r>
          </a:p>
        </p:txBody>
      </p:sp>
      <p:sp>
        <p:nvSpPr>
          <p:cNvPr id="38" name="TextBox 37"/>
          <p:cNvSpPr txBox="1"/>
          <p:nvPr/>
        </p:nvSpPr>
        <p:spPr>
          <a:xfrm>
            <a:off x="232880" y="3876080"/>
            <a:ext cx="548640" cy="182880"/>
          </a:xfrm>
          <a:prstGeom prst="rect">
            <a:avLst/>
          </a:prstGeom>
          <a:noFill/>
        </p:spPr>
        <p:txBody>
          <a:bodyPr wrap="square">
            <a:spAutoFit/>
          </a:bodyPr>
          <a:lstStyle/>
          <a:p>
            <a:pPr algn="l">
              <a:defRPr sz="800" b="1">
                <a:solidFill>
                  <a:srgbClr val="27AE60"/>
                </a:solidFill>
              </a:defRPr>
            </a:pPr>
            <a:r>
              <a:t>2050</a:t>
            </a:r>
          </a:p>
        </p:txBody>
      </p:sp>
      <p:sp>
        <p:nvSpPr>
          <p:cNvPr id="39" name="TextBox 38"/>
          <p:cNvSpPr txBox="1"/>
          <p:nvPr/>
        </p:nvSpPr>
        <p:spPr>
          <a:xfrm>
            <a:off x="232880" y="4036080"/>
            <a:ext cx="2560320" cy="182880"/>
          </a:xfrm>
          <a:prstGeom prst="rect">
            <a:avLst/>
          </a:prstGeom>
          <a:noFill/>
        </p:spPr>
        <p:txBody>
          <a:bodyPr wrap="square">
            <a:spAutoFit/>
          </a:bodyPr>
          <a:lstStyle/>
          <a:p>
            <a:pPr algn="l">
              <a:defRPr sz="900" b="1">
                <a:solidFill>
                  <a:srgbClr val="333333"/>
                </a:solidFill>
              </a:defRPr>
            </a:pPr>
            <a:r>
              <a:t>平均寿命90歳</a:t>
            </a:r>
          </a:p>
        </p:txBody>
      </p:sp>
      <p:sp>
        <p:nvSpPr>
          <p:cNvPr id="40" name="TextBox 39"/>
          <p:cNvSpPr txBox="1"/>
          <p:nvPr/>
        </p:nvSpPr>
        <p:spPr>
          <a:xfrm>
            <a:off x="232880" y="4196080"/>
            <a:ext cx="2560320" cy="182880"/>
          </a:xfrm>
          <a:prstGeom prst="rect">
            <a:avLst/>
          </a:prstGeom>
          <a:noFill/>
        </p:spPr>
        <p:txBody>
          <a:bodyPr wrap="square">
            <a:spAutoFit/>
          </a:bodyPr>
          <a:lstStyle/>
          <a:p>
            <a:pPr algn="l">
              <a:defRPr sz="900" b="1">
                <a:solidFill>
                  <a:srgbClr val="333333"/>
                </a:solidFill>
              </a:defRPr>
            </a:pPr>
            <a:r>
              <a:t>AI診断100%</a:t>
            </a:r>
          </a:p>
        </p:txBody>
      </p:sp>
      <p:sp>
        <p:nvSpPr>
          <p:cNvPr id="41" name="Rounded Rectangle 40"/>
          <p:cNvSpPr/>
          <p:nvPr/>
        </p:nvSpPr>
        <p:spPr>
          <a:xfrm>
            <a:off x="3154680" y="2926080"/>
            <a:ext cx="274320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3154680" y="2926080"/>
            <a:ext cx="2743200" cy="365760"/>
          </a:xfrm>
          <a:prstGeom prst="round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54680" y="2946080"/>
            <a:ext cx="2743200" cy="320040"/>
          </a:xfrm>
          <a:prstGeom prst="rect">
            <a:avLst/>
          </a:prstGeom>
          <a:noFill/>
        </p:spPr>
        <p:txBody>
          <a:bodyPr wrap="square">
            <a:spAutoFit/>
          </a:bodyPr>
          <a:lstStyle/>
          <a:p>
            <a:pPr algn="ctr">
              <a:defRPr sz="1200" b="1">
                <a:solidFill>
                  <a:srgbClr val="FFFFFF"/>
                </a:solidFill>
              </a:defRPr>
            </a:pPr>
            <a:r>
              <a:t>教育</a:t>
            </a:r>
          </a:p>
        </p:txBody>
      </p:sp>
      <p:sp>
        <p:nvSpPr>
          <p:cNvPr id="44" name="TextBox 43"/>
          <p:cNvSpPr txBox="1"/>
          <p:nvPr/>
        </p:nvSpPr>
        <p:spPr>
          <a:xfrm>
            <a:off x="3204680" y="3326080"/>
            <a:ext cx="548640" cy="182880"/>
          </a:xfrm>
          <a:prstGeom prst="rect">
            <a:avLst/>
          </a:prstGeom>
          <a:noFill/>
        </p:spPr>
        <p:txBody>
          <a:bodyPr wrap="square">
            <a:spAutoFit/>
          </a:bodyPr>
          <a:lstStyle/>
          <a:p>
            <a:pPr algn="l">
              <a:defRPr sz="800" b="1">
                <a:solidFill>
                  <a:srgbClr val="E67E22"/>
                </a:solidFill>
              </a:defRPr>
            </a:pPr>
            <a:r>
              <a:t>現在</a:t>
            </a:r>
          </a:p>
        </p:txBody>
      </p:sp>
      <p:sp>
        <p:nvSpPr>
          <p:cNvPr id="45" name="TextBox 44"/>
          <p:cNvSpPr txBox="1"/>
          <p:nvPr/>
        </p:nvSpPr>
        <p:spPr>
          <a:xfrm>
            <a:off x="3204680" y="3486080"/>
            <a:ext cx="2560320" cy="182880"/>
          </a:xfrm>
          <a:prstGeom prst="rect">
            <a:avLst/>
          </a:prstGeom>
          <a:noFill/>
        </p:spPr>
        <p:txBody>
          <a:bodyPr wrap="square">
            <a:spAutoFit/>
          </a:bodyPr>
          <a:lstStyle/>
          <a:p>
            <a:pPr algn="l">
              <a:defRPr sz="900" b="0">
                <a:solidFill>
                  <a:srgbClr val="666666"/>
                </a:solidFill>
              </a:defRPr>
            </a:pPr>
            <a:r>
              <a:t>大学機能低下</a:t>
            </a:r>
          </a:p>
        </p:txBody>
      </p:sp>
      <p:sp>
        <p:nvSpPr>
          <p:cNvPr id="46" name="TextBox 45"/>
          <p:cNvSpPr txBox="1"/>
          <p:nvPr/>
        </p:nvSpPr>
        <p:spPr>
          <a:xfrm>
            <a:off x="3204680" y="3646080"/>
            <a:ext cx="2560320" cy="182880"/>
          </a:xfrm>
          <a:prstGeom prst="rect">
            <a:avLst/>
          </a:prstGeom>
          <a:noFill/>
        </p:spPr>
        <p:txBody>
          <a:bodyPr wrap="square">
            <a:spAutoFit/>
          </a:bodyPr>
          <a:lstStyle/>
          <a:p>
            <a:pPr algn="l">
              <a:defRPr sz="900" b="0">
                <a:solidFill>
                  <a:srgbClr val="666666"/>
                </a:solidFill>
              </a:defRPr>
            </a:pPr>
            <a:r>
              <a:t>リスキリング需要</a:t>
            </a:r>
          </a:p>
        </p:txBody>
      </p:sp>
      <p:sp>
        <p:nvSpPr>
          <p:cNvPr id="47" name="TextBox 46"/>
          <p:cNvSpPr txBox="1"/>
          <p:nvPr/>
        </p:nvSpPr>
        <p:spPr>
          <a:xfrm>
            <a:off x="3204680" y="3876080"/>
            <a:ext cx="548640" cy="182880"/>
          </a:xfrm>
          <a:prstGeom prst="rect">
            <a:avLst/>
          </a:prstGeom>
          <a:noFill/>
        </p:spPr>
        <p:txBody>
          <a:bodyPr wrap="square">
            <a:spAutoFit/>
          </a:bodyPr>
          <a:lstStyle/>
          <a:p>
            <a:pPr algn="l">
              <a:defRPr sz="800" b="1">
                <a:solidFill>
                  <a:srgbClr val="E67E22"/>
                </a:solidFill>
              </a:defRPr>
            </a:pPr>
            <a:r>
              <a:t>2050</a:t>
            </a:r>
          </a:p>
        </p:txBody>
      </p:sp>
      <p:sp>
        <p:nvSpPr>
          <p:cNvPr id="48" name="TextBox 47"/>
          <p:cNvSpPr txBox="1"/>
          <p:nvPr/>
        </p:nvSpPr>
        <p:spPr>
          <a:xfrm>
            <a:off x="3204680" y="4036080"/>
            <a:ext cx="2560320" cy="182880"/>
          </a:xfrm>
          <a:prstGeom prst="rect">
            <a:avLst/>
          </a:prstGeom>
          <a:noFill/>
        </p:spPr>
        <p:txBody>
          <a:bodyPr wrap="square">
            <a:spAutoFit/>
          </a:bodyPr>
          <a:lstStyle/>
          <a:p>
            <a:pPr algn="l">
              <a:defRPr sz="900" b="1">
                <a:solidFill>
                  <a:srgbClr val="333333"/>
                </a:solidFill>
              </a:defRPr>
            </a:pPr>
            <a:r>
              <a:t>教育階級社会完成</a:t>
            </a:r>
          </a:p>
        </p:txBody>
      </p:sp>
      <p:sp>
        <p:nvSpPr>
          <p:cNvPr id="49" name="TextBox 48"/>
          <p:cNvSpPr txBox="1"/>
          <p:nvPr/>
        </p:nvSpPr>
        <p:spPr>
          <a:xfrm>
            <a:off x="3204680" y="4196080"/>
            <a:ext cx="2560320" cy="182880"/>
          </a:xfrm>
          <a:prstGeom prst="rect">
            <a:avLst/>
          </a:prstGeom>
          <a:noFill/>
        </p:spPr>
        <p:txBody>
          <a:bodyPr wrap="square">
            <a:spAutoFit/>
          </a:bodyPr>
          <a:lstStyle/>
          <a:p>
            <a:pPr algn="l">
              <a:defRPr sz="900" b="1">
                <a:solidFill>
                  <a:srgbClr val="333333"/>
                </a:solidFill>
              </a:defRPr>
            </a:pPr>
            <a:r>
              <a:t>脳直接学習</a:t>
            </a:r>
          </a:p>
        </p:txBody>
      </p:sp>
      <p:sp>
        <p:nvSpPr>
          <p:cNvPr id="50" name="Rounded Rectangle 49"/>
          <p:cNvSpPr/>
          <p:nvPr/>
        </p:nvSpPr>
        <p:spPr>
          <a:xfrm>
            <a:off x="6126480" y="2926080"/>
            <a:ext cx="2743200" cy="164592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126480" y="2926080"/>
            <a:ext cx="2743200" cy="3657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26480" y="2946080"/>
            <a:ext cx="2743200" cy="320040"/>
          </a:xfrm>
          <a:prstGeom prst="rect">
            <a:avLst/>
          </a:prstGeom>
          <a:noFill/>
        </p:spPr>
        <p:txBody>
          <a:bodyPr wrap="square">
            <a:spAutoFit/>
          </a:bodyPr>
          <a:lstStyle/>
          <a:p>
            <a:pPr algn="ctr">
              <a:defRPr sz="1200" b="1">
                <a:solidFill>
                  <a:srgbClr val="FFFFFF"/>
                </a:solidFill>
              </a:defRPr>
            </a:pPr>
            <a:r>
              <a:t>お金・資産</a:t>
            </a:r>
          </a:p>
        </p:txBody>
      </p:sp>
      <p:sp>
        <p:nvSpPr>
          <p:cNvPr id="53" name="TextBox 52"/>
          <p:cNvSpPr txBox="1"/>
          <p:nvPr/>
        </p:nvSpPr>
        <p:spPr>
          <a:xfrm>
            <a:off x="6176480" y="3326080"/>
            <a:ext cx="548640" cy="182880"/>
          </a:xfrm>
          <a:prstGeom prst="rect">
            <a:avLst/>
          </a:prstGeom>
          <a:noFill/>
        </p:spPr>
        <p:txBody>
          <a:bodyPr wrap="square">
            <a:spAutoFit/>
          </a:bodyPr>
          <a:lstStyle/>
          <a:p>
            <a:pPr algn="l">
              <a:defRPr sz="800" b="1">
                <a:solidFill>
                  <a:srgbClr val="C0392B"/>
                </a:solidFill>
              </a:defRPr>
            </a:pPr>
            <a:r>
              <a:t>現在</a:t>
            </a:r>
          </a:p>
        </p:txBody>
      </p:sp>
      <p:sp>
        <p:nvSpPr>
          <p:cNvPr id="54" name="TextBox 53"/>
          <p:cNvSpPr txBox="1"/>
          <p:nvPr/>
        </p:nvSpPr>
        <p:spPr>
          <a:xfrm>
            <a:off x="6176480" y="3486080"/>
            <a:ext cx="2560320" cy="182880"/>
          </a:xfrm>
          <a:prstGeom prst="rect">
            <a:avLst/>
          </a:prstGeom>
          <a:noFill/>
        </p:spPr>
        <p:txBody>
          <a:bodyPr wrap="square">
            <a:spAutoFit/>
          </a:bodyPr>
          <a:lstStyle/>
          <a:p>
            <a:pPr algn="l">
              <a:defRPr sz="900" b="0">
                <a:solidFill>
                  <a:srgbClr val="666666"/>
                </a:solidFill>
              </a:defRPr>
            </a:pPr>
            <a:r>
              <a:t>NISA拡充</a:t>
            </a:r>
          </a:p>
        </p:txBody>
      </p:sp>
      <p:sp>
        <p:nvSpPr>
          <p:cNvPr id="55" name="TextBox 54"/>
          <p:cNvSpPr txBox="1"/>
          <p:nvPr/>
        </p:nvSpPr>
        <p:spPr>
          <a:xfrm>
            <a:off x="6176480" y="3646080"/>
            <a:ext cx="2560320" cy="182880"/>
          </a:xfrm>
          <a:prstGeom prst="rect">
            <a:avLst/>
          </a:prstGeom>
          <a:noFill/>
        </p:spPr>
        <p:txBody>
          <a:bodyPr wrap="square">
            <a:spAutoFit/>
          </a:bodyPr>
          <a:lstStyle/>
          <a:p>
            <a:pPr algn="l">
              <a:defRPr sz="900" b="0">
                <a:solidFill>
                  <a:srgbClr val="666666"/>
                </a:solidFill>
              </a:defRPr>
            </a:pPr>
            <a:r>
              <a:t>格差5倍</a:t>
            </a:r>
          </a:p>
        </p:txBody>
      </p:sp>
      <p:sp>
        <p:nvSpPr>
          <p:cNvPr id="56" name="TextBox 55"/>
          <p:cNvSpPr txBox="1"/>
          <p:nvPr/>
        </p:nvSpPr>
        <p:spPr>
          <a:xfrm>
            <a:off x="6176480" y="3876080"/>
            <a:ext cx="548640" cy="182880"/>
          </a:xfrm>
          <a:prstGeom prst="rect">
            <a:avLst/>
          </a:prstGeom>
          <a:noFill/>
        </p:spPr>
        <p:txBody>
          <a:bodyPr wrap="square">
            <a:spAutoFit/>
          </a:bodyPr>
          <a:lstStyle/>
          <a:p>
            <a:pPr algn="l">
              <a:defRPr sz="800" b="1">
                <a:solidFill>
                  <a:srgbClr val="C0392B"/>
                </a:solidFill>
              </a:defRPr>
            </a:pPr>
            <a:r>
              <a:t>2050</a:t>
            </a:r>
          </a:p>
        </p:txBody>
      </p:sp>
      <p:sp>
        <p:nvSpPr>
          <p:cNvPr id="57" name="TextBox 56"/>
          <p:cNvSpPr txBox="1"/>
          <p:nvPr/>
        </p:nvSpPr>
        <p:spPr>
          <a:xfrm>
            <a:off x="6176480" y="4036080"/>
            <a:ext cx="2560320" cy="182880"/>
          </a:xfrm>
          <a:prstGeom prst="rect">
            <a:avLst/>
          </a:prstGeom>
          <a:noFill/>
        </p:spPr>
        <p:txBody>
          <a:bodyPr wrap="square">
            <a:spAutoFit/>
          </a:bodyPr>
          <a:lstStyle/>
          <a:p>
            <a:pPr algn="l">
              <a:defRPr sz="900" b="1">
                <a:solidFill>
                  <a:srgbClr val="333333"/>
                </a:solidFill>
              </a:defRPr>
            </a:pPr>
            <a:r>
              <a:t>格差社会固定化</a:t>
            </a:r>
          </a:p>
        </p:txBody>
      </p:sp>
      <p:sp>
        <p:nvSpPr>
          <p:cNvPr id="58" name="TextBox 57"/>
          <p:cNvSpPr txBox="1"/>
          <p:nvPr/>
        </p:nvSpPr>
        <p:spPr>
          <a:xfrm>
            <a:off x="6176480" y="4196080"/>
            <a:ext cx="2560320" cy="182880"/>
          </a:xfrm>
          <a:prstGeom prst="rect">
            <a:avLst/>
          </a:prstGeom>
          <a:noFill/>
        </p:spPr>
        <p:txBody>
          <a:bodyPr wrap="square">
            <a:spAutoFit/>
          </a:bodyPr>
          <a:lstStyle/>
          <a:p>
            <a:pPr algn="l">
              <a:defRPr sz="900" b="1">
                <a:solidFill>
                  <a:srgbClr val="333333"/>
                </a:solidFill>
              </a:defRPr>
            </a:pPr>
            <a:r>
              <a:t>個人価値直接通貨化</a:t>
            </a:r>
          </a:p>
        </p:txBody>
      </p:sp>
      <p:sp>
        <p:nvSpPr>
          <p:cNvPr id="59" name="Rectangle 58"/>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61" name="TextBox 60"/>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GDP・国際競争力の推移</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日本経済の相対的地位は低下するが、技術力は向上する</a:t>
            </a:r>
          </a:p>
        </p:txBody>
      </p:sp>
      <p:graphicFrame>
        <p:nvGraphicFramePr>
          <p:cNvPr id="6" name="Table 5"/>
          <p:cNvGraphicFramePr>
            <a:graphicFrameLocks noGrp="1"/>
          </p:cNvGraphicFramePr>
          <p:nvPr/>
        </p:nvGraphicFramePr>
        <p:xfrm>
          <a:off x="182880" y="1188720"/>
          <a:ext cx="5029200" cy="2286000"/>
        </p:xfrm>
        <a:graphic>
          <a:graphicData uri="http://schemas.openxmlformats.org/drawingml/2006/table">
            <a:tbl>
              <a:tblPr firstRow="1" bandRow="1">
                <a:tableStyleId>{5C22544A-7EE6-4342-B048-85BDC9FD1C3A}</a:tableStyleId>
              </a:tblPr>
              <a:tblGrid>
                <a:gridCol w="1371600"/>
                <a:gridCol w="914400"/>
                <a:gridCol w="914400"/>
                <a:gridCol w="914400"/>
                <a:gridCol w="914400"/>
              </a:tblGrid>
              <a:tr h="381000">
                <a:tc>
                  <a:txBody>
                    <a:bodyPr/>
                    <a:lstStyle/>
                    <a:p>
                      <a:pPr algn="ctr">
                        <a:defRPr sz="900" b="1">
                          <a:solidFill>
                            <a:srgbClr val="FFFFFF"/>
                          </a:solidFill>
                        </a:defRPr>
                      </a:pPr>
                      <a:r>
                        <a:t>指標</a:t>
                      </a:r>
                    </a:p>
                  </a:txBody>
                  <a:tcPr anchor="ctr">
                    <a:solidFill>
                      <a:srgbClr val="8B7536"/>
                    </a:solidFill>
                  </a:tcPr>
                </a:tc>
                <a:tc>
                  <a:txBody>
                    <a:bodyPr/>
                    <a:lstStyle/>
                    <a:p>
                      <a:pPr algn="ctr">
                        <a:defRPr sz="900" b="1">
                          <a:solidFill>
                            <a:srgbClr val="FFFFFF"/>
                          </a:solidFill>
                        </a:defRPr>
                      </a:pPr>
                      <a:r>
                        <a:t>2025年</a:t>
                      </a:r>
                    </a:p>
                  </a:txBody>
                  <a:tcPr anchor="ctr">
                    <a:solidFill>
                      <a:srgbClr val="8B7536"/>
                    </a:solidFill>
                  </a:tcPr>
                </a:tc>
                <a:tc>
                  <a:txBody>
                    <a:bodyPr/>
                    <a:lstStyle/>
                    <a:p>
                      <a:pPr algn="ctr">
                        <a:defRPr sz="900" b="1">
                          <a:solidFill>
                            <a:srgbClr val="FFFFFF"/>
                          </a:solidFill>
                        </a:defRPr>
                      </a:pPr>
                      <a:r>
                        <a:t>2030年</a:t>
                      </a:r>
                    </a:p>
                  </a:txBody>
                  <a:tcPr anchor="ctr">
                    <a:solidFill>
                      <a:srgbClr val="8B7536"/>
                    </a:solidFill>
                  </a:tcPr>
                </a:tc>
                <a:tc>
                  <a:txBody>
                    <a:bodyPr/>
                    <a:lstStyle/>
                    <a:p>
                      <a:pPr algn="ctr">
                        <a:defRPr sz="900" b="1">
                          <a:solidFill>
                            <a:srgbClr val="FFFFFF"/>
                          </a:solidFill>
                        </a:defRPr>
                      </a:pPr>
                      <a:r>
                        <a:t>2040年</a:t>
                      </a:r>
                    </a:p>
                  </a:txBody>
                  <a:tcPr anchor="ctr">
                    <a:solidFill>
                      <a:srgbClr val="8B7536"/>
                    </a:solidFill>
                  </a:tcPr>
                </a:tc>
                <a:tc>
                  <a:txBody>
                    <a:bodyPr/>
                    <a:lstStyle/>
                    <a:p>
                      <a:pPr algn="ctr">
                        <a:defRPr sz="900" b="1">
                          <a:solidFill>
                            <a:srgbClr val="FFFFFF"/>
                          </a:solidFill>
                        </a:defRPr>
                      </a:pPr>
                      <a:r>
                        <a:t>2050年</a:t>
                      </a:r>
                    </a:p>
                  </a:txBody>
                  <a:tcPr anchor="ctr">
                    <a:solidFill>
                      <a:srgbClr val="8B7536"/>
                    </a:solidFill>
                  </a:tcPr>
                </a:tc>
              </a:tr>
              <a:tr h="381000">
                <a:tc>
                  <a:txBody>
                    <a:bodyPr/>
                    <a:lstStyle/>
                    <a:p>
                      <a:pPr>
                        <a:defRPr sz="900">
                          <a:solidFill>
                            <a:srgbClr val="333333"/>
                          </a:solidFill>
                        </a:defRPr>
                      </a:pPr>
                      <a:r>
                        <a:t>名目GDP</a:t>
                      </a:r>
                    </a:p>
                  </a:txBody>
                  <a:tcPr anchor="ctr">
                    <a:solidFill>
                      <a:srgbClr val="F9F6F0"/>
                    </a:solidFill>
                  </a:tcPr>
                </a:tc>
                <a:tc>
                  <a:txBody>
                    <a:bodyPr/>
                    <a:lstStyle/>
                    <a:p>
                      <a:pPr>
                        <a:defRPr sz="900">
                          <a:solidFill>
                            <a:srgbClr val="333333"/>
                          </a:solidFill>
                        </a:defRPr>
                      </a:pPr>
                      <a:r>
                        <a:t>540兆円</a:t>
                      </a:r>
                    </a:p>
                  </a:txBody>
                  <a:tcPr anchor="ctr">
                    <a:solidFill>
                      <a:srgbClr val="F9F6F0"/>
                    </a:solidFill>
                  </a:tcPr>
                </a:tc>
                <a:tc>
                  <a:txBody>
                    <a:bodyPr/>
                    <a:lstStyle/>
                    <a:p>
                      <a:pPr>
                        <a:defRPr sz="900">
                          <a:solidFill>
                            <a:srgbClr val="333333"/>
                          </a:solidFill>
                        </a:defRPr>
                      </a:pPr>
                      <a:r>
                        <a:t>520兆円</a:t>
                      </a:r>
                    </a:p>
                  </a:txBody>
                  <a:tcPr anchor="ctr">
                    <a:solidFill>
                      <a:srgbClr val="F9F6F0"/>
                    </a:solidFill>
                  </a:tcPr>
                </a:tc>
                <a:tc>
                  <a:txBody>
                    <a:bodyPr/>
                    <a:lstStyle/>
                    <a:p>
                      <a:pPr>
                        <a:defRPr sz="900">
                          <a:solidFill>
                            <a:srgbClr val="333333"/>
                          </a:solidFill>
                        </a:defRPr>
                      </a:pPr>
                      <a:r>
                        <a:t>480兆円</a:t>
                      </a:r>
                    </a:p>
                  </a:txBody>
                  <a:tcPr anchor="ctr">
                    <a:solidFill>
                      <a:srgbClr val="F9F6F0"/>
                    </a:solidFill>
                  </a:tcPr>
                </a:tc>
                <a:tc>
                  <a:txBody>
                    <a:bodyPr/>
                    <a:lstStyle/>
                    <a:p>
                      <a:pPr>
                        <a:defRPr sz="900">
                          <a:solidFill>
                            <a:srgbClr val="333333"/>
                          </a:solidFill>
                        </a:defRPr>
                      </a:pPr>
                      <a:r>
                        <a:t>430兆円</a:t>
                      </a:r>
                    </a:p>
                  </a:txBody>
                  <a:tcPr anchor="ctr">
                    <a:solidFill>
                      <a:srgbClr val="F9F6F0"/>
                    </a:solidFill>
                  </a:tcPr>
                </a:tc>
              </a:tr>
              <a:tr h="381000">
                <a:tc>
                  <a:txBody>
                    <a:bodyPr/>
                    <a:lstStyle/>
                    <a:p>
                      <a:pPr>
                        <a:defRPr sz="900">
                          <a:solidFill>
                            <a:srgbClr val="333333"/>
                          </a:solidFill>
                        </a:defRPr>
                      </a:pPr>
                      <a:r>
                        <a:t>世界順位</a:t>
                      </a:r>
                    </a:p>
                  </a:txBody>
                  <a:tcPr anchor="ctr">
                    <a:solidFill>
                      <a:srgbClr val="F0E8D5"/>
                    </a:solidFill>
                  </a:tcPr>
                </a:tc>
                <a:tc>
                  <a:txBody>
                    <a:bodyPr/>
                    <a:lstStyle/>
                    <a:p>
                      <a:pPr>
                        <a:defRPr sz="900">
                          <a:solidFill>
                            <a:srgbClr val="333333"/>
                          </a:solidFill>
                        </a:defRPr>
                      </a:pPr>
                      <a:r>
                        <a:t>3位</a:t>
                      </a:r>
                    </a:p>
                  </a:txBody>
                  <a:tcPr anchor="ctr">
                    <a:solidFill>
                      <a:srgbClr val="F0E8D5"/>
                    </a:solidFill>
                  </a:tcPr>
                </a:tc>
                <a:tc>
                  <a:txBody>
                    <a:bodyPr/>
                    <a:lstStyle/>
                    <a:p>
                      <a:pPr>
                        <a:defRPr sz="900">
                          <a:solidFill>
                            <a:srgbClr val="333333"/>
                          </a:solidFill>
                        </a:defRPr>
                      </a:pPr>
                      <a:r>
                        <a:t>4位</a:t>
                      </a:r>
                    </a:p>
                  </a:txBody>
                  <a:tcPr anchor="ctr">
                    <a:solidFill>
                      <a:srgbClr val="F0E8D5"/>
                    </a:solidFill>
                  </a:tcPr>
                </a:tc>
                <a:tc>
                  <a:txBody>
                    <a:bodyPr/>
                    <a:lstStyle/>
                    <a:p>
                      <a:pPr>
                        <a:defRPr sz="900">
                          <a:solidFill>
                            <a:srgbClr val="333333"/>
                          </a:solidFill>
                        </a:defRPr>
                      </a:pPr>
                      <a:r>
                        <a:t>6位</a:t>
                      </a:r>
                    </a:p>
                  </a:txBody>
                  <a:tcPr anchor="ctr">
                    <a:solidFill>
                      <a:srgbClr val="F0E8D5"/>
                    </a:solidFill>
                  </a:tcPr>
                </a:tc>
                <a:tc>
                  <a:txBody>
                    <a:bodyPr/>
                    <a:lstStyle/>
                    <a:p>
                      <a:pPr>
                        <a:defRPr sz="900">
                          <a:solidFill>
                            <a:srgbClr val="333333"/>
                          </a:solidFill>
                        </a:defRPr>
                      </a:pPr>
                      <a:r>
                        <a:t>8位</a:t>
                      </a:r>
                    </a:p>
                  </a:txBody>
                  <a:tcPr anchor="ctr">
                    <a:solidFill>
                      <a:srgbClr val="F0E8D5"/>
                    </a:solidFill>
                  </a:tcPr>
                </a:tc>
              </a:tr>
              <a:tr h="381000">
                <a:tc>
                  <a:txBody>
                    <a:bodyPr/>
                    <a:lstStyle/>
                    <a:p>
                      <a:pPr>
                        <a:defRPr sz="900">
                          <a:solidFill>
                            <a:srgbClr val="333333"/>
                          </a:solidFill>
                        </a:defRPr>
                      </a:pPr>
                      <a:r>
                        <a:t>1人当たりGDP</a:t>
                      </a:r>
                    </a:p>
                  </a:txBody>
                  <a:tcPr anchor="ctr">
                    <a:solidFill>
                      <a:srgbClr val="F9F6F0"/>
                    </a:solidFill>
                  </a:tcPr>
                </a:tc>
                <a:tc>
                  <a:txBody>
                    <a:bodyPr/>
                    <a:lstStyle/>
                    <a:p>
                      <a:pPr>
                        <a:defRPr sz="900">
                          <a:solidFill>
                            <a:srgbClr val="333333"/>
                          </a:solidFill>
                        </a:defRPr>
                      </a:pPr>
                      <a:r>
                        <a:t>430万円</a:t>
                      </a:r>
                    </a:p>
                  </a:txBody>
                  <a:tcPr anchor="ctr">
                    <a:solidFill>
                      <a:srgbClr val="F9F6F0"/>
                    </a:solidFill>
                  </a:tcPr>
                </a:tc>
                <a:tc>
                  <a:txBody>
                    <a:bodyPr/>
                    <a:lstStyle/>
                    <a:p>
                      <a:pPr>
                        <a:defRPr sz="900">
                          <a:solidFill>
                            <a:srgbClr val="333333"/>
                          </a:solidFill>
                        </a:defRPr>
                      </a:pPr>
                      <a:r>
                        <a:t>450万円</a:t>
                      </a:r>
                    </a:p>
                  </a:txBody>
                  <a:tcPr anchor="ctr">
                    <a:solidFill>
                      <a:srgbClr val="F9F6F0"/>
                    </a:solidFill>
                  </a:tcPr>
                </a:tc>
                <a:tc>
                  <a:txBody>
                    <a:bodyPr/>
                    <a:lstStyle/>
                    <a:p>
                      <a:pPr>
                        <a:defRPr sz="900">
                          <a:solidFill>
                            <a:srgbClr val="333333"/>
                          </a:solidFill>
                        </a:defRPr>
                      </a:pPr>
                      <a:r>
                        <a:t>430万円</a:t>
                      </a:r>
                    </a:p>
                  </a:txBody>
                  <a:tcPr anchor="ctr">
                    <a:solidFill>
                      <a:srgbClr val="F9F6F0"/>
                    </a:solidFill>
                  </a:tcPr>
                </a:tc>
                <a:tc>
                  <a:txBody>
                    <a:bodyPr/>
                    <a:lstStyle/>
                    <a:p>
                      <a:pPr>
                        <a:defRPr sz="900">
                          <a:solidFill>
                            <a:srgbClr val="333333"/>
                          </a:solidFill>
                        </a:defRPr>
                      </a:pPr>
                      <a:r>
                        <a:t>450万円</a:t>
                      </a:r>
                    </a:p>
                  </a:txBody>
                  <a:tcPr anchor="ctr">
                    <a:solidFill>
                      <a:srgbClr val="F9F6F0"/>
                    </a:solidFill>
                  </a:tcPr>
                </a:tc>
              </a:tr>
              <a:tr h="381000">
                <a:tc>
                  <a:txBody>
                    <a:bodyPr/>
                    <a:lstStyle/>
                    <a:p>
                      <a:pPr>
                        <a:defRPr sz="900">
                          <a:solidFill>
                            <a:srgbClr val="333333"/>
                          </a:solidFill>
                        </a:defRPr>
                      </a:pPr>
                      <a:r>
                        <a:t>AI・技術競争力</a:t>
                      </a:r>
                    </a:p>
                  </a:txBody>
                  <a:tcPr anchor="ctr">
                    <a:solidFill>
                      <a:srgbClr val="F0E8D5"/>
                    </a:solidFill>
                  </a:tcPr>
                </a:tc>
                <a:tc>
                  <a:txBody>
                    <a:bodyPr/>
                    <a:lstStyle/>
                    <a:p>
                      <a:pPr>
                        <a:defRPr sz="900">
                          <a:solidFill>
                            <a:srgbClr val="333333"/>
                          </a:solidFill>
                        </a:defRPr>
                      </a:pPr>
                      <a:r>
                        <a:t>世界6位</a:t>
                      </a:r>
                    </a:p>
                  </a:txBody>
                  <a:tcPr anchor="ctr">
                    <a:solidFill>
                      <a:srgbClr val="F0E8D5"/>
                    </a:solidFill>
                  </a:tcPr>
                </a:tc>
                <a:tc>
                  <a:txBody>
                    <a:bodyPr/>
                    <a:lstStyle/>
                    <a:p>
                      <a:pPr>
                        <a:defRPr sz="900">
                          <a:solidFill>
                            <a:srgbClr val="333333"/>
                          </a:solidFill>
                        </a:defRPr>
                      </a:pPr>
                      <a:r>
                        <a:t>世界4位</a:t>
                      </a:r>
                    </a:p>
                  </a:txBody>
                  <a:tcPr anchor="ctr">
                    <a:solidFill>
                      <a:srgbClr val="F0E8D5"/>
                    </a:solidFill>
                  </a:tcPr>
                </a:tc>
                <a:tc>
                  <a:txBody>
                    <a:bodyPr/>
                    <a:lstStyle/>
                    <a:p>
                      <a:pPr>
                        <a:defRPr sz="900">
                          <a:solidFill>
                            <a:srgbClr val="333333"/>
                          </a:solidFill>
                        </a:defRPr>
                      </a:pPr>
                      <a:r>
                        <a:t>-</a:t>
                      </a:r>
                    </a:p>
                  </a:txBody>
                  <a:tcPr anchor="ctr">
                    <a:solidFill>
                      <a:srgbClr val="F0E8D5"/>
                    </a:solidFill>
                  </a:tcPr>
                </a:tc>
                <a:tc>
                  <a:txBody>
                    <a:bodyPr/>
                    <a:lstStyle/>
                    <a:p>
                      <a:pPr>
                        <a:defRPr sz="900">
                          <a:solidFill>
                            <a:srgbClr val="333333"/>
                          </a:solidFill>
                        </a:defRPr>
                      </a:pPr>
                      <a:r>
                        <a:t>世界3位</a:t>
                      </a:r>
                    </a:p>
                  </a:txBody>
                  <a:tcPr anchor="ctr">
                    <a:solidFill>
                      <a:srgbClr val="F0E8D5"/>
                    </a:solidFill>
                  </a:tcPr>
                </a:tc>
              </a:tr>
              <a:tr h="381000">
                <a:tc>
                  <a:txBody>
                    <a:bodyPr/>
                    <a:lstStyle/>
                    <a:p>
                      <a:pPr>
                        <a:defRPr sz="900">
                          <a:solidFill>
                            <a:srgbClr val="333333"/>
                          </a:solidFill>
                        </a:defRPr>
                      </a:pPr>
                      <a:r>
                        <a:t>労働生産性</a:t>
                      </a:r>
                    </a:p>
                  </a:txBody>
                  <a:tcPr anchor="ctr">
                    <a:solidFill>
                      <a:srgbClr val="F9F6F0"/>
                    </a:solidFill>
                  </a:tcPr>
                </a:tc>
                <a:tc>
                  <a:txBody>
                    <a:bodyPr/>
                    <a:lstStyle/>
                    <a:p>
                      <a:pPr>
                        <a:defRPr sz="900">
                          <a:solidFill>
                            <a:srgbClr val="333333"/>
                          </a:solidFill>
                        </a:defRPr>
                      </a:pPr>
                      <a:r>
                        <a:t>世界28位</a:t>
                      </a:r>
                    </a:p>
                  </a:txBody>
                  <a:tcPr anchor="ctr">
                    <a:solidFill>
                      <a:srgbClr val="F9F6F0"/>
                    </a:solidFill>
                  </a:tcPr>
                </a:tc>
                <a:tc>
                  <a:txBody>
                    <a:bodyPr/>
                    <a:lstStyle/>
                    <a:p>
                      <a:pPr>
                        <a:defRPr sz="900">
                          <a:solidFill>
                            <a:srgbClr val="333333"/>
                          </a:solidFill>
                        </a:defRPr>
                      </a:pPr>
                      <a:r>
                        <a:t>世界22位</a:t>
                      </a:r>
                    </a:p>
                  </a:txBody>
                  <a:tcPr anchor="ctr">
                    <a:solidFill>
                      <a:srgbClr val="F9F6F0"/>
                    </a:solidFill>
                  </a:tcPr>
                </a:tc>
                <a:tc>
                  <a:txBody>
                    <a:bodyPr/>
                    <a:lstStyle/>
                    <a:p>
                      <a:pPr>
                        <a:defRPr sz="900">
                          <a:solidFill>
                            <a:srgbClr val="333333"/>
                          </a:solidFill>
                        </a:defRPr>
                      </a:pPr>
                      <a:r>
                        <a:t>-</a:t>
                      </a:r>
                    </a:p>
                  </a:txBody>
                  <a:tcPr anchor="ctr">
                    <a:solidFill>
                      <a:srgbClr val="F9F6F0"/>
                    </a:solidFill>
                  </a:tcPr>
                </a:tc>
                <a:tc>
                  <a:txBody>
                    <a:bodyPr/>
                    <a:lstStyle/>
                    <a:p>
                      <a:pPr>
                        <a:defRPr sz="900">
                          <a:solidFill>
                            <a:srgbClr val="333333"/>
                          </a:solidFill>
                        </a:defRPr>
                      </a:pPr>
                      <a:r>
                        <a:t>世界15位</a:t>
                      </a:r>
                    </a:p>
                  </a:txBody>
                  <a:tcPr anchor="ctr">
                    <a:solidFill>
                      <a:srgbClr val="F9F6F0"/>
                    </a:solidFill>
                  </a:tcPr>
                </a:tc>
              </a:tr>
            </a:tbl>
          </a:graphicData>
        </a:graphic>
      </p:graphicFrame>
      <p:sp>
        <p:nvSpPr>
          <p:cNvPr id="7" name="Rounded Rectangle 6"/>
          <p:cNvSpPr/>
          <p:nvPr/>
        </p:nvSpPr>
        <p:spPr>
          <a:xfrm>
            <a:off x="5394960" y="1188720"/>
            <a:ext cx="3383280" cy="22860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1280160"/>
            <a:ext cx="3108960" cy="274320"/>
          </a:xfrm>
          <a:prstGeom prst="rect">
            <a:avLst/>
          </a:prstGeom>
          <a:noFill/>
        </p:spPr>
        <p:txBody>
          <a:bodyPr wrap="square">
            <a:spAutoFit/>
          </a:bodyPr>
          <a:lstStyle/>
          <a:p>
            <a:pPr algn="l">
              <a:defRPr sz="1200" b="1">
                <a:solidFill>
                  <a:srgbClr val="C0392B"/>
                </a:solidFill>
              </a:defRPr>
            </a:pPr>
            <a:r>
              <a:t>GDP減少の主要因</a:t>
            </a:r>
          </a:p>
        </p:txBody>
      </p:sp>
      <p:sp>
        <p:nvSpPr>
          <p:cNvPr id="9" name="TextBox 8"/>
          <p:cNvSpPr txBox="1"/>
          <p:nvPr/>
        </p:nvSpPr>
        <p:spPr>
          <a:xfrm>
            <a:off x="5577840" y="1645920"/>
            <a:ext cx="1188720" cy="228600"/>
          </a:xfrm>
          <a:prstGeom prst="rect">
            <a:avLst/>
          </a:prstGeom>
          <a:noFill/>
        </p:spPr>
        <p:txBody>
          <a:bodyPr wrap="square">
            <a:spAutoFit/>
          </a:bodyPr>
          <a:lstStyle/>
          <a:p>
            <a:pPr algn="l">
              <a:defRPr sz="1000" b="1">
                <a:solidFill>
                  <a:srgbClr val="333333"/>
                </a:solidFill>
              </a:defRPr>
            </a:pPr>
            <a:r>
              <a:t>人口減少</a:t>
            </a:r>
          </a:p>
        </p:txBody>
      </p:sp>
      <p:sp>
        <p:nvSpPr>
          <p:cNvPr id="10" name="TextBox 9"/>
          <p:cNvSpPr txBox="1"/>
          <p:nvPr/>
        </p:nvSpPr>
        <p:spPr>
          <a:xfrm>
            <a:off x="5577840" y="1815920"/>
            <a:ext cx="3017520" cy="228600"/>
          </a:xfrm>
          <a:prstGeom prst="rect">
            <a:avLst/>
          </a:prstGeom>
          <a:noFill/>
        </p:spPr>
        <p:txBody>
          <a:bodyPr wrap="square">
            <a:spAutoFit/>
          </a:bodyPr>
          <a:lstStyle/>
          <a:p>
            <a:pPr algn="l">
              <a:defRPr sz="900" b="0">
                <a:solidFill>
                  <a:srgbClr val="666666"/>
                </a:solidFill>
              </a:defRPr>
            </a:pPr>
            <a:r>
              <a:t>23%減 → 労働力・消費が縮小</a:t>
            </a:r>
          </a:p>
        </p:txBody>
      </p:sp>
      <p:sp>
        <p:nvSpPr>
          <p:cNvPr id="11" name="TextBox 10"/>
          <p:cNvSpPr txBox="1"/>
          <p:nvPr/>
        </p:nvSpPr>
        <p:spPr>
          <a:xfrm>
            <a:off x="5577840" y="2103120"/>
            <a:ext cx="1188720" cy="228600"/>
          </a:xfrm>
          <a:prstGeom prst="rect">
            <a:avLst/>
          </a:prstGeom>
          <a:noFill/>
        </p:spPr>
        <p:txBody>
          <a:bodyPr wrap="square">
            <a:spAutoFit/>
          </a:bodyPr>
          <a:lstStyle/>
          <a:p>
            <a:pPr algn="l">
              <a:defRPr sz="1000" b="1">
                <a:solidFill>
                  <a:srgbClr val="333333"/>
                </a:solidFill>
              </a:defRPr>
            </a:pPr>
            <a:r>
              <a:t>高齢化</a:t>
            </a:r>
          </a:p>
        </p:txBody>
      </p:sp>
      <p:sp>
        <p:nvSpPr>
          <p:cNvPr id="12" name="TextBox 11"/>
          <p:cNvSpPr txBox="1"/>
          <p:nvPr/>
        </p:nvSpPr>
        <p:spPr>
          <a:xfrm>
            <a:off x="5577840" y="2273120"/>
            <a:ext cx="3017520" cy="228600"/>
          </a:xfrm>
          <a:prstGeom prst="rect">
            <a:avLst/>
          </a:prstGeom>
          <a:noFill/>
        </p:spPr>
        <p:txBody>
          <a:bodyPr wrap="square">
            <a:spAutoFit/>
          </a:bodyPr>
          <a:lstStyle/>
          <a:p>
            <a:pPr algn="l">
              <a:defRPr sz="900" b="0">
                <a:solidFill>
                  <a:srgbClr val="666666"/>
                </a:solidFill>
              </a:defRPr>
            </a:pPr>
            <a:r>
              <a:t>AI恩恵は限定的</a:t>
            </a:r>
          </a:p>
        </p:txBody>
      </p:sp>
      <p:sp>
        <p:nvSpPr>
          <p:cNvPr id="13" name="TextBox 12"/>
          <p:cNvSpPr txBox="1"/>
          <p:nvPr/>
        </p:nvSpPr>
        <p:spPr>
          <a:xfrm>
            <a:off x="5577840" y="2560320"/>
            <a:ext cx="1188720" cy="228600"/>
          </a:xfrm>
          <a:prstGeom prst="rect">
            <a:avLst/>
          </a:prstGeom>
          <a:noFill/>
        </p:spPr>
        <p:txBody>
          <a:bodyPr wrap="square">
            <a:spAutoFit/>
          </a:bodyPr>
          <a:lstStyle/>
          <a:p>
            <a:pPr algn="l">
              <a:defRPr sz="1000" b="1">
                <a:solidFill>
                  <a:srgbClr val="333333"/>
                </a:solidFill>
              </a:defRPr>
            </a:pPr>
            <a:r>
              <a:t>内需縮小</a:t>
            </a:r>
          </a:p>
        </p:txBody>
      </p:sp>
      <p:sp>
        <p:nvSpPr>
          <p:cNvPr id="14" name="TextBox 13"/>
          <p:cNvSpPr txBox="1"/>
          <p:nvPr/>
        </p:nvSpPr>
        <p:spPr>
          <a:xfrm>
            <a:off x="5577840" y="2730320"/>
            <a:ext cx="3017520" cy="228600"/>
          </a:xfrm>
          <a:prstGeom prst="rect">
            <a:avLst/>
          </a:prstGeom>
          <a:noFill/>
        </p:spPr>
        <p:txBody>
          <a:bodyPr wrap="square">
            <a:spAutoFit/>
          </a:bodyPr>
          <a:lstStyle/>
          <a:p>
            <a:pPr algn="l">
              <a:defRPr sz="900" b="0">
                <a:solidFill>
                  <a:srgbClr val="666666"/>
                </a:solidFill>
              </a:defRPr>
            </a:pPr>
            <a:r>
              <a:t>消費・投資の構造的減少</a:t>
            </a:r>
          </a:p>
        </p:txBody>
      </p:sp>
      <p:sp>
        <p:nvSpPr>
          <p:cNvPr id="15" name="TextBox 14"/>
          <p:cNvSpPr txBox="1"/>
          <p:nvPr/>
        </p:nvSpPr>
        <p:spPr>
          <a:xfrm>
            <a:off x="5577840" y="3017520"/>
            <a:ext cx="1188720" cy="228600"/>
          </a:xfrm>
          <a:prstGeom prst="rect">
            <a:avLst/>
          </a:prstGeom>
          <a:noFill/>
        </p:spPr>
        <p:txBody>
          <a:bodyPr wrap="square">
            <a:spAutoFit/>
          </a:bodyPr>
          <a:lstStyle/>
          <a:p>
            <a:pPr algn="l">
              <a:defRPr sz="1000" b="1">
                <a:solidFill>
                  <a:srgbClr val="333333"/>
                </a:solidFill>
              </a:defRPr>
            </a:pPr>
            <a:r>
              <a:t>他国の成長</a:t>
            </a:r>
          </a:p>
        </p:txBody>
      </p:sp>
      <p:sp>
        <p:nvSpPr>
          <p:cNvPr id="16" name="TextBox 15"/>
          <p:cNvSpPr txBox="1"/>
          <p:nvPr/>
        </p:nvSpPr>
        <p:spPr>
          <a:xfrm>
            <a:off x="5577840" y="3187520"/>
            <a:ext cx="3017520" cy="228600"/>
          </a:xfrm>
          <a:prstGeom prst="rect">
            <a:avLst/>
          </a:prstGeom>
          <a:noFill/>
        </p:spPr>
        <p:txBody>
          <a:bodyPr wrap="square">
            <a:spAutoFit/>
          </a:bodyPr>
          <a:lstStyle/>
          <a:p>
            <a:pPr algn="l">
              <a:defRPr sz="900" b="0">
                <a:solidFill>
                  <a:srgbClr val="666666"/>
                </a:solidFill>
              </a:defRPr>
            </a:pPr>
            <a:r>
              <a:t>インド・東南アジアの台頭</a:t>
            </a:r>
          </a:p>
        </p:txBody>
      </p:sp>
      <p:sp>
        <p:nvSpPr>
          <p:cNvPr id="17" name="Rounded Rectangle 16"/>
          <p:cNvSpPr/>
          <p:nvPr/>
        </p:nvSpPr>
        <p:spPr>
          <a:xfrm>
            <a:off x="274320" y="3749039"/>
            <a:ext cx="8412480" cy="731520"/>
          </a:xfrm>
          <a:prstGeom prst="roundRect">
            <a:avLst/>
          </a:prstGeom>
          <a:solidFill>
            <a:srgbClr val="E8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794760"/>
            <a:ext cx="8229600" cy="274320"/>
          </a:xfrm>
          <a:prstGeom prst="rect">
            <a:avLst/>
          </a:prstGeom>
          <a:noFill/>
        </p:spPr>
        <p:txBody>
          <a:bodyPr wrap="square">
            <a:spAutoFit/>
          </a:bodyPr>
          <a:lstStyle/>
          <a:p>
            <a:pPr algn="l">
              <a:defRPr sz="1200" b="1">
                <a:solidFill>
                  <a:srgbClr val="27AE60"/>
                </a:solidFill>
              </a:defRPr>
            </a:pPr>
            <a:r>
              <a:t>明るい材料: AI・技術競争力は米中に次ぐ世界3位へ上昇</a:t>
            </a:r>
          </a:p>
        </p:txBody>
      </p:sp>
      <p:sp>
        <p:nvSpPr>
          <p:cNvPr id="19" name="TextBox 18"/>
          <p:cNvSpPr txBox="1"/>
          <p:nvPr/>
        </p:nvSpPr>
        <p:spPr>
          <a:xfrm>
            <a:off x="457200" y="4114800"/>
            <a:ext cx="8229600" cy="274320"/>
          </a:xfrm>
          <a:prstGeom prst="rect">
            <a:avLst/>
          </a:prstGeom>
          <a:noFill/>
        </p:spPr>
        <p:txBody>
          <a:bodyPr wrap="square">
            <a:spAutoFit/>
          </a:bodyPr>
          <a:lstStyle/>
          <a:p>
            <a:pPr algn="l">
              <a:defRPr sz="1000" b="0">
                <a:solidFill>
                  <a:srgbClr val="333333"/>
                </a:solidFill>
              </a:defRPr>
            </a:pPr>
            <a:r>
              <a:t>GDP規模は縮小するが、1人当たり生産性・技術力では世界トップクラスを維持 → DX推進が鍵</a:t>
            </a:r>
          </a:p>
        </p:txBody>
      </p:sp>
      <p:sp>
        <p:nvSpPr>
          <p:cNvPr id="20" name="Rectangle 19"/>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22" name="TextBox 21"/>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環境制約・リスク要因</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気候変動・水資源・ブラックスワンへの備え</a:t>
            </a:r>
          </a:p>
        </p:txBody>
      </p:sp>
      <p:sp>
        <p:nvSpPr>
          <p:cNvPr id="6" name="Rounded Rectangle 5"/>
          <p:cNvSpPr/>
          <p:nvPr/>
        </p:nvSpPr>
        <p:spPr>
          <a:xfrm>
            <a:off x="274320" y="1280160"/>
            <a:ext cx="4114800" cy="1645920"/>
          </a:xfrm>
          <a:prstGeom prst="roundRect">
            <a:avLst/>
          </a:prstGeom>
          <a:solidFill>
            <a:srgbClr val="FFF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71600"/>
            <a:ext cx="3657600" cy="274320"/>
          </a:xfrm>
          <a:prstGeom prst="rect">
            <a:avLst/>
          </a:prstGeom>
          <a:noFill/>
        </p:spPr>
        <p:txBody>
          <a:bodyPr wrap="square">
            <a:spAutoFit/>
          </a:bodyPr>
          <a:lstStyle/>
          <a:p>
            <a:pPr algn="l">
              <a:defRPr sz="1200" b="1">
                <a:solidFill>
                  <a:srgbClr val="E67E22"/>
                </a:solidFill>
              </a:defRPr>
            </a:pPr>
            <a:r>
              <a:t>気候変動の経済影響</a:t>
            </a:r>
          </a:p>
        </p:txBody>
      </p:sp>
      <p:graphicFrame>
        <p:nvGraphicFramePr>
          <p:cNvPr id="8" name="Table 7"/>
          <p:cNvGraphicFramePr>
            <a:graphicFrameLocks noGrp="1"/>
          </p:cNvGraphicFramePr>
          <p:nvPr/>
        </p:nvGraphicFramePr>
        <p:xfrm>
          <a:off x="365760" y="1737360"/>
          <a:ext cx="3840480" cy="1097280"/>
        </p:xfrm>
        <a:graphic>
          <a:graphicData uri="http://schemas.openxmlformats.org/drawingml/2006/table">
            <a:tbl>
              <a:tblPr firstRow="1" bandRow="1">
                <a:tableStyleId>{5C22544A-7EE6-4342-B048-85BDC9FD1C3A}</a:tableStyleId>
              </a:tblPr>
              <a:tblGrid>
                <a:gridCol w="1371600"/>
                <a:gridCol w="1188720"/>
                <a:gridCol w="1280160"/>
              </a:tblGrid>
              <a:tr h="219456">
                <a:tc>
                  <a:txBody>
                    <a:bodyPr/>
                    <a:lstStyle/>
                    <a:p>
                      <a:pPr algn="ctr">
                        <a:defRPr sz="900" b="1">
                          <a:solidFill>
                            <a:srgbClr val="FFFFFF"/>
                          </a:solidFill>
                        </a:defRPr>
                      </a:pPr>
                      <a:r>
                        <a:t>項目</a:t>
                      </a:r>
                    </a:p>
                  </a:txBody>
                  <a:tcPr anchor="ctr">
                    <a:solidFill>
                      <a:srgbClr val="8B7536"/>
                    </a:solidFill>
                  </a:tcPr>
                </a:tc>
                <a:tc>
                  <a:txBody>
                    <a:bodyPr/>
                    <a:lstStyle/>
                    <a:p>
                      <a:pPr algn="ctr">
                        <a:defRPr sz="900" b="1">
                          <a:solidFill>
                            <a:srgbClr val="FFFFFF"/>
                          </a:solidFill>
                        </a:defRPr>
                      </a:pPr>
                      <a:r>
                        <a:t>2030年</a:t>
                      </a:r>
                    </a:p>
                  </a:txBody>
                  <a:tcPr anchor="ctr">
                    <a:solidFill>
                      <a:srgbClr val="8B7536"/>
                    </a:solidFill>
                  </a:tcPr>
                </a:tc>
                <a:tc>
                  <a:txBody>
                    <a:bodyPr/>
                    <a:lstStyle/>
                    <a:p>
                      <a:pPr algn="ctr">
                        <a:defRPr sz="900" b="1">
                          <a:solidFill>
                            <a:srgbClr val="FFFFFF"/>
                          </a:solidFill>
                        </a:defRPr>
                      </a:pPr>
                      <a:r>
                        <a:t>2050年</a:t>
                      </a:r>
                    </a:p>
                  </a:txBody>
                  <a:tcPr anchor="ctr">
                    <a:solidFill>
                      <a:srgbClr val="8B7536"/>
                    </a:solidFill>
                  </a:tcPr>
                </a:tc>
              </a:tr>
              <a:tr h="219456">
                <a:tc>
                  <a:txBody>
                    <a:bodyPr/>
                    <a:lstStyle/>
                    <a:p>
                      <a:pPr>
                        <a:defRPr sz="900">
                          <a:solidFill>
                            <a:srgbClr val="333333"/>
                          </a:solidFill>
                        </a:defRPr>
                      </a:pPr>
                      <a:r>
                        <a:t>自然災害</a:t>
                      </a:r>
                    </a:p>
                  </a:txBody>
                  <a:tcPr anchor="ctr">
                    <a:solidFill>
                      <a:srgbClr val="F9F6F0"/>
                    </a:solidFill>
                  </a:tcPr>
                </a:tc>
                <a:tc>
                  <a:txBody>
                    <a:bodyPr/>
                    <a:lstStyle/>
                    <a:p>
                      <a:pPr>
                        <a:defRPr sz="900">
                          <a:solidFill>
                            <a:srgbClr val="333333"/>
                          </a:solidFill>
                        </a:defRPr>
                      </a:pPr>
                      <a:r>
                        <a:t>GDP-1.2%</a:t>
                      </a:r>
                    </a:p>
                  </a:txBody>
                  <a:tcPr anchor="ctr">
                    <a:solidFill>
                      <a:srgbClr val="F9F6F0"/>
                    </a:solidFill>
                  </a:tcPr>
                </a:tc>
                <a:tc>
                  <a:txBody>
                    <a:bodyPr/>
                    <a:lstStyle/>
                    <a:p>
                      <a:pPr>
                        <a:defRPr sz="900">
                          <a:solidFill>
                            <a:srgbClr val="333333"/>
                          </a:solidFill>
                        </a:defRPr>
                      </a:pPr>
                      <a:r>
                        <a:t>GDP-2.8%</a:t>
                      </a:r>
                    </a:p>
                  </a:txBody>
                  <a:tcPr anchor="ctr">
                    <a:solidFill>
                      <a:srgbClr val="F9F6F0"/>
                    </a:solidFill>
                  </a:tcPr>
                </a:tc>
              </a:tr>
              <a:tr h="219456">
                <a:tc>
                  <a:txBody>
                    <a:bodyPr/>
                    <a:lstStyle/>
                    <a:p>
                      <a:pPr>
                        <a:defRPr sz="900">
                          <a:solidFill>
                            <a:srgbClr val="333333"/>
                          </a:solidFill>
                        </a:defRPr>
                      </a:pPr>
                      <a:r>
                        <a:t>農業生産</a:t>
                      </a:r>
                    </a:p>
                  </a:txBody>
                  <a:tcPr anchor="ctr">
                    <a:solidFill>
                      <a:srgbClr val="F0E8D5"/>
                    </a:solidFill>
                  </a:tcPr>
                </a:tc>
                <a:tc>
                  <a:txBody>
                    <a:bodyPr/>
                    <a:lstStyle/>
                    <a:p>
                      <a:pPr>
                        <a:defRPr sz="900">
                          <a:solidFill>
                            <a:srgbClr val="333333"/>
                          </a:solidFill>
                        </a:defRPr>
                      </a:pPr>
                      <a:r>
                        <a:t>-15%</a:t>
                      </a:r>
                    </a:p>
                  </a:txBody>
                  <a:tcPr anchor="ctr">
                    <a:solidFill>
                      <a:srgbClr val="F0E8D5"/>
                    </a:solidFill>
                  </a:tcPr>
                </a:tc>
                <a:tc>
                  <a:txBody>
                    <a:bodyPr/>
                    <a:lstStyle/>
                    <a:p>
                      <a:pPr>
                        <a:defRPr sz="900">
                          <a:solidFill>
                            <a:srgbClr val="333333"/>
                          </a:solidFill>
                        </a:defRPr>
                      </a:pPr>
                      <a:r>
                        <a:t>-30%</a:t>
                      </a:r>
                    </a:p>
                  </a:txBody>
                  <a:tcPr anchor="ctr">
                    <a:solidFill>
                      <a:srgbClr val="F0E8D5"/>
                    </a:solidFill>
                  </a:tcPr>
                </a:tc>
              </a:tr>
              <a:tr h="219456">
                <a:tc>
                  <a:txBody>
                    <a:bodyPr/>
                    <a:lstStyle/>
                    <a:p>
                      <a:pPr>
                        <a:defRPr sz="900">
                          <a:solidFill>
                            <a:srgbClr val="333333"/>
                          </a:solidFill>
                        </a:defRPr>
                      </a:pPr>
                      <a:r>
                        <a:t>エネルギーコスト</a:t>
                      </a:r>
                    </a:p>
                  </a:txBody>
                  <a:tcPr anchor="ctr">
                    <a:solidFill>
                      <a:srgbClr val="F9F6F0"/>
                    </a:solidFill>
                  </a:tcPr>
                </a:tc>
                <a:tc>
                  <a:txBody>
                    <a:bodyPr/>
                    <a:lstStyle/>
                    <a:p>
                      <a:pPr>
                        <a:defRPr sz="900">
                          <a:solidFill>
                            <a:srgbClr val="333333"/>
                          </a:solidFill>
                        </a:defRPr>
                      </a:pPr>
                      <a:r>
                        <a:t>+20%</a:t>
                      </a:r>
                    </a:p>
                  </a:txBody>
                  <a:tcPr anchor="ctr">
                    <a:solidFill>
                      <a:srgbClr val="F9F6F0"/>
                    </a:solidFill>
                  </a:tcPr>
                </a:tc>
                <a:tc>
                  <a:txBody>
                    <a:bodyPr/>
                    <a:lstStyle/>
                    <a:p>
                      <a:pPr>
                        <a:defRPr sz="900">
                          <a:solidFill>
                            <a:srgbClr val="333333"/>
                          </a:solidFill>
                        </a:defRPr>
                      </a:pPr>
                      <a:r>
                        <a:t>+40%</a:t>
                      </a:r>
                    </a:p>
                  </a:txBody>
                  <a:tcPr anchor="ctr">
                    <a:solidFill>
                      <a:srgbClr val="F9F6F0"/>
                    </a:solidFill>
                  </a:tcPr>
                </a:tc>
              </a:tr>
              <a:tr h="219456">
                <a:tc>
                  <a:txBody>
                    <a:bodyPr/>
                    <a:lstStyle/>
                    <a:p>
                      <a:pPr>
                        <a:defRPr sz="900">
                          <a:solidFill>
                            <a:srgbClr val="333333"/>
                          </a:solidFill>
                        </a:defRPr>
                      </a:pPr>
                      <a:r>
                        <a:t>適応コスト</a:t>
                      </a:r>
                    </a:p>
                  </a:txBody>
                  <a:tcPr anchor="ctr">
                    <a:solidFill>
                      <a:srgbClr val="F0E8D5"/>
                    </a:solidFill>
                  </a:tcPr>
                </a:tc>
                <a:tc>
                  <a:txBody>
                    <a:bodyPr/>
                    <a:lstStyle/>
                    <a:p>
                      <a:pPr>
                        <a:defRPr sz="900">
                          <a:solidFill>
                            <a:srgbClr val="333333"/>
                          </a:solidFill>
                        </a:defRPr>
                      </a:pPr>
                      <a:r>
                        <a:t>年3兆円</a:t>
                      </a:r>
                    </a:p>
                  </a:txBody>
                  <a:tcPr anchor="ctr">
                    <a:solidFill>
                      <a:srgbClr val="F0E8D5"/>
                    </a:solidFill>
                  </a:tcPr>
                </a:tc>
                <a:tc>
                  <a:txBody>
                    <a:bodyPr/>
                    <a:lstStyle/>
                    <a:p>
                      <a:pPr>
                        <a:defRPr sz="900">
                          <a:solidFill>
                            <a:srgbClr val="333333"/>
                          </a:solidFill>
                        </a:defRPr>
                      </a:pPr>
                      <a:r>
                        <a:t>年8兆円</a:t>
                      </a:r>
                    </a:p>
                  </a:txBody>
                  <a:tcPr anchor="ctr">
                    <a:solidFill>
                      <a:srgbClr val="F0E8D5"/>
                    </a:solidFill>
                  </a:tcPr>
                </a:tc>
              </a:tr>
            </a:tbl>
          </a:graphicData>
        </a:graphic>
      </p:graphicFrame>
      <p:sp>
        <p:nvSpPr>
          <p:cNvPr id="9" name="Rounded Rectangle 8"/>
          <p:cNvSpPr/>
          <p:nvPr/>
        </p:nvSpPr>
        <p:spPr>
          <a:xfrm>
            <a:off x="4754880" y="1280160"/>
            <a:ext cx="3931920" cy="1645920"/>
          </a:xfrm>
          <a:prstGeom prst="roundRect">
            <a:avLst/>
          </a:prstGeom>
          <a:solidFill>
            <a:srgbClr val="FF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0" y="1371600"/>
            <a:ext cx="3657600" cy="274320"/>
          </a:xfrm>
          <a:prstGeom prst="rect">
            <a:avLst/>
          </a:prstGeom>
          <a:noFill/>
        </p:spPr>
        <p:txBody>
          <a:bodyPr wrap="square">
            <a:spAutoFit/>
          </a:bodyPr>
          <a:lstStyle/>
          <a:p>
            <a:pPr algn="l">
              <a:defRPr sz="1200" b="1">
                <a:solidFill>
                  <a:srgbClr val="C0392B"/>
                </a:solidFill>
              </a:defRPr>
            </a:pPr>
            <a:r>
              <a:t>ブラックスワン・リスク</a:t>
            </a:r>
          </a:p>
        </p:txBody>
      </p:sp>
      <p:graphicFrame>
        <p:nvGraphicFramePr>
          <p:cNvPr id="11" name="Table 10"/>
          <p:cNvGraphicFramePr>
            <a:graphicFrameLocks noGrp="1"/>
          </p:cNvGraphicFramePr>
          <p:nvPr/>
        </p:nvGraphicFramePr>
        <p:xfrm>
          <a:off x="4846320" y="1737360"/>
          <a:ext cx="3200400" cy="1097280"/>
        </p:xfrm>
        <a:graphic>
          <a:graphicData uri="http://schemas.openxmlformats.org/drawingml/2006/table">
            <a:tbl>
              <a:tblPr firstRow="1" bandRow="1">
                <a:tableStyleId>{5C22544A-7EE6-4342-B048-85BDC9FD1C3A}</a:tableStyleId>
              </a:tblPr>
              <a:tblGrid>
                <a:gridCol w="1371600"/>
                <a:gridCol w="914400"/>
                <a:gridCol w="914400"/>
              </a:tblGrid>
              <a:tr h="182880">
                <a:tc>
                  <a:txBody>
                    <a:bodyPr/>
                    <a:lstStyle/>
                    <a:p>
                      <a:pPr algn="ctr">
                        <a:defRPr sz="900" b="1">
                          <a:solidFill>
                            <a:srgbClr val="FFFFFF"/>
                          </a:solidFill>
                        </a:defRPr>
                      </a:pPr>
                      <a:r>
                        <a:t>リスク</a:t>
                      </a:r>
                    </a:p>
                  </a:txBody>
                  <a:tcPr anchor="ctr">
                    <a:solidFill>
                      <a:srgbClr val="8B7536"/>
                    </a:solidFill>
                  </a:tcPr>
                </a:tc>
                <a:tc>
                  <a:txBody>
                    <a:bodyPr/>
                    <a:lstStyle/>
                    <a:p>
                      <a:pPr algn="ctr">
                        <a:defRPr sz="900" b="1">
                          <a:solidFill>
                            <a:srgbClr val="FFFFFF"/>
                          </a:solidFill>
                        </a:defRPr>
                      </a:pPr>
                      <a:r>
                        <a:t>確率</a:t>
                      </a:r>
                    </a:p>
                  </a:txBody>
                  <a:tcPr anchor="ctr">
                    <a:solidFill>
                      <a:srgbClr val="8B7536"/>
                    </a:solidFill>
                  </a:tcPr>
                </a:tc>
                <a:tc>
                  <a:txBody>
                    <a:bodyPr/>
                    <a:lstStyle/>
                    <a:p>
                      <a:pPr algn="ctr">
                        <a:defRPr sz="900" b="1">
                          <a:solidFill>
                            <a:srgbClr val="FFFFFF"/>
                          </a:solidFill>
                        </a:defRPr>
                      </a:pPr>
                      <a:r>
                        <a:t>影響度</a:t>
                      </a:r>
                    </a:p>
                  </a:txBody>
                  <a:tcPr anchor="ctr">
                    <a:solidFill>
                      <a:srgbClr val="8B7536"/>
                    </a:solidFill>
                  </a:tcPr>
                </a:tc>
              </a:tr>
              <a:tr h="182880">
                <a:tc>
                  <a:txBody>
                    <a:bodyPr/>
                    <a:lstStyle/>
                    <a:p>
                      <a:pPr>
                        <a:defRPr sz="900">
                          <a:solidFill>
                            <a:srgbClr val="333333"/>
                          </a:solidFill>
                        </a:defRPr>
                      </a:pPr>
                      <a:r>
                        <a:t>パンデミック再発</a:t>
                      </a:r>
                    </a:p>
                  </a:txBody>
                  <a:tcPr anchor="ctr">
                    <a:solidFill>
                      <a:srgbClr val="F9F6F0"/>
                    </a:solidFill>
                  </a:tcPr>
                </a:tc>
                <a:tc>
                  <a:txBody>
                    <a:bodyPr/>
                    <a:lstStyle/>
                    <a:p>
                      <a:pPr>
                        <a:defRPr sz="900">
                          <a:solidFill>
                            <a:srgbClr val="333333"/>
                          </a:solidFill>
                        </a:defRPr>
                      </a:pPr>
                      <a:r>
                        <a:t>30%</a:t>
                      </a:r>
                    </a:p>
                  </a:txBody>
                  <a:tcPr anchor="ctr">
                    <a:solidFill>
                      <a:srgbClr val="F9F6F0"/>
                    </a:solidFill>
                  </a:tcPr>
                </a:tc>
                <a:tc>
                  <a:txBody>
                    <a:bodyPr/>
                    <a:lstStyle/>
                    <a:p>
                      <a:pPr>
                        <a:defRPr sz="900">
                          <a:solidFill>
                            <a:srgbClr val="333333"/>
                          </a:solidFill>
                        </a:defRPr>
                      </a:pPr>
                      <a:r>
                        <a:t>高</a:t>
                      </a:r>
                    </a:p>
                  </a:txBody>
                  <a:tcPr anchor="ctr">
                    <a:solidFill>
                      <a:srgbClr val="F9F6F0"/>
                    </a:solidFill>
                  </a:tcPr>
                </a:tc>
              </a:tr>
              <a:tr h="182880">
                <a:tc>
                  <a:txBody>
                    <a:bodyPr/>
                    <a:lstStyle/>
                    <a:p>
                      <a:pPr>
                        <a:defRPr sz="900">
                          <a:solidFill>
                            <a:srgbClr val="333333"/>
                          </a:solidFill>
                        </a:defRPr>
                      </a:pPr>
                      <a:r>
                        <a:t>大規模自然災害</a:t>
                      </a:r>
                    </a:p>
                  </a:txBody>
                  <a:tcPr anchor="ctr">
                    <a:solidFill>
                      <a:srgbClr val="F0E8D5"/>
                    </a:solidFill>
                  </a:tcPr>
                </a:tc>
                <a:tc>
                  <a:txBody>
                    <a:bodyPr/>
                    <a:lstStyle/>
                    <a:p>
                      <a:pPr>
                        <a:defRPr sz="900">
                          <a:solidFill>
                            <a:srgbClr val="333333"/>
                          </a:solidFill>
                        </a:defRPr>
                      </a:pPr>
                      <a:r>
                        <a:t>60%</a:t>
                      </a:r>
                    </a:p>
                  </a:txBody>
                  <a:tcPr anchor="ctr">
                    <a:solidFill>
                      <a:srgbClr val="F0E8D5"/>
                    </a:solidFill>
                  </a:tcPr>
                </a:tc>
                <a:tc>
                  <a:txBody>
                    <a:bodyPr/>
                    <a:lstStyle/>
                    <a:p>
                      <a:pPr>
                        <a:defRPr sz="900">
                          <a:solidFill>
                            <a:srgbClr val="333333"/>
                          </a:solidFill>
                        </a:defRPr>
                      </a:pPr>
                      <a:r>
                        <a:t>高</a:t>
                      </a:r>
                    </a:p>
                  </a:txBody>
                  <a:tcPr anchor="ctr">
                    <a:solidFill>
                      <a:srgbClr val="F0E8D5"/>
                    </a:solidFill>
                  </a:tcPr>
                </a:tc>
              </a:tr>
              <a:tr h="182880">
                <a:tc>
                  <a:txBody>
                    <a:bodyPr/>
                    <a:lstStyle/>
                    <a:p>
                      <a:pPr>
                        <a:defRPr sz="900">
                          <a:solidFill>
                            <a:srgbClr val="333333"/>
                          </a:solidFill>
                        </a:defRPr>
                      </a:pPr>
                      <a:r>
                        <a:t>サイバー攻撃</a:t>
                      </a:r>
                    </a:p>
                  </a:txBody>
                  <a:tcPr anchor="ctr">
                    <a:solidFill>
                      <a:srgbClr val="F9F6F0"/>
                    </a:solidFill>
                  </a:tcPr>
                </a:tc>
                <a:tc>
                  <a:txBody>
                    <a:bodyPr/>
                    <a:lstStyle/>
                    <a:p>
                      <a:pPr>
                        <a:defRPr sz="900">
                          <a:solidFill>
                            <a:srgbClr val="333333"/>
                          </a:solidFill>
                        </a:defRPr>
                      </a:pPr>
                      <a:r>
                        <a:t>70%</a:t>
                      </a:r>
                    </a:p>
                  </a:txBody>
                  <a:tcPr anchor="ctr">
                    <a:solidFill>
                      <a:srgbClr val="F9F6F0"/>
                    </a:solidFill>
                  </a:tcPr>
                </a:tc>
                <a:tc>
                  <a:txBody>
                    <a:bodyPr/>
                    <a:lstStyle/>
                    <a:p>
                      <a:pPr>
                        <a:defRPr sz="900">
                          <a:solidFill>
                            <a:srgbClr val="333333"/>
                          </a:solidFill>
                        </a:defRPr>
                      </a:pPr>
                      <a:r>
                        <a:t>中</a:t>
                      </a:r>
                    </a:p>
                  </a:txBody>
                  <a:tcPr anchor="ctr">
                    <a:solidFill>
                      <a:srgbClr val="F9F6F0"/>
                    </a:solidFill>
                  </a:tcPr>
                </a:tc>
              </a:tr>
              <a:tr h="182880">
                <a:tc>
                  <a:txBody>
                    <a:bodyPr/>
                    <a:lstStyle/>
                    <a:p>
                      <a:pPr>
                        <a:defRPr sz="900">
                          <a:solidFill>
                            <a:srgbClr val="333333"/>
                          </a:solidFill>
                        </a:defRPr>
                      </a:pPr>
                      <a:r>
                        <a:t>地政学的緊張</a:t>
                      </a:r>
                    </a:p>
                  </a:txBody>
                  <a:tcPr anchor="ctr">
                    <a:solidFill>
                      <a:srgbClr val="F0E8D5"/>
                    </a:solidFill>
                  </a:tcPr>
                </a:tc>
                <a:tc>
                  <a:txBody>
                    <a:bodyPr/>
                    <a:lstStyle/>
                    <a:p>
                      <a:pPr>
                        <a:defRPr sz="900">
                          <a:solidFill>
                            <a:srgbClr val="333333"/>
                          </a:solidFill>
                        </a:defRPr>
                      </a:pPr>
                      <a:r>
                        <a:t>40%</a:t>
                      </a:r>
                    </a:p>
                  </a:txBody>
                  <a:tcPr anchor="ctr">
                    <a:solidFill>
                      <a:srgbClr val="F0E8D5"/>
                    </a:solidFill>
                  </a:tcPr>
                </a:tc>
                <a:tc>
                  <a:txBody>
                    <a:bodyPr/>
                    <a:lstStyle/>
                    <a:p>
                      <a:pPr>
                        <a:defRPr sz="900">
                          <a:solidFill>
                            <a:srgbClr val="333333"/>
                          </a:solidFill>
                        </a:defRPr>
                      </a:pPr>
                      <a:r>
                        <a:t>高</a:t>
                      </a:r>
                    </a:p>
                  </a:txBody>
                  <a:tcPr anchor="ctr">
                    <a:solidFill>
                      <a:srgbClr val="F0E8D5"/>
                    </a:solidFill>
                  </a:tcPr>
                </a:tc>
              </a:tr>
              <a:tr h="182880">
                <a:tc>
                  <a:txBody>
                    <a:bodyPr/>
                    <a:lstStyle/>
                    <a:p>
                      <a:pPr>
                        <a:defRPr sz="900">
                          <a:solidFill>
                            <a:srgbClr val="333333"/>
                          </a:solidFill>
                        </a:defRPr>
                      </a:pPr>
                      <a:r>
                        <a:t>AI制御不能</a:t>
                      </a:r>
                    </a:p>
                  </a:txBody>
                  <a:tcPr anchor="ctr">
                    <a:solidFill>
                      <a:srgbClr val="F9F6F0"/>
                    </a:solidFill>
                  </a:tcPr>
                </a:tc>
                <a:tc>
                  <a:txBody>
                    <a:bodyPr/>
                    <a:lstStyle/>
                    <a:p>
                      <a:pPr>
                        <a:defRPr sz="900">
                          <a:solidFill>
                            <a:srgbClr val="333333"/>
                          </a:solidFill>
                        </a:defRPr>
                      </a:pPr>
                      <a:r>
                        <a:t>10%</a:t>
                      </a:r>
                    </a:p>
                  </a:txBody>
                  <a:tcPr anchor="ctr">
                    <a:solidFill>
                      <a:srgbClr val="F9F6F0"/>
                    </a:solidFill>
                  </a:tcPr>
                </a:tc>
                <a:tc>
                  <a:txBody>
                    <a:bodyPr/>
                    <a:lstStyle/>
                    <a:p>
                      <a:pPr>
                        <a:defRPr sz="900">
                          <a:solidFill>
                            <a:srgbClr val="333333"/>
                          </a:solidFill>
                        </a:defRPr>
                      </a:pPr>
                      <a:r>
                        <a:t>極高</a:t>
                      </a:r>
                    </a:p>
                  </a:txBody>
                  <a:tcPr anchor="ctr">
                    <a:solidFill>
                      <a:srgbClr val="F9F6F0"/>
                    </a:solidFill>
                  </a:tcPr>
                </a:tc>
              </a:tr>
            </a:tbl>
          </a:graphicData>
        </a:graphic>
      </p:graphicFrame>
      <p:sp>
        <p:nvSpPr>
          <p:cNvPr id="12" name="Rounded Rectangle 11"/>
          <p:cNvSpPr/>
          <p:nvPr/>
        </p:nvSpPr>
        <p:spPr>
          <a:xfrm>
            <a:off x="274320" y="3200400"/>
            <a:ext cx="8412480" cy="128016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291840"/>
            <a:ext cx="8229600" cy="274320"/>
          </a:xfrm>
          <a:prstGeom prst="rect">
            <a:avLst/>
          </a:prstGeom>
          <a:noFill/>
        </p:spPr>
        <p:txBody>
          <a:bodyPr wrap="square">
            <a:spAutoFit/>
          </a:bodyPr>
          <a:lstStyle/>
          <a:p>
            <a:pPr algn="l">
              <a:defRPr sz="1300" b="1">
                <a:solidFill>
                  <a:srgbClr val="8B7536"/>
                </a:solidFill>
              </a:defRPr>
            </a:pPr>
            <a:r>
              <a:t>コンサルタントとしての活用ポイント</a:t>
            </a:r>
          </a:p>
        </p:txBody>
      </p:sp>
      <p:sp>
        <p:nvSpPr>
          <p:cNvPr id="14" name="TextBox 13"/>
          <p:cNvSpPr txBox="1"/>
          <p:nvPr/>
        </p:nvSpPr>
        <p:spPr>
          <a:xfrm>
            <a:off x="457200" y="3657600"/>
            <a:ext cx="8046720" cy="731520"/>
          </a:xfrm>
          <a:prstGeom prst="rect">
            <a:avLst/>
          </a:prstGeom>
          <a:noFill/>
        </p:spPr>
        <p:txBody>
          <a:bodyPr wrap="square">
            <a:spAutoFit/>
          </a:bodyPr>
          <a:lstStyle/>
          <a:p>
            <a:pPr algn="l">
              <a:defRPr sz="1000" b="0">
                <a:solidFill>
                  <a:srgbClr val="333333"/>
                </a:solidFill>
              </a:defRPr>
            </a:pPr>
            <a:r>
              <a:t>ロードマップ策定時に「環境制約」をシナリオに組み込む ― 水資源・エネルギーコストの上昇は全業界に影響</a:t>
            </a:r>
          </a:p>
          <a:p>
            <a:pPr algn="l">
              <a:defRPr sz="1000" b="0">
                <a:solidFill>
                  <a:srgbClr val="333333"/>
                </a:solidFill>
              </a:defRPr>
            </a:pPr>
            <a:r>
              <a:t>サイバー攻撃リスク70% → セキュリティ投資は「コスト」ではなく「必須投資」として提案する</a:t>
            </a:r>
          </a:p>
          <a:p>
            <a:pPr algn="l">
              <a:defRPr sz="1000" b="0">
                <a:solidFill>
                  <a:srgbClr val="333333"/>
                </a:solidFill>
              </a:defRPr>
            </a:pPr>
            <a:r>
              <a:t>ブラックスワン事象を想定した「レジリエンス設計」をロードマップに標準で盛り込む</a:t>
            </a:r>
          </a:p>
        </p:txBody>
      </p:sp>
      <p:sp>
        <p:nvSpPr>
          <p:cNvPr id="15" name="Rectangle 14"/>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17" name="TextBox 16"/>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926080" cy="51435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926080" y="0"/>
            <a:ext cx="621792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0"/>
            <a:ext cx="2286000" cy="1371600"/>
          </a:xfrm>
          <a:prstGeom prst="rect">
            <a:avLst/>
          </a:prstGeom>
          <a:noFill/>
        </p:spPr>
        <p:txBody>
          <a:bodyPr wrap="square">
            <a:spAutoFit/>
          </a:bodyPr>
          <a:lstStyle/>
          <a:p>
            <a:pPr algn="ctr">
              <a:defRPr sz="6000" b="1">
                <a:solidFill>
                  <a:srgbClr val="FFFFFF"/>
                </a:solidFill>
              </a:defRPr>
            </a:pPr>
            <a:r>
              <a:t>04</a:t>
            </a:r>
          </a:p>
        </p:txBody>
      </p:sp>
      <p:sp>
        <p:nvSpPr>
          <p:cNvPr id="5" name="TextBox 4"/>
          <p:cNvSpPr txBox="1"/>
          <p:nvPr/>
        </p:nvSpPr>
        <p:spPr>
          <a:xfrm>
            <a:off x="3200400" y="1097280"/>
            <a:ext cx="5486400" cy="731520"/>
          </a:xfrm>
          <a:prstGeom prst="rect">
            <a:avLst/>
          </a:prstGeom>
          <a:noFill/>
        </p:spPr>
        <p:txBody>
          <a:bodyPr wrap="square">
            <a:spAutoFit/>
          </a:bodyPr>
          <a:lstStyle/>
          <a:p>
            <a:pPr algn="l">
              <a:defRPr sz="2800" b="0">
                <a:solidFill>
                  <a:srgbClr val="FFFFFF"/>
                </a:solidFill>
              </a:defRPr>
            </a:pPr>
            <a:r>
              <a:t>コンサル実務への</a:t>
            </a:r>
          </a:p>
        </p:txBody>
      </p:sp>
      <p:sp>
        <p:nvSpPr>
          <p:cNvPr id="6" name="TextBox 5"/>
          <p:cNvSpPr txBox="1"/>
          <p:nvPr/>
        </p:nvSpPr>
        <p:spPr>
          <a:xfrm>
            <a:off x="3200400" y="1828800"/>
            <a:ext cx="5486400" cy="731520"/>
          </a:xfrm>
          <a:prstGeom prst="rect">
            <a:avLst/>
          </a:prstGeom>
          <a:noFill/>
        </p:spPr>
        <p:txBody>
          <a:bodyPr wrap="square">
            <a:spAutoFit/>
          </a:bodyPr>
          <a:lstStyle/>
          <a:p>
            <a:pPr algn="l">
              <a:defRPr sz="3400" b="1">
                <a:solidFill>
                  <a:srgbClr val="C9A84C"/>
                </a:solidFill>
              </a:defRPr>
            </a:pPr>
            <a:r>
              <a:t>活用法</a:t>
            </a:r>
          </a:p>
        </p:txBody>
      </p:sp>
      <p:sp>
        <p:nvSpPr>
          <p:cNvPr id="7" name="TextBox 6"/>
          <p:cNvSpPr txBox="1"/>
          <p:nvPr/>
        </p:nvSpPr>
        <p:spPr>
          <a:xfrm>
            <a:off x="3200400" y="2926080"/>
            <a:ext cx="5486400" cy="914400"/>
          </a:xfrm>
          <a:prstGeom prst="rect">
            <a:avLst/>
          </a:prstGeom>
          <a:noFill/>
        </p:spPr>
        <p:txBody>
          <a:bodyPr wrap="square">
            <a:spAutoFit/>
          </a:bodyPr>
          <a:lstStyle/>
          <a:p>
            <a:pPr algn="l">
              <a:defRPr sz="1400" b="0">
                <a:solidFill>
                  <a:srgbClr val="AAAAAA"/>
                </a:solidFill>
              </a:defRPr>
            </a:pPr>
            <a:r>
              <a:t>この未来年表を「3年後・5年後の</a:t>
            </a:r>
            <a:br/>
            <a:r>
              <a:t>ロードマップ」にどう落とし込むか</a:t>
            </a:r>
          </a:p>
        </p:txBody>
      </p:sp>
      <p:sp>
        <p:nvSpPr>
          <p:cNvPr id="8" name="TextBox 7"/>
          <p:cNvSpPr txBox="1"/>
          <p:nvPr/>
        </p:nvSpPr>
        <p:spPr>
          <a:xfrm>
            <a:off x="3200400" y="4114800"/>
            <a:ext cx="2743200" cy="274320"/>
          </a:xfrm>
          <a:prstGeom prst="rect">
            <a:avLst/>
          </a:prstGeom>
          <a:noFill/>
        </p:spPr>
        <p:txBody>
          <a:bodyPr wrap="square">
            <a:spAutoFit/>
          </a:bodyPr>
          <a:lstStyle/>
          <a:p>
            <a:pPr algn="l">
              <a:defRPr sz="800" b="0">
                <a:solidFill>
                  <a:srgbClr val="888888"/>
                </a:solidFill>
              </a:defRPr>
            </a:pPr>
            <a:r>
              <a:t>H A R M O N I C   i n s i g h 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未来年表で見る 個人のキャリアシナリオ</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「今30歳の人」と「今20歳の人」で未来がこれだけ違う</a:t>
            </a:r>
          </a:p>
        </p:txBody>
      </p:sp>
      <p:sp>
        <p:nvSpPr>
          <p:cNvPr id="6" name="Rounded Rectangle 5"/>
          <p:cNvSpPr/>
          <p:nvPr/>
        </p:nvSpPr>
        <p:spPr>
          <a:xfrm>
            <a:off x="274320" y="1280160"/>
            <a:ext cx="4114800" cy="2560320"/>
          </a:xfrm>
          <a:prstGeom prst="round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71600"/>
            <a:ext cx="3657600" cy="274320"/>
          </a:xfrm>
          <a:prstGeom prst="rect">
            <a:avLst/>
          </a:prstGeom>
          <a:noFill/>
        </p:spPr>
        <p:txBody>
          <a:bodyPr wrap="square">
            <a:spAutoFit/>
          </a:bodyPr>
          <a:lstStyle/>
          <a:p>
            <a:pPr algn="l">
              <a:defRPr sz="1300" b="1">
                <a:solidFill>
                  <a:srgbClr val="2C7AB0"/>
                </a:solidFill>
              </a:defRPr>
            </a:pPr>
            <a:r>
              <a:t>現在30歳（1995年生まれ）</a:t>
            </a:r>
          </a:p>
        </p:txBody>
      </p:sp>
      <p:sp>
        <p:nvSpPr>
          <p:cNvPr id="8" name="Chevron 7"/>
          <p:cNvSpPr/>
          <p:nvPr/>
        </p:nvSpPr>
        <p:spPr>
          <a:xfrm>
            <a:off x="365760" y="1737360"/>
            <a:ext cx="1188720" cy="365760"/>
          </a:xfrm>
          <a:prstGeom prst="chevron">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767360"/>
            <a:ext cx="1005840" cy="320040"/>
          </a:xfrm>
          <a:prstGeom prst="rect">
            <a:avLst/>
          </a:prstGeom>
          <a:noFill/>
        </p:spPr>
        <p:txBody>
          <a:bodyPr wrap="square">
            <a:spAutoFit/>
          </a:bodyPr>
          <a:lstStyle/>
          <a:p>
            <a:pPr algn="ctr">
              <a:defRPr sz="900" b="1">
                <a:solidFill>
                  <a:srgbClr val="FFFFFF"/>
                </a:solidFill>
              </a:defRPr>
            </a:pPr>
            <a:r>
              <a:t>30歳 2025年</a:t>
            </a:r>
          </a:p>
        </p:txBody>
      </p:sp>
      <p:sp>
        <p:nvSpPr>
          <p:cNvPr id="10" name="TextBox 9"/>
          <p:cNvSpPr txBox="1"/>
          <p:nvPr/>
        </p:nvSpPr>
        <p:spPr>
          <a:xfrm>
            <a:off x="1645920" y="1757360"/>
            <a:ext cx="1828800" cy="320040"/>
          </a:xfrm>
          <a:prstGeom prst="rect">
            <a:avLst/>
          </a:prstGeom>
          <a:noFill/>
        </p:spPr>
        <p:txBody>
          <a:bodyPr wrap="square">
            <a:spAutoFit/>
          </a:bodyPr>
          <a:lstStyle/>
          <a:p>
            <a:pPr algn="l">
              <a:defRPr sz="900" b="0">
                <a:solidFill>
                  <a:srgbClr val="333333"/>
                </a:solidFill>
              </a:defRPr>
            </a:pPr>
            <a:r>
              <a:t>中間管理職 / リスキリング必須</a:t>
            </a:r>
          </a:p>
        </p:txBody>
      </p:sp>
      <p:sp>
        <p:nvSpPr>
          <p:cNvPr id="11" name="TextBox 10"/>
          <p:cNvSpPr txBox="1"/>
          <p:nvPr/>
        </p:nvSpPr>
        <p:spPr>
          <a:xfrm>
            <a:off x="3474720" y="1757360"/>
            <a:ext cx="822960" cy="320040"/>
          </a:xfrm>
          <a:prstGeom prst="rect">
            <a:avLst/>
          </a:prstGeom>
          <a:noFill/>
        </p:spPr>
        <p:txBody>
          <a:bodyPr wrap="square">
            <a:spAutoFit/>
          </a:bodyPr>
          <a:lstStyle/>
          <a:p>
            <a:pPr algn="l">
              <a:defRPr sz="900" b="1">
                <a:solidFill>
                  <a:srgbClr val="2C7AB0"/>
                </a:solidFill>
              </a:defRPr>
            </a:pPr>
            <a:r>
              <a:t>年収500万円</a:t>
            </a:r>
          </a:p>
        </p:txBody>
      </p:sp>
      <p:sp>
        <p:nvSpPr>
          <p:cNvPr id="12" name="Chevron 11"/>
          <p:cNvSpPr/>
          <p:nvPr/>
        </p:nvSpPr>
        <p:spPr>
          <a:xfrm>
            <a:off x="365760" y="2240280"/>
            <a:ext cx="1188720" cy="365760"/>
          </a:xfrm>
          <a:prstGeom prst="chevron">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270280"/>
            <a:ext cx="1005840" cy="320040"/>
          </a:xfrm>
          <a:prstGeom prst="rect">
            <a:avLst/>
          </a:prstGeom>
          <a:noFill/>
        </p:spPr>
        <p:txBody>
          <a:bodyPr wrap="square">
            <a:spAutoFit/>
          </a:bodyPr>
          <a:lstStyle/>
          <a:p>
            <a:pPr algn="ctr">
              <a:defRPr sz="900" b="1">
                <a:solidFill>
                  <a:srgbClr val="FFFFFF"/>
                </a:solidFill>
              </a:defRPr>
            </a:pPr>
            <a:r>
              <a:t>35歳 2030年</a:t>
            </a:r>
          </a:p>
        </p:txBody>
      </p:sp>
      <p:sp>
        <p:nvSpPr>
          <p:cNvPr id="14" name="TextBox 13"/>
          <p:cNvSpPr txBox="1"/>
          <p:nvPr/>
        </p:nvSpPr>
        <p:spPr>
          <a:xfrm>
            <a:off x="1645920" y="2260280"/>
            <a:ext cx="1828800" cy="320040"/>
          </a:xfrm>
          <a:prstGeom prst="rect">
            <a:avLst/>
          </a:prstGeom>
          <a:noFill/>
        </p:spPr>
        <p:txBody>
          <a:bodyPr wrap="square">
            <a:spAutoFit/>
          </a:bodyPr>
          <a:lstStyle/>
          <a:p>
            <a:pPr algn="l">
              <a:defRPr sz="900" b="0">
                <a:solidFill>
                  <a:srgbClr val="333333"/>
                </a:solidFill>
              </a:defRPr>
            </a:pPr>
            <a:r>
              <a:t>AI協働 / 専門性特化</a:t>
            </a:r>
          </a:p>
        </p:txBody>
      </p:sp>
      <p:sp>
        <p:nvSpPr>
          <p:cNvPr id="15" name="TextBox 14"/>
          <p:cNvSpPr txBox="1"/>
          <p:nvPr/>
        </p:nvSpPr>
        <p:spPr>
          <a:xfrm>
            <a:off x="3474720" y="2260280"/>
            <a:ext cx="822960" cy="320040"/>
          </a:xfrm>
          <a:prstGeom prst="rect">
            <a:avLst/>
          </a:prstGeom>
          <a:noFill/>
        </p:spPr>
        <p:txBody>
          <a:bodyPr wrap="square">
            <a:spAutoFit/>
          </a:bodyPr>
          <a:lstStyle/>
          <a:p>
            <a:pPr algn="l">
              <a:defRPr sz="900" b="1">
                <a:solidFill>
                  <a:srgbClr val="2C7AB0"/>
                </a:solidFill>
              </a:defRPr>
            </a:pPr>
            <a:r>
              <a:t>年収650万円</a:t>
            </a:r>
          </a:p>
        </p:txBody>
      </p:sp>
      <p:sp>
        <p:nvSpPr>
          <p:cNvPr id="16" name="Chevron 15"/>
          <p:cNvSpPr/>
          <p:nvPr/>
        </p:nvSpPr>
        <p:spPr>
          <a:xfrm>
            <a:off x="365760" y="2743200"/>
            <a:ext cx="1188720" cy="365760"/>
          </a:xfrm>
          <a:prstGeom prst="chevron">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2773200"/>
            <a:ext cx="1005840" cy="320040"/>
          </a:xfrm>
          <a:prstGeom prst="rect">
            <a:avLst/>
          </a:prstGeom>
          <a:noFill/>
        </p:spPr>
        <p:txBody>
          <a:bodyPr wrap="square">
            <a:spAutoFit/>
          </a:bodyPr>
          <a:lstStyle/>
          <a:p>
            <a:pPr algn="ctr">
              <a:defRPr sz="900" b="1">
                <a:solidFill>
                  <a:srgbClr val="FFFFFF"/>
                </a:solidFill>
              </a:defRPr>
            </a:pPr>
            <a:r>
              <a:t>45歳 2040年</a:t>
            </a:r>
          </a:p>
        </p:txBody>
      </p:sp>
      <p:sp>
        <p:nvSpPr>
          <p:cNvPr id="18" name="TextBox 17"/>
          <p:cNvSpPr txBox="1"/>
          <p:nvPr/>
        </p:nvSpPr>
        <p:spPr>
          <a:xfrm>
            <a:off x="1645920" y="2763200"/>
            <a:ext cx="1828800" cy="320040"/>
          </a:xfrm>
          <a:prstGeom prst="rect">
            <a:avLst/>
          </a:prstGeom>
          <a:noFill/>
        </p:spPr>
        <p:txBody>
          <a:bodyPr wrap="square">
            <a:spAutoFit/>
          </a:bodyPr>
          <a:lstStyle/>
          <a:p>
            <a:pPr algn="l">
              <a:defRPr sz="900" b="0">
                <a:solidFill>
                  <a:srgbClr val="333333"/>
                </a:solidFill>
              </a:defRPr>
            </a:pPr>
            <a:r>
              <a:t>創造性重視 / プロジェクト型</a:t>
            </a:r>
          </a:p>
        </p:txBody>
      </p:sp>
      <p:sp>
        <p:nvSpPr>
          <p:cNvPr id="19" name="TextBox 18"/>
          <p:cNvSpPr txBox="1"/>
          <p:nvPr/>
        </p:nvSpPr>
        <p:spPr>
          <a:xfrm>
            <a:off x="3474720" y="2763200"/>
            <a:ext cx="822960" cy="320040"/>
          </a:xfrm>
          <a:prstGeom prst="rect">
            <a:avLst/>
          </a:prstGeom>
          <a:noFill/>
        </p:spPr>
        <p:txBody>
          <a:bodyPr wrap="square">
            <a:spAutoFit/>
          </a:bodyPr>
          <a:lstStyle/>
          <a:p>
            <a:pPr algn="l">
              <a:defRPr sz="900" b="1">
                <a:solidFill>
                  <a:srgbClr val="2C7AB0"/>
                </a:solidFill>
              </a:defRPr>
            </a:pPr>
            <a:r>
              <a:t>年収800万円</a:t>
            </a:r>
          </a:p>
        </p:txBody>
      </p:sp>
      <p:sp>
        <p:nvSpPr>
          <p:cNvPr id="20" name="Chevron 19"/>
          <p:cNvSpPr/>
          <p:nvPr/>
        </p:nvSpPr>
        <p:spPr>
          <a:xfrm>
            <a:off x="365760" y="3246120"/>
            <a:ext cx="1188720" cy="365760"/>
          </a:xfrm>
          <a:prstGeom prst="chevron">
            <a:avLst/>
          </a:prstGeom>
          <a:solidFill>
            <a:srgbClr val="A0C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276120"/>
            <a:ext cx="1005840" cy="320040"/>
          </a:xfrm>
          <a:prstGeom prst="rect">
            <a:avLst/>
          </a:prstGeom>
          <a:noFill/>
        </p:spPr>
        <p:txBody>
          <a:bodyPr wrap="square">
            <a:spAutoFit/>
          </a:bodyPr>
          <a:lstStyle/>
          <a:p>
            <a:pPr algn="ctr">
              <a:defRPr sz="900" b="1">
                <a:solidFill>
                  <a:srgbClr val="FFFFFF"/>
                </a:solidFill>
              </a:defRPr>
            </a:pPr>
            <a:r>
              <a:t>55歳 2050年</a:t>
            </a:r>
          </a:p>
        </p:txBody>
      </p:sp>
      <p:sp>
        <p:nvSpPr>
          <p:cNvPr id="22" name="TextBox 21"/>
          <p:cNvSpPr txBox="1"/>
          <p:nvPr/>
        </p:nvSpPr>
        <p:spPr>
          <a:xfrm>
            <a:off x="1645920" y="3266120"/>
            <a:ext cx="1828800" cy="320040"/>
          </a:xfrm>
          <a:prstGeom prst="rect">
            <a:avLst/>
          </a:prstGeom>
          <a:noFill/>
        </p:spPr>
        <p:txBody>
          <a:bodyPr wrap="square">
            <a:spAutoFit/>
          </a:bodyPr>
          <a:lstStyle/>
          <a:p>
            <a:pPr algn="l">
              <a:defRPr sz="900" b="0">
                <a:solidFill>
                  <a:srgbClr val="333333"/>
                </a:solidFill>
              </a:defRPr>
            </a:pPr>
            <a:r>
              <a:t>知識継承 / コンサル型</a:t>
            </a:r>
          </a:p>
        </p:txBody>
      </p:sp>
      <p:sp>
        <p:nvSpPr>
          <p:cNvPr id="23" name="TextBox 22"/>
          <p:cNvSpPr txBox="1"/>
          <p:nvPr/>
        </p:nvSpPr>
        <p:spPr>
          <a:xfrm>
            <a:off x="3474720" y="3266120"/>
            <a:ext cx="822960" cy="320040"/>
          </a:xfrm>
          <a:prstGeom prst="rect">
            <a:avLst/>
          </a:prstGeom>
          <a:noFill/>
        </p:spPr>
        <p:txBody>
          <a:bodyPr wrap="square">
            <a:spAutoFit/>
          </a:bodyPr>
          <a:lstStyle/>
          <a:p>
            <a:pPr algn="l">
              <a:defRPr sz="900" b="1">
                <a:solidFill>
                  <a:srgbClr val="2C7AB0"/>
                </a:solidFill>
              </a:defRPr>
            </a:pPr>
            <a:r>
              <a:t>年収750万円</a:t>
            </a:r>
          </a:p>
        </p:txBody>
      </p:sp>
      <p:sp>
        <p:nvSpPr>
          <p:cNvPr id="24" name="Rounded Rectangle 23"/>
          <p:cNvSpPr/>
          <p:nvPr/>
        </p:nvSpPr>
        <p:spPr>
          <a:xfrm>
            <a:off x="4754880" y="1280160"/>
            <a:ext cx="3931920" cy="2560320"/>
          </a:xfrm>
          <a:prstGeom prst="roundRect">
            <a:avLst/>
          </a:prstGeom>
          <a:solidFill>
            <a:srgbClr val="F0E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37760" y="1371600"/>
            <a:ext cx="3657600" cy="274320"/>
          </a:xfrm>
          <a:prstGeom prst="rect">
            <a:avLst/>
          </a:prstGeom>
          <a:noFill/>
        </p:spPr>
        <p:txBody>
          <a:bodyPr wrap="square">
            <a:spAutoFit/>
          </a:bodyPr>
          <a:lstStyle/>
          <a:p>
            <a:pPr algn="l">
              <a:defRPr sz="1300" b="1">
                <a:solidFill>
                  <a:srgbClr val="8E44AD"/>
                </a:solidFill>
              </a:defRPr>
            </a:pPr>
            <a:r>
              <a:t>現在20歳（α世代）</a:t>
            </a:r>
          </a:p>
        </p:txBody>
      </p:sp>
      <p:sp>
        <p:nvSpPr>
          <p:cNvPr id="26" name="Chevron 25"/>
          <p:cNvSpPr/>
          <p:nvPr/>
        </p:nvSpPr>
        <p:spPr>
          <a:xfrm>
            <a:off x="4846320" y="1737360"/>
            <a:ext cx="1188720" cy="365760"/>
          </a:xfrm>
          <a:prstGeom prst="chevron">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83480" y="1767360"/>
            <a:ext cx="1005840" cy="320040"/>
          </a:xfrm>
          <a:prstGeom prst="rect">
            <a:avLst/>
          </a:prstGeom>
          <a:noFill/>
        </p:spPr>
        <p:txBody>
          <a:bodyPr wrap="square">
            <a:spAutoFit/>
          </a:bodyPr>
          <a:lstStyle/>
          <a:p>
            <a:pPr algn="ctr">
              <a:defRPr sz="900" b="1">
                <a:solidFill>
                  <a:srgbClr val="FFFFFF"/>
                </a:solidFill>
              </a:defRPr>
            </a:pPr>
            <a:r>
              <a:t>20歳 2025年</a:t>
            </a:r>
          </a:p>
        </p:txBody>
      </p:sp>
      <p:sp>
        <p:nvSpPr>
          <p:cNvPr id="28" name="TextBox 27"/>
          <p:cNvSpPr txBox="1"/>
          <p:nvPr/>
        </p:nvSpPr>
        <p:spPr>
          <a:xfrm>
            <a:off x="6126480" y="1757360"/>
            <a:ext cx="1645920" cy="320040"/>
          </a:xfrm>
          <a:prstGeom prst="rect">
            <a:avLst/>
          </a:prstGeom>
          <a:noFill/>
        </p:spPr>
        <p:txBody>
          <a:bodyPr wrap="square">
            <a:spAutoFit/>
          </a:bodyPr>
          <a:lstStyle/>
          <a:p>
            <a:pPr algn="l">
              <a:defRPr sz="900" b="0">
                <a:solidFill>
                  <a:srgbClr val="333333"/>
                </a:solidFill>
              </a:defRPr>
            </a:pPr>
            <a:r>
              <a:t>AIネイティブ学習 / 大学変革期</a:t>
            </a:r>
          </a:p>
        </p:txBody>
      </p:sp>
      <p:sp>
        <p:nvSpPr>
          <p:cNvPr id="29" name="TextBox 28"/>
          <p:cNvSpPr txBox="1"/>
          <p:nvPr/>
        </p:nvSpPr>
        <p:spPr>
          <a:xfrm>
            <a:off x="7772400" y="1757360"/>
            <a:ext cx="914400" cy="320040"/>
          </a:xfrm>
          <a:prstGeom prst="rect">
            <a:avLst/>
          </a:prstGeom>
          <a:noFill/>
        </p:spPr>
        <p:txBody>
          <a:bodyPr wrap="square">
            <a:spAutoFit/>
          </a:bodyPr>
          <a:lstStyle/>
          <a:p>
            <a:pPr algn="l">
              <a:defRPr sz="800" b="1">
                <a:solidFill>
                  <a:srgbClr val="8E44AD"/>
                </a:solidFill>
              </a:defRPr>
            </a:pPr>
            <a:r>
              <a:t>デジタル完全統合</a:t>
            </a:r>
          </a:p>
        </p:txBody>
      </p:sp>
      <p:sp>
        <p:nvSpPr>
          <p:cNvPr id="30" name="Chevron 29"/>
          <p:cNvSpPr/>
          <p:nvPr/>
        </p:nvSpPr>
        <p:spPr>
          <a:xfrm>
            <a:off x="4846320" y="2240280"/>
            <a:ext cx="1188720" cy="365760"/>
          </a:xfrm>
          <a:prstGeom prst="chevron">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83480" y="2270280"/>
            <a:ext cx="1005840" cy="320040"/>
          </a:xfrm>
          <a:prstGeom prst="rect">
            <a:avLst/>
          </a:prstGeom>
          <a:noFill/>
        </p:spPr>
        <p:txBody>
          <a:bodyPr wrap="square">
            <a:spAutoFit/>
          </a:bodyPr>
          <a:lstStyle/>
          <a:p>
            <a:pPr algn="ctr">
              <a:defRPr sz="900" b="1">
                <a:solidFill>
                  <a:srgbClr val="FFFFFF"/>
                </a:solidFill>
              </a:defRPr>
            </a:pPr>
            <a:r>
              <a:t>25歳 2030年</a:t>
            </a:r>
          </a:p>
        </p:txBody>
      </p:sp>
      <p:sp>
        <p:nvSpPr>
          <p:cNvPr id="32" name="TextBox 31"/>
          <p:cNvSpPr txBox="1"/>
          <p:nvPr/>
        </p:nvSpPr>
        <p:spPr>
          <a:xfrm>
            <a:off x="6126480" y="2260280"/>
            <a:ext cx="1645920" cy="320040"/>
          </a:xfrm>
          <a:prstGeom prst="rect">
            <a:avLst/>
          </a:prstGeom>
          <a:noFill/>
        </p:spPr>
        <p:txBody>
          <a:bodyPr wrap="square">
            <a:spAutoFit/>
          </a:bodyPr>
          <a:lstStyle/>
          <a:p>
            <a:pPr algn="l">
              <a:defRPr sz="900" b="0">
                <a:solidFill>
                  <a:srgbClr val="333333"/>
                </a:solidFill>
              </a:defRPr>
            </a:pPr>
            <a:r>
              <a:t>AI協創職 / 高度専門化</a:t>
            </a:r>
          </a:p>
        </p:txBody>
      </p:sp>
      <p:sp>
        <p:nvSpPr>
          <p:cNvPr id="33" name="TextBox 32"/>
          <p:cNvSpPr txBox="1"/>
          <p:nvPr/>
        </p:nvSpPr>
        <p:spPr>
          <a:xfrm>
            <a:off x="7772400" y="2260280"/>
            <a:ext cx="914400" cy="320040"/>
          </a:xfrm>
          <a:prstGeom prst="rect">
            <a:avLst/>
          </a:prstGeom>
          <a:noFill/>
        </p:spPr>
        <p:txBody>
          <a:bodyPr wrap="square">
            <a:spAutoFit/>
          </a:bodyPr>
          <a:lstStyle/>
          <a:p>
            <a:pPr algn="l">
              <a:defRPr sz="800" b="1">
                <a:solidFill>
                  <a:srgbClr val="8E44AD"/>
                </a:solidFill>
              </a:defRPr>
            </a:pPr>
            <a:r>
              <a:t>創造性重視</a:t>
            </a:r>
          </a:p>
        </p:txBody>
      </p:sp>
      <p:sp>
        <p:nvSpPr>
          <p:cNvPr id="34" name="Chevron 33"/>
          <p:cNvSpPr/>
          <p:nvPr/>
        </p:nvSpPr>
        <p:spPr>
          <a:xfrm>
            <a:off x="4846320" y="2743200"/>
            <a:ext cx="1188720" cy="365760"/>
          </a:xfrm>
          <a:prstGeom prst="chevron">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83480" y="2773200"/>
            <a:ext cx="1005840" cy="320040"/>
          </a:xfrm>
          <a:prstGeom prst="rect">
            <a:avLst/>
          </a:prstGeom>
          <a:noFill/>
        </p:spPr>
        <p:txBody>
          <a:bodyPr wrap="square">
            <a:spAutoFit/>
          </a:bodyPr>
          <a:lstStyle/>
          <a:p>
            <a:pPr algn="ctr">
              <a:defRPr sz="900" b="1">
                <a:solidFill>
                  <a:srgbClr val="FFFFFF"/>
                </a:solidFill>
              </a:defRPr>
            </a:pPr>
            <a:r>
              <a:t>35歳 2040年</a:t>
            </a:r>
          </a:p>
        </p:txBody>
      </p:sp>
      <p:sp>
        <p:nvSpPr>
          <p:cNvPr id="36" name="TextBox 35"/>
          <p:cNvSpPr txBox="1"/>
          <p:nvPr/>
        </p:nvSpPr>
        <p:spPr>
          <a:xfrm>
            <a:off x="6126480" y="2763200"/>
            <a:ext cx="1645920" cy="320040"/>
          </a:xfrm>
          <a:prstGeom prst="rect">
            <a:avLst/>
          </a:prstGeom>
          <a:noFill/>
        </p:spPr>
        <p:txBody>
          <a:bodyPr wrap="square">
            <a:spAutoFit/>
          </a:bodyPr>
          <a:lstStyle/>
          <a:p>
            <a:pPr algn="l">
              <a:defRPr sz="900" b="0">
                <a:solidFill>
                  <a:srgbClr val="333333"/>
                </a:solidFill>
              </a:defRPr>
            </a:pPr>
            <a:r>
              <a:t>社会中枢 / リーダー層</a:t>
            </a:r>
          </a:p>
        </p:txBody>
      </p:sp>
      <p:sp>
        <p:nvSpPr>
          <p:cNvPr id="37" name="TextBox 36"/>
          <p:cNvSpPr txBox="1"/>
          <p:nvPr/>
        </p:nvSpPr>
        <p:spPr>
          <a:xfrm>
            <a:off x="7772400" y="2763200"/>
            <a:ext cx="914400" cy="320040"/>
          </a:xfrm>
          <a:prstGeom prst="rect">
            <a:avLst/>
          </a:prstGeom>
          <a:noFill/>
        </p:spPr>
        <p:txBody>
          <a:bodyPr wrap="square">
            <a:spAutoFit/>
          </a:bodyPr>
          <a:lstStyle/>
          <a:p>
            <a:pPr algn="l">
              <a:defRPr sz="800" b="1">
                <a:solidFill>
                  <a:srgbClr val="8E44AD"/>
                </a:solidFill>
              </a:defRPr>
            </a:pPr>
            <a:r>
              <a:t>多様性・持続可能</a:t>
            </a:r>
          </a:p>
        </p:txBody>
      </p:sp>
      <p:sp>
        <p:nvSpPr>
          <p:cNvPr id="38" name="Chevron 37"/>
          <p:cNvSpPr/>
          <p:nvPr/>
        </p:nvSpPr>
        <p:spPr>
          <a:xfrm>
            <a:off x="4846320" y="3246120"/>
            <a:ext cx="1188720" cy="365760"/>
          </a:xfrm>
          <a:prstGeom prst="chevron">
            <a:avLst/>
          </a:prstGeom>
          <a:solidFill>
            <a:srgbClr val="C0A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83480" y="3276120"/>
            <a:ext cx="1005840" cy="320040"/>
          </a:xfrm>
          <a:prstGeom prst="rect">
            <a:avLst/>
          </a:prstGeom>
          <a:noFill/>
        </p:spPr>
        <p:txBody>
          <a:bodyPr wrap="square">
            <a:spAutoFit/>
          </a:bodyPr>
          <a:lstStyle/>
          <a:p>
            <a:pPr algn="ctr">
              <a:defRPr sz="900" b="1">
                <a:solidFill>
                  <a:srgbClr val="FFFFFF"/>
                </a:solidFill>
              </a:defRPr>
            </a:pPr>
            <a:r>
              <a:t>45歳 2050年</a:t>
            </a:r>
          </a:p>
        </p:txBody>
      </p:sp>
      <p:sp>
        <p:nvSpPr>
          <p:cNvPr id="40" name="TextBox 39"/>
          <p:cNvSpPr txBox="1"/>
          <p:nvPr/>
        </p:nvSpPr>
        <p:spPr>
          <a:xfrm>
            <a:off x="6126480" y="3266120"/>
            <a:ext cx="1645920" cy="320040"/>
          </a:xfrm>
          <a:prstGeom prst="rect">
            <a:avLst/>
          </a:prstGeom>
          <a:noFill/>
        </p:spPr>
        <p:txBody>
          <a:bodyPr wrap="square">
            <a:spAutoFit/>
          </a:bodyPr>
          <a:lstStyle/>
          <a:p>
            <a:pPr algn="l">
              <a:defRPr sz="900" b="0">
                <a:solidFill>
                  <a:srgbClr val="333333"/>
                </a:solidFill>
              </a:defRPr>
            </a:pPr>
            <a:r>
              <a:t>社会変革主導 / 新文化創造</a:t>
            </a:r>
          </a:p>
        </p:txBody>
      </p:sp>
      <p:sp>
        <p:nvSpPr>
          <p:cNvPr id="41" name="TextBox 40"/>
          <p:cNvSpPr txBox="1"/>
          <p:nvPr/>
        </p:nvSpPr>
        <p:spPr>
          <a:xfrm>
            <a:off x="7772400" y="3266120"/>
            <a:ext cx="914400" cy="320040"/>
          </a:xfrm>
          <a:prstGeom prst="rect">
            <a:avLst/>
          </a:prstGeom>
          <a:noFill/>
        </p:spPr>
        <p:txBody>
          <a:bodyPr wrap="square">
            <a:spAutoFit/>
          </a:bodyPr>
          <a:lstStyle/>
          <a:p>
            <a:pPr algn="l">
              <a:defRPr sz="800" b="1">
                <a:solidFill>
                  <a:srgbClr val="8E44AD"/>
                </a:solidFill>
              </a:defRPr>
            </a:pPr>
            <a:r>
              <a:t>ポスト・シンギュラリティ</a:t>
            </a:r>
          </a:p>
        </p:txBody>
      </p:sp>
      <p:sp>
        <p:nvSpPr>
          <p:cNvPr id="42" name="Rounded Rectangle 41"/>
          <p:cNvSpPr/>
          <p:nvPr/>
        </p:nvSpPr>
        <p:spPr>
          <a:xfrm>
            <a:off x="274320" y="4023360"/>
            <a:ext cx="8412480" cy="45720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4041648"/>
            <a:ext cx="8229600" cy="411480"/>
          </a:xfrm>
          <a:prstGeom prst="rect">
            <a:avLst/>
          </a:prstGeom>
          <a:noFill/>
        </p:spPr>
        <p:txBody>
          <a:bodyPr wrap="square">
            <a:spAutoFit/>
          </a:bodyPr>
          <a:lstStyle/>
          <a:p>
            <a:pPr algn="ctr">
              <a:defRPr sz="1000" b="1">
                <a:solidFill>
                  <a:srgbClr val="8B7536"/>
                </a:solidFill>
              </a:defRPr>
            </a:pPr>
            <a:r>
              <a:t>クライアントの従業員の年齢層に応じた「キャリアシナリオ」を提示できると、提案の説得力が段違いに上がる</a:t>
            </a:r>
          </a:p>
        </p:txBody>
      </p:sp>
      <p:sp>
        <p:nvSpPr>
          <p:cNvPr id="44" name="Rectangle 43"/>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46" name="TextBox 45"/>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ロードマップ策定への活用フレームワーク</a:t>
            </a:r>
          </a:p>
        </p:txBody>
      </p:sp>
      <p:sp>
        <p:nvSpPr>
          <p:cNvPr id="5" name="TextBox 4"/>
          <p:cNvSpPr txBox="1"/>
          <p:nvPr/>
        </p:nvSpPr>
        <p:spPr>
          <a:xfrm>
            <a:off x="457200" y="868680"/>
            <a:ext cx="8229600" cy="365760"/>
          </a:xfrm>
          <a:prstGeom prst="rect">
            <a:avLst/>
          </a:prstGeom>
          <a:noFill/>
        </p:spPr>
        <p:txBody>
          <a:bodyPr wrap="square">
            <a:spAutoFit/>
          </a:bodyPr>
          <a:lstStyle/>
          <a:p>
            <a:pPr algn="l">
              <a:defRPr sz="1300" b="1">
                <a:solidFill>
                  <a:srgbClr val="8B7536"/>
                </a:solidFill>
              </a:defRPr>
            </a:pPr>
            <a:r>
              <a:t>未来年表を「3年後・5年後」の具体的な計画に落とし込む</a:t>
            </a:r>
          </a:p>
        </p:txBody>
      </p:sp>
      <p:sp>
        <p:nvSpPr>
          <p:cNvPr id="6" name="Rounded Rectangle 5"/>
          <p:cNvSpPr/>
          <p:nvPr/>
        </p:nvSpPr>
        <p:spPr>
          <a:xfrm>
            <a:off x="182880" y="1280160"/>
            <a:ext cx="274320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82880" y="1280160"/>
            <a:ext cx="2743200" cy="731520"/>
          </a:xfrm>
          <a:prstGeom prst="round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1325880"/>
            <a:ext cx="2743200" cy="274320"/>
          </a:xfrm>
          <a:prstGeom prst="rect">
            <a:avLst/>
          </a:prstGeom>
          <a:noFill/>
        </p:spPr>
        <p:txBody>
          <a:bodyPr wrap="square">
            <a:spAutoFit/>
          </a:bodyPr>
          <a:lstStyle/>
          <a:p>
            <a:pPr algn="ctr">
              <a:defRPr sz="1300" b="1">
                <a:solidFill>
                  <a:srgbClr val="FFFFFF"/>
                </a:solidFill>
              </a:defRPr>
            </a:pPr>
            <a:r>
              <a:t>Step 1</a:t>
            </a:r>
          </a:p>
        </p:txBody>
      </p:sp>
      <p:sp>
        <p:nvSpPr>
          <p:cNvPr id="9" name="TextBox 8"/>
          <p:cNvSpPr txBox="1"/>
          <p:nvPr/>
        </p:nvSpPr>
        <p:spPr>
          <a:xfrm>
            <a:off x="182880" y="1525880"/>
            <a:ext cx="2743200" cy="274320"/>
          </a:xfrm>
          <a:prstGeom prst="rect">
            <a:avLst/>
          </a:prstGeom>
          <a:noFill/>
        </p:spPr>
        <p:txBody>
          <a:bodyPr wrap="square">
            <a:spAutoFit/>
          </a:bodyPr>
          <a:lstStyle/>
          <a:p>
            <a:pPr algn="ctr">
              <a:defRPr sz="1100" b="1">
                <a:solidFill>
                  <a:srgbClr val="FFFFFF"/>
                </a:solidFill>
              </a:defRPr>
            </a:pPr>
            <a:r>
              <a:t>現状把握</a:t>
            </a:r>
          </a:p>
        </p:txBody>
      </p:sp>
      <p:sp>
        <p:nvSpPr>
          <p:cNvPr id="10" name="TextBox 9"/>
          <p:cNvSpPr txBox="1"/>
          <p:nvPr/>
        </p:nvSpPr>
        <p:spPr>
          <a:xfrm>
            <a:off x="262880" y="2194560"/>
            <a:ext cx="2560320" cy="228600"/>
          </a:xfrm>
          <a:prstGeom prst="rect">
            <a:avLst/>
          </a:prstGeom>
          <a:noFill/>
        </p:spPr>
        <p:txBody>
          <a:bodyPr wrap="square">
            <a:spAutoFit/>
          </a:bodyPr>
          <a:lstStyle/>
          <a:p>
            <a:pPr algn="l">
              <a:defRPr sz="1000" b="0">
                <a:solidFill>
                  <a:srgbClr val="333333"/>
                </a:solidFill>
              </a:defRPr>
            </a:pPr>
            <a:r>
              <a:t>クライアントの業界・地域・</a:t>
            </a:r>
          </a:p>
        </p:txBody>
      </p:sp>
      <p:sp>
        <p:nvSpPr>
          <p:cNvPr id="11" name="TextBox 10"/>
          <p:cNvSpPr txBox="1"/>
          <p:nvPr/>
        </p:nvSpPr>
        <p:spPr>
          <a:xfrm>
            <a:off x="262880" y="2374560"/>
            <a:ext cx="2560320" cy="228600"/>
          </a:xfrm>
          <a:prstGeom prst="rect">
            <a:avLst/>
          </a:prstGeom>
          <a:noFill/>
        </p:spPr>
        <p:txBody>
          <a:bodyPr wrap="square">
            <a:spAutoFit/>
          </a:bodyPr>
          <a:lstStyle/>
          <a:p>
            <a:pPr algn="l">
              <a:defRPr sz="1000" b="0">
                <a:solidFill>
                  <a:srgbClr val="333333"/>
                </a:solidFill>
              </a:defRPr>
            </a:pPr>
            <a:r>
              <a:t>世代構成を確認</a:t>
            </a:r>
          </a:p>
        </p:txBody>
      </p:sp>
      <p:sp>
        <p:nvSpPr>
          <p:cNvPr id="12" name="TextBox 11"/>
          <p:cNvSpPr txBox="1"/>
          <p:nvPr/>
        </p:nvSpPr>
        <p:spPr>
          <a:xfrm>
            <a:off x="262880" y="2834640"/>
            <a:ext cx="2560320" cy="228600"/>
          </a:xfrm>
          <a:prstGeom prst="rect">
            <a:avLst/>
          </a:prstGeom>
          <a:noFill/>
        </p:spPr>
        <p:txBody>
          <a:bodyPr wrap="square">
            <a:spAutoFit/>
          </a:bodyPr>
          <a:lstStyle/>
          <a:p>
            <a:pPr algn="l">
              <a:defRPr sz="900" b="0">
                <a:solidFill>
                  <a:srgbClr val="666666"/>
                </a:solidFill>
              </a:defRPr>
            </a:pPr>
            <a:r>
              <a:t>未来年表の「どの列」を</a:t>
            </a:r>
          </a:p>
        </p:txBody>
      </p:sp>
      <p:sp>
        <p:nvSpPr>
          <p:cNvPr id="13" name="TextBox 12"/>
          <p:cNvSpPr txBox="1"/>
          <p:nvPr/>
        </p:nvSpPr>
        <p:spPr>
          <a:xfrm>
            <a:off x="262880" y="3014640"/>
            <a:ext cx="2560320" cy="228600"/>
          </a:xfrm>
          <a:prstGeom prst="rect">
            <a:avLst/>
          </a:prstGeom>
          <a:noFill/>
        </p:spPr>
        <p:txBody>
          <a:bodyPr wrap="square">
            <a:spAutoFit/>
          </a:bodyPr>
          <a:lstStyle/>
          <a:p>
            <a:pPr algn="l">
              <a:defRPr sz="900" b="0">
                <a:solidFill>
                  <a:srgbClr val="666666"/>
                </a:solidFill>
              </a:defRPr>
            </a:pPr>
            <a:r>
              <a:t>読めばいいか特定する</a:t>
            </a:r>
          </a:p>
        </p:txBody>
      </p:sp>
      <p:sp>
        <p:nvSpPr>
          <p:cNvPr id="14" name="Right Arrow 13"/>
          <p:cNvSpPr/>
          <p:nvPr/>
        </p:nvSpPr>
        <p:spPr>
          <a:xfrm>
            <a:off x="2880360" y="2560320"/>
            <a:ext cx="320040" cy="22860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00400" y="1280160"/>
            <a:ext cx="274320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200400" y="1280160"/>
            <a:ext cx="2743200" cy="731520"/>
          </a:xfrm>
          <a:prstGeom prst="round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0" y="1325880"/>
            <a:ext cx="2743200" cy="274320"/>
          </a:xfrm>
          <a:prstGeom prst="rect">
            <a:avLst/>
          </a:prstGeom>
          <a:noFill/>
        </p:spPr>
        <p:txBody>
          <a:bodyPr wrap="square">
            <a:spAutoFit/>
          </a:bodyPr>
          <a:lstStyle/>
          <a:p>
            <a:pPr algn="ctr">
              <a:defRPr sz="1300" b="1">
                <a:solidFill>
                  <a:srgbClr val="FFFFFF"/>
                </a:solidFill>
              </a:defRPr>
            </a:pPr>
            <a:r>
              <a:t>Step 2</a:t>
            </a:r>
          </a:p>
        </p:txBody>
      </p:sp>
      <p:sp>
        <p:nvSpPr>
          <p:cNvPr id="18" name="TextBox 17"/>
          <p:cNvSpPr txBox="1"/>
          <p:nvPr/>
        </p:nvSpPr>
        <p:spPr>
          <a:xfrm>
            <a:off x="3200400" y="1525880"/>
            <a:ext cx="2743200" cy="274320"/>
          </a:xfrm>
          <a:prstGeom prst="rect">
            <a:avLst/>
          </a:prstGeom>
          <a:noFill/>
        </p:spPr>
        <p:txBody>
          <a:bodyPr wrap="square">
            <a:spAutoFit/>
          </a:bodyPr>
          <a:lstStyle/>
          <a:p>
            <a:pPr algn="ctr">
              <a:defRPr sz="1100" b="1">
                <a:solidFill>
                  <a:srgbClr val="FFFFFF"/>
                </a:solidFill>
              </a:defRPr>
            </a:pPr>
            <a:r>
              <a:t>ギャップ分析</a:t>
            </a:r>
          </a:p>
        </p:txBody>
      </p:sp>
      <p:sp>
        <p:nvSpPr>
          <p:cNvPr id="19" name="TextBox 18"/>
          <p:cNvSpPr txBox="1"/>
          <p:nvPr/>
        </p:nvSpPr>
        <p:spPr>
          <a:xfrm>
            <a:off x="3280400" y="2194560"/>
            <a:ext cx="2560320" cy="228600"/>
          </a:xfrm>
          <a:prstGeom prst="rect">
            <a:avLst/>
          </a:prstGeom>
          <a:noFill/>
        </p:spPr>
        <p:txBody>
          <a:bodyPr wrap="square">
            <a:spAutoFit/>
          </a:bodyPr>
          <a:lstStyle/>
          <a:p>
            <a:pPr algn="l">
              <a:defRPr sz="1000" b="0">
                <a:solidFill>
                  <a:srgbClr val="333333"/>
                </a:solidFill>
              </a:defRPr>
            </a:pPr>
            <a:r>
              <a:t>現状と2030年/2050年の</a:t>
            </a:r>
          </a:p>
        </p:txBody>
      </p:sp>
      <p:sp>
        <p:nvSpPr>
          <p:cNvPr id="20" name="TextBox 19"/>
          <p:cNvSpPr txBox="1"/>
          <p:nvPr/>
        </p:nvSpPr>
        <p:spPr>
          <a:xfrm>
            <a:off x="3280400" y="2374560"/>
            <a:ext cx="2560320" cy="228600"/>
          </a:xfrm>
          <a:prstGeom prst="rect">
            <a:avLst/>
          </a:prstGeom>
          <a:noFill/>
        </p:spPr>
        <p:txBody>
          <a:bodyPr wrap="square">
            <a:spAutoFit/>
          </a:bodyPr>
          <a:lstStyle/>
          <a:p>
            <a:pPr algn="l">
              <a:defRPr sz="1000" b="0">
                <a:solidFill>
                  <a:srgbClr val="333333"/>
                </a:solidFill>
              </a:defRPr>
            </a:pPr>
            <a:r>
              <a:t>差分を明確化</a:t>
            </a:r>
          </a:p>
        </p:txBody>
      </p:sp>
      <p:sp>
        <p:nvSpPr>
          <p:cNvPr id="21" name="TextBox 20"/>
          <p:cNvSpPr txBox="1"/>
          <p:nvPr/>
        </p:nvSpPr>
        <p:spPr>
          <a:xfrm>
            <a:off x="3280400" y="2834640"/>
            <a:ext cx="2560320" cy="228600"/>
          </a:xfrm>
          <a:prstGeom prst="rect">
            <a:avLst/>
          </a:prstGeom>
          <a:noFill/>
        </p:spPr>
        <p:txBody>
          <a:bodyPr wrap="square">
            <a:spAutoFit/>
          </a:bodyPr>
          <a:lstStyle/>
          <a:p>
            <a:pPr algn="l">
              <a:defRPr sz="900" b="0">
                <a:solidFill>
                  <a:srgbClr val="666666"/>
                </a:solidFill>
              </a:defRPr>
            </a:pPr>
            <a:r>
              <a:t>AI代替率・年収変動・</a:t>
            </a:r>
          </a:p>
        </p:txBody>
      </p:sp>
      <p:sp>
        <p:nvSpPr>
          <p:cNvPr id="22" name="TextBox 21"/>
          <p:cNvSpPr txBox="1"/>
          <p:nvPr/>
        </p:nvSpPr>
        <p:spPr>
          <a:xfrm>
            <a:off x="3280400" y="3014640"/>
            <a:ext cx="2560320" cy="228600"/>
          </a:xfrm>
          <a:prstGeom prst="rect">
            <a:avLst/>
          </a:prstGeom>
          <a:noFill/>
        </p:spPr>
        <p:txBody>
          <a:bodyPr wrap="square">
            <a:spAutoFit/>
          </a:bodyPr>
          <a:lstStyle/>
          <a:p>
            <a:pPr algn="l">
              <a:defRPr sz="900" b="0">
                <a:solidFill>
                  <a:srgbClr val="666666"/>
                </a:solidFill>
              </a:defRPr>
            </a:pPr>
            <a:r>
              <a:t>人口変化から影響度を算出</a:t>
            </a:r>
          </a:p>
        </p:txBody>
      </p:sp>
      <p:sp>
        <p:nvSpPr>
          <p:cNvPr id="23" name="Right Arrow 22"/>
          <p:cNvSpPr/>
          <p:nvPr/>
        </p:nvSpPr>
        <p:spPr>
          <a:xfrm>
            <a:off x="5897880" y="2560320"/>
            <a:ext cx="320040" cy="228600"/>
          </a:xfrm>
          <a:prstGeom prst="rightArrow">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17920" y="1280160"/>
            <a:ext cx="274320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17920" y="1280160"/>
            <a:ext cx="2743200" cy="7315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1325880"/>
            <a:ext cx="2743200" cy="274320"/>
          </a:xfrm>
          <a:prstGeom prst="rect">
            <a:avLst/>
          </a:prstGeom>
          <a:noFill/>
        </p:spPr>
        <p:txBody>
          <a:bodyPr wrap="square">
            <a:spAutoFit/>
          </a:bodyPr>
          <a:lstStyle/>
          <a:p>
            <a:pPr algn="ctr">
              <a:defRPr sz="1300" b="1">
                <a:solidFill>
                  <a:srgbClr val="FFFFFF"/>
                </a:solidFill>
              </a:defRPr>
            </a:pPr>
            <a:r>
              <a:t>Step 3</a:t>
            </a:r>
          </a:p>
        </p:txBody>
      </p:sp>
      <p:sp>
        <p:nvSpPr>
          <p:cNvPr id="27" name="TextBox 26"/>
          <p:cNvSpPr txBox="1"/>
          <p:nvPr/>
        </p:nvSpPr>
        <p:spPr>
          <a:xfrm>
            <a:off x="6217920" y="1525880"/>
            <a:ext cx="2743200" cy="274320"/>
          </a:xfrm>
          <a:prstGeom prst="rect">
            <a:avLst/>
          </a:prstGeom>
          <a:noFill/>
        </p:spPr>
        <p:txBody>
          <a:bodyPr wrap="square">
            <a:spAutoFit/>
          </a:bodyPr>
          <a:lstStyle/>
          <a:p>
            <a:pPr algn="ctr">
              <a:defRPr sz="1100" b="1">
                <a:solidFill>
                  <a:srgbClr val="FFFFFF"/>
                </a:solidFill>
              </a:defRPr>
            </a:pPr>
            <a:r>
              <a:t>ロードマップ化</a:t>
            </a:r>
          </a:p>
        </p:txBody>
      </p:sp>
      <p:sp>
        <p:nvSpPr>
          <p:cNvPr id="28" name="TextBox 27"/>
          <p:cNvSpPr txBox="1"/>
          <p:nvPr/>
        </p:nvSpPr>
        <p:spPr>
          <a:xfrm>
            <a:off x="6297920" y="2194560"/>
            <a:ext cx="2560320" cy="228600"/>
          </a:xfrm>
          <a:prstGeom prst="rect">
            <a:avLst/>
          </a:prstGeom>
          <a:noFill/>
        </p:spPr>
        <p:txBody>
          <a:bodyPr wrap="square">
            <a:spAutoFit/>
          </a:bodyPr>
          <a:lstStyle/>
          <a:p>
            <a:pPr algn="l">
              <a:defRPr sz="1000" b="0">
                <a:solidFill>
                  <a:srgbClr val="333333"/>
                </a:solidFill>
              </a:defRPr>
            </a:pPr>
            <a:r>
              <a:t>3年後・5年後の</a:t>
            </a:r>
          </a:p>
        </p:txBody>
      </p:sp>
      <p:sp>
        <p:nvSpPr>
          <p:cNvPr id="29" name="TextBox 28"/>
          <p:cNvSpPr txBox="1"/>
          <p:nvPr/>
        </p:nvSpPr>
        <p:spPr>
          <a:xfrm>
            <a:off x="6297920" y="2374560"/>
            <a:ext cx="2560320" cy="228600"/>
          </a:xfrm>
          <a:prstGeom prst="rect">
            <a:avLst/>
          </a:prstGeom>
          <a:noFill/>
        </p:spPr>
        <p:txBody>
          <a:bodyPr wrap="square">
            <a:spAutoFit/>
          </a:bodyPr>
          <a:lstStyle/>
          <a:p>
            <a:pPr algn="l">
              <a:defRPr sz="1000" b="0">
                <a:solidFill>
                  <a:srgbClr val="333333"/>
                </a:solidFill>
              </a:defRPr>
            </a:pPr>
            <a:r>
              <a:t>マイルストーン設定</a:t>
            </a:r>
          </a:p>
        </p:txBody>
      </p:sp>
      <p:sp>
        <p:nvSpPr>
          <p:cNvPr id="30" name="TextBox 29"/>
          <p:cNvSpPr txBox="1"/>
          <p:nvPr/>
        </p:nvSpPr>
        <p:spPr>
          <a:xfrm>
            <a:off x="6297920" y="2834640"/>
            <a:ext cx="2560320" cy="228600"/>
          </a:xfrm>
          <a:prstGeom prst="rect">
            <a:avLst/>
          </a:prstGeom>
          <a:noFill/>
        </p:spPr>
        <p:txBody>
          <a:bodyPr wrap="square">
            <a:spAutoFit/>
          </a:bodyPr>
          <a:lstStyle/>
          <a:p>
            <a:pPr algn="l">
              <a:defRPr sz="900" b="0">
                <a:solidFill>
                  <a:srgbClr val="666666"/>
                </a:solidFill>
              </a:defRPr>
            </a:pPr>
            <a:r>
              <a:t>環境リスクも織り込んだ</a:t>
            </a:r>
          </a:p>
        </p:txBody>
      </p:sp>
      <p:sp>
        <p:nvSpPr>
          <p:cNvPr id="31" name="TextBox 30"/>
          <p:cNvSpPr txBox="1"/>
          <p:nvPr/>
        </p:nvSpPr>
        <p:spPr>
          <a:xfrm>
            <a:off x="6297920" y="3014640"/>
            <a:ext cx="2560320" cy="228600"/>
          </a:xfrm>
          <a:prstGeom prst="rect">
            <a:avLst/>
          </a:prstGeom>
          <a:noFill/>
        </p:spPr>
        <p:txBody>
          <a:bodyPr wrap="square">
            <a:spAutoFit/>
          </a:bodyPr>
          <a:lstStyle/>
          <a:p>
            <a:pPr algn="l">
              <a:defRPr sz="900" b="0">
                <a:solidFill>
                  <a:srgbClr val="666666"/>
                </a:solidFill>
              </a:defRPr>
            </a:pPr>
            <a:r>
              <a:t>シナリオプランニング</a:t>
            </a:r>
          </a:p>
        </p:txBody>
      </p:sp>
      <p:sp>
        <p:nvSpPr>
          <p:cNvPr id="32" name="Rounded Rectangle 31"/>
          <p:cNvSpPr/>
          <p:nvPr/>
        </p:nvSpPr>
        <p:spPr>
          <a:xfrm>
            <a:off x="274320" y="4297680"/>
            <a:ext cx="8412480" cy="228600"/>
          </a:xfrm>
          <a:prstGeom prst="round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4297680"/>
            <a:ext cx="8229600" cy="228600"/>
          </a:xfrm>
          <a:prstGeom prst="rect">
            <a:avLst/>
          </a:prstGeom>
          <a:noFill/>
        </p:spPr>
        <p:txBody>
          <a:bodyPr wrap="square">
            <a:spAutoFit/>
          </a:bodyPr>
          <a:lstStyle/>
          <a:p>
            <a:pPr algn="ctr">
              <a:defRPr sz="1100" b="1">
                <a:solidFill>
                  <a:srgbClr val="FFFFFF"/>
                </a:solidFill>
              </a:defRPr>
            </a:pPr>
            <a:r>
              <a:t>未来年表 × Fit &amp; Gap分析 = 説得力のあるロードマップ</a:t>
            </a:r>
          </a:p>
        </p:txBody>
      </p:sp>
      <p:sp>
        <p:nvSpPr>
          <p:cNvPr id="34" name="Rectangle 33"/>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36" name="TextBox 35"/>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未来年表の3つの活用視点</a:t>
            </a:r>
          </a:p>
        </p:txBody>
      </p:sp>
      <p:sp>
        <p:nvSpPr>
          <p:cNvPr id="5" name="Rounded Rectangle 4"/>
          <p:cNvSpPr/>
          <p:nvPr/>
        </p:nvSpPr>
        <p:spPr>
          <a:xfrm>
            <a:off x="182880" y="1005840"/>
            <a:ext cx="274320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43000" y="1097280"/>
            <a:ext cx="731520" cy="731520"/>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1143000"/>
            <a:ext cx="731520" cy="640080"/>
          </a:xfrm>
          <a:prstGeom prst="rect">
            <a:avLst/>
          </a:prstGeom>
          <a:noFill/>
        </p:spPr>
        <p:txBody>
          <a:bodyPr wrap="square">
            <a:spAutoFit/>
          </a:bodyPr>
          <a:lstStyle/>
          <a:p>
            <a:pPr algn="ctr">
              <a:defRPr sz="2400" b="1">
                <a:solidFill>
                  <a:srgbClr val="FFFFFF"/>
                </a:solidFill>
              </a:defRPr>
            </a:pPr>
            <a:r>
              <a:t>1</a:t>
            </a:r>
          </a:p>
        </p:txBody>
      </p:sp>
      <p:sp>
        <p:nvSpPr>
          <p:cNvPr id="8" name="TextBox 7"/>
          <p:cNvSpPr txBox="1"/>
          <p:nvPr/>
        </p:nvSpPr>
        <p:spPr>
          <a:xfrm>
            <a:off x="232880" y="1920240"/>
            <a:ext cx="2651760" cy="365760"/>
          </a:xfrm>
          <a:prstGeom prst="rect">
            <a:avLst/>
          </a:prstGeom>
          <a:noFill/>
        </p:spPr>
        <p:txBody>
          <a:bodyPr wrap="square">
            <a:spAutoFit/>
          </a:bodyPr>
          <a:lstStyle/>
          <a:p>
            <a:pPr algn="ctr">
              <a:defRPr sz="1500" b="1">
                <a:solidFill>
                  <a:srgbClr val="B8860B"/>
                </a:solidFill>
              </a:defRPr>
            </a:pPr>
            <a:r>
              <a:t>企業戦略</a:t>
            </a:r>
          </a:p>
        </p:txBody>
      </p:sp>
      <p:sp>
        <p:nvSpPr>
          <p:cNvPr id="9" name="TextBox 8"/>
          <p:cNvSpPr txBox="1"/>
          <p:nvPr/>
        </p:nvSpPr>
        <p:spPr>
          <a:xfrm>
            <a:off x="262880" y="2286000"/>
            <a:ext cx="2560320" cy="411480"/>
          </a:xfrm>
          <a:prstGeom prst="rect">
            <a:avLst/>
          </a:prstGeom>
          <a:noFill/>
        </p:spPr>
        <p:txBody>
          <a:bodyPr wrap="square">
            <a:spAutoFit/>
          </a:bodyPr>
          <a:lstStyle/>
          <a:p>
            <a:pPr algn="l">
              <a:defRPr sz="1000" b="0">
                <a:solidFill>
                  <a:srgbClr val="333333"/>
                </a:solidFill>
              </a:defRPr>
            </a:pPr>
            <a:r>
              <a:t>人材戦略: 世代別特性に応じた採用・育成</a:t>
            </a:r>
          </a:p>
        </p:txBody>
      </p:sp>
      <p:sp>
        <p:nvSpPr>
          <p:cNvPr id="10" name="TextBox 9"/>
          <p:cNvSpPr txBox="1"/>
          <p:nvPr/>
        </p:nvSpPr>
        <p:spPr>
          <a:xfrm>
            <a:off x="262880" y="2743200"/>
            <a:ext cx="2560320" cy="411480"/>
          </a:xfrm>
          <a:prstGeom prst="rect">
            <a:avLst/>
          </a:prstGeom>
          <a:noFill/>
        </p:spPr>
        <p:txBody>
          <a:bodyPr wrap="square">
            <a:spAutoFit/>
          </a:bodyPr>
          <a:lstStyle/>
          <a:p>
            <a:pPr algn="l">
              <a:defRPr sz="1000" b="0">
                <a:solidFill>
                  <a:srgbClr val="333333"/>
                </a:solidFill>
              </a:defRPr>
            </a:pPr>
            <a:r>
              <a:t>事業戦略: AI代替率を考慮した事業転換</a:t>
            </a:r>
          </a:p>
        </p:txBody>
      </p:sp>
      <p:sp>
        <p:nvSpPr>
          <p:cNvPr id="11" name="TextBox 10"/>
          <p:cNvSpPr txBox="1"/>
          <p:nvPr/>
        </p:nvSpPr>
        <p:spPr>
          <a:xfrm>
            <a:off x="262880" y="3200400"/>
            <a:ext cx="2560320" cy="411480"/>
          </a:xfrm>
          <a:prstGeom prst="rect">
            <a:avLst/>
          </a:prstGeom>
          <a:noFill/>
        </p:spPr>
        <p:txBody>
          <a:bodyPr wrap="square">
            <a:spAutoFit/>
          </a:bodyPr>
          <a:lstStyle/>
          <a:p>
            <a:pPr algn="l">
              <a:defRPr sz="1000" b="0">
                <a:solidFill>
                  <a:srgbClr val="333333"/>
                </a:solidFill>
              </a:defRPr>
            </a:pPr>
            <a:r>
              <a:t>立地戦略: 地域格差を踏まえた拠点配置</a:t>
            </a:r>
          </a:p>
        </p:txBody>
      </p:sp>
      <p:sp>
        <p:nvSpPr>
          <p:cNvPr id="12" name="Rounded Rectangle 11"/>
          <p:cNvSpPr/>
          <p:nvPr/>
        </p:nvSpPr>
        <p:spPr>
          <a:xfrm>
            <a:off x="3200400" y="1005840"/>
            <a:ext cx="274320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160520" y="1097280"/>
            <a:ext cx="731520" cy="731520"/>
          </a:xfrm>
          <a:prstGeom prst="ellipse">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1143000"/>
            <a:ext cx="731520" cy="640080"/>
          </a:xfrm>
          <a:prstGeom prst="rect">
            <a:avLst/>
          </a:prstGeom>
          <a:noFill/>
        </p:spPr>
        <p:txBody>
          <a:bodyPr wrap="square">
            <a:spAutoFit/>
          </a:bodyPr>
          <a:lstStyle/>
          <a:p>
            <a:pPr algn="ctr">
              <a:defRPr sz="2400" b="1">
                <a:solidFill>
                  <a:srgbClr val="FFFFFF"/>
                </a:solidFill>
              </a:defRPr>
            </a:pPr>
            <a:r>
              <a:t>2</a:t>
            </a:r>
          </a:p>
        </p:txBody>
      </p:sp>
      <p:sp>
        <p:nvSpPr>
          <p:cNvPr id="15" name="TextBox 14"/>
          <p:cNvSpPr txBox="1"/>
          <p:nvPr/>
        </p:nvSpPr>
        <p:spPr>
          <a:xfrm>
            <a:off x="3250400" y="1920240"/>
            <a:ext cx="2651760" cy="365760"/>
          </a:xfrm>
          <a:prstGeom prst="rect">
            <a:avLst/>
          </a:prstGeom>
          <a:noFill/>
        </p:spPr>
        <p:txBody>
          <a:bodyPr wrap="square">
            <a:spAutoFit/>
          </a:bodyPr>
          <a:lstStyle/>
          <a:p>
            <a:pPr algn="ctr">
              <a:defRPr sz="1500" b="1">
                <a:solidFill>
                  <a:srgbClr val="2C7AB0"/>
                </a:solidFill>
              </a:defRPr>
            </a:pPr>
            <a:r>
              <a:t>個人キャリア</a:t>
            </a:r>
          </a:p>
        </p:txBody>
      </p:sp>
      <p:sp>
        <p:nvSpPr>
          <p:cNvPr id="16" name="TextBox 15"/>
          <p:cNvSpPr txBox="1"/>
          <p:nvPr/>
        </p:nvSpPr>
        <p:spPr>
          <a:xfrm>
            <a:off x="3280400" y="2286000"/>
            <a:ext cx="2560320" cy="411480"/>
          </a:xfrm>
          <a:prstGeom prst="rect">
            <a:avLst/>
          </a:prstGeom>
          <a:noFill/>
        </p:spPr>
        <p:txBody>
          <a:bodyPr wrap="square">
            <a:spAutoFit/>
          </a:bodyPr>
          <a:lstStyle/>
          <a:p>
            <a:pPr algn="l">
              <a:defRPr sz="1000" b="0">
                <a:solidFill>
                  <a:srgbClr val="333333"/>
                </a:solidFill>
              </a:defRPr>
            </a:pPr>
            <a:r>
              <a:t>スキル: AI代替されにくい創造性・対人力</a:t>
            </a:r>
          </a:p>
        </p:txBody>
      </p:sp>
      <p:sp>
        <p:nvSpPr>
          <p:cNvPr id="17" name="TextBox 16"/>
          <p:cNvSpPr txBox="1"/>
          <p:nvPr/>
        </p:nvSpPr>
        <p:spPr>
          <a:xfrm>
            <a:off x="3280400" y="2743200"/>
            <a:ext cx="2560320" cy="411480"/>
          </a:xfrm>
          <a:prstGeom prst="rect">
            <a:avLst/>
          </a:prstGeom>
          <a:noFill/>
        </p:spPr>
        <p:txBody>
          <a:bodyPr wrap="square">
            <a:spAutoFit/>
          </a:bodyPr>
          <a:lstStyle/>
          <a:p>
            <a:pPr algn="l">
              <a:defRPr sz="1000" b="0">
                <a:solidFill>
                  <a:srgbClr val="333333"/>
                </a:solidFill>
              </a:defRPr>
            </a:pPr>
            <a:r>
              <a:t>居住: 地域格差を踏まえた住まい選択</a:t>
            </a:r>
          </a:p>
        </p:txBody>
      </p:sp>
      <p:sp>
        <p:nvSpPr>
          <p:cNvPr id="18" name="TextBox 17"/>
          <p:cNvSpPr txBox="1"/>
          <p:nvPr/>
        </p:nvSpPr>
        <p:spPr>
          <a:xfrm>
            <a:off x="3280400" y="3200400"/>
            <a:ext cx="2560320" cy="411480"/>
          </a:xfrm>
          <a:prstGeom prst="rect">
            <a:avLst/>
          </a:prstGeom>
          <a:noFill/>
        </p:spPr>
        <p:txBody>
          <a:bodyPr wrap="square">
            <a:spAutoFit/>
          </a:bodyPr>
          <a:lstStyle/>
          <a:p>
            <a:pPr algn="l">
              <a:defRPr sz="1000" b="0">
                <a:solidFill>
                  <a:srgbClr val="333333"/>
                </a:solidFill>
              </a:defRPr>
            </a:pPr>
            <a:r>
              <a:t>資産: インフレ・技術変化を考慮した投資</a:t>
            </a:r>
          </a:p>
        </p:txBody>
      </p:sp>
      <p:sp>
        <p:nvSpPr>
          <p:cNvPr id="19" name="Rounded Rectangle 18"/>
          <p:cNvSpPr/>
          <p:nvPr/>
        </p:nvSpPr>
        <p:spPr>
          <a:xfrm>
            <a:off x="6217920" y="1005840"/>
            <a:ext cx="274320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78040" y="1097280"/>
            <a:ext cx="731520" cy="73152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1143000"/>
            <a:ext cx="731520" cy="640080"/>
          </a:xfrm>
          <a:prstGeom prst="rect">
            <a:avLst/>
          </a:prstGeom>
          <a:noFill/>
        </p:spPr>
        <p:txBody>
          <a:bodyPr wrap="square">
            <a:spAutoFit/>
          </a:bodyPr>
          <a:lstStyle/>
          <a:p>
            <a:pPr algn="ctr">
              <a:defRPr sz="2400" b="1">
                <a:solidFill>
                  <a:srgbClr val="FFFFFF"/>
                </a:solidFill>
              </a:defRPr>
            </a:pPr>
            <a:r>
              <a:t>3</a:t>
            </a:r>
          </a:p>
        </p:txBody>
      </p:sp>
      <p:sp>
        <p:nvSpPr>
          <p:cNvPr id="22" name="TextBox 21"/>
          <p:cNvSpPr txBox="1"/>
          <p:nvPr/>
        </p:nvSpPr>
        <p:spPr>
          <a:xfrm>
            <a:off x="6267920" y="1920240"/>
            <a:ext cx="2651760" cy="365760"/>
          </a:xfrm>
          <a:prstGeom prst="rect">
            <a:avLst/>
          </a:prstGeom>
          <a:noFill/>
        </p:spPr>
        <p:txBody>
          <a:bodyPr wrap="square">
            <a:spAutoFit/>
          </a:bodyPr>
          <a:lstStyle/>
          <a:p>
            <a:pPr algn="ctr">
              <a:defRPr sz="1500" b="1">
                <a:solidFill>
                  <a:srgbClr val="27AE60"/>
                </a:solidFill>
              </a:defRPr>
            </a:pPr>
            <a:r>
              <a:t>政策提言</a:t>
            </a:r>
          </a:p>
        </p:txBody>
      </p:sp>
      <p:sp>
        <p:nvSpPr>
          <p:cNvPr id="23" name="TextBox 22"/>
          <p:cNvSpPr txBox="1"/>
          <p:nvPr/>
        </p:nvSpPr>
        <p:spPr>
          <a:xfrm>
            <a:off x="6297920" y="2286000"/>
            <a:ext cx="2560320" cy="411480"/>
          </a:xfrm>
          <a:prstGeom prst="rect">
            <a:avLst/>
          </a:prstGeom>
          <a:noFill/>
        </p:spPr>
        <p:txBody>
          <a:bodyPr wrap="square">
            <a:spAutoFit/>
          </a:bodyPr>
          <a:lstStyle/>
          <a:p>
            <a:pPr algn="l">
              <a:defRPr sz="1000" b="0">
                <a:solidFill>
                  <a:srgbClr val="333333"/>
                </a:solidFill>
              </a:defRPr>
            </a:pPr>
            <a:r>
              <a:t>労働: AI代替に伴う雇用対策・再教育</a:t>
            </a:r>
          </a:p>
        </p:txBody>
      </p:sp>
      <p:sp>
        <p:nvSpPr>
          <p:cNvPr id="24" name="TextBox 23"/>
          <p:cNvSpPr txBox="1"/>
          <p:nvPr/>
        </p:nvSpPr>
        <p:spPr>
          <a:xfrm>
            <a:off x="6297920" y="2743200"/>
            <a:ext cx="2560320" cy="411480"/>
          </a:xfrm>
          <a:prstGeom prst="rect">
            <a:avLst/>
          </a:prstGeom>
          <a:noFill/>
        </p:spPr>
        <p:txBody>
          <a:bodyPr wrap="square">
            <a:spAutoFit/>
          </a:bodyPr>
          <a:lstStyle/>
          <a:p>
            <a:pPr algn="l">
              <a:defRPr sz="1000" b="0">
                <a:solidFill>
                  <a:srgbClr val="333333"/>
                </a:solidFill>
              </a:defRPr>
            </a:pPr>
            <a:r>
              <a:t>地域: 地域格差是正・持続可能な地域創造</a:t>
            </a:r>
          </a:p>
        </p:txBody>
      </p:sp>
      <p:sp>
        <p:nvSpPr>
          <p:cNvPr id="25" name="TextBox 24"/>
          <p:cNvSpPr txBox="1"/>
          <p:nvPr/>
        </p:nvSpPr>
        <p:spPr>
          <a:xfrm>
            <a:off x="6297920" y="3200400"/>
            <a:ext cx="2560320" cy="411480"/>
          </a:xfrm>
          <a:prstGeom prst="rect">
            <a:avLst/>
          </a:prstGeom>
          <a:noFill/>
        </p:spPr>
        <p:txBody>
          <a:bodyPr wrap="square">
            <a:spAutoFit/>
          </a:bodyPr>
          <a:lstStyle/>
          <a:p>
            <a:pPr algn="l">
              <a:defRPr sz="1000" b="0">
                <a:solidFill>
                  <a:srgbClr val="333333"/>
                </a:solidFill>
              </a:defRPr>
            </a:pPr>
            <a:r>
              <a:t>社会保障: 高齢化・人口減への制度設計</a:t>
            </a:r>
          </a:p>
        </p:txBody>
      </p:sp>
      <p:sp>
        <p:nvSpPr>
          <p:cNvPr id="26" name="Rounded Rectangle 25"/>
          <p:cNvSpPr/>
          <p:nvPr/>
        </p:nvSpPr>
        <p:spPr>
          <a:xfrm>
            <a:off x="274320" y="4114800"/>
            <a:ext cx="8412480" cy="36576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133087"/>
            <a:ext cx="8229600" cy="320040"/>
          </a:xfrm>
          <a:prstGeom prst="rect">
            <a:avLst/>
          </a:prstGeom>
          <a:noFill/>
        </p:spPr>
        <p:txBody>
          <a:bodyPr wrap="square">
            <a:spAutoFit/>
          </a:bodyPr>
          <a:lstStyle/>
          <a:p>
            <a:pPr algn="ctr">
              <a:defRPr sz="1000" b="1">
                <a:solidFill>
                  <a:srgbClr val="8B7536"/>
                </a:solidFill>
              </a:defRPr>
            </a:pPr>
            <a:r>
              <a:t>コンサルタントは「企業戦略」「個人キャリア」「政策」の3視点から未来を語れる存在であるべき</a:t>
            </a:r>
          </a:p>
        </p:txBody>
      </p:sp>
      <p:sp>
        <p:nvSpPr>
          <p:cNvPr id="28" name="Rectangle 27"/>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30" name="TextBox 29"/>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685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
            <a:ext cx="8229600" cy="548640"/>
          </a:xfrm>
          <a:prstGeom prst="rect">
            <a:avLst/>
          </a:prstGeom>
          <a:noFill/>
        </p:spPr>
        <p:txBody>
          <a:bodyPr wrap="square">
            <a:spAutoFit/>
          </a:bodyPr>
          <a:lstStyle/>
          <a:p>
            <a:pPr algn="l">
              <a:defRPr sz="2200" b="1">
                <a:solidFill>
                  <a:srgbClr val="FFFFFF"/>
                </a:solidFill>
              </a:defRPr>
            </a:pPr>
            <a:r>
              <a:t>まとめ：未来を知り、未来を創る</a:t>
            </a:r>
          </a:p>
        </p:txBody>
      </p:sp>
      <p:sp>
        <p:nvSpPr>
          <p:cNvPr id="5" name="Rounded Rectangle 4"/>
          <p:cNvSpPr/>
          <p:nvPr/>
        </p:nvSpPr>
        <p:spPr>
          <a:xfrm>
            <a:off x="182880" y="1005840"/>
            <a:ext cx="210312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1097280"/>
            <a:ext cx="548640" cy="548640"/>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43000"/>
            <a:ext cx="548640" cy="502920"/>
          </a:xfrm>
          <a:prstGeom prst="rect">
            <a:avLst/>
          </a:prstGeom>
          <a:noFill/>
        </p:spPr>
        <p:txBody>
          <a:bodyPr wrap="square">
            <a:spAutoFit/>
          </a:bodyPr>
          <a:lstStyle/>
          <a:p>
            <a:pPr algn="ctr">
              <a:defRPr sz="1800" b="1">
                <a:solidFill>
                  <a:srgbClr val="FFFFFF"/>
                </a:solidFill>
              </a:defRPr>
            </a:pPr>
            <a:r>
              <a:t>1</a:t>
            </a:r>
          </a:p>
        </p:txBody>
      </p:sp>
      <p:sp>
        <p:nvSpPr>
          <p:cNvPr id="8" name="TextBox 7"/>
          <p:cNvSpPr txBox="1"/>
          <p:nvPr/>
        </p:nvSpPr>
        <p:spPr>
          <a:xfrm>
            <a:off x="212880" y="1737360"/>
            <a:ext cx="2011680" cy="274320"/>
          </a:xfrm>
          <a:prstGeom prst="rect">
            <a:avLst/>
          </a:prstGeom>
          <a:noFill/>
        </p:spPr>
        <p:txBody>
          <a:bodyPr wrap="square">
            <a:spAutoFit/>
          </a:bodyPr>
          <a:lstStyle/>
          <a:p>
            <a:pPr algn="ctr">
              <a:defRPr sz="1200" b="1">
                <a:solidFill>
                  <a:srgbClr val="C0392B"/>
                </a:solidFill>
              </a:defRPr>
            </a:pPr>
            <a:r>
              <a:t>人口減少は</a:t>
            </a:r>
          </a:p>
        </p:txBody>
      </p:sp>
      <p:sp>
        <p:nvSpPr>
          <p:cNvPr id="9" name="TextBox 8"/>
          <p:cNvSpPr txBox="1"/>
          <p:nvPr/>
        </p:nvSpPr>
        <p:spPr>
          <a:xfrm>
            <a:off x="212880" y="1937360"/>
            <a:ext cx="2011680" cy="274320"/>
          </a:xfrm>
          <a:prstGeom prst="rect">
            <a:avLst/>
          </a:prstGeom>
          <a:noFill/>
        </p:spPr>
        <p:txBody>
          <a:bodyPr wrap="square">
            <a:spAutoFit/>
          </a:bodyPr>
          <a:lstStyle/>
          <a:p>
            <a:pPr algn="ctr">
              <a:defRPr sz="1200" b="1">
                <a:solidFill>
                  <a:srgbClr val="C0392B"/>
                </a:solidFill>
              </a:defRPr>
            </a:pPr>
            <a:r>
              <a:t>不可避</a:t>
            </a:r>
          </a:p>
        </p:txBody>
      </p:sp>
      <p:sp>
        <p:nvSpPr>
          <p:cNvPr id="10" name="TextBox 9"/>
          <p:cNvSpPr txBox="1"/>
          <p:nvPr/>
        </p:nvSpPr>
        <p:spPr>
          <a:xfrm>
            <a:off x="212880" y="2286000"/>
            <a:ext cx="2011680" cy="228600"/>
          </a:xfrm>
          <a:prstGeom prst="rect">
            <a:avLst/>
          </a:prstGeom>
          <a:noFill/>
        </p:spPr>
        <p:txBody>
          <a:bodyPr wrap="square">
            <a:spAutoFit/>
          </a:bodyPr>
          <a:lstStyle/>
          <a:p>
            <a:pPr algn="ctr">
              <a:defRPr sz="900" b="0">
                <a:solidFill>
                  <a:srgbClr val="666666"/>
                </a:solidFill>
              </a:defRPr>
            </a:pPr>
            <a:r>
              <a:t>2050年に0.95億人</a:t>
            </a:r>
          </a:p>
        </p:txBody>
      </p:sp>
      <p:sp>
        <p:nvSpPr>
          <p:cNvPr id="11" name="TextBox 10"/>
          <p:cNvSpPr txBox="1"/>
          <p:nvPr/>
        </p:nvSpPr>
        <p:spPr>
          <a:xfrm>
            <a:off x="212880" y="2466000"/>
            <a:ext cx="2011680" cy="228600"/>
          </a:xfrm>
          <a:prstGeom prst="rect">
            <a:avLst/>
          </a:prstGeom>
          <a:noFill/>
        </p:spPr>
        <p:txBody>
          <a:bodyPr wrap="square">
            <a:spAutoFit/>
          </a:bodyPr>
          <a:lstStyle/>
          <a:p>
            <a:pPr algn="ctr">
              <a:defRPr sz="900" b="0">
                <a:solidFill>
                  <a:srgbClr val="666666"/>
                </a:solidFill>
              </a:defRPr>
            </a:pPr>
            <a:r>
              <a:t>(-23%)</a:t>
            </a:r>
          </a:p>
        </p:txBody>
      </p:sp>
      <p:sp>
        <p:nvSpPr>
          <p:cNvPr id="12" name="TextBox 11"/>
          <p:cNvSpPr txBox="1"/>
          <p:nvPr/>
        </p:nvSpPr>
        <p:spPr>
          <a:xfrm>
            <a:off x="212880" y="2646000"/>
            <a:ext cx="2011680" cy="228600"/>
          </a:xfrm>
          <a:prstGeom prst="rect">
            <a:avLst/>
          </a:prstGeom>
          <a:noFill/>
        </p:spPr>
        <p:txBody>
          <a:bodyPr wrap="square">
            <a:spAutoFit/>
          </a:bodyPr>
          <a:lstStyle/>
          <a:p>
            <a:pPr algn="ctr">
              <a:defRPr sz="900" b="0">
                <a:solidFill>
                  <a:srgbClr val="666666"/>
                </a:solidFill>
              </a:defRPr>
            </a:pPr>
            <a:r>
              <a:t>しかし技術力で</a:t>
            </a:r>
          </a:p>
        </p:txBody>
      </p:sp>
      <p:sp>
        <p:nvSpPr>
          <p:cNvPr id="13" name="TextBox 12"/>
          <p:cNvSpPr txBox="1"/>
          <p:nvPr/>
        </p:nvSpPr>
        <p:spPr>
          <a:xfrm>
            <a:off x="212880" y="2826000"/>
            <a:ext cx="2011680" cy="228600"/>
          </a:xfrm>
          <a:prstGeom prst="rect">
            <a:avLst/>
          </a:prstGeom>
          <a:noFill/>
        </p:spPr>
        <p:txBody>
          <a:bodyPr wrap="square">
            <a:spAutoFit/>
          </a:bodyPr>
          <a:lstStyle/>
          <a:p>
            <a:pPr algn="ctr">
              <a:defRPr sz="900" b="0">
                <a:solidFill>
                  <a:srgbClr val="666666"/>
                </a:solidFill>
              </a:defRPr>
            </a:pPr>
            <a:r>
              <a:t>世界3位へ</a:t>
            </a:r>
          </a:p>
        </p:txBody>
      </p:sp>
      <p:sp>
        <p:nvSpPr>
          <p:cNvPr id="14" name="Rounded Rectangle 13"/>
          <p:cNvSpPr/>
          <p:nvPr/>
        </p:nvSpPr>
        <p:spPr>
          <a:xfrm>
            <a:off x="2423160" y="1005840"/>
            <a:ext cx="210312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154680" y="1097280"/>
            <a:ext cx="548640" cy="548640"/>
          </a:xfrm>
          <a:prstGeom prst="ellipse">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54680" y="1143000"/>
            <a:ext cx="548640" cy="502920"/>
          </a:xfrm>
          <a:prstGeom prst="rect">
            <a:avLst/>
          </a:prstGeom>
          <a:noFill/>
        </p:spPr>
        <p:txBody>
          <a:bodyPr wrap="square">
            <a:spAutoFit/>
          </a:bodyPr>
          <a:lstStyle/>
          <a:p>
            <a:pPr algn="ctr">
              <a:defRPr sz="1800" b="1">
                <a:solidFill>
                  <a:srgbClr val="FFFFFF"/>
                </a:solidFill>
              </a:defRPr>
            </a:pPr>
            <a:r>
              <a:t>2</a:t>
            </a:r>
          </a:p>
        </p:txBody>
      </p:sp>
      <p:sp>
        <p:nvSpPr>
          <p:cNvPr id="17" name="TextBox 16"/>
          <p:cNvSpPr txBox="1"/>
          <p:nvPr/>
        </p:nvSpPr>
        <p:spPr>
          <a:xfrm>
            <a:off x="2453160" y="1737360"/>
            <a:ext cx="2011680" cy="274320"/>
          </a:xfrm>
          <a:prstGeom prst="rect">
            <a:avLst/>
          </a:prstGeom>
          <a:noFill/>
        </p:spPr>
        <p:txBody>
          <a:bodyPr wrap="square">
            <a:spAutoFit/>
          </a:bodyPr>
          <a:lstStyle/>
          <a:p>
            <a:pPr algn="ctr">
              <a:defRPr sz="1200" b="1">
                <a:solidFill>
                  <a:srgbClr val="E67E22"/>
                </a:solidFill>
              </a:defRPr>
            </a:pPr>
            <a:r>
              <a:t>格差拡大が</a:t>
            </a:r>
          </a:p>
        </p:txBody>
      </p:sp>
      <p:sp>
        <p:nvSpPr>
          <p:cNvPr id="18" name="TextBox 17"/>
          <p:cNvSpPr txBox="1"/>
          <p:nvPr/>
        </p:nvSpPr>
        <p:spPr>
          <a:xfrm>
            <a:off x="2453160" y="1937360"/>
            <a:ext cx="2011680" cy="274320"/>
          </a:xfrm>
          <a:prstGeom prst="rect">
            <a:avLst/>
          </a:prstGeom>
          <a:noFill/>
        </p:spPr>
        <p:txBody>
          <a:bodyPr wrap="square">
            <a:spAutoFit/>
          </a:bodyPr>
          <a:lstStyle/>
          <a:p>
            <a:pPr algn="ctr">
              <a:defRPr sz="1200" b="1">
                <a:solidFill>
                  <a:srgbClr val="E67E22"/>
                </a:solidFill>
              </a:defRPr>
            </a:pPr>
            <a:r>
              <a:t>最大テーマ</a:t>
            </a:r>
          </a:p>
        </p:txBody>
      </p:sp>
      <p:sp>
        <p:nvSpPr>
          <p:cNvPr id="19" name="TextBox 18"/>
          <p:cNvSpPr txBox="1"/>
          <p:nvPr/>
        </p:nvSpPr>
        <p:spPr>
          <a:xfrm>
            <a:off x="2453160" y="2286000"/>
            <a:ext cx="2011680" cy="228600"/>
          </a:xfrm>
          <a:prstGeom prst="rect">
            <a:avLst/>
          </a:prstGeom>
          <a:noFill/>
        </p:spPr>
        <p:txBody>
          <a:bodyPr wrap="square">
            <a:spAutoFit/>
          </a:bodyPr>
          <a:lstStyle/>
          <a:p>
            <a:pPr algn="ctr">
              <a:defRPr sz="900" b="0">
                <a:solidFill>
                  <a:srgbClr val="666666"/>
                </a:solidFill>
              </a:defRPr>
            </a:pPr>
            <a:r>
              <a:t>平均年収は上がるが</a:t>
            </a:r>
          </a:p>
        </p:txBody>
      </p:sp>
      <p:sp>
        <p:nvSpPr>
          <p:cNvPr id="20" name="TextBox 19"/>
          <p:cNvSpPr txBox="1"/>
          <p:nvPr/>
        </p:nvSpPr>
        <p:spPr>
          <a:xfrm>
            <a:off x="2453160" y="2466000"/>
            <a:ext cx="2011680" cy="228600"/>
          </a:xfrm>
          <a:prstGeom prst="rect">
            <a:avLst/>
          </a:prstGeom>
          <a:noFill/>
        </p:spPr>
        <p:txBody>
          <a:bodyPr wrap="square">
            <a:spAutoFit/>
          </a:bodyPr>
          <a:lstStyle/>
          <a:p>
            <a:pPr algn="ctr">
              <a:defRPr sz="900" b="0">
                <a:solidFill>
                  <a:srgbClr val="666666"/>
                </a:solidFill>
              </a:defRPr>
            </a:pPr>
            <a:r>
              <a:t>中央値は横ばい</a:t>
            </a:r>
          </a:p>
        </p:txBody>
      </p:sp>
      <p:sp>
        <p:nvSpPr>
          <p:cNvPr id="21" name="TextBox 20"/>
          <p:cNvSpPr txBox="1"/>
          <p:nvPr/>
        </p:nvSpPr>
        <p:spPr>
          <a:xfrm>
            <a:off x="2453160" y="2646000"/>
            <a:ext cx="2011680" cy="228600"/>
          </a:xfrm>
          <a:prstGeom prst="rect">
            <a:avLst/>
          </a:prstGeom>
          <a:noFill/>
        </p:spPr>
        <p:txBody>
          <a:bodyPr wrap="square">
            <a:spAutoFit/>
          </a:bodyPr>
          <a:lstStyle/>
          <a:p>
            <a:pPr algn="ctr">
              <a:defRPr sz="900" b="0">
                <a:solidFill>
                  <a:srgbClr val="666666"/>
                </a:solidFill>
              </a:defRPr>
            </a:pPr>
            <a:r>
              <a:t>地域格差は2.7倍に</a:t>
            </a:r>
          </a:p>
        </p:txBody>
      </p:sp>
      <p:sp>
        <p:nvSpPr>
          <p:cNvPr id="22" name="Rounded Rectangle 21"/>
          <p:cNvSpPr/>
          <p:nvPr/>
        </p:nvSpPr>
        <p:spPr>
          <a:xfrm>
            <a:off x="4663440" y="1005840"/>
            <a:ext cx="210312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394960" y="1097280"/>
            <a:ext cx="548640" cy="54864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0" y="1143000"/>
            <a:ext cx="548640" cy="502920"/>
          </a:xfrm>
          <a:prstGeom prst="rect">
            <a:avLst/>
          </a:prstGeom>
          <a:noFill/>
        </p:spPr>
        <p:txBody>
          <a:bodyPr wrap="square">
            <a:spAutoFit/>
          </a:bodyPr>
          <a:lstStyle/>
          <a:p>
            <a:pPr algn="ctr">
              <a:defRPr sz="1800" b="1">
                <a:solidFill>
                  <a:srgbClr val="FFFFFF"/>
                </a:solidFill>
              </a:defRPr>
            </a:pPr>
            <a:r>
              <a:t>3</a:t>
            </a:r>
          </a:p>
        </p:txBody>
      </p:sp>
      <p:sp>
        <p:nvSpPr>
          <p:cNvPr id="25" name="TextBox 24"/>
          <p:cNvSpPr txBox="1"/>
          <p:nvPr/>
        </p:nvSpPr>
        <p:spPr>
          <a:xfrm>
            <a:off x="4693440" y="1737360"/>
            <a:ext cx="2011680" cy="274320"/>
          </a:xfrm>
          <a:prstGeom prst="rect">
            <a:avLst/>
          </a:prstGeom>
          <a:noFill/>
        </p:spPr>
        <p:txBody>
          <a:bodyPr wrap="square">
            <a:spAutoFit/>
          </a:bodyPr>
          <a:lstStyle/>
          <a:p>
            <a:pPr algn="ctr">
              <a:defRPr sz="1200" b="1">
                <a:solidFill>
                  <a:srgbClr val="27AE60"/>
                </a:solidFill>
              </a:defRPr>
            </a:pPr>
            <a:r>
              <a:t>AI代替は</a:t>
            </a:r>
          </a:p>
        </p:txBody>
      </p:sp>
      <p:sp>
        <p:nvSpPr>
          <p:cNvPr id="26" name="TextBox 25"/>
          <p:cNvSpPr txBox="1"/>
          <p:nvPr/>
        </p:nvSpPr>
        <p:spPr>
          <a:xfrm>
            <a:off x="4693440" y="1937360"/>
            <a:ext cx="2011680" cy="274320"/>
          </a:xfrm>
          <a:prstGeom prst="rect">
            <a:avLst/>
          </a:prstGeom>
          <a:noFill/>
        </p:spPr>
        <p:txBody>
          <a:bodyPr wrap="square">
            <a:spAutoFit/>
          </a:bodyPr>
          <a:lstStyle/>
          <a:p>
            <a:pPr algn="ctr">
              <a:defRPr sz="1200" b="1">
                <a:solidFill>
                  <a:srgbClr val="27AE60"/>
                </a:solidFill>
              </a:defRPr>
            </a:pPr>
            <a:r>
              <a:t>脅威ではなく機会</a:t>
            </a:r>
          </a:p>
        </p:txBody>
      </p:sp>
      <p:sp>
        <p:nvSpPr>
          <p:cNvPr id="27" name="TextBox 26"/>
          <p:cNvSpPr txBox="1"/>
          <p:nvPr/>
        </p:nvSpPr>
        <p:spPr>
          <a:xfrm>
            <a:off x="4693440" y="2286000"/>
            <a:ext cx="2011680" cy="228600"/>
          </a:xfrm>
          <a:prstGeom prst="rect">
            <a:avLst/>
          </a:prstGeom>
          <a:noFill/>
        </p:spPr>
        <p:txBody>
          <a:bodyPr wrap="square">
            <a:spAutoFit/>
          </a:bodyPr>
          <a:lstStyle/>
          <a:p>
            <a:pPr algn="ctr">
              <a:defRPr sz="900" b="0">
                <a:solidFill>
                  <a:srgbClr val="666666"/>
                </a:solidFill>
              </a:defRPr>
            </a:pPr>
            <a:r>
              <a:t>標準化・DX推進で</a:t>
            </a:r>
          </a:p>
        </p:txBody>
      </p:sp>
      <p:sp>
        <p:nvSpPr>
          <p:cNvPr id="28" name="TextBox 27"/>
          <p:cNvSpPr txBox="1"/>
          <p:nvPr/>
        </p:nvSpPr>
        <p:spPr>
          <a:xfrm>
            <a:off x="4693440" y="2466000"/>
            <a:ext cx="2011680" cy="228600"/>
          </a:xfrm>
          <a:prstGeom prst="rect">
            <a:avLst/>
          </a:prstGeom>
          <a:noFill/>
        </p:spPr>
        <p:txBody>
          <a:bodyPr wrap="square">
            <a:spAutoFit/>
          </a:bodyPr>
          <a:lstStyle/>
          <a:p>
            <a:pPr algn="ctr">
              <a:defRPr sz="900" b="0">
                <a:solidFill>
                  <a:srgbClr val="666666"/>
                </a:solidFill>
              </a:defRPr>
            </a:pPr>
            <a:r>
              <a:t>生産性は飛躍的向上</a:t>
            </a:r>
          </a:p>
        </p:txBody>
      </p:sp>
      <p:sp>
        <p:nvSpPr>
          <p:cNvPr id="29" name="TextBox 28"/>
          <p:cNvSpPr txBox="1"/>
          <p:nvPr/>
        </p:nvSpPr>
        <p:spPr>
          <a:xfrm>
            <a:off x="4693440" y="2646000"/>
            <a:ext cx="2011680" cy="228600"/>
          </a:xfrm>
          <a:prstGeom prst="rect">
            <a:avLst/>
          </a:prstGeom>
          <a:noFill/>
        </p:spPr>
        <p:txBody>
          <a:bodyPr wrap="square">
            <a:spAutoFit/>
          </a:bodyPr>
          <a:lstStyle/>
          <a:p>
            <a:pPr algn="ctr">
              <a:defRPr sz="900" b="0">
                <a:solidFill>
                  <a:srgbClr val="666666"/>
                </a:solidFill>
              </a:defRPr>
            </a:pPr>
            <a:r>
              <a:t>提案のチャンス</a:t>
            </a:r>
          </a:p>
        </p:txBody>
      </p:sp>
      <p:sp>
        <p:nvSpPr>
          <p:cNvPr id="30" name="Rounded Rectangle 29"/>
          <p:cNvSpPr/>
          <p:nvPr/>
        </p:nvSpPr>
        <p:spPr>
          <a:xfrm>
            <a:off x="6903720" y="1005840"/>
            <a:ext cx="2103120" cy="2926080"/>
          </a:xfrm>
          <a:prstGeom prst="round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35240" y="1097280"/>
            <a:ext cx="548640" cy="548640"/>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1143000"/>
            <a:ext cx="548640" cy="502920"/>
          </a:xfrm>
          <a:prstGeom prst="rect">
            <a:avLst/>
          </a:prstGeom>
          <a:noFill/>
        </p:spPr>
        <p:txBody>
          <a:bodyPr wrap="square">
            <a:spAutoFit/>
          </a:bodyPr>
          <a:lstStyle/>
          <a:p>
            <a:pPr algn="ctr">
              <a:defRPr sz="1800" b="1">
                <a:solidFill>
                  <a:srgbClr val="FFFFFF"/>
                </a:solidFill>
              </a:defRPr>
            </a:pPr>
            <a:r>
              <a:t>4</a:t>
            </a:r>
          </a:p>
        </p:txBody>
      </p:sp>
      <p:sp>
        <p:nvSpPr>
          <p:cNvPr id="33" name="TextBox 32"/>
          <p:cNvSpPr txBox="1"/>
          <p:nvPr/>
        </p:nvSpPr>
        <p:spPr>
          <a:xfrm>
            <a:off x="6933720" y="1737360"/>
            <a:ext cx="2011680" cy="274320"/>
          </a:xfrm>
          <a:prstGeom prst="rect">
            <a:avLst/>
          </a:prstGeom>
          <a:noFill/>
        </p:spPr>
        <p:txBody>
          <a:bodyPr wrap="square">
            <a:spAutoFit/>
          </a:bodyPr>
          <a:lstStyle/>
          <a:p>
            <a:pPr algn="ctr">
              <a:defRPr sz="1200" b="1">
                <a:solidFill>
                  <a:srgbClr val="B8860B"/>
                </a:solidFill>
              </a:defRPr>
            </a:pPr>
            <a:r>
              <a:t>未来年表は</a:t>
            </a:r>
          </a:p>
        </p:txBody>
      </p:sp>
      <p:sp>
        <p:nvSpPr>
          <p:cNvPr id="34" name="TextBox 33"/>
          <p:cNvSpPr txBox="1"/>
          <p:nvPr/>
        </p:nvSpPr>
        <p:spPr>
          <a:xfrm>
            <a:off x="6933720" y="1937360"/>
            <a:ext cx="2011680" cy="274320"/>
          </a:xfrm>
          <a:prstGeom prst="rect">
            <a:avLst/>
          </a:prstGeom>
          <a:noFill/>
        </p:spPr>
        <p:txBody>
          <a:bodyPr wrap="square">
            <a:spAutoFit/>
          </a:bodyPr>
          <a:lstStyle/>
          <a:p>
            <a:pPr algn="ctr">
              <a:defRPr sz="1200" b="1">
                <a:solidFill>
                  <a:srgbClr val="B8860B"/>
                </a:solidFill>
              </a:defRPr>
            </a:pPr>
            <a:r>
              <a:t>コンサルの武器</a:t>
            </a:r>
          </a:p>
        </p:txBody>
      </p:sp>
      <p:sp>
        <p:nvSpPr>
          <p:cNvPr id="35" name="TextBox 34"/>
          <p:cNvSpPr txBox="1"/>
          <p:nvPr/>
        </p:nvSpPr>
        <p:spPr>
          <a:xfrm>
            <a:off x="6933720" y="2286000"/>
            <a:ext cx="2011680" cy="228600"/>
          </a:xfrm>
          <a:prstGeom prst="rect">
            <a:avLst/>
          </a:prstGeom>
          <a:noFill/>
        </p:spPr>
        <p:txBody>
          <a:bodyPr wrap="square">
            <a:spAutoFit/>
          </a:bodyPr>
          <a:lstStyle/>
          <a:p>
            <a:pPr algn="ctr">
              <a:defRPr sz="900" b="0">
                <a:solidFill>
                  <a:srgbClr val="666666"/>
                </a:solidFill>
              </a:defRPr>
            </a:pPr>
            <a:r>
              <a:t>数値に基づく提案で</a:t>
            </a:r>
          </a:p>
        </p:txBody>
      </p:sp>
      <p:sp>
        <p:nvSpPr>
          <p:cNvPr id="36" name="TextBox 35"/>
          <p:cNvSpPr txBox="1"/>
          <p:nvPr/>
        </p:nvSpPr>
        <p:spPr>
          <a:xfrm>
            <a:off x="6933720" y="2466000"/>
            <a:ext cx="2011680" cy="228600"/>
          </a:xfrm>
          <a:prstGeom prst="rect">
            <a:avLst/>
          </a:prstGeom>
          <a:noFill/>
        </p:spPr>
        <p:txBody>
          <a:bodyPr wrap="square">
            <a:spAutoFit/>
          </a:bodyPr>
          <a:lstStyle/>
          <a:p>
            <a:pPr algn="ctr">
              <a:defRPr sz="900" b="0">
                <a:solidFill>
                  <a:srgbClr val="666666"/>
                </a:solidFill>
              </a:defRPr>
            </a:pPr>
            <a:r>
              <a:t>説得力が格段に向上</a:t>
            </a:r>
          </a:p>
        </p:txBody>
      </p:sp>
      <p:sp>
        <p:nvSpPr>
          <p:cNvPr id="37" name="TextBox 36"/>
          <p:cNvSpPr txBox="1"/>
          <p:nvPr/>
        </p:nvSpPr>
        <p:spPr>
          <a:xfrm>
            <a:off x="6933720" y="2646000"/>
            <a:ext cx="2011680" cy="228600"/>
          </a:xfrm>
          <a:prstGeom prst="rect">
            <a:avLst/>
          </a:prstGeom>
          <a:noFill/>
        </p:spPr>
        <p:txBody>
          <a:bodyPr wrap="square">
            <a:spAutoFit/>
          </a:bodyPr>
          <a:lstStyle/>
          <a:p>
            <a:pPr algn="ctr">
              <a:defRPr sz="900" b="0">
                <a:solidFill>
                  <a:srgbClr val="666666"/>
                </a:solidFill>
              </a:defRPr>
            </a:pPr>
            <a:r>
              <a:t>ロードマップの根拠に</a:t>
            </a:r>
          </a:p>
        </p:txBody>
      </p:sp>
      <p:sp>
        <p:nvSpPr>
          <p:cNvPr id="38" name="Rounded Rectangle 37"/>
          <p:cNvSpPr/>
          <p:nvPr/>
        </p:nvSpPr>
        <p:spPr>
          <a:xfrm>
            <a:off x="274320" y="4023360"/>
            <a:ext cx="8412480" cy="457200"/>
          </a:xfrm>
          <a:prstGeom prst="round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4041648"/>
            <a:ext cx="8046720" cy="411480"/>
          </a:xfrm>
          <a:prstGeom prst="rect">
            <a:avLst/>
          </a:prstGeom>
          <a:noFill/>
        </p:spPr>
        <p:txBody>
          <a:bodyPr wrap="square">
            <a:spAutoFit/>
          </a:bodyPr>
          <a:lstStyle/>
          <a:p>
            <a:pPr algn="ctr">
              <a:defRPr sz="1400" b="1">
                <a:solidFill>
                  <a:srgbClr val="FFFFFF"/>
                </a:solidFill>
              </a:defRPr>
            </a:pPr>
            <a:r>
              <a:t>未来を知ることは、未来を創ること ― コンサルタントの真価はここにある</a:t>
            </a:r>
          </a:p>
        </p:txBody>
      </p:sp>
      <p:sp>
        <p:nvSpPr>
          <p:cNvPr id="40" name="Rectangle 39"/>
          <p:cNvSpPr/>
          <p:nvPr/>
        </p:nvSpPr>
        <p:spPr>
          <a:xfrm>
            <a:off x="0" y="4914900"/>
            <a:ext cx="9144000" cy="2286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4320" y="4754880"/>
            <a:ext cx="2743200" cy="274320"/>
          </a:xfrm>
          <a:prstGeom prst="rect">
            <a:avLst/>
          </a:prstGeom>
          <a:noFill/>
        </p:spPr>
        <p:txBody>
          <a:bodyPr wrap="square">
            <a:spAutoFit/>
          </a:bodyPr>
          <a:lstStyle/>
          <a:p>
            <a:pPr algn="l">
              <a:defRPr sz="800" b="0">
                <a:solidFill>
                  <a:srgbClr val="FFFFFF"/>
                </a:solidFill>
              </a:defRPr>
            </a:pPr>
            <a:r>
              <a:t>H A R M O N I C   i n s i g h t</a:t>
            </a:r>
          </a:p>
        </p:txBody>
      </p:sp>
      <p:sp>
        <p:nvSpPr>
          <p:cNvPr id="42" name="TextBox 41"/>
          <p:cNvSpPr txBox="1"/>
          <p:nvPr/>
        </p:nvSpPr>
        <p:spPr>
          <a:xfrm>
            <a:off x="8412480" y="4754880"/>
            <a:ext cx="457200" cy="274320"/>
          </a:xfrm>
          <a:prstGeom prst="rect">
            <a:avLst/>
          </a:prstGeom>
          <a:noFill/>
        </p:spPr>
        <p:txBody>
          <a:bodyPr wrap="square">
            <a:spAutoFit/>
          </a:bodyPr>
          <a:lstStyle/>
          <a:p>
            <a:pPr algn="l">
              <a:defRPr sz="800" b="0">
                <a:solidFill>
                  <a:srgbClr val="FFFFFF"/>
                </a:solidFill>
              </a:defRPr>
            </a:pPr>
            <a:r>
              <a:t>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000" cy="5143500"/>
          </a:xfrm>
          <a:prstGeom prst="rect">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000" y="0"/>
            <a:ext cx="100000" cy="51435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1371600"/>
            <a:ext cx="5029200" cy="914400"/>
          </a:xfrm>
          <a:prstGeom prst="rect">
            <a:avLst/>
          </a:prstGeom>
          <a:noFill/>
        </p:spPr>
        <p:txBody>
          <a:bodyPr wrap="square">
            <a:spAutoFit/>
          </a:bodyPr>
          <a:lstStyle/>
          <a:p>
            <a:pPr algn="l">
              <a:defRPr sz="2800" b="1">
                <a:solidFill>
                  <a:srgbClr val="3C2F1E"/>
                </a:solidFill>
              </a:defRPr>
            </a:pPr>
            <a:r>
              <a:t>ご清聴ありがとうございました</a:t>
            </a:r>
          </a:p>
        </p:txBody>
      </p:sp>
      <p:sp>
        <p:nvSpPr>
          <p:cNvPr id="6" name="TextBox 5"/>
          <p:cNvSpPr txBox="1"/>
          <p:nvPr/>
        </p:nvSpPr>
        <p:spPr>
          <a:xfrm>
            <a:off x="3657600" y="2560320"/>
            <a:ext cx="2743200" cy="548640"/>
          </a:xfrm>
          <a:prstGeom prst="rect">
            <a:avLst/>
          </a:prstGeom>
          <a:noFill/>
        </p:spPr>
        <p:txBody>
          <a:bodyPr wrap="square">
            <a:spAutoFit/>
          </a:bodyPr>
          <a:lstStyle/>
          <a:p>
            <a:pPr algn="l">
              <a:defRPr sz="1400" b="0">
                <a:solidFill>
                  <a:srgbClr val="3C2F1E"/>
                </a:solidFill>
              </a:defRPr>
            </a:pPr>
            <a:r>
              <a:t>H A R M O N I C</a:t>
            </a:r>
          </a:p>
        </p:txBody>
      </p:sp>
      <p:sp>
        <p:nvSpPr>
          <p:cNvPr id="7" name="TextBox 6"/>
          <p:cNvSpPr txBox="1"/>
          <p:nvPr/>
        </p:nvSpPr>
        <p:spPr>
          <a:xfrm>
            <a:off x="5486400" y="2560320"/>
            <a:ext cx="2743200" cy="548640"/>
          </a:xfrm>
          <a:prstGeom prst="rect">
            <a:avLst/>
          </a:prstGeom>
          <a:noFill/>
        </p:spPr>
        <p:txBody>
          <a:bodyPr wrap="square">
            <a:spAutoFit/>
          </a:bodyPr>
          <a:lstStyle/>
          <a:p>
            <a:pPr algn="l">
              <a:defRPr sz="1400" b="0">
                <a:solidFill>
                  <a:srgbClr val="C9A84C"/>
                </a:solidFill>
              </a:defRPr>
            </a:pPr>
            <a:r>
              <a:t>i n s i g h t</a:t>
            </a:r>
          </a:p>
        </p:txBody>
      </p:sp>
      <p:sp>
        <p:nvSpPr>
          <p:cNvPr id="8" name="TextBox 7"/>
          <p:cNvSpPr txBox="1"/>
          <p:nvPr/>
        </p:nvSpPr>
        <p:spPr>
          <a:xfrm>
            <a:off x="3657600" y="3200400"/>
            <a:ext cx="5029200" cy="457200"/>
          </a:xfrm>
          <a:prstGeom prst="rect">
            <a:avLst/>
          </a:prstGeom>
          <a:noFill/>
        </p:spPr>
        <p:txBody>
          <a:bodyPr wrap="square">
            <a:spAutoFit/>
          </a:bodyPr>
          <a:lstStyle/>
          <a:p>
            <a:pPr algn="l">
              <a:defRPr sz="1400" b="0">
                <a:solidFill>
                  <a:srgbClr val="8B7355"/>
                </a:solidFill>
              </a:defRPr>
            </a:pPr>
            <a:r>
              <a:t>未来を知り、共に歩む。</a:t>
            </a:r>
          </a:p>
        </p:txBody>
      </p:sp>
      <p:sp>
        <p:nvSpPr>
          <p:cNvPr id="9" name="TextBox 8"/>
          <p:cNvSpPr txBox="1"/>
          <p:nvPr/>
        </p:nvSpPr>
        <p:spPr>
          <a:xfrm>
            <a:off x="3657600" y="3931920"/>
            <a:ext cx="4572000" cy="274320"/>
          </a:xfrm>
          <a:prstGeom prst="rect">
            <a:avLst/>
          </a:prstGeom>
          <a:noFill/>
        </p:spPr>
        <p:txBody>
          <a:bodyPr wrap="square">
            <a:spAutoFit/>
          </a:bodyPr>
          <a:lstStyle/>
          <a:p>
            <a:pPr algn="l">
              <a:defRPr sz="1000" b="0">
                <a:solidFill>
                  <a:srgbClr val="8B7355"/>
                </a:solidFill>
              </a:defRPr>
            </a:pPr>
            <a:r>
              <a:t>Harmonic Insight 2026年3月12日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