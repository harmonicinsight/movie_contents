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1.xml" ContentType="application/vnd.openxmlformats-officedocument.drawingml.chart+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8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5"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685" autoAdjust="0"/>
  </p:normalViewPr>
  <p:slideViewPr>
    <p:cSldViewPr snapToGrid="0" snapToObjects="1">
      <p:cViewPr varScale="1">
        <p:scale>
          <a:sx n="102" d="100"/>
          <a:sy n="102" d="100"/>
        </p:scale>
        <p:origin x="420"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管理コスト比較</c:v>
                </c:pt>
              </c:strCache>
            </c:strRef>
          </c:tx>
          <c:spPr>
            <a:solidFill>
              <a:srgbClr val="C0504D"/>
            </a:solidFill>
            <a:effectLst/>
          </c:spPr>
          <c:invertIfNegative val="0"/>
          <c:cat>
            <c:strRef>
              <c:f>Sheet1!$A$2:$A$5</c:f>
              <c:strCache>
                <c:ptCount val="4"/>
                <c:pt idx="0">
                  <c:v>導入コスト</c:v>
                </c:pt>
                <c:pt idx="1">
                  <c:v>運用コスト</c:v>
                </c:pt>
                <c:pt idx="2">
                  <c:v>更新コスト</c:v>
                </c:pt>
                <c:pt idx="3">
                  <c:v>拡張性</c:v>
                </c:pt>
              </c:strCache>
            </c:strRef>
          </c:cat>
          <c:val>
            <c:numRef>
              <c:f>Sheet1!$B$2:$B$5</c:f>
              <c:numCache>
                <c:formatCode>General</c:formatCode>
                <c:ptCount val="4"/>
                <c:pt idx="0">
                  <c:v>3</c:v>
                </c:pt>
                <c:pt idx="1">
                  <c:v>5</c:v>
                </c:pt>
                <c:pt idx="2">
                  <c:v>8</c:v>
                </c:pt>
                <c:pt idx="3">
                  <c:v>3</c:v>
                </c:pt>
              </c:numCache>
            </c:numRef>
          </c:val>
          <c:extLst>
            <c:ext xmlns:c16="http://schemas.microsoft.com/office/drawing/2014/chart" uri="{C3380CC4-5D6E-409C-BE32-E72D297353CC}">
              <c16:uniqueId val="{00000000-EF7C-48EB-B9AF-D5DCFBDC095B}"/>
            </c:ext>
          </c:extLst>
        </c:ser>
        <c:ser>
          <c:idx val="1"/>
          <c:order val="1"/>
          <c:tx>
            <c:strRef>
              <c:f>Sheet1!$C$1</c:f>
              <c:strCache>
                <c:ptCount val="1"/>
                <c:pt idx="0">
                  <c:v>WEB型（3層）</c:v>
                </c:pt>
              </c:strCache>
            </c:strRef>
          </c:tx>
          <c:spPr>
            <a:solidFill>
              <a:srgbClr val="4F81BD"/>
            </a:solidFill>
            <a:effectLst/>
          </c:spPr>
          <c:invertIfNegative val="0"/>
          <c:cat>
            <c:strRef>
              <c:f>Sheet1!$A$2:$A$5</c:f>
              <c:strCache>
                <c:ptCount val="4"/>
                <c:pt idx="0">
                  <c:v>導入コスト</c:v>
                </c:pt>
                <c:pt idx="1">
                  <c:v>運用コスト</c:v>
                </c:pt>
                <c:pt idx="2">
                  <c:v>更新コスト</c:v>
                </c:pt>
                <c:pt idx="3">
                  <c:v>拡張性</c:v>
                </c:pt>
              </c:strCache>
            </c:strRef>
          </c:cat>
          <c:val>
            <c:numRef>
              <c:f>Sheet1!$C$2:$C$5</c:f>
              <c:numCache>
                <c:formatCode>General</c:formatCode>
                <c:ptCount val="4"/>
                <c:pt idx="0">
                  <c:v>5</c:v>
                </c:pt>
                <c:pt idx="1">
                  <c:v>3</c:v>
                </c:pt>
                <c:pt idx="2">
                  <c:v>2</c:v>
                </c:pt>
                <c:pt idx="3">
                  <c:v>8</c:v>
                </c:pt>
              </c:numCache>
            </c:numRef>
          </c:val>
          <c:extLst>
            <c:ext xmlns:c16="http://schemas.microsoft.com/office/drawing/2014/chart" uri="{C3380CC4-5D6E-409C-BE32-E72D297353CC}">
              <c16:uniqueId val="{00000001-EF7C-48EB-B9AF-D5DCFBDC095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0"/>
        <c:ser>
          <c:idx val="0"/>
          <c:order val="0"/>
          <c:tx>
            <c:strRef>
              <c:f>Sheet1!$B$1</c:f>
              <c:strCache>
                <c:ptCount val="1"/>
                <c:pt idx="0">
                  <c:v>スタンドアロン</c:v>
                </c:pt>
              </c:strCache>
            </c:strRef>
          </c:tx>
          <c:spPr>
            <a:solidFill>
              <a:srgbClr val="D4C89A"/>
            </a:solidFill>
            <a:effectLst/>
          </c:spPr>
          <c:invertIfNegative val="0"/>
          <c:cat>
            <c:strRef>
              <c:f>Sheet1!$A$2:$A$6</c:f>
              <c:strCache>
                <c:ptCount val="5"/>
                <c:pt idx="0">
                  <c:v>導入容易さ</c:v>
                </c:pt>
                <c:pt idx="1">
                  <c:v>運用コスト</c:v>
                </c:pt>
                <c:pt idx="2">
                  <c:v>更新容易さ</c:v>
                </c:pt>
                <c:pt idx="3">
                  <c:v>拡張性</c:v>
                </c:pt>
                <c:pt idx="4">
                  <c:v>セキュリティ</c:v>
                </c:pt>
              </c:strCache>
            </c:strRef>
          </c:cat>
          <c:val>
            <c:numRef>
              <c:f>Sheet1!$B$2:$B$6</c:f>
              <c:numCache>
                <c:formatCode>General</c:formatCode>
                <c:ptCount val="5"/>
                <c:pt idx="0">
                  <c:v>9</c:v>
                </c:pt>
                <c:pt idx="1">
                  <c:v>8</c:v>
                </c:pt>
                <c:pt idx="2">
                  <c:v>2</c:v>
                </c:pt>
                <c:pt idx="3">
                  <c:v>1</c:v>
                </c:pt>
                <c:pt idx="4">
                  <c:v>7</c:v>
                </c:pt>
              </c:numCache>
            </c:numRef>
          </c:val>
          <c:extLst>
            <c:ext xmlns:c16="http://schemas.microsoft.com/office/drawing/2014/chart" uri="{C3380CC4-5D6E-409C-BE32-E72D297353CC}">
              <c16:uniqueId val="{00000000-A7E4-458C-9933-7BCBAA62C4B7}"/>
            </c:ext>
          </c:extLst>
        </c:ser>
        <c:ser>
          <c:idx val="1"/>
          <c:order val="1"/>
          <c:tx>
            <c:strRef>
              <c:f>Sheet1!$C$1</c:f>
              <c:strCache>
                <c:ptCount val="1"/>
                <c:pt idx="0">
                  <c:v>CS型（2層）</c:v>
                </c:pt>
              </c:strCache>
            </c:strRef>
          </c:tx>
          <c:spPr>
            <a:solidFill>
              <a:srgbClr val="8B7536"/>
            </a:solidFill>
            <a:effectLst/>
          </c:spPr>
          <c:invertIfNegative val="0"/>
          <c:cat>
            <c:strRef>
              <c:f>Sheet1!$A$2:$A$6</c:f>
              <c:strCache>
                <c:ptCount val="5"/>
                <c:pt idx="0">
                  <c:v>導入容易さ</c:v>
                </c:pt>
                <c:pt idx="1">
                  <c:v>運用コスト</c:v>
                </c:pt>
                <c:pt idx="2">
                  <c:v>更新容易さ</c:v>
                </c:pt>
                <c:pt idx="3">
                  <c:v>拡張性</c:v>
                </c:pt>
                <c:pt idx="4">
                  <c:v>セキュリティ</c:v>
                </c:pt>
              </c:strCache>
            </c:strRef>
          </c:cat>
          <c:val>
            <c:numRef>
              <c:f>Sheet1!$C$2:$C$6</c:f>
              <c:numCache>
                <c:formatCode>General</c:formatCode>
                <c:ptCount val="5"/>
                <c:pt idx="0">
                  <c:v>5</c:v>
                </c:pt>
                <c:pt idx="1">
                  <c:v>4</c:v>
                </c:pt>
                <c:pt idx="2">
                  <c:v>3</c:v>
                </c:pt>
                <c:pt idx="3">
                  <c:v>4</c:v>
                </c:pt>
                <c:pt idx="4">
                  <c:v>5</c:v>
                </c:pt>
              </c:numCache>
            </c:numRef>
          </c:val>
          <c:extLst>
            <c:ext xmlns:c16="http://schemas.microsoft.com/office/drawing/2014/chart" uri="{C3380CC4-5D6E-409C-BE32-E72D297353CC}">
              <c16:uniqueId val="{00000001-A7E4-458C-9933-7BCBAA62C4B7}"/>
            </c:ext>
          </c:extLst>
        </c:ser>
        <c:ser>
          <c:idx val="2"/>
          <c:order val="2"/>
          <c:tx>
            <c:strRef>
              <c:f>Sheet1!$D$1</c:f>
              <c:strCache>
                <c:ptCount val="1"/>
                <c:pt idx="0">
                  <c:v>WEB型（3層）</c:v>
                </c:pt>
              </c:strCache>
            </c:strRef>
          </c:tx>
          <c:spPr>
            <a:solidFill>
              <a:srgbClr val="C4A44A"/>
            </a:solidFill>
            <a:effectLst/>
          </c:spPr>
          <c:invertIfNegative val="0"/>
          <c:cat>
            <c:strRef>
              <c:f>Sheet1!$A$2:$A$6</c:f>
              <c:strCache>
                <c:ptCount val="5"/>
                <c:pt idx="0">
                  <c:v>導入容易さ</c:v>
                </c:pt>
                <c:pt idx="1">
                  <c:v>運用コスト</c:v>
                </c:pt>
                <c:pt idx="2">
                  <c:v>更新容易さ</c:v>
                </c:pt>
                <c:pt idx="3">
                  <c:v>拡張性</c:v>
                </c:pt>
                <c:pt idx="4">
                  <c:v>セキュリティ</c:v>
                </c:pt>
              </c:strCache>
            </c:strRef>
          </c:cat>
          <c:val>
            <c:numRef>
              <c:f>Sheet1!$D$2:$D$6</c:f>
              <c:numCache>
                <c:formatCode>General</c:formatCode>
                <c:ptCount val="5"/>
                <c:pt idx="0">
                  <c:v>7</c:v>
                </c:pt>
                <c:pt idx="1">
                  <c:v>6</c:v>
                </c:pt>
                <c:pt idx="2">
                  <c:v>9</c:v>
                </c:pt>
                <c:pt idx="3">
                  <c:v>9</c:v>
                </c:pt>
                <c:pt idx="4">
                  <c:v>6</c:v>
                </c:pt>
              </c:numCache>
            </c:numRef>
          </c:val>
          <c:extLst>
            <c:ext xmlns:c16="http://schemas.microsoft.com/office/drawing/2014/chart" uri="{C3380CC4-5D6E-409C-BE32-E72D297353CC}">
              <c16:uniqueId val="{00000002-A7E4-458C-9933-7BCBAA62C4B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6847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ja-JP" sz="1200" dirty="0"/>
              <a:t>皆さん、本日はHarmonic Insightの勉強会へようこそ。</a:t>
            </a:r>
          </a:p>
          <a:p>
            <a:r>
              <a:rPr lang="ja-JP" altLang="ja-JP" sz="1200" dirty="0"/>
              <a:t>今日のテーマは「システム・インフラ入門編」</a:t>
            </a:r>
            <a:r>
              <a:rPr lang="ja-JP" altLang="ja-JP" sz="1200"/>
              <a:t>です。システム</a:t>
            </a:r>
            <a:r>
              <a:rPr lang="ja-JP" altLang="ja-JP" sz="1200" dirty="0"/>
              <a:t>やインフラの基礎知識をお伝えします。</a:t>
            </a:r>
          </a:p>
          <a:p>
            <a:r>
              <a:rPr lang="ja-JP" altLang="ja-JP" sz="1200" dirty="0"/>
              <a:t>コンサルタントとして、またDX支援のプロとして現場で役立つ知識を一緒に学んでいきましょう。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まず本日の勉強会の目的を確認します。
今日学ぶことは大きく4つです。
1つ目は「インフラとは何か、サーバとは何か」を理解すること。
2つ目は「APIが分かる」こと。引数・戻り値・インタフェースという概念も含みます。
3つ目はWEBの仕組み、4つ目はスタンドアロン型・クライアントサーバ型・WEB型の違いも扱います。
今日終わったとき、これらすべてを自分の言葉で説明できるようになることが目標です。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「インフラ」という言葉、聞いたことはありますか？
ITの文脈でのインフラとは、システムやサービスを動かすための基盤全体を指します。
ハードウェア・ソフトウェア・ネットワークなどの総称です。
建物で例えると「基礎・柱・電気・水道」にあたる部分です。
業務システムが動くための土台がインフラで、これがなければアプリもシステムも動きません。
まずこのイメージを頭に入れておいてください。</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かつてのサーバは、会社のオフィスの一角に物理的に置かれていました。
サーバの物理形態は主に3種類あります。
ラックマウントサーバはラックという棚に横向きに取り付けるタイプで、データセンターでよく見かけます。
ブレードサーバは非常に薄型で、高密度に搭載できる最新型のタイプです。
タワー型サーバはデスクトップPCのような縦置き型で、小規模な環境で使われます。
現在は多くの企業がこれらをサーバールームに集約して管理しています。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「サーバ」と聞くと特別なものに思えるかもしれませんが、基本的な仕組みはパソコンと同じです。
CPUもメモリもストレージも同じ構造で、OSも動いています。
OSの種類は大きく2系統あります。
Windows系はビジネスユーザーに馴染みやすいGUI操作が特徴で、ライセンス費用がかかります。
Linux系はオープンソースで無料ですが、コマンドライン操作が基本で自己責任での運用が求められます。
実際の画面もパソコンと似ており、提供する「機能」が異なるだけです。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ここでサーバの機能面での分類を整理します。
サーバとは、クライアント（ユーザ端末）からの要求に応じて機能やサービスを提供するコンピューターのことです。
重要なポイントは、サーバは画面（UI/UX）を提供するのではなく、あくまで「機能」のみを提供するということです。
提供する機能の種類に応じて呼び方が変わります。
WebサーバはHTTPリクエストを処理し、DBサーバはデータを管理し、メールサーバはメールを配信します。
つまり「何を提供するか」によってサーバの名前が決まるわけです。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次は仮想化技術についてです。
従来は1台のハードウェアに1つのOSしかインストールできませんでした。
つまりサーバ1台に1つの役割しか持たせられなかったため、リソースが無駄になっていました。
仮想化技術（VM：Virtual Machine）の登場により、1台の物理マシン上で複数の仮想マシンを動かせるようになりました。
これによりハードウェアリソースを効率的に共有でき、コスト削減とサーバ統合が実現しました。
物理サーバの台数を減らしながら、より多くのシステムを運用できる革命的な技術です。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仮想化技術をさらに発展させたのがコンテナ技術です。
代表的な実装がDockerです。
VMが「OSごと仮想化する」のに対し、コンテナは「アプリケーションの実行環境だけを仮想化する」技術です。
必要な時にのみアプリケーションを起動して使える状態にできます。
VMと比べて起動が非常に高速で、リソースの無駄が少なく、トータルコストも削減できます。
現在のクラウドネイティブな開発では標準的な技術となっています。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ここまではオンプレミス、つまり会社の中に物理的に設置したサーバの話でした。
ラックマウント、ブレード、タワー型の物理サーバ。
仮想化でリソースを効率利用する仕組み。
コンテナでアプリケーション実行環境を軽量化する仕組み。
これらはすべて「自社内にあるサーバ」の話です。
ここからは「クラウド」について学んでいきましょう。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クラウドという言葉はよく聞くと思いますが、その本質はシンプルです。
クラウドとは、ネットワーク経由で他人のサーバやアプリケーションを使えるようにした技術のことです。
自社でサーバを購入・設置・管理する必要がなくなります。
必要な時に必要な分だけ利用料を支払って使えるモデルです。
インターネット接続さえあれば世界中どこからでも利用でき、スケールアップもダウンも即座に行えます。
コンサルタントの立場では「オンプレミスかクラウドか」はDX提案の重要な論点になります。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クラウドサービスは、どこまでをクラウド事業者に任せるかによって3種類に分類されます。
IaaS（インフラアズアサービス）は、サーバやネットワークのインフラ部分を提供します。OSから上は自分で管理します。
PaaS（プラットフォームアズアサービス）は、開発・実行環境まで提供します。アプリケーションコードだけ書けばよい状態です。
SaaS（ソフトウェアアズアサービス）は、完成したアプリケーションをそのまま使えます。GmailやOffice365がこれにあたります。
建設業のDX支援では、SaaSの導入支援（施工管理システム等）が多くの場面で登場します。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ここまででサーバとクラウドの基礎を学びました。
物理サーバ→仮想化→コンテナという流れと、オンプレミスからクラウドへの移行の背景が理解できたと思います。
IaaS・PaaS・SaaSの違いも整理できました。
次のセクションからは、システムの仕組みとAPIについて説明します。</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ここからはシステムの仕組みとAPIについて学びます。
APIと聞くと難しそうに思えますが、実は数学の関数と同じ考え方です。
まず「関数」という概念から入ることで、APIの本質をシンプルに理解できるようにします。
y＝f(x)という中学数学の式を覚えていますか？　そこから始めましょう。</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数学の関数を思い出してください。y＝f(x)という式です。
xを入力として受け取り、何らかの処理を行って、yという結果を返す仕組みです。
これをプログラム的に書くと、Function(x){ z = x*x; Return z } となります。
xを2乗してzとして返す関数です。
複数の入力を受け取ることもできます。Function(x,y,z){ a = x+y+z; Return a }
ここで重要な用語を覚えてください。関数に渡す変数が「引数」、返ってくる結果が「戻り値」です。</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前のスライドで見た関数の概念から、IPO（Input-Process-Output）のフレームワークを理解します。
「引数（ひきすう）」は関数に渡す変数＝Input。「処理」は関数の実行＝Process。「戻り値（もどりち）」は返される結果＝Output。
画面操作との対応で考えると、ユーザーが画面で入力→引数として関数に渡される→関数が計算→結果が画面に表示される流れです。
これがIPOの基本構造であり、Erikさんが提唱する「Function First Design」の核心です。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さらに具体的に処理の内容を見ていきましょう。
ユーザーが計算ボタンを押すと、サーバ側でプログラムが実行されます。
f(x)の関数は「入力値を2乗にして返す処理」を行います。
f(x,y,z)の関数は「渡された3つの変数を足して返す処理」を行います。
ユーザーは「ボタンを押す」という操作しか知らなくて良く、内部の処理はサーバ側で完結します。
これが「関数」「引数」「戻り値」という概念のシステムへの応用です。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ここで「クライアント」と「サーバ」という言葉を正式に定義します。
クライアントとは、処理を要求するコンピューターのことです。ユーザーが操作する端末やブラウザがこれにあたります。
サーバとは、その要求を受けて処理（関数の実行）を行うコンピューターのことです。
引数に渡せるのは数字だけではありません。文字、画像、音楽、動画などあらゆるデータを引数として渡せます。
あらゆるWebサービスやアプリは、この「引数を受け取って処理して戻り値を返す」仕組みの組み合わせで成り立っています。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ここまでの関数・引数・戻り値・クライアント・サーバという概念が、WEBの世界でどのように実現されているかを整理します。
関数はサーバ上のプログラムとして実装されています。引数はURLパラメータまたはリクエストのボディとして渡されます。
戻り値はレスポンスデータ（HTML・JSONなど）として返ってきます。
ブラウザにURLを入力すると、DNS解決→リクエスト送信→サーバ処理→レスポンス返却→画面表示という流れで動きます。</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WEBでは引数をURLに付けてサーバに渡します。
検索エンジンで検索したとき「?q=キーワード」の部分が引数（GETパラメータ）です。
HTTPメソッドはGET（データ取得）とPOST（データ送信）が主な2種類。
GETはURLにパラメータが見える。POSTはリクエスト本文に含まれURLには見えません。
その他にPUT（更新）やDELETE（削除）もあります。</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APIとはApplication Programming Interfaceの略で、アプリケーション同士が通信するための「窓口」のことです。
WEBの文脈では、URLを通じてサーバの機能を呼び出す仕組みのことをAPIと呼びます。
REST APIでは、GET（取得）POST（作成）PUT（更新）DELETE（削除）の4つのHTTPメソッドを使います。
コンサルタントの立場では「このシステムはAPIを公開していますか？」という確認が外部システム連携を議論する際の基本質問になります。</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APIの具体例としてAutodesk Construction Cloud（ACC）のAPIを紹介します。
AutodeskはAPS（Autodesk Platform Services）を通じて建設クラウドの機能をAPI公開しています。
外部アプリからACCのデータにアクセスでき、基幹システム連携やダッシュボード構築に活用されます。
SwaggerはAPIの仕様書を自動生成しブラウザ上でテスト実行できるツールです。
「APIドキュメントはSwaggerで公開されていますか？」と確認できると開発チームとの会話がスムーズです。</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マイクロサービスアーキテクチャとは、業務単位で分割された独立したサービスの集合体です。
各サービスはAPIを通じて連携します。
メリットは独立開発・デプロイ、障害の局所化、技術スタックの柔軟な選択です。
反対語はモノリシック（一枚岩）アーキテクチャ。
建設業の基幹システムはモノリシックが多く、マイクロサービス化はDXの大きなテーマです。</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システム構成図とアーキテクチャ図は、システム開発・提案で必ず登場する重要な資料です。
システム構成図はHW・SW・ネットワークの構成を視覚化したもの。アーキテクチャ図は論理的な設計構造を示す図です。
FPTのアプローチでは5層構成：共通基盤→データ基盤→ビジネスロジック→アプリケーション→外部連携。
As-Is（現状）とTo-Be（あるべき姿）の構成図を描けることがコンサルタントの重要スキルです。</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クライアント・サーバ構成の歴史を振り返ります。
かつては全PCにアプリをインストールし、DBサーバに直接接続する2層型が一般的でした。
CADソフト等の重いアプリケーションは今でもこの方式が使われています。
最大の課題はバージョンアップ時に全PCへの再インストールが必要なこと。管理コストが非常に大きくなります。</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現在主流のWEB型・3層型アーキテクチャについて説明します。
プレゼンテーション層（ブラウザ）・アプリケーション層（Webサーバ）・データ層（DBサーバ）の3層構造。
最大のメリットはバージョンアップがサーバ側だけで済むこと。
デメリットはネットワーク必須のためオフライン不可、速度がネットワーク状況に依存すること。
建設現場でのシステム導入では、このオフライン問題が重要な考慮点となります。</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3つのアーキテクチャを比較します。
スタンドアロン型は導入は簡単だが更新・拡張が困難。
CS型（2層）はバランスが取れているが更新コストが課題。
WEB型（3層）は更新容易・拡張性に優れるがネットワーク依存。
建設DXでは現場環境やシステム規模に応じた最適な選定が求められます。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本日の学びを振り返ります。
インフラはシステムの土台、サーバは機能提供するコンピュータ。物理→仮想→コンテナと進化しました。
クラウドは他者のサーバをネット経由で利用する技術。IaaS/PaaS/SaaSの3分類があります。
APIは引数→処理→戻り値のIPO構造。すべてのシステムの基本です。
アーキテクチャは2層→3層、マイクロサービスの流れ。
「関数＝API」「引数＝パラメータ」「戻り値＝レスポンス」を覚えておいてください。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dirty="0" err="1"/>
              <a:t>本日はシステム・インフラ入門編をご受講いただきありがとうございました</a:t>
            </a:r>
            <a:r>
              <a:rPr lang="en-US" altLang="ja-JP" dirty="0"/>
              <a:t>。
インフラの基礎からサーバの種類、仮想化・コンテナ、クラウドの概念、そしてAPIと引数・戻り値という重要な概念まで幅広くカバーしました。
「</a:t>
            </a:r>
            <a:r>
              <a:rPr lang="en-US" altLang="ja-JP" dirty="0" err="1"/>
              <a:t>関数＝API</a:t>
            </a:r>
            <a:r>
              <a:rPr lang="en-US" altLang="ja-JP" dirty="0"/>
              <a:t>」「</a:t>
            </a:r>
            <a:r>
              <a:rPr lang="en-US" altLang="ja-JP" dirty="0" err="1"/>
              <a:t>引数＝パラメータ</a:t>
            </a:r>
            <a:r>
              <a:rPr lang="en-US" altLang="ja-JP" dirty="0"/>
              <a:t>」「</a:t>
            </a:r>
            <a:r>
              <a:rPr lang="en-US" altLang="ja-JP" dirty="0" err="1"/>
              <a:t>戻り値＝レスポンス」の対応関係を覚えておくと、システム開発の議論に参加しやすくなります</a:t>
            </a:r>
            <a:r>
              <a:rPr lang="en-US" altLang="ja-JP" dirty="0"/>
              <a:t>。
</a:t>
            </a:r>
            <a:r>
              <a:rPr lang="en-US" altLang="ja-JP" dirty="0" err="1"/>
              <a:t>次回以降も引き続き学習を深めていきましょう</a:t>
            </a:r>
            <a:r>
              <a:rPr lang="en-US" altLang="ja-JP" dirty="0"/>
              <a:t>。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5.pn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860B"/>
          </a:solidFill>
          <a:ln/>
        </p:spPr>
        <p:txBody>
          <a:bodyPr/>
          <a:lstStyle/>
          <a:p>
            <a:endParaRPr lang="ja-JP" altLang="en-US"/>
          </a:p>
        </p:txBody>
      </p:sp>
      <p:sp>
        <p:nvSpPr>
          <p:cNvPr id="3" name="Shape 1"/>
          <p:cNvSpPr/>
          <p:nvPr/>
        </p:nvSpPr>
        <p:spPr>
          <a:xfrm>
            <a:off x="0" y="5088636"/>
            <a:ext cx="9144000" cy="54864"/>
          </a:xfrm>
          <a:prstGeom prst="rect">
            <a:avLst/>
          </a:prstGeom>
          <a:solidFill>
            <a:srgbClr val="B8860B"/>
          </a:solidFill>
          <a:ln/>
        </p:spPr>
        <p:txBody>
          <a:bodyPr/>
          <a:lstStyle/>
          <a:p>
            <a:endParaRPr lang="ja-JP" altLang="en-US"/>
          </a:p>
        </p:txBody>
      </p:sp>
      <p:sp>
        <p:nvSpPr>
          <p:cNvPr id="4" name="Shape 2"/>
          <p:cNvSpPr/>
          <p:nvPr/>
        </p:nvSpPr>
        <p:spPr>
          <a:xfrm>
            <a:off x="4114800" y="1188720"/>
            <a:ext cx="914400" cy="822960"/>
          </a:xfrm>
          <a:prstGeom prst="rect">
            <a:avLst/>
          </a:prstGeom>
          <a:solidFill>
            <a:srgbClr val="F5F0E8"/>
          </a:solidFill>
          <a:ln w="12700">
            <a:solidFill>
              <a:srgbClr val="C4A855"/>
            </a:solidFill>
            <a:prstDash val="solid"/>
          </a:ln>
        </p:spPr>
        <p:txBody>
          <a:bodyPr/>
          <a:lstStyle/>
          <a:p>
            <a:endParaRPr lang="ja-JP" altLang="en-US"/>
          </a:p>
        </p:txBody>
      </p:sp>
      <p:sp>
        <p:nvSpPr>
          <p:cNvPr id="5" name="Text 3"/>
          <p:cNvSpPr/>
          <p:nvPr/>
        </p:nvSpPr>
        <p:spPr>
          <a:xfrm>
            <a:off x="4114800" y="1188720"/>
            <a:ext cx="914400" cy="822960"/>
          </a:xfrm>
          <a:prstGeom prst="rect">
            <a:avLst/>
          </a:prstGeom>
          <a:noFill/>
          <a:ln/>
        </p:spPr>
        <p:txBody>
          <a:bodyPr wrap="square" lIns="0" tIns="0" rIns="0" bIns="0" rtlCol="0" anchor="ctr"/>
          <a:lstStyle/>
          <a:p>
            <a:pPr marL="0" indent="0" algn="ctr">
              <a:buNone/>
            </a:pPr>
            <a:r>
              <a:rPr lang="en-US" sz="2200" dirty="0">
                <a:solidFill>
                  <a:srgbClr val="C9A84C"/>
                </a:solidFill>
                <a:latin typeface="Georgia" pitchFamily="34" charset="0"/>
                <a:ea typeface="Georgia" pitchFamily="34" charset="-122"/>
                <a:cs typeface="Georgia" pitchFamily="34" charset="-120"/>
              </a:rPr>
              <a:t>Hi</a:t>
            </a:r>
            <a:endParaRPr lang="en-US" sz="2200" dirty="0"/>
          </a:p>
        </p:txBody>
      </p:sp>
      <p:sp>
        <p:nvSpPr>
          <p:cNvPr id="6" name="Shape 4"/>
          <p:cNvSpPr/>
          <p:nvPr/>
        </p:nvSpPr>
        <p:spPr>
          <a:xfrm>
            <a:off x="914400" y="2286000"/>
            <a:ext cx="2926080" cy="0"/>
          </a:xfrm>
          <a:prstGeom prst="line">
            <a:avLst/>
          </a:prstGeom>
          <a:noFill/>
          <a:ln w="12700">
            <a:solidFill>
              <a:srgbClr val="C4A855"/>
            </a:solidFill>
            <a:prstDash val="solid"/>
          </a:ln>
        </p:spPr>
        <p:txBody>
          <a:bodyPr/>
          <a:lstStyle/>
          <a:p>
            <a:endParaRPr lang="ja-JP" altLang="en-US"/>
          </a:p>
        </p:txBody>
      </p:sp>
      <p:sp>
        <p:nvSpPr>
          <p:cNvPr id="7" name="Shape 5"/>
          <p:cNvSpPr/>
          <p:nvPr/>
        </p:nvSpPr>
        <p:spPr>
          <a:xfrm>
            <a:off x="5303520" y="2286000"/>
            <a:ext cx="2926080" cy="0"/>
          </a:xfrm>
          <a:prstGeom prst="line">
            <a:avLst/>
          </a:prstGeom>
          <a:noFill/>
          <a:ln w="12700">
            <a:solidFill>
              <a:srgbClr val="C4A855"/>
            </a:solidFill>
            <a:prstDash val="solid"/>
          </a:ln>
        </p:spPr>
        <p:txBody>
          <a:bodyPr/>
          <a:lstStyle/>
          <a:p>
            <a:endParaRPr lang="ja-JP" altLang="en-US"/>
          </a:p>
        </p:txBody>
      </p:sp>
      <p:sp>
        <p:nvSpPr>
          <p:cNvPr id="8" name="Text 6"/>
          <p:cNvSpPr/>
          <p:nvPr/>
        </p:nvSpPr>
        <p:spPr>
          <a:xfrm>
            <a:off x="457200" y="2468880"/>
            <a:ext cx="8229600" cy="914400"/>
          </a:xfrm>
          <a:prstGeom prst="rect">
            <a:avLst/>
          </a:prstGeom>
          <a:noFill/>
          <a:ln/>
        </p:spPr>
        <p:txBody>
          <a:bodyPr wrap="square" lIns="0" tIns="0" rIns="0" bIns="0" rtlCol="0" anchor="ctr"/>
          <a:lstStyle/>
          <a:p>
            <a:pPr algn="ctr"/>
            <a:r>
              <a:rPr lang="ja-JP" altLang="en-US" sz="4000" dirty="0">
                <a:solidFill>
                  <a:srgbClr val="3C2F1E"/>
                </a:solidFill>
                <a:latin typeface="Georgia" pitchFamily="34" charset="0"/>
                <a:ea typeface="Georgia" pitchFamily="34" charset="-122"/>
                <a:cs typeface="Georgia" pitchFamily="34" charset="-120"/>
              </a:rPr>
              <a:t>システム・インフラ入門編</a:t>
            </a:r>
            <a:endParaRPr lang="en-US" altLang="ja-JP" sz="4000" dirty="0"/>
          </a:p>
        </p:txBody>
      </p:sp>
      <p:sp>
        <p:nvSpPr>
          <p:cNvPr id="9" name="Shape 7"/>
          <p:cNvSpPr/>
          <p:nvPr/>
        </p:nvSpPr>
        <p:spPr>
          <a:xfrm>
            <a:off x="2286000" y="3474720"/>
            <a:ext cx="4572000" cy="0"/>
          </a:xfrm>
          <a:prstGeom prst="line">
            <a:avLst/>
          </a:prstGeom>
          <a:noFill/>
          <a:ln w="12700">
            <a:solidFill>
              <a:srgbClr val="C4A855"/>
            </a:solidFill>
            <a:prstDash val="solid"/>
          </a:ln>
        </p:spPr>
        <p:txBody>
          <a:bodyPr/>
          <a:lstStyle/>
          <a:p>
            <a:endParaRPr lang="ja-JP" altLang="en-US"/>
          </a:p>
        </p:txBody>
      </p:sp>
      <p:sp>
        <p:nvSpPr>
          <p:cNvPr id="10" name="Text 8"/>
          <p:cNvSpPr/>
          <p:nvPr/>
        </p:nvSpPr>
        <p:spPr>
          <a:xfrm>
            <a:off x="457200" y="3657600"/>
            <a:ext cx="8229600" cy="365760"/>
          </a:xfrm>
          <a:prstGeom prst="rect">
            <a:avLst/>
          </a:prstGeom>
          <a:noFill/>
          <a:ln/>
        </p:spPr>
        <p:txBody>
          <a:bodyPr wrap="square" lIns="0" tIns="0" rIns="0" bIns="0" rtlCol="0" anchor="ctr"/>
          <a:lstStyle/>
          <a:p>
            <a:pPr marL="0" indent="0" algn="ctr">
              <a:buNone/>
            </a:pPr>
            <a:r>
              <a:rPr lang="en-US" sz="1400" kern="0" spc="600" dirty="0">
                <a:solidFill>
                  <a:srgbClr val="3C2F1E"/>
                </a:solidFill>
                <a:latin typeface="Calibri" pitchFamily="34" charset="0"/>
                <a:ea typeface="Calibri" pitchFamily="34" charset="-122"/>
                <a:cs typeface="Calibri" pitchFamily="34" charset="-120"/>
              </a:rPr>
              <a:t>H A R M O N I C</a:t>
            </a:r>
            <a:endParaRPr lang="en-US" sz="1400" dirty="0"/>
          </a:p>
        </p:txBody>
      </p:sp>
      <p:sp>
        <p:nvSpPr>
          <p:cNvPr id="11" name="Text 9"/>
          <p:cNvSpPr/>
          <p:nvPr/>
        </p:nvSpPr>
        <p:spPr>
          <a:xfrm>
            <a:off x="457200" y="3977640"/>
            <a:ext cx="8229600" cy="320040"/>
          </a:xfrm>
          <a:prstGeom prst="rect">
            <a:avLst/>
          </a:prstGeom>
          <a:noFill/>
          <a:ln/>
        </p:spPr>
        <p:txBody>
          <a:bodyPr wrap="square" lIns="0" tIns="0" rIns="0" bIns="0" rtlCol="0" anchor="ctr"/>
          <a:lstStyle/>
          <a:p>
            <a:pPr marL="0" indent="0" algn="ctr">
              <a:buNone/>
            </a:pPr>
            <a:r>
              <a:rPr lang="en-US" sz="1400" i="1" kern="0" spc="400" dirty="0">
                <a:solidFill>
                  <a:srgbClr val="C9A84C"/>
                </a:solidFill>
                <a:latin typeface="Calibri" pitchFamily="34" charset="0"/>
                <a:ea typeface="Calibri" pitchFamily="34" charset="-122"/>
                <a:cs typeface="Calibri" pitchFamily="34" charset="-120"/>
              </a:rPr>
              <a:t>i n s i g h t</a:t>
            </a:r>
            <a:endParaRPr lang="en-US" sz="1400" dirty="0"/>
          </a:p>
        </p:txBody>
      </p:sp>
      <p:sp>
        <p:nvSpPr>
          <p:cNvPr id="12" name="Text 10"/>
          <p:cNvSpPr/>
          <p:nvPr/>
        </p:nvSpPr>
        <p:spPr>
          <a:xfrm>
            <a:off x="457200" y="4389120"/>
            <a:ext cx="8229600" cy="320040"/>
          </a:xfrm>
          <a:prstGeom prst="rect">
            <a:avLst/>
          </a:prstGeom>
          <a:noFill/>
          <a:ln/>
        </p:spPr>
        <p:txBody>
          <a:bodyPr wrap="square" lIns="0" tIns="0" rIns="0" bIns="0" rtlCol="0" anchor="ctr"/>
          <a:lstStyle/>
          <a:p>
            <a:pPr marL="0" indent="0" algn="ctr">
              <a:buNone/>
            </a:pPr>
            <a:r>
              <a:rPr lang="en-US" sz="1000" dirty="0">
                <a:solidFill>
                  <a:srgbClr val="8B7355"/>
                </a:solidFill>
                <a:latin typeface="Calibri" pitchFamily="34" charset="0"/>
                <a:ea typeface="Calibri" pitchFamily="34" charset="-122"/>
                <a:cs typeface="Calibri" pitchFamily="34" charset="-120"/>
              </a:rPr>
              <a:t>Harmonic Insight 2026年3月9日</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今回の勉強会の目的</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457200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本勉強会の学習目標</a:t>
            </a:r>
            <a:endParaRPr lang="en-US" sz="1300" dirty="0"/>
          </a:p>
        </p:txBody>
      </p:sp>
      <p:sp>
        <p:nvSpPr>
          <p:cNvPr id="5" name="Shape 3"/>
          <p:cNvSpPr/>
          <p:nvPr/>
        </p:nvSpPr>
        <p:spPr>
          <a:xfrm>
            <a:off x="457200" y="1371600"/>
            <a:ext cx="3931920" cy="13716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6" name="Shape 4"/>
          <p:cNvSpPr/>
          <p:nvPr/>
        </p:nvSpPr>
        <p:spPr>
          <a:xfrm>
            <a:off x="685800" y="1691640"/>
            <a:ext cx="640080" cy="640080"/>
          </a:xfrm>
          <a:prstGeom prst="ellipse">
            <a:avLst/>
          </a:prstGeom>
          <a:solidFill>
            <a:srgbClr val="F5F0E6"/>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804672" y="1810512"/>
            <a:ext cx="402336" cy="402336"/>
          </a:xfrm>
          <a:prstGeom prst="rect">
            <a:avLst/>
          </a:prstGeom>
        </p:spPr>
      </p:pic>
      <p:sp>
        <p:nvSpPr>
          <p:cNvPr id="8" name="Text 5"/>
          <p:cNvSpPr/>
          <p:nvPr/>
        </p:nvSpPr>
        <p:spPr>
          <a:xfrm>
            <a:off x="1508760" y="1600200"/>
            <a:ext cx="2651760" cy="41148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インフラ・サーバの基礎</a:t>
            </a:r>
            <a:endParaRPr lang="en-US" sz="1400" dirty="0"/>
          </a:p>
        </p:txBody>
      </p:sp>
      <p:sp>
        <p:nvSpPr>
          <p:cNvPr id="9" name="Text 6"/>
          <p:cNvSpPr/>
          <p:nvPr/>
        </p:nvSpPr>
        <p:spPr>
          <a:xfrm>
            <a:off x="1508760" y="2011680"/>
            <a:ext cx="2651760" cy="502920"/>
          </a:xfrm>
          <a:prstGeom prst="rect">
            <a:avLst/>
          </a:prstGeom>
          <a:noFill/>
          <a:ln/>
        </p:spPr>
        <p:txBody>
          <a:bodyPr wrap="square" lIns="0" tIns="0" rIns="0" bIns="0" rtlCol="0" anchor="t"/>
          <a:lstStyle/>
          <a:p>
            <a:pPr marL="0" indent="0">
              <a:buNone/>
            </a:pPr>
            <a:r>
              <a:rPr lang="en-US" sz="1100" dirty="0">
                <a:solidFill>
                  <a:srgbClr val="666666"/>
                </a:solidFill>
                <a:latin typeface="Calibri" pitchFamily="34" charset="0"/>
                <a:ea typeface="Calibri" pitchFamily="34" charset="-122"/>
                <a:cs typeface="Calibri" pitchFamily="34" charset="-120"/>
              </a:rPr>
              <a:t>インフラとは何か、サーバとは何かが分かる</a:t>
            </a:r>
            <a:endParaRPr lang="en-US" sz="1100" dirty="0"/>
          </a:p>
        </p:txBody>
      </p:sp>
      <p:sp>
        <p:nvSpPr>
          <p:cNvPr id="10" name="Shape 7"/>
          <p:cNvSpPr/>
          <p:nvPr/>
        </p:nvSpPr>
        <p:spPr>
          <a:xfrm>
            <a:off x="4663440" y="1371600"/>
            <a:ext cx="3931920" cy="13716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1" name="Shape 8"/>
          <p:cNvSpPr/>
          <p:nvPr/>
        </p:nvSpPr>
        <p:spPr>
          <a:xfrm>
            <a:off x="4892040" y="1691640"/>
            <a:ext cx="640080" cy="640080"/>
          </a:xfrm>
          <a:prstGeom prst="ellipse">
            <a:avLst/>
          </a:prstGeom>
          <a:solidFill>
            <a:srgbClr val="F5F0E6"/>
          </a:solidFill>
          <a:ln/>
        </p:spPr>
        <p:txBody>
          <a:bodyPr/>
          <a:lstStyle/>
          <a:p>
            <a:endParaRPr lang="ja-JP" altLang="en-US"/>
          </a:p>
        </p:txBody>
      </p:sp>
      <p:pic>
        <p:nvPicPr>
          <p:cNvPr id="12" name="Image 1" descr="preencoded.png"/>
          <p:cNvPicPr>
            <a:picLocks noChangeAspect="1"/>
          </p:cNvPicPr>
          <p:nvPr/>
        </p:nvPicPr>
        <p:blipFill>
          <a:blip r:embed="rId4"/>
          <a:stretch>
            <a:fillRect/>
          </a:stretch>
        </p:blipFill>
        <p:spPr>
          <a:xfrm>
            <a:off x="5010912" y="1810512"/>
            <a:ext cx="402336" cy="402336"/>
          </a:xfrm>
          <a:prstGeom prst="rect">
            <a:avLst/>
          </a:prstGeom>
        </p:spPr>
      </p:pic>
      <p:sp>
        <p:nvSpPr>
          <p:cNvPr id="13" name="Text 9"/>
          <p:cNvSpPr/>
          <p:nvPr/>
        </p:nvSpPr>
        <p:spPr>
          <a:xfrm>
            <a:off x="5715000" y="1600200"/>
            <a:ext cx="2651760" cy="41148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APIの理解</a:t>
            </a:r>
            <a:endParaRPr lang="en-US" sz="1400" dirty="0"/>
          </a:p>
        </p:txBody>
      </p:sp>
      <p:sp>
        <p:nvSpPr>
          <p:cNvPr id="14" name="Text 10"/>
          <p:cNvSpPr/>
          <p:nvPr/>
        </p:nvSpPr>
        <p:spPr>
          <a:xfrm>
            <a:off x="5715000" y="2011680"/>
            <a:ext cx="2651760" cy="502920"/>
          </a:xfrm>
          <a:prstGeom prst="rect">
            <a:avLst/>
          </a:prstGeom>
          <a:noFill/>
          <a:ln/>
        </p:spPr>
        <p:txBody>
          <a:bodyPr wrap="square" lIns="0" tIns="0" rIns="0" bIns="0" rtlCol="0" anchor="t"/>
          <a:lstStyle/>
          <a:p>
            <a:pPr marL="0" indent="0">
              <a:buNone/>
            </a:pPr>
            <a:r>
              <a:rPr lang="en-US" sz="1100" dirty="0">
                <a:solidFill>
                  <a:srgbClr val="666666"/>
                </a:solidFill>
                <a:latin typeface="Calibri" pitchFamily="34" charset="0"/>
                <a:ea typeface="Calibri" pitchFamily="34" charset="-122"/>
                <a:cs typeface="Calibri" pitchFamily="34" charset="-120"/>
              </a:rPr>
              <a:t>引数・戻り値・インタフェースの概念を理解する</a:t>
            </a:r>
            <a:endParaRPr lang="en-US" sz="1100" dirty="0"/>
          </a:p>
        </p:txBody>
      </p:sp>
      <p:sp>
        <p:nvSpPr>
          <p:cNvPr id="15" name="Shape 11"/>
          <p:cNvSpPr/>
          <p:nvPr/>
        </p:nvSpPr>
        <p:spPr>
          <a:xfrm>
            <a:off x="457200" y="2971800"/>
            <a:ext cx="3931920" cy="13716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6" name="Shape 12"/>
          <p:cNvSpPr/>
          <p:nvPr/>
        </p:nvSpPr>
        <p:spPr>
          <a:xfrm>
            <a:off x="685800" y="3291840"/>
            <a:ext cx="640080" cy="640080"/>
          </a:xfrm>
          <a:prstGeom prst="ellipse">
            <a:avLst/>
          </a:prstGeom>
          <a:solidFill>
            <a:srgbClr val="F5F0E6"/>
          </a:solidFill>
          <a:ln/>
        </p:spPr>
        <p:txBody>
          <a:bodyPr/>
          <a:lstStyle/>
          <a:p>
            <a:endParaRPr lang="ja-JP" altLang="en-US"/>
          </a:p>
        </p:txBody>
      </p:sp>
      <p:pic>
        <p:nvPicPr>
          <p:cNvPr id="17" name="Image 2" descr="preencoded.png"/>
          <p:cNvPicPr>
            <a:picLocks noChangeAspect="1"/>
          </p:cNvPicPr>
          <p:nvPr/>
        </p:nvPicPr>
        <p:blipFill>
          <a:blip r:embed="rId5"/>
          <a:stretch>
            <a:fillRect/>
          </a:stretch>
        </p:blipFill>
        <p:spPr>
          <a:xfrm>
            <a:off x="804672" y="3410712"/>
            <a:ext cx="402336" cy="402336"/>
          </a:xfrm>
          <a:prstGeom prst="rect">
            <a:avLst/>
          </a:prstGeom>
        </p:spPr>
      </p:pic>
      <p:sp>
        <p:nvSpPr>
          <p:cNvPr id="18" name="Text 13"/>
          <p:cNvSpPr/>
          <p:nvPr/>
        </p:nvSpPr>
        <p:spPr>
          <a:xfrm>
            <a:off x="1508760" y="3200400"/>
            <a:ext cx="2651760" cy="41148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WEBの仕組み</a:t>
            </a:r>
            <a:endParaRPr lang="en-US" sz="1400" dirty="0"/>
          </a:p>
        </p:txBody>
      </p:sp>
      <p:sp>
        <p:nvSpPr>
          <p:cNvPr id="19" name="Text 14"/>
          <p:cNvSpPr/>
          <p:nvPr/>
        </p:nvSpPr>
        <p:spPr>
          <a:xfrm>
            <a:off x="1508760" y="3611880"/>
            <a:ext cx="2651760" cy="502920"/>
          </a:xfrm>
          <a:prstGeom prst="rect">
            <a:avLst/>
          </a:prstGeom>
          <a:noFill/>
          <a:ln/>
        </p:spPr>
        <p:txBody>
          <a:bodyPr wrap="square" lIns="0" tIns="0" rIns="0" bIns="0" rtlCol="0" anchor="t"/>
          <a:lstStyle/>
          <a:p>
            <a:pPr marL="0" indent="0">
              <a:buNone/>
            </a:pPr>
            <a:r>
              <a:rPr lang="en-US" sz="1100" dirty="0">
                <a:solidFill>
                  <a:srgbClr val="666666"/>
                </a:solidFill>
                <a:latin typeface="Calibri" pitchFamily="34" charset="0"/>
                <a:ea typeface="Calibri" pitchFamily="34" charset="-122"/>
                <a:cs typeface="Calibri" pitchFamily="34" charset="-120"/>
              </a:rPr>
              <a:t>WEBがどのように動くかの基本構造を学ぶ</a:t>
            </a:r>
            <a:endParaRPr lang="en-US" sz="1100" dirty="0"/>
          </a:p>
        </p:txBody>
      </p:sp>
      <p:sp>
        <p:nvSpPr>
          <p:cNvPr id="20" name="Shape 15"/>
          <p:cNvSpPr/>
          <p:nvPr/>
        </p:nvSpPr>
        <p:spPr>
          <a:xfrm>
            <a:off x="4663440" y="2971800"/>
            <a:ext cx="3931920" cy="13716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21" name="Shape 16"/>
          <p:cNvSpPr/>
          <p:nvPr/>
        </p:nvSpPr>
        <p:spPr>
          <a:xfrm>
            <a:off x="4892040" y="3291840"/>
            <a:ext cx="640080" cy="640080"/>
          </a:xfrm>
          <a:prstGeom prst="ellipse">
            <a:avLst/>
          </a:prstGeom>
          <a:solidFill>
            <a:srgbClr val="F5F0E6"/>
          </a:solidFill>
          <a:ln/>
        </p:spPr>
        <p:txBody>
          <a:bodyPr/>
          <a:lstStyle/>
          <a:p>
            <a:endParaRPr lang="ja-JP" altLang="en-US"/>
          </a:p>
        </p:txBody>
      </p:sp>
      <p:pic>
        <p:nvPicPr>
          <p:cNvPr id="22" name="Image 3" descr="preencoded.png"/>
          <p:cNvPicPr>
            <a:picLocks noChangeAspect="1"/>
          </p:cNvPicPr>
          <p:nvPr/>
        </p:nvPicPr>
        <p:blipFill>
          <a:blip r:embed="rId6"/>
          <a:stretch>
            <a:fillRect/>
          </a:stretch>
        </p:blipFill>
        <p:spPr>
          <a:xfrm>
            <a:off x="5010912" y="3410712"/>
            <a:ext cx="402336" cy="402336"/>
          </a:xfrm>
          <a:prstGeom prst="rect">
            <a:avLst/>
          </a:prstGeom>
        </p:spPr>
      </p:pic>
      <p:sp>
        <p:nvSpPr>
          <p:cNvPr id="23" name="Text 17"/>
          <p:cNvSpPr/>
          <p:nvPr/>
        </p:nvSpPr>
        <p:spPr>
          <a:xfrm>
            <a:off x="5715000" y="3200400"/>
            <a:ext cx="2651760" cy="41148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システム構成の違い</a:t>
            </a:r>
            <a:endParaRPr lang="en-US" sz="1400" dirty="0"/>
          </a:p>
        </p:txBody>
      </p:sp>
      <p:sp>
        <p:nvSpPr>
          <p:cNvPr id="24" name="Text 18"/>
          <p:cNvSpPr/>
          <p:nvPr/>
        </p:nvSpPr>
        <p:spPr>
          <a:xfrm>
            <a:off x="5715000" y="3611880"/>
            <a:ext cx="2651760" cy="502920"/>
          </a:xfrm>
          <a:prstGeom prst="rect">
            <a:avLst/>
          </a:prstGeom>
          <a:noFill/>
          <a:ln/>
        </p:spPr>
        <p:txBody>
          <a:bodyPr wrap="square" lIns="0" tIns="0" rIns="0" bIns="0" rtlCol="0" anchor="t"/>
          <a:lstStyle/>
          <a:p>
            <a:pPr marL="0" indent="0">
              <a:buNone/>
            </a:pPr>
            <a:r>
              <a:rPr lang="en-US" sz="1100" dirty="0">
                <a:solidFill>
                  <a:srgbClr val="666666"/>
                </a:solidFill>
                <a:latin typeface="Calibri" pitchFamily="34" charset="0"/>
                <a:ea typeface="Calibri" pitchFamily="34" charset="-122"/>
                <a:cs typeface="Calibri" pitchFamily="34" charset="-120"/>
              </a:rPr>
              <a:t>スタンドアロン型・CS型・WEB型の違いを整理</a:t>
            </a:r>
            <a:endParaRPr lang="en-US" sz="1100" dirty="0"/>
          </a:p>
        </p:txBody>
      </p:sp>
      <p:sp>
        <p:nvSpPr>
          <p:cNvPr id="25" name="Shape 19"/>
          <p:cNvSpPr/>
          <p:nvPr/>
        </p:nvSpPr>
        <p:spPr>
          <a:xfrm>
            <a:off x="0" y="4800600"/>
            <a:ext cx="9144000" cy="342900"/>
          </a:xfrm>
          <a:prstGeom prst="rect">
            <a:avLst/>
          </a:prstGeom>
          <a:solidFill>
            <a:srgbClr val="8B7536"/>
          </a:solidFill>
          <a:ln/>
        </p:spPr>
        <p:txBody>
          <a:bodyPr/>
          <a:lstStyle/>
          <a:p>
            <a:endParaRPr lang="ja-JP" altLang="en-US"/>
          </a:p>
        </p:txBody>
      </p:sp>
      <p:sp>
        <p:nvSpPr>
          <p:cNvPr id="26" name="Text 20"/>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7" name="Text 21"/>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インフラとは</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914400"/>
            <a:ext cx="3840480" cy="36576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建物で例えると……</a:t>
            </a:r>
            <a:endParaRPr lang="en-US" sz="1300" dirty="0"/>
          </a:p>
        </p:txBody>
      </p:sp>
      <p:sp>
        <p:nvSpPr>
          <p:cNvPr id="5" name="Shape 3"/>
          <p:cNvSpPr/>
          <p:nvPr/>
        </p:nvSpPr>
        <p:spPr>
          <a:xfrm>
            <a:off x="731520" y="1417320"/>
            <a:ext cx="3291840" cy="457200"/>
          </a:xfrm>
          <a:prstGeom prst="rect">
            <a:avLst/>
          </a:prstGeom>
          <a:solidFill>
            <a:srgbClr val="E8D5A0"/>
          </a:solidFill>
          <a:ln w="6350">
            <a:solidFill>
              <a:srgbClr val="E0D9C8"/>
            </a:solidFill>
            <a:prstDash val="solid"/>
          </a:ln>
        </p:spPr>
        <p:txBody>
          <a:bodyPr/>
          <a:lstStyle/>
          <a:p>
            <a:endParaRPr lang="ja-JP" altLang="en-US"/>
          </a:p>
        </p:txBody>
      </p:sp>
      <p:sp>
        <p:nvSpPr>
          <p:cNvPr id="6" name="Text 4"/>
          <p:cNvSpPr/>
          <p:nvPr/>
        </p:nvSpPr>
        <p:spPr>
          <a:xfrm>
            <a:off x="731520" y="1417320"/>
            <a:ext cx="3291840" cy="45720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業務アプリ</a:t>
            </a:r>
            <a:endParaRPr lang="en-US" sz="1200" dirty="0"/>
          </a:p>
        </p:txBody>
      </p:sp>
      <p:sp>
        <p:nvSpPr>
          <p:cNvPr id="7" name="Shape 5"/>
          <p:cNvSpPr/>
          <p:nvPr/>
        </p:nvSpPr>
        <p:spPr>
          <a:xfrm>
            <a:off x="731520" y="1965960"/>
            <a:ext cx="3291840" cy="457200"/>
          </a:xfrm>
          <a:prstGeom prst="rect">
            <a:avLst/>
          </a:prstGeom>
          <a:solidFill>
            <a:srgbClr val="D4C89A"/>
          </a:solidFill>
          <a:ln w="6350">
            <a:solidFill>
              <a:srgbClr val="E0D9C8"/>
            </a:solidFill>
            <a:prstDash val="solid"/>
          </a:ln>
        </p:spPr>
        <p:txBody>
          <a:bodyPr/>
          <a:lstStyle/>
          <a:p>
            <a:endParaRPr lang="ja-JP" altLang="en-US"/>
          </a:p>
        </p:txBody>
      </p:sp>
      <p:sp>
        <p:nvSpPr>
          <p:cNvPr id="8" name="Text 6"/>
          <p:cNvSpPr/>
          <p:nvPr/>
        </p:nvSpPr>
        <p:spPr>
          <a:xfrm>
            <a:off x="731520" y="1965960"/>
            <a:ext cx="3291840" cy="45720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ソフトウェア (OS等)</a:t>
            </a:r>
            <a:endParaRPr lang="en-US" sz="1200" dirty="0"/>
          </a:p>
        </p:txBody>
      </p:sp>
      <p:sp>
        <p:nvSpPr>
          <p:cNvPr id="9" name="Shape 7"/>
          <p:cNvSpPr/>
          <p:nvPr/>
        </p:nvSpPr>
        <p:spPr>
          <a:xfrm>
            <a:off x="731520" y="2514600"/>
            <a:ext cx="3291840" cy="457200"/>
          </a:xfrm>
          <a:prstGeom prst="rect">
            <a:avLst/>
          </a:prstGeom>
          <a:solidFill>
            <a:srgbClr val="C0B480"/>
          </a:solidFill>
          <a:ln w="6350">
            <a:solidFill>
              <a:srgbClr val="E0D9C8"/>
            </a:solidFill>
            <a:prstDash val="solid"/>
          </a:ln>
        </p:spPr>
        <p:txBody>
          <a:bodyPr/>
          <a:lstStyle/>
          <a:p>
            <a:endParaRPr lang="ja-JP" altLang="en-US"/>
          </a:p>
        </p:txBody>
      </p:sp>
      <p:sp>
        <p:nvSpPr>
          <p:cNvPr id="10" name="Text 8"/>
          <p:cNvSpPr/>
          <p:nvPr/>
        </p:nvSpPr>
        <p:spPr>
          <a:xfrm>
            <a:off x="731520" y="2514600"/>
            <a:ext cx="3291840" cy="45720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ネットワーク</a:t>
            </a:r>
            <a:endParaRPr lang="en-US" sz="1200" dirty="0"/>
          </a:p>
        </p:txBody>
      </p:sp>
      <p:sp>
        <p:nvSpPr>
          <p:cNvPr id="11" name="Shape 9"/>
          <p:cNvSpPr/>
          <p:nvPr/>
        </p:nvSpPr>
        <p:spPr>
          <a:xfrm>
            <a:off x="731520" y="3063240"/>
            <a:ext cx="3291840" cy="457200"/>
          </a:xfrm>
          <a:prstGeom prst="rect">
            <a:avLst/>
          </a:prstGeom>
          <a:solidFill>
            <a:srgbClr val="8B7536"/>
          </a:solidFill>
          <a:ln w="6350">
            <a:solidFill>
              <a:srgbClr val="E0D9C8"/>
            </a:solidFill>
            <a:prstDash val="solid"/>
          </a:ln>
        </p:spPr>
        <p:txBody>
          <a:bodyPr/>
          <a:lstStyle/>
          <a:p>
            <a:endParaRPr lang="ja-JP" altLang="en-US"/>
          </a:p>
        </p:txBody>
      </p:sp>
      <p:sp>
        <p:nvSpPr>
          <p:cNvPr id="12" name="Text 10"/>
          <p:cNvSpPr/>
          <p:nvPr/>
        </p:nvSpPr>
        <p:spPr>
          <a:xfrm>
            <a:off x="731520" y="3063240"/>
            <a:ext cx="32918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ハードウェア</a:t>
            </a:r>
            <a:endParaRPr lang="en-US" sz="1200" dirty="0"/>
          </a:p>
        </p:txBody>
      </p:sp>
      <p:sp>
        <p:nvSpPr>
          <p:cNvPr id="13" name="Text 11"/>
          <p:cNvSpPr/>
          <p:nvPr/>
        </p:nvSpPr>
        <p:spPr>
          <a:xfrm>
            <a:off x="3657600" y="2423160"/>
            <a:ext cx="1097280" cy="914400"/>
          </a:xfrm>
          <a:prstGeom prst="rect">
            <a:avLst/>
          </a:prstGeom>
          <a:noFill/>
          <a:ln/>
        </p:spPr>
        <p:txBody>
          <a:bodyPr wrap="square" lIns="0" tIns="0" rIns="0" bIns="0" rtlCol="0" anchor="ctr"/>
          <a:lstStyle/>
          <a:p>
            <a:pPr marL="0" indent="0">
              <a:buNone/>
            </a:pPr>
            <a:r>
              <a:rPr lang="en-US" sz="1100" b="1" dirty="0">
                <a:solidFill>
                  <a:srgbClr val="8B7536"/>
                </a:solidFill>
                <a:latin typeface="Calibri" pitchFamily="34" charset="0"/>
                <a:ea typeface="Calibri" pitchFamily="34" charset="-122"/>
                <a:cs typeface="Calibri" pitchFamily="34" charset="-120"/>
              </a:rPr>
              <a:t>← ITインフラ</a:t>
            </a:r>
            <a:endParaRPr lang="en-US" sz="1100" dirty="0"/>
          </a:p>
        </p:txBody>
      </p:sp>
      <p:sp>
        <p:nvSpPr>
          <p:cNvPr id="14" name="Shape 12"/>
          <p:cNvSpPr/>
          <p:nvPr/>
        </p:nvSpPr>
        <p:spPr>
          <a:xfrm>
            <a:off x="4754880" y="914400"/>
            <a:ext cx="3931920" cy="32004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5" name="Text 13"/>
          <p:cNvSpPr/>
          <p:nvPr/>
        </p:nvSpPr>
        <p:spPr>
          <a:xfrm>
            <a:off x="5029200" y="1051560"/>
            <a:ext cx="3383280" cy="365760"/>
          </a:xfrm>
          <a:prstGeom prst="rect">
            <a:avLst/>
          </a:prstGeom>
          <a:noFill/>
          <a:ln/>
        </p:spPr>
        <p:txBody>
          <a:bodyPr wrap="square" lIns="0" tIns="0" rIns="0" bIns="0" rtlCol="0" anchor="ctr"/>
          <a:lstStyle/>
          <a:p>
            <a:pPr marL="0" indent="0">
              <a:buNone/>
            </a:pPr>
            <a:r>
              <a:rPr lang="en-US" sz="1500" b="1" dirty="0">
                <a:solidFill>
                  <a:srgbClr val="8B7536"/>
                </a:solidFill>
                <a:latin typeface="Calibri" pitchFamily="34" charset="0"/>
                <a:ea typeface="Calibri" pitchFamily="34" charset="-122"/>
                <a:cs typeface="Calibri" pitchFamily="34" charset="-120"/>
              </a:rPr>
              <a:t>ITインフラとは</a:t>
            </a:r>
            <a:endParaRPr lang="en-US" sz="1500" dirty="0"/>
          </a:p>
        </p:txBody>
      </p:sp>
      <p:sp>
        <p:nvSpPr>
          <p:cNvPr id="16" name="Text 14"/>
          <p:cNvSpPr/>
          <p:nvPr/>
        </p:nvSpPr>
        <p:spPr>
          <a:xfrm>
            <a:off x="5029200" y="1508760"/>
            <a:ext cx="3383280" cy="822960"/>
          </a:xfrm>
          <a:prstGeom prst="rect">
            <a:avLst/>
          </a:prstGeom>
          <a:noFill/>
          <a:ln/>
        </p:spPr>
        <p:txBody>
          <a:bodyPr wrap="square" lIns="0" tIns="0" rIns="0" bIns="0" rtlCol="0" anchor="t"/>
          <a:lstStyle/>
          <a:p>
            <a:pPr marL="0" indent="0">
              <a:buNone/>
            </a:pPr>
            <a:r>
              <a:rPr lang="en-US" sz="1200" dirty="0">
                <a:solidFill>
                  <a:srgbClr val="333333"/>
                </a:solidFill>
                <a:latin typeface="Calibri" pitchFamily="34" charset="0"/>
                <a:ea typeface="Calibri" pitchFamily="34" charset="-122"/>
                <a:cs typeface="Calibri" pitchFamily="34" charset="-120"/>
              </a:rPr>
              <a:t>システムやサービスを動かすための基盤。</a:t>
            </a:r>
            <a:endParaRPr lang="en-US" sz="1200" dirty="0"/>
          </a:p>
          <a:p>
            <a:pPr marL="0" indent="0">
              <a:buNone/>
            </a:pPr>
            <a:r>
              <a:rPr lang="en-US" sz="1200" dirty="0">
                <a:solidFill>
                  <a:srgbClr val="333333"/>
                </a:solidFill>
                <a:latin typeface="Calibri" pitchFamily="34" charset="0"/>
                <a:ea typeface="Calibri" pitchFamily="34" charset="-122"/>
                <a:cs typeface="Calibri" pitchFamily="34" charset="-120"/>
              </a:rPr>
              <a:t>ハードウェア・ソフトウェア・ネットワークなどの総称。</a:t>
            </a:r>
            <a:endParaRPr lang="en-US" sz="1200" dirty="0"/>
          </a:p>
        </p:txBody>
      </p:sp>
      <p:sp>
        <p:nvSpPr>
          <p:cNvPr id="17" name="Shape 15"/>
          <p:cNvSpPr/>
          <p:nvPr/>
        </p:nvSpPr>
        <p:spPr>
          <a:xfrm>
            <a:off x="5029200" y="2468880"/>
            <a:ext cx="3383280" cy="822960"/>
          </a:xfrm>
          <a:prstGeom prst="rect">
            <a:avLst/>
          </a:prstGeom>
          <a:solidFill>
            <a:srgbClr val="F5F0E6"/>
          </a:solidFill>
          <a:ln/>
        </p:spPr>
        <p:txBody>
          <a:bodyPr/>
          <a:lstStyle/>
          <a:p>
            <a:endParaRPr lang="ja-JP" altLang="en-US"/>
          </a:p>
        </p:txBody>
      </p:sp>
      <p:pic>
        <p:nvPicPr>
          <p:cNvPr id="18" name="Image 0" descr="preencoded.png"/>
          <p:cNvPicPr>
            <a:picLocks noChangeAspect="1"/>
          </p:cNvPicPr>
          <p:nvPr/>
        </p:nvPicPr>
        <p:blipFill>
          <a:blip r:embed="rId3"/>
          <a:stretch>
            <a:fillRect/>
          </a:stretch>
        </p:blipFill>
        <p:spPr>
          <a:xfrm>
            <a:off x="5212080" y="2578608"/>
            <a:ext cx="411480" cy="411480"/>
          </a:xfrm>
          <a:prstGeom prst="rect">
            <a:avLst/>
          </a:prstGeom>
        </p:spPr>
      </p:pic>
      <p:sp>
        <p:nvSpPr>
          <p:cNvPr id="19" name="Text 16"/>
          <p:cNvSpPr/>
          <p:nvPr/>
        </p:nvSpPr>
        <p:spPr>
          <a:xfrm>
            <a:off x="5760720" y="2468880"/>
            <a:ext cx="2468880" cy="822960"/>
          </a:xfrm>
          <a:prstGeom prst="rect">
            <a:avLst/>
          </a:prstGeom>
          <a:noFill/>
          <a:ln/>
        </p:spPr>
        <p:txBody>
          <a:bodyPr wrap="square" lIns="0" tIns="0" rIns="0" bIns="0" rtlCol="0" anchor="ctr"/>
          <a:lstStyle/>
          <a:p>
            <a:pPr marL="0" indent="0">
              <a:buNone/>
            </a:pPr>
            <a:r>
              <a:rPr lang="en-US" sz="1050" dirty="0">
                <a:solidFill>
                  <a:srgbClr val="666666"/>
                </a:solidFill>
                <a:latin typeface="Calibri" pitchFamily="34" charset="0"/>
                <a:ea typeface="Calibri" pitchFamily="34" charset="-122"/>
                <a:cs typeface="Calibri" pitchFamily="34" charset="-120"/>
              </a:rPr>
              <a:t>建物で言えば「基礎・柱・電気・水道」にあたる部分。業務システムが動くための土台です。</a:t>
            </a:r>
            <a:endParaRPr lang="en-US" sz="1050" dirty="0"/>
          </a:p>
        </p:txBody>
      </p:sp>
      <p:sp>
        <p:nvSpPr>
          <p:cNvPr id="20" name="Shape 17"/>
          <p:cNvSpPr/>
          <p:nvPr/>
        </p:nvSpPr>
        <p:spPr>
          <a:xfrm>
            <a:off x="5029200" y="3474720"/>
            <a:ext cx="3383280" cy="457200"/>
          </a:xfrm>
          <a:prstGeom prst="rect">
            <a:avLst/>
          </a:prstGeom>
          <a:solidFill>
            <a:srgbClr val="8B7536"/>
          </a:solidFill>
          <a:ln/>
        </p:spPr>
        <p:txBody>
          <a:bodyPr/>
          <a:lstStyle/>
          <a:p>
            <a:endParaRPr lang="ja-JP" altLang="en-US"/>
          </a:p>
        </p:txBody>
      </p:sp>
      <p:sp>
        <p:nvSpPr>
          <p:cNvPr id="21" name="Text 18"/>
          <p:cNvSpPr/>
          <p:nvPr/>
        </p:nvSpPr>
        <p:spPr>
          <a:xfrm>
            <a:off x="5029200" y="3474720"/>
            <a:ext cx="33832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これがなければアプリもシステムも動かない</a:t>
            </a:r>
            <a:endParaRPr lang="en-US" sz="1100" dirty="0"/>
          </a:p>
        </p:txBody>
      </p:sp>
      <p:sp>
        <p:nvSpPr>
          <p:cNvPr id="22" name="Shape 19"/>
          <p:cNvSpPr/>
          <p:nvPr/>
        </p:nvSpPr>
        <p:spPr>
          <a:xfrm>
            <a:off x="0" y="4800600"/>
            <a:ext cx="9144000" cy="342900"/>
          </a:xfrm>
          <a:prstGeom prst="rect">
            <a:avLst/>
          </a:prstGeom>
          <a:solidFill>
            <a:srgbClr val="8B7536"/>
          </a:solidFill>
          <a:ln/>
        </p:spPr>
        <p:txBody>
          <a:bodyPr/>
          <a:lstStyle/>
          <a:p>
            <a:endParaRPr lang="ja-JP" altLang="en-US"/>
          </a:p>
        </p:txBody>
      </p:sp>
      <p:sp>
        <p:nvSpPr>
          <p:cNvPr id="23" name="Text 20"/>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4" name="Text 21"/>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サーバーの物理形態 ― 3種類</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昔は……会社のその辺にも置いてありました</a:t>
            </a:r>
            <a:endParaRPr lang="en-US" sz="1200" dirty="0"/>
          </a:p>
        </p:txBody>
      </p:sp>
      <p:sp>
        <p:nvSpPr>
          <p:cNvPr id="5" name="Shape 3"/>
          <p:cNvSpPr/>
          <p:nvPr/>
        </p:nvSpPr>
        <p:spPr>
          <a:xfrm>
            <a:off x="457200" y="1371600"/>
            <a:ext cx="2560320" cy="237744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6" name="Shape 4"/>
          <p:cNvSpPr/>
          <p:nvPr/>
        </p:nvSpPr>
        <p:spPr>
          <a:xfrm>
            <a:off x="1280160" y="1554480"/>
            <a:ext cx="822960" cy="822960"/>
          </a:xfrm>
          <a:prstGeom prst="ellipse">
            <a:avLst/>
          </a:prstGeom>
          <a:solidFill>
            <a:srgbClr val="F5F0E6"/>
          </a:solidFill>
          <a:ln/>
        </p:spPr>
        <p:txBody>
          <a:bodyPr/>
          <a:lstStyle/>
          <a:p>
            <a:endParaRPr lang="ja-JP" altLang="en-US"/>
          </a:p>
        </p:txBody>
      </p:sp>
      <p:pic>
        <p:nvPicPr>
          <p:cNvPr id="7" name="Image 0" descr="preencoded.png"/>
          <p:cNvPicPr>
            <a:picLocks noChangeAspect="1"/>
          </p:cNvPicPr>
          <p:nvPr/>
        </p:nvPicPr>
        <p:blipFill>
          <a:blip r:embed="rId3"/>
          <a:stretch>
            <a:fillRect/>
          </a:stretch>
        </p:blipFill>
        <p:spPr>
          <a:xfrm>
            <a:off x="1417320" y="1691640"/>
            <a:ext cx="548640" cy="548640"/>
          </a:xfrm>
          <a:prstGeom prst="rect">
            <a:avLst/>
          </a:prstGeom>
        </p:spPr>
      </p:pic>
      <p:sp>
        <p:nvSpPr>
          <p:cNvPr id="8" name="Text 5"/>
          <p:cNvSpPr/>
          <p:nvPr/>
        </p:nvSpPr>
        <p:spPr>
          <a:xfrm>
            <a:off x="594360" y="2468880"/>
            <a:ext cx="2286000" cy="365760"/>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ラックマウント型</a:t>
            </a:r>
            <a:endParaRPr lang="en-US" sz="1300" dirty="0"/>
          </a:p>
        </p:txBody>
      </p:sp>
      <p:sp>
        <p:nvSpPr>
          <p:cNvPr id="9" name="Text 6"/>
          <p:cNvSpPr/>
          <p:nvPr/>
        </p:nvSpPr>
        <p:spPr>
          <a:xfrm>
            <a:off x="640080" y="2834640"/>
            <a:ext cx="2194560" cy="640080"/>
          </a:xfrm>
          <a:prstGeom prst="rect">
            <a:avLst/>
          </a:prstGeom>
          <a:noFill/>
          <a:ln/>
        </p:spPr>
        <p:txBody>
          <a:bodyPr wrap="square" lIns="0" tIns="0" rIns="0" bIns="0" rtlCol="0" anchor="t"/>
          <a:lstStyle/>
          <a:p>
            <a:pPr marL="0" indent="0" algn="ctr">
              <a:buNone/>
            </a:pPr>
            <a:r>
              <a:rPr lang="en-US" sz="1000" dirty="0">
                <a:solidFill>
                  <a:srgbClr val="666666"/>
                </a:solidFill>
                <a:latin typeface="Calibri" pitchFamily="34" charset="0"/>
                <a:ea typeface="Calibri" pitchFamily="34" charset="-122"/>
                <a:cs typeface="Calibri" pitchFamily="34" charset="-120"/>
              </a:rPr>
              <a:t>ラック（棚）に取り付ける横置き型。データセンターで最も一般的。</a:t>
            </a:r>
            <a:endParaRPr lang="en-US" sz="1000" dirty="0"/>
          </a:p>
        </p:txBody>
      </p:sp>
      <p:sp>
        <p:nvSpPr>
          <p:cNvPr id="10" name="Shape 7"/>
          <p:cNvSpPr/>
          <p:nvPr/>
        </p:nvSpPr>
        <p:spPr>
          <a:xfrm>
            <a:off x="1097280" y="3474720"/>
            <a:ext cx="1280160" cy="228600"/>
          </a:xfrm>
          <a:prstGeom prst="rect">
            <a:avLst/>
          </a:prstGeom>
          <a:solidFill>
            <a:srgbClr val="8B7536"/>
          </a:solidFill>
          <a:ln/>
        </p:spPr>
        <p:txBody>
          <a:bodyPr/>
          <a:lstStyle/>
          <a:p>
            <a:endParaRPr lang="ja-JP" altLang="en-US"/>
          </a:p>
        </p:txBody>
      </p:sp>
      <p:sp>
        <p:nvSpPr>
          <p:cNvPr id="11" name="Text 8"/>
          <p:cNvSpPr/>
          <p:nvPr/>
        </p:nvSpPr>
        <p:spPr>
          <a:xfrm>
            <a:off x="1097280" y="3474720"/>
            <a:ext cx="128016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大規模</a:t>
            </a:r>
            <a:endParaRPr lang="en-US" sz="900" dirty="0"/>
          </a:p>
        </p:txBody>
      </p:sp>
      <p:sp>
        <p:nvSpPr>
          <p:cNvPr id="12" name="Shape 9"/>
          <p:cNvSpPr/>
          <p:nvPr/>
        </p:nvSpPr>
        <p:spPr>
          <a:xfrm>
            <a:off x="3291840" y="1371600"/>
            <a:ext cx="2560320" cy="237744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3" name="Shape 10"/>
          <p:cNvSpPr/>
          <p:nvPr/>
        </p:nvSpPr>
        <p:spPr>
          <a:xfrm>
            <a:off x="4114800" y="1554480"/>
            <a:ext cx="822960" cy="822960"/>
          </a:xfrm>
          <a:prstGeom prst="ellipse">
            <a:avLst/>
          </a:prstGeom>
          <a:solidFill>
            <a:srgbClr val="F5F0E6"/>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4251960" y="1691640"/>
            <a:ext cx="548640" cy="548640"/>
          </a:xfrm>
          <a:prstGeom prst="rect">
            <a:avLst/>
          </a:prstGeom>
        </p:spPr>
      </p:pic>
      <p:sp>
        <p:nvSpPr>
          <p:cNvPr id="15" name="Text 11"/>
          <p:cNvSpPr/>
          <p:nvPr/>
        </p:nvSpPr>
        <p:spPr>
          <a:xfrm>
            <a:off x="3429000" y="2468880"/>
            <a:ext cx="2286000" cy="365760"/>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ブレードサーバ型</a:t>
            </a:r>
            <a:endParaRPr lang="en-US" sz="1300" dirty="0"/>
          </a:p>
        </p:txBody>
      </p:sp>
      <p:sp>
        <p:nvSpPr>
          <p:cNvPr id="16" name="Text 12"/>
          <p:cNvSpPr/>
          <p:nvPr/>
        </p:nvSpPr>
        <p:spPr>
          <a:xfrm>
            <a:off x="3474720" y="2834640"/>
            <a:ext cx="2194560" cy="640080"/>
          </a:xfrm>
          <a:prstGeom prst="rect">
            <a:avLst/>
          </a:prstGeom>
          <a:noFill/>
          <a:ln/>
        </p:spPr>
        <p:txBody>
          <a:bodyPr wrap="square" lIns="0" tIns="0" rIns="0" bIns="0" rtlCol="0" anchor="t"/>
          <a:lstStyle/>
          <a:p>
            <a:pPr marL="0" indent="0" algn="ctr">
              <a:buNone/>
            </a:pPr>
            <a:r>
              <a:rPr lang="en-US" sz="1000" dirty="0">
                <a:solidFill>
                  <a:srgbClr val="666666"/>
                </a:solidFill>
                <a:latin typeface="Calibri" pitchFamily="34" charset="0"/>
                <a:ea typeface="Calibri" pitchFamily="34" charset="-122"/>
                <a:cs typeface="Calibri" pitchFamily="34" charset="-120"/>
              </a:rPr>
              <a:t>薄型で高密度に搭載できるタイプ。省スペース・省電力。</a:t>
            </a:r>
            <a:endParaRPr lang="en-US" sz="1000" dirty="0"/>
          </a:p>
        </p:txBody>
      </p:sp>
      <p:sp>
        <p:nvSpPr>
          <p:cNvPr id="17" name="Shape 13"/>
          <p:cNvSpPr/>
          <p:nvPr/>
        </p:nvSpPr>
        <p:spPr>
          <a:xfrm>
            <a:off x="3931920" y="3474720"/>
            <a:ext cx="1280160" cy="228600"/>
          </a:xfrm>
          <a:prstGeom prst="rect">
            <a:avLst/>
          </a:prstGeom>
          <a:solidFill>
            <a:srgbClr val="8B7536"/>
          </a:solidFill>
          <a:ln/>
        </p:spPr>
        <p:txBody>
          <a:bodyPr/>
          <a:lstStyle/>
          <a:p>
            <a:endParaRPr lang="ja-JP" altLang="en-US"/>
          </a:p>
        </p:txBody>
      </p:sp>
      <p:sp>
        <p:nvSpPr>
          <p:cNvPr id="18" name="Text 14"/>
          <p:cNvSpPr/>
          <p:nvPr/>
        </p:nvSpPr>
        <p:spPr>
          <a:xfrm>
            <a:off x="3931920" y="3474720"/>
            <a:ext cx="128016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超高密度</a:t>
            </a:r>
            <a:endParaRPr lang="en-US" sz="900" dirty="0"/>
          </a:p>
        </p:txBody>
      </p:sp>
      <p:sp>
        <p:nvSpPr>
          <p:cNvPr id="19" name="Shape 15"/>
          <p:cNvSpPr/>
          <p:nvPr/>
        </p:nvSpPr>
        <p:spPr>
          <a:xfrm>
            <a:off x="6126480" y="1371600"/>
            <a:ext cx="2560320" cy="237744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20" name="Shape 16"/>
          <p:cNvSpPr/>
          <p:nvPr/>
        </p:nvSpPr>
        <p:spPr>
          <a:xfrm>
            <a:off x="6949440" y="1554480"/>
            <a:ext cx="822960" cy="822960"/>
          </a:xfrm>
          <a:prstGeom prst="ellipse">
            <a:avLst/>
          </a:prstGeom>
          <a:solidFill>
            <a:srgbClr val="F5F0E6"/>
          </a:solidFill>
          <a:ln/>
        </p:spPr>
        <p:txBody>
          <a:bodyPr/>
          <a:lstStyle/>
          <a:p>
            <a:endParaRPr lang="ja-JP" altLang="en-US"/>
          </a:p>
        </p:txBody>
      </p:sp>
      <p:pic>
        <p:nvPicPr>
          <p:cNvPr id="21" name="Image 2" descr="preencoded.png"/>
          <p:cNvPicPr>
            <a:picLocks noChangeAspect="1"/>
          </p:cNvPicPr>
          <p:nvPr/>
        </p:nvPicPr>
        <p:blipFill>
          <a:blip r:embed="rId5"/>
          <a:stretch>
            <a:fillRect/>
          </a:stretch>
        </p:blipFill>
        <p:spPr>
          <a:xfrm>
            <a:off x="7086600" y="1691640"/>
            <a:ext cx="548640" cy="548640"/>
          </a:xfrm>
          <a:prstGeom prst="rect">
            <a:avLst/>
          </a:prstGeom>
        </p:spPr>
      </p:pic>
      <p:sp>
        <p:nvSpPr>
          <p:cNvPr id="22" name="Text 17"/>
          <p:cNvSpPr/>
          <p:nvPr/>
        </p:nvSpPr>
        <p:spPr>
          <a:xfrm>
            <a:off x="6263640" y="2468880"/>
            <a:ext cx="2286000" cy="365760"/>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タワー型</a:t>
            </a:r>
            <a:endParaRPr lang="en-US" sz="1300" dirty="0"/>
          </a:p>
        </p:txBody>
      </p:sp>
      <p:sp>
        <p:nvSpPr>
          <p:cNvPr id="23" name="Text 18"/>
          <p:cNvSpPr/>
          <p:nvPr/>
        </p:nvSpPr>
        <p:spPr>
          <a:xfrm>
            <a:off x="6309360" y="2834640"/>
            <a:ext cx="2194560" cy="640080"/>
          </a:xfrm>
          <a:prstGeom prst="rect">
            <a:avLst/>
          </a:prstGeom>
          <a:noFill/>
          <a:ln/>
        </p:spPr>
        <p:txBody>
          <a:bodyPr wrap="square" lIns="0" tIns="0" rIns="0" bIns="0" rtlCol="0" anchor="t"/>
          <a:lstStyle/>
          <a:p>
            <a:pPr marL="0" indent="0" algn="ctr">
              <a:buNone/>
            </a:pPr>
            <a:r>
              <a:rPr lang="en-US" sz="1000" dirty="0">
                <a:solidFill>
                  <a:srgbClr val="666666"/>
                </a:solidFill>
                <a:latin typeface="Calibri" pitchFamily="34" charset="0"/>
                <a:ea typeface="Calibri" pitchFamily="34" charset="-122"/>
                <a:cs typeface="Calibri" pitchFamily="34" charset="-120"/>
              </a:rPr>
              <a:t>デスクトップPCのような縦置き型。小規模環境で使われる。</a:t>
            </a:r>
            <a:endParaRPr lang="en-US" sz="1000" dirty="0"/>
          </a:p>
        </p:txBody>
      </p:sp>
      <p:sp>
        <p:nvSpPr>
          <p:cNvPr id="24" name="Shape 19"/>
          <p:cNvSpPr/>
          <p:nvPr/>
        </p:nvSpPr>
        <p:spPr>
          <a:xfrm>
            <a:off x="6766560" y="3474720"/>
            <a:ext cx="1280160" cy="228600"/>
          </a:xfrm>
          <a:prstGeom prst="rect">
            <a:avLst/>
          </a:prstGeom>
          <a:solidFill>
            <a:srgbClr val="8B7536"/>
          </a:solidFill>
          <a:ln/>
        </p:spPr>
        <p:txBody>
          <a:bodyPr/>
          <a:lstStyle/>
          <a:p>
            <a:endParaRPr lang="ja-JP" altLang="en-US"/>
          </a:p>
        </p:txBody>
      </p:sp>
      <p:sp>
        <p:nvSpPr>
          <p:cNvPr id="25" name="Text 20"/>
          <p:cNvSpPr/>
          <p:nvPr/>
        </p:nvSpPr>
        <p:spPr>
          <a:xfrm>
            <a:off x="6766560" y="3474720"/>
            <a:ext cx="1280160" cy="2286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小規模</a:t>
            </a:r>
            <a:endParaRPr lang="en-US" sz="900" dirty="0"/>
          </a:p>
        </p:txBody>
      </p:sp>
      <p:sp>
        <p:nvSpPr>
          <p:cNvPr id="26" name="Shape 21"/>
          <p:cNvSpPr/>
          <p:nvPr/>
        </p:nvSpPr>
        <p:spPr>
          <a:xfrm>
            <a:off x="457200" y="4023360"/>
            <a:ext cx="8229600" cy="502920"/>
          </a:xfrm>
          <a:prstGeom prst="rect">
            <a:avLst/>
          </a:prstGeom>
          <a:solidFill>
            <a:srgbClr val="F5F0E6"/>
          </a:solidFill>
          <a:ln/>
        </p:spPr>
        <p:txBody>
          <a:bodyPr/>
          <a:lstStyle/>
          <a:p>
            <a:endParaRPr lang="ja-JP" altLang="en-US"/>
          </a:p>
        </p:txBody>
      </p:sp>
      <p:pic>
        <p:nvPicPr>
          <p:cNvPr id="27" name="Image 3" descr="preencoded.png"/>
          <p:cNvPicPr>
            <a:picLocks noChangeAspect="1"/>
          </p:cNvPicPr>
          <p:nvPr/>
        </p:nvPicPr>
        <p:blipFill>
          <a:blip r:embed="rId6"/>
          <a:stretch>
            <a:fillRect/>
          </a:stretch>
        </p:blipFill>
        <p:spPr>
          <a:xfrm>
            <a:off x="640080" y="4114800"/>
            <a:ext cx="274320" cy="274320"/>
          </a:xfrm>
          <a:prstGeom prst="rect">
            <a:avLst/>
          </a:prstGeom>
        </p:spPr>
      </p:pic>
      <p:sp>
        <p:nvSpPr>
          <p:cNvPr id="28" name="Text 22"/>
          <p:cNvSpPr/>
          <p:nvPr/>
        </p:nvSpPr>
        <p:spPr>
          <a:xfrm>
            <a:off x="1051560" y="4023360"/>
            <a:ext cx="7315200" cy="5029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現在は多くの企業がこれらをサーバールームやデータセンターに集約・管理しています</a:t>
            </a:r>
            <a:endParaRPr lang="en-US" sz="1100" dirty="0"/>
          </a:p>
        </p:txBody>
      </p:sp>
      <p:sp>
        <p:nvSpPr>
          <p:cNvPr id="29" name="Shape 23"/>
          <p:cNvSpPr/>
          <p:nvPr/>
        </p:nvSpPr>
        <p:spPr>
          <a:xfrm>
            <a:off x="0" y="4800600"/>
            <a:ext cx="9144000" cy="342900"/>
          </a:xfrm>
          <a:prstGeom prst="rect">
            <a:avLst/>
          </a:prstGeom>
          <a:solidFill>
            <a:srgbClr val="8B7536"/>
          </a:solidFill>
          <a:ln/>
        </p:spPr>
        <p:txBody>
          <a:bodyPr/>
          <a:lstStyle/>
          <a:p>
            <a:endParaRPr lang="ja-JP" altLang="en-US"/>
          </a:p>
        </p:txBody>
      </p:sp>
      <p:sp>
        <p:nvSpPr>
          <p:cNvPr id="30" name="Text 24"/>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31" name="Text 25"/>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サーバーも、しょせんパソコンとOSと同じ感じ</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1005840"/>
            <a:ext cx="3840480" cy="27432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5" name="Shape 3"/>
          <p:cNvSpPr/>
          <p:nvPr/>
        </p:nvSpPr>
        <p:spPr>
          <a:xfrm>
            <a:off x="457200" y="1005840"/>
            <a:ext cx="3840480" cy="457200"/>
          </a:xfrm>
          <a:prstGeom prst="rect">
            <a:avLst/>
          </a:prstGeom>
          <a:solidFill>
            <a:srgbClr val="0078D4"/>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640080" y="1078992"/>
            <a:ext cx="320040" cy="320040"/>
          </a:xfrm>
          <a:prstGeom prst="rect">
            <a:avLst/>
          </a:prstGeom>
        </p:spPr>
      </p:pic>
      <p:sp>
        <p:nvSpPr>
          <p:cNvPr id="7" name="Text 4"/>
          <p:cNvSpPr/>
          <p:nvPr/>
        </p:nvSpPr>
        <p:spPr>
          <a:xfrm>
            <a:off x="1051560" y="100584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Windows系</a:t>
            </a:r>
            <a:endParaRPr lang="en-US" sz="1500" dirty="0"/>
          </a:p>
        </p:txBody>
      </p:sp>
      <p:sp>
        <p:nvSpPr>
          <p:cNvPr id="8" name="Text 5"/>
          <p:cNvSpPr/>
          <p:nvPr/>
        </p:nvSpPr>
        <p:spPr>
          <a:xfrm>
            <a:off x="685800" y="1600200"/>
            <a:ext cx="3383280" cy="2011680"/>
          </a:xfrm>
          <a:prstGeom prst="rect">
            <a:avLst/>
          </a:prstGeom>
          <a:noFill/>
          <a:ln/>
        </p:spPr>
        <p:txBody>
          <a:bodyPr wrap="square" lIns="0" tIns="0" rIns="0" bIns="0" rtlCol="0" anchor="t"/>
          <a:lstStyle/>
          <a:p>
            <a:pPr marL="0" indent="0">
              <a:buNone/>
            </a:pPr>
            <a:r>
              <a:rPr lang="en-US" sz="1100" b="1" dirty="0">
                <a:solidFill>
                  <a:srgbClr val="333333"/>
                </a:solidFill>
                <a:latin typeface="Calibri" pitchFamily="34" charset="0"/>
                <a:ea typeface="Calibri" pitchFamily="34" charset="-122"/>
                <a:cs typeface="Calibri" pitchFamily="34" charset="-120"/>
              </a:rPr>
              <a:t>GUI操作</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ビジネスユーザに馴染みやすい</a:t>
            </a:r>
            <a:endParaRPr lang="en-US" sz="1100" dirty="0"/>
          </a:p>
          <a:p>
            <a:pPr marL="0" indent="0">
              <a:buNone/>
            </a:pPr>
            <a:endParaRPr lang="en-US" sz="1100" dirty="0"/>
          </a:p>
          <a:p>
            <a:pPr marL="0" indent="0">
              <a:buNone/>
            </a:pPr>
            <a:r>
              <a:rPr lang="en-US" sz="1100" b="1" dirty="0">
                <a:solidFill>
                  <a:srgbClr val="333333"/>
                </a:solidFill>
                <a:latin typeface="Calibri" pitchFamily="34" charset="0"/>
                <a:ea typeface="Calibri" pitchFamily="34" charset="-122"/>
                <a:cs typeface="Calibri" pitchFamily="34" charset="-120"/>
              </a:rPr>
              <a:t>ライセンス費用</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有償（Microsoft）</a:t>
            </a:r>
            <a:endParaRPr lang="en-US" sz="1100" dirty="0"/>
          </a:p>
          <a:p>
            <a:pPr marL="0" indent="0">
              <a:buNone/>
            </a:pP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Active Directory等の</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エンタープライズ機能が豊富</a:t>
            </a:r>
            <a:endParaRPr lang="en-US" sz="1100" dirty="0"/>
          </a:p>
        </p:txBody>
      </p:sp>
      <p:sp>
        <p:nvSpPr>
          <p:cNvPr id="9" name="Shape 6"/>
          <p:cNvSpPr/>
          <p:nvPr/>
        </p:nvSpPr>
        <p:spPr>
          <a:xfrm>
            <a:off x="4846320" y="1005840"/>
            <a:ext cx="3840480" cy="27432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0" name="Shape 7"/>
          <p:cNvSpPr/>
          <p:nvPr/>
        </p:nvSpPr>
        <p:spPr>
          <a:xfrm>
            <a:off x="4846320" y="1005840"/>
            <a:ext cx="3840480" cy="457200"/>
          </a:xfrm>
          <a:prstGeom prst="rect">
            <a:avLst/>
          </a:prstGeom>
          <a:solidFill>
            <a:srgbClr val="333333"/>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5029200" y="1078992"/>
            <a:ext cx="320040" cy="320040"/>
          </a:xfrm>
          <a:prstGeom prst="rect">
            <a:avLst/>
          </a:prstGeom>
        </p:spPr>
      </p:pic>
      <p:sp>
        <p:nvSpPr>
          <p:cNvPr id="12" name="Text 8"/>
          <p:cNvSpPr/>
          <p:nvPr/>
        </p:nvSpPr>
        <p:spPr>
          <a:xfrm>
            <a:off x="5440680" y="1005840"/>
            <a:ext cx="2743200"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Linux系</a:t>
            </a:r>
            <a:endParaRPr lang="en-US" sz="1500" dirty="0"/>
          </a:p>
        </p:txBody>
      </p:sp>
      <p:sp>
        <p:nvSpPr>
          <p:cNvPr id="13" name="Text 9"/>
          <p:cNvSpPr/>
          <p:nvPr/>
        </p:nvSpPr>
        <p:spPr>
          <a:xfrm>
            <a:off x="5074920" y="1600200"/>
            <a:ext cx="3383280" cy="2011680"/>
          </a:xfrm>
          <a:prstGeom prst="rect">
            <a:avLst/>
          </a:prstGeom>
          <a:noFill/>
          <a:ln/>
        </p:spPr>
        <p:txBody>
          <a:bodyPr wrap="square" lIns="0" tIns="0" rIns="0" bIns="0" rtlCol="0" anchor="t"/>
          <a:lstStyle/>
          <a:p>
            <a:pPr marL="0" indent="0">
              <a:buNone/>
            </a:pPr>
            <a:r>
              <a:rPr lang="en-US" sz="1100" b="1" dirty="0">
                <a:solidFill>
                  <a:srgbClr val="333333"/>
                </a:solidFill>
                <a:latin typeface="Calibri" pitchFamily="34" charset="0"/>
                <a:ea typeface="Calibri" pitchFamily="34" charset="-122"/>
                <a:cs typeface="Calibri" pitchFamily="34" charset="-120"/>
              </a:rPr>
              <a:t>コマンドライン操作</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オープンソースで無料</a:t>
            </a:r>
            <a:endParaRPr lang="en-US" sz="1100" dirty="0"/>
          </a:p>
          <a:p>
            <a:pPr marL="0" indent="0">
              <a:buNone/>
            </a:pPr>
            <a:endParaRPr lang="en-US" sz="1100" dirty="0"/>
          </a:p>
          <a:p>
            <a:pPr marL="0" indent="0">
              <a:buNone/>
            </a:pPr>
            <a:r>
              <a:rPr lang="en-US" sz="1100" b="1" dirty="0">
                <a:solidFill>
                  <a:srgbClr val="333333"/>
                </a:solidFill>
                <a:latin typeface="Calibri" pitchFamily="34" charset="0"/>
                <a:ea typeface="Calibri" pitchFamily="34" charset="-122"/>
                <a:cs typeface="Calibri" pitchFamily="34" charset="-120"/>
              </a:rPr>
              <a:t>自己責任</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コミュニティサポートが基本</a:t>
            </a:r>
            <a:endParaRPr lang="en-US" sz="1100" dirty="0"/>
          </a:p>
          <a:p>
            <a:pPr marL="0" indent="0">
              <a:buNone/>
            </a:pP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クラウド・Web系サーバの</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デファクトスタンダード</a:t>
            </a:r>
            <a:endParaRPr lang="en-US" sz="1100" dirty="0"/>
          </a:p>
        </p:txBody>
      </p:sp>
      <p:sp>
        <p:nvSpPr>
          <p:cNvPr id="14" name="Shape 10"/>
          <p:cNvSpPr/>
          <p:nvPr/>
        </p:nvSpPr>
        <p:spPr>
          <a:xfrm>
            <a:off x="4160520" y="1920240"/>
            <a:ext cx="822960" cy="822960"/>
          </a:xfrm>
          <a:prstGeom prst="ellipse">
            <a:avLst/>
          </a:prstGeom>
          <a:solidFill>
            <a:srgbClr val="8B7536"/>
          </a:solidFill>
          <a:ln/>
        </p:spPr>
        <p:txBody>
          <a:bodyPr/>
          <a:lstStyle/>
          <a:p>
            <a:endParaRPr lang="ja-JP" altLang="en-US"/>
          </a:p>
        </p:txBody>
      </p:sp>
      <p:sp>
        <p:nvSpPr>
          <p:cNvPr id="15" name="Text 11"/>
          <p:cNvSpPr/>
          <p:nvPr/>
        </p:nvSpPr>
        <p:spPr>
          <a:xfrm>
            <a:off x="4160520" y="1920240"/>
            <a:ext cx="822960" cy="8229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VS</a:t>
            </a:r>
            <a:endParaRPr lang="en-US" sz="1400" dirty="0"/>
          </a:p>
        </p:txBody>
      </p:sp>
      <p:sp>
        <p:nvSpPr>
          <p:cNvPr id="16" name="Shape 12"/>
          <p:cNvSpPr/>
          <p:nvPr/>
        </p:nvSpPr>
        <p:spPr>
          <a:xfrm>
            <a:off x="457200" y="3977640"/>
            <a:ext cx="8229600" cy="548640"/>
          </a:xfrm>
          <a:prstGeom prst="rect">
            <a:avLst/>
          </a:prstGeom>
          <a:solidFill>
            <a:srgbClr val="F5F0E6"/>
          </a:solidFill>
          <a:ln/>
        </p:spPr>
        <p:txBody>
          <a:bodyPr/>
          <a:lstStyle/>
          <a:p>
            <a:endParaRPr lang="ja-JP" altLang="en-US"/>
          </a:p>
        </p:txBody>
      </p:sp>
      <p:sp>
        <p:nvSpPr>
          <p:cNvPr id="17" name="Text 13"/>
          <p:cNvSpPr/>
          <p:nvPr/>
        </p:nvSpPr>
        <p:spPr>
          <a:xfrm>
            <a:off x="640080" y="3977640"/>
            <a:ext cx="7863840" cy="5486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実際の操作画面はパソコンとほぼ同じ。サーバ特有の機能（Webサーバ、DBサーバ等）を提供する点が異なる。</a:t>
            </a:r>
            <a:endParaRPr lang="en-US" sz="1100" dirty="0"/>
          </a:p>
        </p:txBody>
      </p:sp>
      <p:sp>
        <p:nvSpPr>
          <p:cNvPr id="18" name="Shape 14"/>
          <p:cNvSpPr/>
          <p:nvPr/>
        </p:nvSpPr>
        <p:spPr>
          <a:xfrm>
            <a:off x="0" y="4800600"/>
            <a:ext cx="9144000" cy="342900"/>
          </a:xfrm>
          <a:prstGeom prst="rect">
            <a:avLst/>
          </a:prstGeom>
          <a:solidFill>
            <a:srgbClr val="8B7536"/>
          </a:solidFill>
          <a:ln/>
        </p:spPr>
        <p:txBody>
          <a:bodyPr/>
          <a:lstStyle/>
          <a:p>
            <a:endParaRPr lang="ja-JP" altLang="en-US"/>
          </a:p>
        </p:txBody>
      </p:sp>
      <p:sp>
        <p:nvSpPr>
          <p:cNvPr id="19" name="Text 15"/>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0" name="Text 16"/>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サーバの種類：機能で分類</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8229600" cy="822960"/>
          </a:xfrm>
          <a:prstGeom prst="rect">
            <a:avLst/>
          </a:prstGeom>
          <a:solidFill>
            <a:srgbClr val="F5F0E6"/>
          </a:solidFill>
          <a:ln/>
        </p:spPr>
        <p:txBody>
          <a:bodyPr/>
          <a:lstStyle/>
          <a:p>
            <a:endParaRPr lang="ja-JP" altLang="en-US"/>
          </a:p>
        </p:txBody>
      </p:sp>
      <p:sp>
        <p:nvSpPr>
          <p:cNvPr id="5" name="Text 3"/>
          <p:cNvSpPr/>
          <p:nvPr/>
        </p:nvSpPr>
        <p:spPr>
          <a:xfrm>
            <a:off x="640080" y="914400"/>
            <a:ext cx="7863840" cy="457200"/>
          </a:xfrm>
          <a:prstGeom prst="rect">
            <a:avLst/>
          </a:prstGeom>
          <a:noFill/>
          <a:ln/>
        </p:spPr>
        <p:txBody>
          <a:bodyPr wrap="square" lIns="0" tIns="0" rIns="0" bIns="0" rtlCol="0" anchor="ctr"/>
          <a:lstStyle/>
          <a:p>
            <a:pPr marL="0" indent="0">
              <a:buNone/>
            </a:pPr>
            <a:r>
              <a:rPr lang="en-US" sz="1200" b="1" dirty="0">
                <a:solidFill>
                  <a:srgbClr val="333333"/>
                </a:solidFill>
                <a:latin typeface="Calibri" pitchFamily="34" charset="0"/>
                <a:ea typeface="Calibri" pitchFamily="34" charset="-122"/>
                <a:cs typeface="Calibri" pitchFamily="34" charset="-120"/>
              </a:rPr>
              <a:t>サーバーとは：</a:t>
            </a:r>
            <a:r>
              <a:rPr lang="en-US" sz="1200" dirty="0">
                <a:solidFill>
                  <a:srgbClr val="333333"/>
                </a:solidFill>
                <a:latin typeface="Calibri" pitchFamily="34" charset="0"/>
                <a:ea typeface="Calibri" pitchFamily="34" charset="-122"/>
                <a:cs typeface="Calibri" pitchFamily="34" charset="-120"/>
              </a:rPr>
              <a:t>クライアント（ユーザ端末）からの要求に応じて機能やサービスを提供するコンピューター</a:t>
            </a:r>
            <a:endParaRPr lang="en-US" sz="1200" dirty="0"/>
          </a:p>
        </p:txBody>
      </p:sp>
      <p:sp>
        <p:nvSpPr>
          <p:cNvPr id="6" name="Text 4"/>
          <p:cNvSpPr/>
          <p:nvPr/>
        </p:nvSpPr>
        <p:spPr>
          <a:xfrm>
            <a:off x="640080" y="1371600"/>
            <a:ext cx="7863840" cy="320040"/>
          </a:xfrm>
          <a:prstGeom prst="rect">
            <a:avLst/>
          </a:prstGeom>
          <a:noFill/>
          <a:ln/>
        </p:spPr>
        <p:txBody>
          <a:bodyPr wrap="square" lIns="0" tIns="0" rIns="0" bIns="0" rtlCol="0" anchor="ctr"/>
          <a:lstStyle/>
          <a:p>
            <a:pPr marL="0" indent="0">
              <a:buNone/>
            </a:pPr>
            <a:r>
              <a:rPr lang="en-US" sz="1100" b="1" dirty="0">
                <a:solidFill>
                  <a:srgbClr val="8B7536"/>
                </a:solidFill>
                <a:latin typeface="Calibri" pitchFamily="34" charset="0"/>
                <a:ea typeface="Calibri" pitchFamily="34" charset="-122"/>
                <a:cs typeface="Calibri" pitchFamily="34" charset="-120"/>
              </a:rPr>
              <a:t>→ 画面（UI/UX）を提供するわけではなく、あくまで「機能」のみを提供する</a:t>
            </a:r>
            <a:endParaRPr lang="en-US" sz="1100" dirty="0"/>
          </a:p>
        </p:txBody>
      </p:sp>
      <p:sp>
        <p:nvSpPr>
          <p:cNvPr id="7" name="Shape 5"/>
          <p:cNvSpPr/>
          <p:nvPr/>
        </p:nvSpPr>
        <p:spPr>
          <a:xfrm>
            <a:off x="457200" y="2011680"/>
            <a:ext cx="1874520" cy="20116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8" name="Shape 6"/>
          <p:cNvSpPr/>
          <p:nvPr/>
        </p:nvSpPr>
        <p:spPr>
          <a:xfrm>
            <a:off x="960120" y="2194560"/>
            <a:ext cx="731520" cy="731520"/>
          </a:xfrm>
          <a:prstGeom prst="ellipse">
            <a:avLst/>
          </a:prstGeom>
          <a:solidFill>
            <a:srgbClr val="F5F0E6"/>
          </a:solidFill>
          <a:ln/>
        </p:spPr>
        <p:txBody>
          <a:bodyPr/>
          <a:lstStyle/>
          <a:p>
            <a:endParaRPr lang="ja-JP" altLang="en-US"/>
          </a:p>
        </p:txBody>
      </p:sp>
      <p:pic>
        <p:nvPicPr>
          <p:cNvPr id="9" name="Image 0" descr="preencoded.png"/>
          <p:cNvPicPr>
            <a:picLocks noChangeAspect="1"/>
          </p:cNvPicPr>
          <p:nvPr/>
        </p:nvPicPr>
        <p:blipFill>
          <a:blip r:embed="rId3"/>
          <a:stretch>
            <a:fillRect/>
          </a:stretch>
        </p:blipFill>
        <p:spPr>
          <a:xfrm>
            <a:off x="1097280" y="2331720"/>
            <a:ext cx="457200" cy="457200"/>
          </a:xfrm>
          <a:prstGeom prst="rect">
            <a:avLst/>
          </a:prstGeom>
        </p:spPr>
      </p:pic>
      <p:sp>
        <p:nvSpPr>
          <p:cNvPr id="10" name="Text 7"/>
          <p:cNvSpPr/>
          <p:nvPr/>
        </p:nvSpPr>
        <p:spPr>
          <a:xfrm>
            <a:off x="548640" y="3017520"/>
            <a:ext cx="1691640" cy="36576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Webサーバ</a:t>
            </a:r>
            <a:endParaRPr lang="en-US" sz="1200" dirty="0"/>
          </a:p>
        </p:txBody>
      </p:sp>
      <p:sp>
        <p:nvSpPr>
          <p:cNvPr id="11" name="Text 8"/>
          <p:cNvSpPr/>
          <p:nvPr/>
        </p:nvSpPr>
        <p:spPr>
          <a:xfrm>
            <a:off x="548640" y="3337560"/>
            <a:ext cx="1691640" cy="594360"/>
          </a:xfrm>
          <a:prstGeom prst="rect">
            <a:avLst/>
          </a:prstGeom>
          <a:noFill/>
          <a:ln/>
        </p:spPr>
        <p:txBody>
          <a:bodyPr wrap="square" lIns="0" tIns="0" rIns="0" bIns="0" rtlCol="0" anchor="t"/>
          <a:lstStyle/>
          <a:p>
            <a:pPr marL="0" indent="0" algn="ctr">
              <a:buNone/>
            </a:pPr>
            <a:r>
              <a:rPr lang="en-US" sz="900" dirty="0">
                <a:solidFill>
                  <a:srgbClr val="666666"/>
                </a:solidFill>
                <a:latin typeface="Calibri" pitchFamily="34" charset="0"/>
                <a:ea typeface="Calibri" pitchFamily="34" charset="-122"/>
                <a:cs typeface="Calibri" pitchFamily="34" charset="-120"/>
              </a:rPr>
              <a:t>HTTPリクエストを処理し、WEBページを配信</a:t>
            </a:r>
            <a:endParaRPr lang="en-US" sz="900" dirty="0"/>
          </a:p>
        </p:txBody>
      </p:sp>
      <p:sp>
        <p:nvSpPr>
          <p:cNvPr id="12" name="Shape 9"/>
          <p:cNvSpPr/>
          <p:nvPr/>
        </p:nvSpPr>
        <p:spPr>
          <a:xfrm>
            <a:off x="2560320" y="2011680"/>
            <a:ext cx="1874520" cy="20116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3" name="Shape 10"/>
          <p:cNvSpPr/>
          <p:nvPr/>
        </p:nvSpPr>
        <p:spPr>
          <a:xfrm>
            <a:off x="3063240" y="2194560"/>
            <a:ext cx="731520" cy="731520"/>
          </a:xfrm>
          <a:prstGeom prst="ellipse">
            <a:avLst/>
          </a:prstGeom>
          <a:solidFill>
            <a:srgbClr val="F5F0E6"/>
          </a:solidFill>
          <a:ln/>
        </p:spPr>
        <p:txBody>
          <a:bodyPr/>
          <a:lstStyle/>
          <a:p>
            <a:endParaRPr lang="ja-JP" altLang="en-US"/>
          </a:p>
        </p:txBody>
      </p:sp>
      <p:pic>
        <p:nvPicPr>
          <p:cNvPr id="14" name="Image 1" descr="preencoded.png"/>
          <p:cNvPicPr>
            <a:picLocks noChangeAspect="1"/>
          </p:cNvPicPr>
          <p:nvPr/>
        </p:nvPicPr>
        <p:blipFill>
          <a:blip r:embed="rId4"/>
          <a:stretch>
            <a:fillRect/>
          </a:stretch>
        </p:blipFill>
        <p:spPr>
          <a:xfrm>
            <a:off x="3200400" y="2331720"/>
            <a:ext cx="457200" cy="457200"/>
          </a:xfrm>
          <a:prstGeom prst="rect">
            <a:avLst/>
          </a:prstGeom>
        </p:spPr>
      </p:pic>
      <p:sp>
        <p:nvSpPr>
          <p:cNvPr id="15" name="Text 11"/>
          <p:cNvSpPr/>
          <p:nvPr/>
        </p:nvSpPr>
        <p:spPr>
          <a:xfrm>
            <a:off x="2651760" y="3017520"/>
            <a:ext cx="1691640" cy="36576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DBサーバ</a:t>
            </a:r>
            <a:endParaRPr lang="en-US" sz="1200" dirty="0"/>
          </a:p>
        </p:txBody>
      </p:sp>
      <p:sp>
        <p:nvSpPr>
          <p:cNvPr id="16" name="Text 12"/>
          <p:cNvSpPr/>
          <p:nvPr/>
        </p:nvSpPr>
        <p:spPr>
          <a:xfrm>
            <a:off x="2651760" y="3337560"/>
            <a:ext cx="1691640" cy="594360"/>
          </a:xfrm>
          <a:prstGeom prst="rect">
            <a:avLst/>
          </a:prstGeom>
          <a:noFill/>
          <a:ln/>
        </p:spPr>
        <p:txBody>
          <a:bodyPr wrap="square" lIns="0" tIns="0" rIns="0" bIns="0" rtlCol="0" anchor="t"/>
          <a:lstStyle/>
          <a:p>
            <a:pPr marL="0" indent="0" algn="ctr">
              <a:buNone/>
            </a:pPr>
            <a:r>
              <a:rPr lang="en-US" sz="900" dirty="0">
                <a:solidFill>
                  <a:srgbClr val="666666"/>
                </a:solidFill>
                <a:latin typeface="Calibri" pitchFamily="34" charset="0"/>
                <a:ea typeface="Calibri" pitchFamily="34" charset="-122"/>
                <a:cs typeface="Calibri" pitchFamily="34" charset="-120"/>
              </a:rPr>
              <a:t>データの保存・検索・管理を担当</a:t>
            </a:r>
            <a:endParaRPr lang="en-US" sz="900" dirty="0"/>
          </a:p>
        </p:txBody>
      </p:sp>
      <p:sp>
        <p:nvSpPr>
          <p:cNvPr id="17" name="Shape 13"/>
          <p:cNvSpPr/>
          <p:nvPr/>
        </p:nvSpPr>
        <p:spPr>
          <a:xfrm>
            <a:off x="4663440" y="2011680"/>
            <a:ext cx="1874520" cy="20116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8" name="Shape 14"/>
          <p:cNvSpPr/>
          <p:nvPr/>
        </p:nvSpPr>
        <p:spPr>
          <a:xfrm>
            <a:off x="5166360" y="2194560"/>
            <a:ext cx="731520" cy="731520"/>
          </a:xfrm>
          <a:prstGeom prst="ellipse">
            <a:avLst/>
          </a:prstGeom>
          <a:solidFill>
            <a:srgbClr val="F5F0E6"/>
          </a:solidFill>
          <a:ln/>
        </p:spPr>
        <p:txBody>
          <a:bodyPr/>
          <a:lstStyle/>
          <a:p>
            <a:endParaRPr lang="ja-JP" altLang="en-US"/>
          </a:p>
        </p:txBody>
      </p:sp>
      <p:pic>
        <p:nvPicPr>
          <p:cNvPr id="19" name="Image 2" descr="preencoded.png"/>
          <p:cNvPicPr>
            <a:picLocks noChangeAspect="1"/>
          </p:cNvPicPr>
          <p:nvPr/>
        </p:nvPicPr>
        <p:blipFill>
          <a:blip r:embed="rId5"/>
          <a:stretch>
            <a:fillRect/>
          </a:stretch>
        </p:blipFill>
        <p:spPr>
          <a:xfrm>
            <a:off x="5303520" y="2331720"/>
            <a:ext cx="457200" cy="457200"/>
          </a:xfrm>
          <a:prstGeom prst="rect">
            <a:avLst/>
          </a:prstGeom>
        </p:spPr>
      </p:pic>
      <p:sp>
        <p:nvSpPr>
          <p:cNvPr id="20" name="Text 15"/>
          <p:cNvSpPr/>
          <p:nvPr/>
        </p:nvSpPr>
        <p:spPr>
          <a:xfrm>
            <a:off x="4754880" y="3017520"/>
            <a:ext cx="1691640" cy="36576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メールサーバ</a:t>
            </a:r>
            <a:endParaRPr lang="en-US" sz="1200" dirty="0"/>
          </a:p>
        </p:txBody>
      </p:sp>
      <p:sp>
        <p:nvSpPr>
          <p:cNvPr id="21" name="Text 16"/>
          <p:cNvSpPr/>
          <p:nvPr/>
        </p:nvSpPr>
        <p:spPr>
          <a:xfrm>
            <a:off x="4754880" y="3337560"/>
            <a:ext cx="1691640" cy="594360"/>
          </a:xfrm>
          <a:prstGeom prst="rect">
            <a:avLst/>
          </a:prstGeom>
          <a:noFill/>
          <a:ln/>
        </p:spPr>
        <p:txBody>
          <a:bodyPr wrap="square" lIns="0" tIns="0" rIns="0" bIns="0" rtlCol="0" anchor="t"/>
          <a:lstStyle/>
          <a:p>
            <a:pPr marL="0" indent="0" algn="ctr">
              <a:buNone/>
            </a:pPr>
            <a:r>
              <a:rPr lang="en-US" sz="900" dirty="0">
                <a:solidFill>
                  <a:srgbClr val="666666"/>
                </a:solidFill>
                <a:latin typeface="Calibri" pitchFamily="34" charset="0"/>
                <a:ea typeface="Calibri" pitchFamily="34" charset="-122"/>
                <a:cs typeface="Calibri" pitchFamily="34" charset="-120"/>
              </a:rPr>
              <a:t>メールの送受信・配信処理を行う</a:t>
            </a:r>
            <a:endParaRPr lang="en-US" sz="900" dirty="0"/>
          </a:p>
        </p:txBody>
      </p:sp>
      <p:sp>
        <p:nvSpPr>
          <p:cNvPr id="22" name="Shape 17"/>
          <p:cNvSpPr/>
          <p:nvPr/>
        </p:nvSpPr>
        <p:spPr>
          <a:xfrm>
            <a:off x="6766560" y="2011680"/>
            <a:ext cx="1874520" cy="20116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23" name="Shape 18"/>
          <p:cNvSpPr/>
          <p:nvPr/>
        </p:nvSpPr>
        <p:spPr>
          <a:xfrm>
            <a:off x="7269480" y="2194560"/>
            <a:ext cx="731520" cy="731520"/>
          </a:xfrm>
          <a:prstGeom prst="ellipse">
            <a:avLst/>
          </a:prstGeom>
          <a:solidFill>
            <a:srgbClr val="F5F0E6"/>
          </a:solidFill>
          <a:ln/>
        </p:spPr>
        <p:txBody>
          <a:bodyPr/>
          <a:lstStyle/>
          <a:p>
            <a:endParaRPr lang="ja-JP" altLang="en-US"/>
          </a:p>
        </p:txBody>
      </p:sp>
      <p:pic>
        <p:nvPicPr>
          <p:cNvPr id="24" name="Image 3" descr="preencoded.png"/>
          <p:cNvPicPr>
            <a:picLocks noChangeAspect="1"/>
          </p:cNvPicPr>
          <p:nvPr/>
        </p:nvPicPr>
        <p:blipFill>
          <a:blip r:embed="rId6"/>
          <a:stretch>
            <a:fillRect/>
          </a:stretch>
        </p:blipFill>
        <p:spPr>
          <a:xfrm>
            <a:off x="7406640" y="2331720"/>
            <a:ext cx="457200" cy="457200"/>
          </a:xfrm>
          <a:prstGeom prst="rect">
            <a:avLst/>
          </a:prstGeom>
        </p:spPr>
      </p:pic>
      <p:sp>
        <p:nvSpPr>
          <p:cNvPr id="25" name="Text 19"/>
          <p:cNvSpPr/>
          <p:nvPr/>
        </p:nvSpPr>
        <p:spPr>
          <a:xfrm>
            <a:off x="6858000" y="3017520"/>
            <a:ext cx="1691640" cy="36576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ファイルサーバ</a:t>
            </a:r>
            <a:endParaRPr lang="en-US" sz="1200" dirty="0"/>
          </a:p>
        </p:txBody>
      </p:sp>
      <p:sp>
        <p:nvSpPr>
          <p:cNvPr id="26" name="Text 20"/>
          <p:cNvSpPr/>
          <p:nvPr/>
        </p:nvSpPr>
        <p:spPr>
          <a:xfrm>
            <a:off x="6858000" y="3337560"/>
            <a:ext cx="1691640" cy="594360"/>
          </a:xfrm>
          <a:prstGeom prst="rect">
            <a:avLst/>
          </a:prstGeom>
          <a:noFill/>
          <a:ln/>
        </p:spPr>
        <p:txBody>
          <a:bodyPr wrap="square" lIns="0" tIns="0" rIns="0" bIns="0" rtlCol="0" anchor="t"/>
          <a:lstStyle/>
          <a:p>
            <a:pPr marL="0" indent="0" algn="ctr">
              <a:buNone/>
            </a:pPr>
            <a:r>
              <a:rPr lang="en-US" sz="900" dirty="0">
                <a:solidFill>
                  <a:srgbClr val="666666"/>
                </a:solidFill>
                <a:latin typeface="Calibri" pitchFamily="34" charset="0"/>
                <a:ea typeface="Calibri" pitchFamily="34" charset="-122"/>
                <a:cs typeface="Calibri" pitchFamily="34" charset="-120"/>
              </a:rPr>
              <a:t>ファイルの共有・保存・管理を提供</a:t>
            </a:r>
            <a:endParaRPr lang="en-US" sz="900" dirty="0"/>
          </a:p>
        </p:txBody>
      </p:sp>
      <p:sp>
        <p:nvSpPr>
          <p:cNvPr id="27" name="Text 21"/>
          <p:cNvSpPr/>
          <p:nvPr/>
        </p:nvSpPr>
        <p:spPr>
          <a:xfrm>
            <a:off x="457200" y="4206240"/>
            <a:ext cx="8229600" cy="365760"/>
          </a:xfrm>
          <a:prstGeom prst="rect">
            <a:avLst/>
          </a:prstGeom>
          <a:noFill/>
          <a:ln/>
        </p:spPr>
        <p:txBody>
          <a:bodyPr wrap="square" lIns="0" tIns="0" rIns="0" bIns="0" rtlCol="0" anchor="ctr"/>
          <a:lstStyle/>
          <a:p>
            <a:pPr marL="0" indent="0">
              <a:buNone/>
            </a:pPr>
            <a:r>
              <a:rPr lang="en-US" sz="1100" b="1" dirty="0">
                <a:solidFill>
                  <a:srgbClr val="8B7536"/>
                </a:solidFill>
                <a:latin typeface="Calibri" pitchFamily="34" charset="0"/>
                <a:ea typeface="Calibri" pitchFamily="34" charset="-122"/>
                <a:cs typeface="Calibri" pitchFamily="34" charset="-120"/>
              </a:rPr>
              <a:t>提供する機能や役割に応じて様々な呼び方がある ― 「何を提供するか」でサーバの名前が決まる</a:t>
            </a:r>
            <a:endParaRPr lang="en-US" sz="1100" dirty="0"/>
          </a:p>
        </p:txBody>
      </p:sp>
      <p:sp>
        <p:nvSpPr>
          <p:cNvPr id="28" name="Shape 22"/>
          <p:cNvSpPr/>
          <p:nvPr/>
        </p:nvSpPr>
        <p:spPr>
          <a:xfrm>
            <a:off x="0" y="4800600"/>
            <a:ext cx="9144000" cy="342900"/>
          </a:xfrm>
          <a:prstGeom prst="rect">
            <a:avLst/>
          </a:prstGeom>
          <a:solidFill>
            <a:srgbClr val="8B7536"/>
          </a:solidFill>
          <a:ln/>
        </p:spPr>
        <p:txBody>
          <a:bodyPr/>
          <a:lstStyle/>
          <a:p>
            <a:endParaRPr lang="ja-JP" altLang="en-US"/>
          </a:p>
        </p:txBody>
      </p:sp>
      <p:sp>
        <p:nvSpPr>
          <p:cNvPr id="29" name="Text 23"/>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30" name="Text 24"/>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仮想化技術（VM）― ハードとOSの分離</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1005840"/>
            <a:ext cx="914400" cy="36576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従来</a:t>
            </a:r>
            <a:endParaRPr lang="en-US" sz="1300" dirty="0"/>
          </a:p>
        </p:txBody>
      </p:sp>
      <p:sp>
        <p:nvSpPr>
          <p:cNvPr id="5" name="Shape 3"/>
          <p:cNvSpPr/>
          <p:nvPr/>
        </p:nvSpPr>
        <p:spPr>
          <a:xfrm>
            <a:off x="457200" y="1463040"/>
            <a:ext cx="1097280" cy="365760"/>
          </a:xfrm>
          <a:prstGeom prst="rect">
            <a:avLst/>
          </a:prstGeom>
          <a:solidFill>
            <a:srgbClr val="DDDDDD"/>
          </a:solidFill>
          <a:ln/>
        </p:spPr>
        <p:txBody>
          <a:bodyPr/>
          <a:lstStyle/>
          <a:p>
            <a:endParaRPr lang="ja-JP" altLang="en-US"/>
          </a:p>
        </p:txBody>
      </p:sp>
      <p:sp>
        <p:nvSpPr>
          <p:cNvPr id="6" name="Text 4"/>
          <p:cNvSpPr/>
          <p:nvPr/>
        </p:nvSpPr>
        <p:spPr>
          <a:xfrm>
            <a:off x="457200" y="146304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7" name="Shape 5"/>
          <p:cNvSpPr/>
          <p:nvPr/>
        </p:nvSpPr>
        <p:spPr>
          <a:xfrm>
            <a:off x="457200" y="1828800"/>
            <a:ext cx="1097280" cy="365760"/>
          </a:xfrm>
          <a:prstGeom prst="rect">
            <a:avLst/>
          </a:prstGeom>
          <a:solidFill>
            <a:srgbClr val="BBBBBB"/>
          </a:solidFill>
          <a:ln/>
        </p:spPr>
        <p:txBody>
          <a:bodyPr/>
          <a:lstStyle/>
          <a:p>
            <a:endParaRPr lang="ja-JP" altLang="en-US"/>
          </a:p>
        </p:txBody>
      </p:sp>
      <p:sp>
        <p:nvSpPr>
          <p:cNvPr id="8" name="Text 6"/>
          <p:cNvSpPr/>
          <p:nvPr/>
        </p:nvSpPr>
        <p:spPr>
          <a:xfrm>
            <a:off x="457200" y="182880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9" name="Shape 7"/>
          <p:cNvSpPr/>
          <p:nvPr/>
        </p:nvSpPr>
        <p:spPr>
          <a:xfrm>
            <a:off x="457200" y="2194560"/>
            <a:ext cx="1097280" cy="457200"/>
          </a:xfrm>
          <a:prstGeom prst="rect">
            <a:avLst/>
          </a:prstGeom>
          <a:solidFill>
            <a:srgbClr val="8B7536"/>
          </a:solidFill>
          <a:ln/>
        </p:spPr>
        <p:txBody>
          <a:bodyPr/>
          <a:lstStyle/>
          <a:p>
            <a:endParaRPr lang="ja-JP" altLang="en-US"/>
          </a:p>
        </p:txBody>
      </p:sp>
      <p:sp>
        <p:nvSpPr>
          <p:cNvPr id="10" name="Text 8"/>
          <p:cNvSpPr/>
          <p:nvPr/>
        </p:nvSpPr>
        <p:spPr>
          <a:xfrm>
            <a:off x="457200" y="2194560"/>
            <a:ext cx="1097280" cy="45720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HW</a:t>
            </a:r>
            <a:endParaRPr lang="en-US" sz="800" dirty="0"/>
          </a:p>
        </p:txBody>
      </p:sp>
      <p:sp>
        <p:nvSpPr>
          <p:cNvPr id="11" name="Shape 9"/>
          <p:cNvSpPr/>
          <p:nvPr/>
        </p:nvSpPr>
        <p:spPr>
          <a:xfrm>
            <a:off x="1737360" y="1463040"/>
            <a:ext cx="1097280" cy="365760"/>
          </a:xfrm>
          <a:prstGeom prst="rect">
            <a:avLst/>
          </a:prstGeom>
          <a:solidFill>
            <a:srgbClr val="DDDDDD"/>
          </a:solidFill>
          <a:ln/>
        </p:spPr>
        <p:txBody>
          <a:bodyPr/>
          <a:lstStyle/>
          <a:p>
            <a:endParaRPr lang="ja-JP" altLang="en-US"/>
          </a:p>
        </p:txBody>
      </p:sp>
      <p:sp>
        <p:nvSpPr>
          <p:cNvPr id="12" name="Text 10"/>
          <p:cNvSpPr/>
          <p:nvPr/>
        </p:nvSpPr>
        <p:spPr>
          <a:xfrm>
            <a:off x="1737360" y="146304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13" name="Shape 11"/>
          <p:cNvSpPr/>
          <p:nvPr/>
        </p:nvSpPr>
        <p:spPr>
          <a:xfrm>
            <a:off x="1737360" y="1828800"/>
            <a:ext cx="1097280" cy="365760"/>
          </a:xfrm>
          <a:prstGeom prst="rect">
            <a:avLst/>
          </a:prstGeom>
          <a:solidFill>
            <a:srgbClr val="BBBBBB"/>
          </a:solidFill>
          <a:ln/>
        </p:spPr>
        <p:txBody>
          <a:bodyPr/>
          <a:lstStyle/>
          <a:p>
            <a:endParaRPr lang="ja-JP" altLang="en-US"/>
          </a:p>
        </p:txBody>
      </p:sp>
      <p:sp>
        <p:nvSpPr>
          <p:cNvPr id="14" name="Text 12"/>
          <p:cNvSpPr/>
          <p:nvPr/>
        </p:nvSpPr>
        <p:spPr>
          <a:xfrm>
            <a:off x="1737360" y="182880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15" name="Shape 13"/>
          <p:cNvSpPr/>
          <p:nvPr/>
        </p:nvSpPr>
        <p:spPr>
          <a:xfrm>
            <a:off x="1737360" y="2194560"/>
            <a:ext cx="1097280" cy="457200"/>
          </a:xfrm>
          <a:prstGeom prst="rect">
            <a:avLst/>
          </a:prstGeom>
          <a:solidFill>
            <a:srgbClr val="8B7536"/>
          </a:solidFill>
          <a:ln/>
        </p:spPr>
        <p:txBody>
          <a:bodyPr/>
          <a:lstStyle/>
          <a:p>
            <a:endParaRPr lang="ja-JP" altLang="en-US"/>
          </a:p>
        </p:txBody>
      </p:sp>
      <p:sp>
        <p:nvSpPr>
          <p:cNvPr id="16" name="Text 14"/>
          <p:cNvSpPr/>
          <p:nvPr/>
        </p:nvSpPr>
        <p:spPr>
          <a:xfrm>
            <a:off x="1737360" y="2194560"/>
            <a:ext cx="1097280" cy="45720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HW</a:t>
            </a:r>
            <a:endParaRPr lang="en-US" sz="800" dirty="0"/>
          </a:p>
        </p:txBody>
      </p:sp>
      <p:sp>
        <p:nvSpPr>
          <p:cNvPr id="17" name="Shape 15"/>
          <p:cNvSpPr/>
          <p:nvPr/>
        </p:nvSpPr>
        <p:spPr>
          <a:xfrm>
            <a:off x="3017520" y="1463040"/>
            <a:ext cx="1097280" cy="365760"/>
          </a:xfrm>
          <a:prstGeom prst="rect">
            <a:avLst/>
          </a:prstGeom>
          <a:solidFill>
            <a:srgbClr val="DDDDDD"/>
          </a:solidFill>
          <a:ln/>
        </p:spPr>
        <p:txBody>
          <a:bodyPr/>
          <a:lstStyle/>
          <a:p>
            <a:endParaRPr lang="ja-JP" altLang="en-US"/>
          </a:p>
        </p:txBody>
      </p:sp>
      <p:sp>
        <p:nvSpPr>
          <p:cNvPr id="18" name="Text 16"/>
          <p:cNvSpPr/>
          <p:nvPr/>
        </p:nvSpPr>
        <p:spPr>
          <a:xfrm>
            <a:off x="3017520" y="146304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19" name="Shape 17"/>
          <p:cNvSpPr/>
          <p:nvPr/>
        </p:nvSpPr>
        <p:spPr>
          <a:xfrm>
            <a:off x="3017520" y="1828800"/>
            <a:ext cx="1097280" cy="365760"/>
          </a:xfrm>
          <a:prstGeom prst="rect">
            <a:avLst/>
          </a:prstGeom>
          <a:solidFill>
            <a:srgbClr val="BBBBBB"/>
          </a:solidFill>
          <a:ln/>
        </p:spPr>
        <p:txBody>
          <a:bodyPr/>
          <a:lstStyle/>
          <a:p>
            <a:endParaRPr lang="ja-JP" altLang="en-US"/>
          </a:p>
        </p:txBody>
      </p:sp>
      <p:sp>
        <p:nvSpPr>
          <p:cNvPr id="20" name="Text 18"/>
          <p:cNvSpPr/>
          <p:nvPr/>
        </p:nvSpPr>
        <p:spPr>
          <a:xfrm>
            <a:off x="3017520" y="182880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21" name="Shape 19"/>
          <p:cNvSpPr/>
          <p:nvPr/>
        </p:nvSpPr>
        <p:spPr>
          <a:xfrm>
            <a:off x="3017520" y="2194560"/>
            <a:ext cx="1097280" cy="457200"/>
          </a:xfrm>
          <a:prstGeom prst="rect">
            <a:avLst/>
          </a:prstGeom>
          <a:solidFill>
            <a:srgbClr val="8B7536"/>
          </a:solidFill>
          <a:ln/>
        </p:spPr>
        <p:txBody>
          <a:bodyPr/>
          <a:lstStyle/>
          <a:p>
            <a:endParaRPr lang="ja-JP" altLang="en-US"/>
          </a:p>
        </p:txBody>
      </p:sp>
      <p:sp>
        <p:nvSpPr>
          <p:cNvPr id="22" name="Text 20"/>
          <p:cNvSpPr/>
          <p:nvPr/>
        </p:nvSpPr>
        <p:spPr>
          <a:xfrm>
            <a:off x="3017520" y="2194560"/>
            <a:ext cx="1097280" cy="45720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HW</a:t>
            </a:r>
            <a:endParaRPr lang="en-US" sz="800" dirty="0"/>
          </a:p>
        </p:txBody>
      </p:sp>
      <p:sp>
        <p:nvSpPr>
          <p:cNvPr id="23" name="Text 21"/>
          <p:cNvSpPr/>
          <p:nvPr/>
        </p:nvSpPr>
        <p:spPr>
          <a:xfrm>
            <a:off x="457200" y="2743200"/>
            <a:ext cx="3657600" cy="320040"/>
          </a:xfrm>
          <a:prstGeom prst="rect">
            <a:avLst/>
          </a:prstGeom>
          <a:noFill/>
          <a:ln/>
        </p:spPr>
        <p:txBody>
          <a:bodyPr wrap="square" lIns="0" tIns="0" rIns="0" bIns="0" rtlCol="0" anchor="ctr"/>
          <a:lstStyle/>
          <a:p>
            <a:pPr marL="0" indent="0">
              <a:buNone/>
            </a:pPr>
            <a:r>
              <a:rPr lang="en-US" sz="1000" dirty="0">
                <a:solidFill>
                  <a:srgbClr val="C0392B"/>
                </a:solidFill>
                <a:latin typeface="Calibri" pitchFamily="34" charset="0"/>
                <a:ea typeface="Calibri" pitchFamily="34" charset="-122"/>
                <a:cs typeface="Calibri" pitchFamily="34" charset="-120"/>
              </a:rPr>
              <a:t>1台に1OS = リソースの無駄</a:t>
            </a:r>
            <a:endParaRPr lang="en-US" sz="1000" dirty="0"/>
          </a:p>
        </p:txBody>
      </p:sp>
      <p:pic>
        <p:nvPicPr>
          <p:cNvPr id="24" name="Image 0" descr="preencoded.png"/>
          <p:cNvPicPr>
            <a:picLocks noChangeAspect="1"/>
          </p:cNvPicPr>
          <p:nvPr/>
        </p:nvPicPr>
        <p:blipFill>
          <a:blip r:embed="rId3"/>
          <a:stretch>
            <a:fillRect/>
          </a:stretch>
        </p:blipFill>
        <p:spPr>
          <a:xfrm>
            <a:off x="4114800" y="1828800"/>
            <a:ext cx="457200" cy="457200"/>
          </a:xfrm>
          <a:prstGeom prst="rect">
            <a:avLst/>
          </a:prstGeom>
        </p:spPr>
      </p:pic>
      <p:sp>
        <p:nvSpPr>
          <p:cNvPr id="25" name="Text 22"/>
          <p:cNvSpPr/>
          <p:nvPr/>
        </p:nvSpPr>
        <p:spPr>
          <a:xfrm>
            <a:off x="4754880" y="1005840"/>
            <a:ext cx="1828800" cy="365760"/>
          </a:xfrm>
          <a:prstGeom prst="rect">
            <a:avLst/>
          </a:prstGeom>
          <a:noFill/>
          <a:ln/>
        </p:spPr>
        <p:txBody>
          <a:bodyPr wrap="square" lIns="0" tIns="0" rIns="0" bIns="0" rtlCol="0" anchor="ctr"/>
          <a:lstStyle/>
          <a:p>
            <a:pPr marL="0" indent="0">
              <a:buNone/>
            </a:pPr>
            <a:r>
              <a:rPr lang="en-US" sz="1300" b="1" dirty="0">
                <a:solidFill>
                  <a:srgbClr val="27AE60"/>
                </a:solidFill>
                <a:latin typeface="Calibri" pitchFamily="34" charset="0"/>
                <a:ea typeface="Calibri" pitchFamily="34" charset="-122"/>
                <a:cs typeface="Calibri" pitchFamily="34" charset="-120"/>
              </a:rPr>
              <a:t>仮想化後</a:t>
            </a:r>
            <a:endParaRPr lang="en-US" sz="1300" dirty="0"/>
          </a:p>
        </p:txBody>
      </p:sp>
      <p:sp>
        <p:nvSpPr>
          <p:cNvPr id="26" name="Shape 23"/>
          <p:cNvSpPr/>
          <p:nvPr/>
        </p:nvSpPr>
        <p:spPr>
          <a:xfrm>
            <a:off x="4754880" y="1463040"/>
            <a:ext cx="1097280" cy="365760"/>
          </a:xfrm>
          <a:prstGeom prst="rect">
            <a:avLst/>
          </a:prstGeom>
          <a:solidFill>
            <a:srgbClr val="D4E8D4"/>
          </a:solidFill>
          <a:ln/>
        </p:spPr>
        <p:txBody>
          <a:bodyPr/>
          <a:lstStyle/>
          <a:p>
            <a:endParaRPr lang="ja-JP" altLang="en-US"/>
          </a:p>
        </p:txBody>
      </p:sp>
      <p:sp>
        <p:nvSpPr>
          <p:cNvPr id="27" name="Text 24"/>
          <p:cNvSpPr/>
          <p:nvPr/>
        </p:nvSpPr>
        <p:spPr>
          <a:xfrm>
            <a:off x="4754880" y="146304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28" name="Shape 25"/>
          <p:cNvSpPr/>
          <p:nvPr/>
        </p:nvSpPr>
        <p:spPr>
          <a:xfrm>
            <a:off x="4754880" y="1828800"/>
            <a:ext cx="1097280" cy="365760"/>
          </a:xfrm>
          <a:prstGeom prst="rect">
            <a:avLst/>
          </a:prstGeom>
          <a:solidFill>
            <a:srgbClr val="B0D4B0"/>
          </a:solidFill>
          <a:ln/>
        </p:spPr>
        <p:txBody>
          <a:bodyPr/>
          <a:lstStyle/>
          <a:p>
            <a:endParaRPr lang="ja-JP" altLang="en-US"/>
          </a:p>
        </p:txBody>
      </p:sp>
      <p:sp>
        <p:nvSpPr>
          <p:cNvPr id="29" name="Text 26"/>
          <p:cNvSpPr/>
          <p:nvPr/>
        </p:nvSpPr>
        <p:spPr>
          <a:xfrm>
            <a:off x="4754880" y="182880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30" name="Shape 27"/>
          <p:cNvSpPr/>
          <p:nvPr/>
        </p:nvSpPr>
        <p:spPr>
          <a:xfrm>
            <a:off x="6035040" y="1463040"/>
            <a:ext cx="1097280" cy="365760"/>
          </a:xfrm>
          <a:prstGeom prst="rect">
            <a:avLst/>
          </a:prstGeom>
          <a:solidFill>
            <a:srgbClr val="D4E8D4"/>
          </a:solidFill>
          <a:ln/>
        </p:spPr>
        <p:txBody>
          <a:bodyPr/>
          <a:lstStyle/>
          <a:p>
            <a:endParaRPr lang="ja-JP" altLang="en-US"/>
          </a:p>
        </p:txBody>
      </p:sp>
      <p:sp>
        <p:nvSpPr>
          <p:cNvPr id="31" name="Text 28"/>
          <p:cNvSpPr/>
          <p:nvPr/>
        </p:nvSpPr>
        <p:spPr>
          <a:xfrm>
            <a:off x="6035040" y="146304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32" name="Shape 29"/>
          <p:cNvSpPr/>
          <p:nvPr/>
        </p:nvSpPr>
        <p:spPr>
          <a:xfrm>
            <a:off x="6035040" y="1828800"/>
            <a:ext cx="1097280" cy="365760"/>
          </a:xfrm>
          <a:prstGeom prst="rect">
            <a:avLst/>
          </a:prstGeom>
          <a:solidFill>
            <a:srgbClr val="B0D4B0"/>
          </a:solidFill>
          <a:ln/>
        </p:spPr>
        <p:txBody>
          <a:bodyPr/>
          <a:lstStyle/>
          <a:p>
            <a:endParaRPr lang="ja-JP" altLang="en-US"/>
          </a:p>
        </p:txBody>
      </p:sp>
      <p:sp>
        <p:nvSpPr>
          <p:cNvPr id="33" name="Text 30"/>
          <p:cNvSpPr/>
          <p:nvPr/>
        </p:nvSpPr>
        <p:spPr>
          <a:xfrm>
            <a:off x="6035040" y="182880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34" name="Shape 31"/>
          <p:cNvSpPr/>
          <p:nvPr/>
        </p:nvSpPr>
        <p:spPr>
          <a:xfrm>
            <a:off x="7315200" y="1463040"/>
            <a:ext cx="1097280" cy="365760"/>
          </a:xfrm>
          <a:prstGeom prst="rect">
            <a:avLst/>
          </a:prstGeom>
          <a:solidFill>
            <a:srgbClr val="D4E8D4"/>
          </a:solidFill>
          <a:ln/>
        </p:spPr>
        <p:txBody>
          <a:bodyPr/>
          <a:lstStyle/>
          <a:p>
            <a:endParaRPr lang="ja-JP" altLang="en-US"/>
          </a:p>
        </p:txBody>
      </p:sp>
      <p:sp>
        <p:nvSpPr>
          <p:cNvPr id="35" name="Text 32"/>
          <p:cNvSpPr/>
          <p:nvPr/>
        </p:nvSpPr>
        <p:spPr>
          <a:xfrm>
            <a:off x="7315200" y="146304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36" name="Shape 33"/>
          <p:cNvSpPr/>
          <p:nvPr/>
        </p:nvSpPr>
        <p:spPr>
          <a:xfrm>
            <a:off x="7315200" y="1828800"/>
            <a:ext cx="1097280" cy="365760"/>
          </a:xfrm>
          <a:prstGeom prst="rect">
            <a:avLst/>
          </a:prstGeom>
          <a:solidFill>
            <a:srgbClr val="B0D4B0"/>
          </a:solidFill>
          <a:ln/>
        </p:spPr>
        <p:txBody>
          <a:bodyPr/>
          <a:lstStyle/>
          <a:p>
            <a:endParaRPr lang="ja-JP" altLang="en-US"/>
          </a:p>
        </p:txBody>
      </p:sp>
      <p:sp>
        <p:nvSpPr>
          <p:cNvPr id="37" name="Text 34"/>
          <p:cNvSpPr/>
          <p:nvPr/>
        </p:nvSpPr>
        <p:spPr>
          <a:xfrm>
            <a:off x="7315200" y="1828800"/>
            <a:ext cx="109728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38" name="Shape 35"/>
          <p:cNvSpPr/>
          <p:nvPr/>
        </p:nvSpPr>
        <p:spPr>
          <a:xfrm>
            <a:off x="4754880" y="2194560"/>
            <a:ext cx="3840480" cy="320040"/>
          </a:xfrm>
          <a:prstGeom prst="rect">
            <a:avLst/>
          </a:prstGeom>
          <a:solidFill>
            <a:srgbClr val="C4A44A"/>
          </a:solidFill>
          <a:ln/>
        </p:spPr>
        <p:txBody>
          <a:bodyPr/>
          <a:lstStyle/>
          <a:p>
            <a:endParaRPr lang="ja-JP" altLang="en-US"/>
          </a:p>
        </p:txBody>
      </p:sp>
      <p:sp>
        <p:nvSpPr>
          <p:cNvPr id="39" name="Text 36"/>
          <p:cNvSpPr/>
          <p:nvPr/>
        </p:nvSpPr>
        <p:spPr>
          <a:xfrm>
            <a:off x="4754880" y="2194560"/>
            <a:ext cx="3840480" cy="32004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ハイパーバイザー（仮想化レイヤー）</a:t>
            </a:r>
            <a:endParaRPr lang="en-US" sz="900" dirty="0"/>
          </a:p>
        </p:txBody>
      </p:sp>
      <p:sp>
        <p:nvSpPr>
          <p:cNvPr id="40" name="Shape 37"/>
          <p:cNvSpPr/>
          <p:nvPr/>
        </p:nvSpPr>
        <p:spPr>
          <a:xfrm>
            <a:off x="4754880" y="2514600"/>
            <a:ext cx="3840480" cy="457200"/>
          </a:xfrm>
          <a:prstGeom prst="rect">
            <a:avLst/>
          </a:prstGeom>
          <a:solidFill>
            <a:srgbClr val="8B7536"/>
          </a:solidFill>
          <a:ln/>
        </p:spPr>
        <p:txBody>
          <a:bodyPr/>
          <a:lstStyle/>
          <a:p>
            <a:endParaRPr lang="ja-JP" altLang="en-US"/>
          </a:p>
        </p:txBody>
      </p:sp>
      <p:sp>
        <p:nvSpPr>
          <p:cNvPr id="41" name="Text 38"/>
          <p:cNvSpPr/>
          <p:nvPr/>
        </p:nvSpPr>
        <p:spPr>
          <a:xfrm>
            <a:off x="4754880" y="2514600"/>
            <a:ext cx="3840480" cy="4572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1台の物理ハードウェア</a:t>
            </a:r>
            <a:endParaRPr lang="en-US" sz="900" dirty="0"/>
          </a:p>
        </p:txBody>
      </p:sp>
      <p:sp>
        <p:nvSpPr>
          <p:cNvPr id="42" name="Text 39"/>
          <p:cNvSpPr/>
          <p:nvPr/>
        </p:nvSpPr>
        <p:spPr>
          <a:xfrm>
            <a:off x="4754880" y="3063240"/>
            <a:ext cx="3840480" cy="320040"/>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1台で複数VM = リソース効率化</a:t>
            </a:r>
            <a:endParaRPr lang="en-US" sz="1000" dirty="0"/>
          </a:p>
        </p:txBody>
      </p:sp>
      <p:pic>
        <p:nvPicPr>
          <p:cNvPr id="43" name="Image 1" descr="preencoded.png"/>
          <p:cNvPicPr>
            <a:picLocks noChangeAspect="1"/>
          </p:cNvPicPr>
          <p:nvPr/>
        </p:nvPicPr>
        <p:blipFill>
          <a:blip r:embed="rId4"/>
          <a:stretch>
            <a:fillRect/>
          </a:stretch>
        </p:blipFill>
        <p:spPr>
          <a:xfrm>
            <a:off x="640080" y="3474720"/>
            <a:ext cx="228600" cy="228600"/>
          </a:xfrm>
          <a:prstGeom prst="rect">
            <a:avLst/>
          </a:prstGeom>
        </p:spPr>
      </p:pic>
      <p:sp>
        <p:nvSpPr>
          <p:cNvPr id="44" name="Text 40"/>
          <p:cNvSpPr/>
          <p:nvPr/>
        </p:nvSpPr>
        <p:spPr>
          <a:xfrm>
            <a:off x="960120" y="3474720"/>
            <a:ext cx="731520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ハードウェアリソースを効率的に共有</a:t>
            </a:r>
            <a:endParaRPr lang="en-US" sz="1100" dirty="0"/>
          </a:p>
        </p:txBody>
      </p:sp>
      <p:pic>
        <p:nvPicPr>
          <p:cNvPr id="45" name="Image 2" descr="preencoded.png"/>
          <p:cNvPicPr>
            <a:picLocks noChangeAspect="1"/>
          </p:cNvPicPr>
          <p:nvPr/>
        </p:nvPicPr>
        <p:blipFill>
          <a:blip r:embed="rId4"/>
          <a:stretch>
            <a:fillRect/>
          </a:stretch>
        </p:blipFill>
        <p:spPr>
          <a:xfrm>
            <a:off x="640080" y="3840480"/>
            <a:ext cx="228600" cy="228600"/>
          </a:xfrm>
          <a:prstGeom prst="rect">
            <a:avLst/>
          </a:prstGeom>
        </p:spPr>
      </p:pic>
      <p:sp>
        <p:nvSpPr>
          <p:cNvPr id="46" name="Text 41"/>
          <p:cNvSpPr/>
          <p:nvPr/>
        </p:nvSpPr>
        <p:spPr>
          <a:xfrm>
            <a:off x="960120" y="3840480"/>
            <a:ext cx="731520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コスト削減・サーバ統合が可能に</a:t>
            </a:r>
            <a:endParaRPr lang="en-US" sz="1100" dirty="0"/>
          </a:p>
        </p:txBody>
      </p:sp>
      <p:pic>
        <p:nvPicPr>
          <p:cNvPr id="47" name="Image 3" descr="preencoded.png"/>
          <p:cNvPicPr>
            <a:picLocks noChangeAspect="1"/>
          </p:cNvPicPr>
          <p:nvPr/>
        </p:nvPicPr>
        <p:blipFill>
          <a:blip r:embed="rId4"/>
          <a:stretch>
            <a:fillRect/>
          </a:stretch>
        </p:blipFill>
        <p:spPr>
          <a:xfrm>
            <a:off x="640080" y="4206240"/>
            <a:ext cx="228600" cy="228600"/>
          </a:xfrm>
          <a:prstGeom prst="rect">
            <a:avLst/>
          </a:prstGeom>
        </p:spPr>
      </p:pic>
      <p:sp>
        <p:nvSpPr>
          <p:cNvPr id="48" name="Text 42"/>
          <p:cNvSpPr/>
          <p:nvPr/>
        </p:nvSpPr>
        <p:spPr>
          <a:xfrm>
            <a:off x="960120" y="4206240"/>
            <a:ext cx="731520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開発・テスト環境の素早い構築</a:t>
            </a:r>
            <a:endParaRPr lang="en-US" sz="1100" dirty="0"/>
          </a:p>
        </p:txBody>
      </p:sp>
      <p:sp>
        <p:nvSpPr>
          <p:cNvPr id="49" name="Shape 43"/>
          <p:cNvSpPr/>
          <p:nvPr/>
        </p:nvSpPr>
        <p:spPr>
          <a:xfrm>
            <a:off x="0" y="4800600"/>
            <a:ext cx="9144000" cy="342900"/>
          </a:xfrm>
          <a:prstGeom prst="rect">
            <a:avLst/>
          </a:prstGeom>
          <a:solidFill>
            <a:srgbClr val="8B7536"/>
          </a:solidFill>
          <a:ln/>
        </p:spPr>
        <p:txBody>
          <a:bodyPr/>
          <a:lstStyle/>
          <a:p>
            <a:endParaRPr lang="ja-JP" altLang="en-US"/>
          </a:p>
        </p:txBody>
      </p:sp>
      <p:sp>
        <p:nvSpPr>
          <p:cNvPr id="50" name="Text 44"/>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51" name="Text 45"/>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コンテナ技術 ― さらに軽量な仮想化</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914400"/>
            <a:ext cx="365760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VMとコンテナの比較</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0292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rPr>
                        <a:t>比較項目</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solidFill>
                      <a:srgbClr val="8B7536"/>
                    </a:solidFill>
                  </a:tcPr>
                </a:tc>
                <a:tc>
                  <a:txBody>
                    <a:bodyPr/>
                    <a:lstStyle/>
                    <a:p>
                      <a:pPr marL="0" indent="0">
                        <a:buNone/>
                      </a:pPr>
                      <a:r>
                        <a:rPr lang="en-US" sz="1100" b="1" dirty="0">
                          <a:solidFill>
                            <a:srgbClr val="FFFFFF"/>
                          </a:solidFill>
                        </a:rPr>
                        <a:t>仮想マシン (VM)</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solidFill>
                      <a:srgbClr val="8B7536"/>
                    </a:solidFill>
                  </a:tcPr>
                </a:tc>
                <a:tc>
                  <a:txBody>
                    <a:bodyPr/>
                    <a:lstStyle/>
                    <a:p>
                      <a:pPr marL="0" indent="0">
                        <a:buNone/>
                      </a:pPr>
                      <a:r>
                        <a:rPr lang="en-US" sz="1100" b="1" dirty="0">
                          <a:solidFill>
                            <a:srgbClr val="FFFFFF"/>
                          </a:solidFill>
                        </a:rPr>
                        <a:t>コンテナ (Docker)</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solidFill>
                      <a:srgbClr val="8B7536"/>
                    </a:solidFill>
                  </a:tcPr>
                </a:tc>
                <a:extLst>
                  <a:ext uri="{0D108BD9-81ED-4DB2-BD59-A6C34878D82A}">
                    <a16:rowId xmlns:a16="http://schemas.microsoft.com/office/drawing/2014/main" val="10000"/>
                  </a:ext>
                </a:extLst>
              </a:tr>
              <a:tr h="320040">
                <a:tc>
                  <a:txBody>
                    <a:bodyPr/>
                    <a:lstStyle/>
                    <a:p>
                      <a:pPr marL="0" indent="0">
                        <a:buNone/>
                      </a:pPr>
                      <a:r>
                        <a:rPr lang="en-US" sz="1000" b="1" dirty="0">
                          <a:solidFill>
                            <a:srgbClr val="000000"/>
                          </a:solidFill>
                        </a:rPr>
                        <a:t>起動速度</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dirty="0">
                          <a:solidFill>
                            <a:srgbClr val="000000"/>
                          </a:solidFill>
                        </a:rPr>
                        <a:t>数分</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b="1" dirty="0">
                          <a:solidFill>
                            <a:srgbClr val="27AE60"/>
                          </a:solidFill>
                        </a:rPr>
                        <a:t>数秒</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000" b="1" dirty="0">
                          <a:solidFill>
                            <a:srgbClr val="000000"/>
                          </a:solidFill>
                        </a:rPr>
                        <a:t>リソース消費</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dirty="0">
                          <a:solidFill>
                            <a:srgbClr val="000000"/>
                          </a:solidFill>
                        </a:rPr>
                        <a:t>大きい（OS含む）</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b="1" dirty="0">
                          <a:solidFill>
                            <a:srgbClr val="27AE60"/>
                          </a:solidFill>
                        </a:rPr>
                        <a:t>小さい（アプリのみ）</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000" b="1" dirty="0">
                          <a:solidFill>
                            <a:srgbClr val="000000"/>
                          </a:solidFill>
                        </a:rPr>
                        <a:t>隔離レベル</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b="1" dirty="0">
                          <a:solidFill>
                            <a:srgbClr val="27AE60"/>
                          </a:solidFill>
                        </a:rPr>
                        <a:t>高い（OS単位）</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dirty="0">
                          <a:solidFill>
                            <a:srgbClr val="000000"/>
                          </a:solidFill>
                        </a:rPr>
                        <a:t>中程度（プロセス単位）</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000" b="1" dirty="0">
                          <a:solidFill>
                            <a:srgbClr val="000000"/>
                          </a:solidFill>
                        </a:rPr>
                        <a:t>代表例</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dirty="0">
                          <a:solidFill>
                            <a:srgbClr val="000000"/>
                          </a:solidFill>
                        </a:rPr>
                        <a:t>VMware / Hyper-V</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000" dirty="0">
                          <a:solidFill>
                            <a:srgbClr val="000000"/>
                          </a:solidFill>
                        </a:rPr>
                        <a:t>Docker / Kubernetes</a:t>
                      </a:r>
                      <a:endParaRPr lang="en-US" sz="10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6" name="Shape 3"/>
          <p:cNvSpPr/>
          <p:nvPr/>
        </p:nvSpPr>
        <p:spPr>
          <a:xfrm>
            <a:off x="5760720" y="914400"/>
            <a:ext cx="2926080" cy="3474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7" name="Shape 4"/>
          <p:cNvSpPr/>
          <p:nvPr/>
        </p:nvSpPr>
        <p:spPr>
          <a:xfrm>
            <a:off x="5760720" y="914400"/>
            <a:ext cx="2926080" cy="457200"/>
          </a:xfrm>
          <a:prstGeom prst="rect">
            <a:avLst/>
          </a:prstGeom>
          <a:solidFill>
            <a:srgbClr val="8B7536"/>
          </a:solidFill>
          <a:ln/>
        </p:spPr>
        <p:txBody>
          <a:bodyPr/>
          <a:lstStyle/>
          <a:p>
            <a:endParaRPr lang="ja-JP" altLang="en-US"/>
          </a:p>
        </p:txBody>
      </p:sp>
      <p:sp>
        <p:nvSpPr>
          <p:cNvPr id="8" name="Text 5"/>
          <p:cNvSpPr/>
          <p:nvPr/>
        </p:nvSpPr>
        <p:spPr>
          <a:xfrm>
            <a:off x="5760720" y="914400"/>
            <a:ext cx="29260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コンテナのメリット</a:t>
            </a:r>
            <a:endParaRPr lang="en-US" sz="1300" dirty="0"/>
          </a:p>
        </p:txBody>
      </p:sp>
      <p:pic>
        <p:nvPicPr>
          <p:cNvPr id="5" name="Image 0" descr="preencoded.png"/>
          <p:cNvPicPr>
            <a:picLocks noChangeAspect="1"/>
          </p:cNvPicPr>
          <p:nvPr/>
        </p:nvPicPr>
        <p:blipFill>
          <a:blip r:embed="rId3"/>
          <a:stretch>
            <a:fillRect/>
          </a:stretch>
        </p:blipFill>
        <p:spPr>
          <a:xfrm>
            <a:off x="6035040" y="1554480"/>
            <a:ext cx="320040" cy="320040"/>
          </a:xfrm>
          <a:prstGeom prst="rect">
            <a:avLst/>
          </a:prstGeom>
        </p:spPr>
      </p:pic>
      <p:sp>
        <p:nvSpPr>
          <p:cNvPr id="10" name="Text 6"/>
          <p:cNvSpPr/>
          <p:nvPr/>
        </p:nvSpPr>
        <p:spPr>
          <a:xfrm>
            <a:off x="6492240" y="1554480"/>
            <a:ext cx="201168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起動が高速</a:t>
            </a:r>
            <a:endParaRPr lang="en-US" sz="1100" dirty="0"/>
          </a:p>
        </p:txBody>
      </p:sp>
      <p:pic>
        <p:nvPicPr>
          <p:cNvPr id="11" name="Image 1" descr="preencoded.png"/>
          <p:cNvPicPr>
            <a:picLocks noChangeAspect="1"/>
          </p:cNvPicPr>
          <p:nvPr/>
        </p:nvPicPr>
        <p:blipFill>
          <a:blip r:embed="rId4"/>
          <a:stretch>
            <a:fillRect/>
          </a:stretch>
        </p:blipFill>
        <p:spPr>
          <a:xfrm>
            <a:off x="6035040" y="2194560"/>
            <a:ext cx="320040" cy="320040"/>
          </a:xfrm>
          <a:prstGeom prst="rect">
            <a:avLst/>
          </a:prstGeom>
        </p:spPr>
      </p:pic>
      <p:sp>
        <p:nvSpPr>
          <p:cNvPr id="12" name="Text 7"/>
          <p:cNvSpPr/>
          <p:nvPr/>
        </p:nvSpPr>
        <p:spPr>
          <a:xfrm>
            <a:off x="6492240" y="2194560"/>
            <a:ext cx="201168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リソース消費が少ない</a:t>
            </a:r>
            <a:endParaRPr lang="en-US" sz="1100" dirty="0"/>
          </a:p>
        </p:txBody>
      </p:sp>
      <p:pic>
        <p:nvPicPr>
          <p:cNvPr id="13" name="Image 2" descr="preencoded.png"/>
          <p:cNvPicPr>
            <a:picLocks noChangeAspect="1"/>
          </p:cNvPicPr>
          <p:nvPr/>
        </p:nvPicPr>
        <p:blipFill>
          <a:blip r:embed="rId5"/>
          <a:stretch>
            <a:fillRect/>
          </a:stretch>
        </p:blipFill>
        <p:spPr>
          <a:xfrm>
            <a:off x="6035040" y="2834640"/>
            <a:ext cx="320040" cy="320040"/>
          </a:xfrm>
          <a:prstGeom prst="rect">
            <a:avLst/>
          </a:prstGeom>
        </p:spPr>
      </p:pic>
      <p:sp>
        <p:nvSpPr>
          <p:cNvPr id="14" name="Text 8"/>
          <p:cNvSpPr/>
          <p:nvPr/>
        </p:nvSpPr>
        <p:spPr>
          <a:xfrm>
            <a:off x="6492240" y="2834640"/>
            <a:ext cx="201168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ポータブル（環境差異なし）</a:t>
            </a:r>
            <a:endParaRPr lang="en-US" sz="1100" dirty="0"/>
          </a:p>
        </p:txBody>
      </p:sp>
      <p:pic>
        <p:nvPicPr>
          <p:cNvPr id="15" name="Image 3" descr="preencoded.png"/>
          <p:cNvPicPr>
            <a:picLocks noChangeAspect="1"/>
          </p:cNvPicPr>
          <p:nvPr/>
        </p:nvPicPr>
        <p:blipFill>
          <a:blip r:embed="rId6"/>
          <a:stretch>
            <a:fillRect/>
          </a:stretch>
        </p:blipFill>
        <p:spPr>
          <a:xfrm>
            <a:off x="6035040" y="3474720"/>
            <a:ext cx="320040" cy="320040"/>
          </a:xfrm>
          <a:prstGeom prst="rect">
            <a:avLst/>
          </a:prstGeom>
        </p:spPr>
      </p:pic>
      <p:sp>
        <p:nvSpPr>
          <p:cNvPr id="16" name="Text 9"/>
          <p:cNvSpPr/>
          <p:nvPr/>
        </p:nvSpPr>
        <p:spPr>
          <a:xfrm>
            <a:off x="6492240" y="3474720"/>
            <a:ext cx="2011680" cy="32004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スケーラブル</a:t>
            </a:r>
            <a:endParaRPr lang="en-US" sz="1100" dirty="0"/>
          </a:p>
        </p:txBody>
      </p:sp>
      <p:sp>
        <p:nvSpPr>
          <p:cNvPr id="17" name="Shape 10"/>
          <p:cNvSpPr/>
          <p:nvPr/>
        </p:nvSpPr>
        <p:spPr>
          <a:xfrm>
            <a:off x="457200" y="3931920"/>
            <a:ext cx="8229600" cy="594360"/>
          </a:xfrm>
          <a:prstGeom prst="rect">
            <a:avLst/>
          </a:prstGeom>
          <a:solidFill>
            <a:srgbClr val="F5F0E6"/>
          </a:solidFill>
          <a:ln/>
        </p:spPr>
        <p:txBody>
          <a:bodyPr/>
          <a:lstStyle/>
          <a:p>
            <a:endParaRPr lang="ja-JP" altLang="en-US"/>
          </a:p>
        </p:txBody>
      </p:sp>
      <p:sp>
        <p:nvSpPr>
          <p:cNvPr id="18" name="Text 11"/>
          <p:cNvSpPr/>
          <p:nvPr/>
        </p:nvSpPr>
        <p:spPr>
          <a:xfrm>
            <a:off x="457200" y="3931920"/>
            <a:ext cx="8229600" cy="594360"/>
          </a:xfrm>
          <a:prstGeom prst="rect">
            <a:avLst/>
          </a:prstGeom>
          <a:noFill/>
          <a:ln/>
        </p:spPr>
        <p:txBody>
          <a:bodyPr wrap="square" lIns="0" tIns="0" rIns="0" bIns="0" rtlCol="0" anchor="ctr"/>
          <a:lstStyle/>
          <a:p>
            <a:pPr marL="0" indent="0" algn="ctr">
              <a:buNone/>
            </a:pPr>
            <a:r>
              <a:rPr lang="en-US" sz="1300" b="1" dirty="0">
                <a:solidFill>
                  <a:srgbClr val="8B7536"/>
                </a:solidFill>
                <a:latin typeface="Calibri" pitchFamily="34" charset="0"/>
                <a:ea typeface="Calibri" pitchFamily="34" charset="-122"/>
                <a:cs typeface="Calibri" pitchFamily="34" charset="-120"/>
              </a:rPr>
              <a:t>物理サーバ  →  仮想化（VM）  →  コンテナ（Docker）  →  クラウドネイティブ</a:t>
            </a:r>
            <a:endParaRPr lang="en-US" sz="1300" dirty="0"/>
          </a:p>
        </p:txBody>
      </p:sp>
      <p:sp>
        <p:nvSpPr>
          <p:cNvPr id="19" name="Shape 12"/>
          <p:cNvSpPr/>
          <p:nvPr/>
        </p:nvSpPr>
        <p:spPr>
          <a:xfrm>
            <a:off x="0" y="4800600"/>
            <a:ext cx="9144000" cy="342900"/>
          </a:xfrm>
          <a:prstGeom prst="rect">
            <a:avLst/>
          </a:prstGeom>
          <a:solidFill>
            <a:srgbClr val="8B7536"/>
          </a:solidFill>
          <a:ln/>
        </p:spPr>
        <p:txBody>
          <a:bodyPr/>
          <a:lstStyle/>
          <a:p>
            <a:endParaRPr lang="ja-JP" altLang="en-US"/>
          </a:p>
        </p:txBody>
      </p:sp>
      <p:sp>
        <p:nvSpPr>
          <p:cNvPr id="20" name="Text 13"/>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1" name="Text 14"/>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8B7536"/>
          </a:solidFill>
          <a:ln/>
        </p:spPr>
        <p:txBody>
          <a:bodyPr/>
          <a:lstStyle/>
          <a:p>
            <a:endParaRPr lang="ja-JP" altLang="en-US"/>
          </a:p>
        </p:txBody>
      </p:sp>
      <p:sp>
        <p:nvSpPr>
          <p:cNvPr id="3" name="Shape 1"/>
          <p:cNvSpPr/>
          <p:nvPr/>
        </p:nvSpPr>
        <p:spPr>
          <a:xfrm>
            <a:off x="2926080" y="0"/>
            <a:ext cx="6217920" cy="5143500"/>
          </a:xfrm>
          <a:prstGeom prst="rect">
            <a:avLst/>
          </a:prstGeom>
          <a:solidFill>
            <a:srgbClr val="1A1A1A"/>
          </a:solidFill>
          <a:ln/>
        </p:spPr>
        <p:txBody>
          <a:bodyPr/>
          <a:lstStyle/>
          <a:p>
            <a:endParaRPr lang="ja-JP" altLang="en-US"/>
          </a:p>
        </p:txBody>
      </p:sp>
      <p:sp>
        <p:nvSpPr>
          <p:cNvPr id="4" name="Text 2"/>
          <p:cNvSpPr/>
          <p:nvPr/>
        </p:nvSpPr>
        <p:spPr>
          <a:xfrm>
            <a:off x="457200" y="1371600"/>
            <a:ext cx="2011680" cy="1371600"/>
          </a:xfrm>
          <a:prstGeom prst="rect">
            <a:avLst/>
          </a:prstGeom>
          <a:noFill/>
          <a:ln/>
        </p:spPr>
        <p:txBody>
          <a:bodyPr wrap="square" lIns="0" tIns="0" rIns="0" bIns="0" rtlCol="0" anchor="ctr"/>
          <a:lstStyle/>
          <a:p>
            <a:pPr marL="0" indent="0" algn="ctr">
              <a:buNone/>
            </a:pPr>
            <a:r>
              <a:rPr lang="en-US" sz="6000" i="1" dirty="0">
                <a:solidFill>
                  <a:srgbClr val="FFFFFF"/>
                </a:solidFill>
                <a:latin typeface="Georgia" pitchFamily="34" charset="0"/>
                <a:ea typeface="Georgia" pitchFamily="34" charset="-122"/>
                <a:cs typeface="Georgia" pitchFamily="34" charset="-120"/>
              </a:rPr>
              <a:t>01</a:t>
            </a:r>
            <a:endParaRPr lang="en-US" sz="6000" dirty="0"/>
          </a:p>
        </p:txBody>
      </p:sp>
      <p:sp>
        <p:nvSpPr>
          <p:cNvPr id="5" name="Text 3"/>
          <p:cNvSpPr/>
          <p:nvPr/>
        </p:nvSpPr>
        <p:spPr>
          <a:xfrm>
            <a:off x="3474720" y="1645920"/>
            <a:ext cx="502920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クラウド</a:t>
            </a:r>
            <a:endParaRPr lang="en-US" sz="3200" dirty="0"/>
          </a:p>
        </p:txBody>
      </p:sp>
      <p:sp>
        <p:nvSpPr>
          <p:cNvPr id="6" name="Text 4"/>
          <p:cNvSpPr/>
          <p:nvPr/>
        </p:nvSpPr>
        <p:spPr>
          <a:xfrm>
            <a:off x="3474720" y="2651760"/>
            <a:ext cx="5029200" cy="548640"/>
          </a:xfrm>
          <a:prstGeom prst="rect">
            <a:avLst/>
          </a:prstGeom>
          <a:noFill/>
          <a:ln/>
        </p:spPr>
        <p:txBody>
          <a:bodyPr wrap="square" lIns="0" tIns="0" rIns="0" bIns="0" rtlCol="0" anchor="t"/>
          <a:lstStyle/>
          <a:p>
            <a:pPr marL="0" indent="0">
              <a:buNone/>
            </a:pPr>
            <a:r>
              <a:rPr lang="en-US" sz="1400" dirty="0">
                <a:solidFill>
                  <a:srgbClr val="AAAAAA"/>
                </a:solidFill>
                <a:latin typeface="Calibri" pitchFamily="34" charset="0"/>
                <a:ea typeface="Calibri" pitchFamily="34" charset="-122"/>
                <a:cs typeface="Calibri" pitchFamily="34" charset="-120"/>
              </a:rPr>
              <a:t>ここまでは、会社の中に置いてあるサーバの話……</a:t>
            </a:r>
            <a:endParaRPr lang="en-US" sz="1400" dirty="0"/>
          </a:p>
        </p:txBody>
      </p:sp>
      <p:sp>
        <p:nvSpPr>
          <p:cNvPr id="7" name="Text 5"/>
          <p:cNvSpPr/>
          <p:nvPr/>
        </p:nvSpPr>
        <p:spPr>
          <a:xfrm>
            <a:off x="6858000" y="4663440"/>
            <a:ext cx="2103120" cy="36576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H A R M O N I C   i n s i g h t</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じゃ、クラウドって 何？？</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8229600" cy="10972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685800" y="1097280"/>
            <a:ext cx="548640" cy="548640"/>
          </a:xfrm>
          <a:prstGeom prst="rect">
            <a:avLst/>
          </a:prstGeom>
        </p:spPr>
      </p:pic>
      <p:sp>
        <p:nvSpPr>
          <p:cNvPr id="6" name="Text 3"/>
          <p:cNvSpPr/>
          <p:nvPr/>
        </p:nvSpPr>
        <p:spPr>
          <a:xfrm>
            <a:off x="1371600" y="914400"/>
            <a:ext cx="7132320" cy="1097280"/>
          </a:xfrm>
          <a:prstGeom prst="rect">
            <a:avLst/>
          </a:prstGeom>
          <a:noFill/>
          <a:ln/>
        </p:spPr>
        <p:txBody>
          <a:bodyPr wrap="square" lIns="0" tIns="0" rIns="0" bIns="0" rtlCol="0" anchor="ctr"/>
          <a:lstStyle/>
          <a:p>
            <a:pPr marL="0" indent="0">
              <a:buNone/>
            </a:pPr>
            <a:r>
              <a:rPr lang="en-US" sz="1300" b="1" dirty="0">
                <a:solidFill>
                  <a:srgbClr val="333333"/>
                </a:solidFill>
                <a:latin typeface="Calibri" pitchFamily="34" charset="0"/>
                <a:ea typeface="Calibri" pitchFamily="34" charset="-122"/>
                <a:cs typeface="Calibri" pitchFamily="34" charset="-120"/>
              </a:rPr>
              <a:t>クラウドコンピューティングとは：</a:t>
            </a:r>
            <a:r>
              <a:rPr lang="en-US" sz="1300" dirty="0">
                <a:solidFill>
                  <a:srgbClr val="333333"/>
                </a:solidFill>
                <a:latin typeface="Calibri" pitchFamily="34" charset="0"/>
                <a:ea typeface="Calibri" pitchFamily="34" charset="-122"/>
                <a:cs typeface="Calibri" pitchFamily="34" charset="-120"/>
              </a:rPr>
              <a:t>ネットワーク経由で他者のサーバやアプリケーションを使えるようにした技術</a:t>
            </a:r>
            <a:endParaRPr lang="en-US" sz="1300" dirty="0"/>
          </a:p>
        </p:txBody>
      </p:sp>
      <p:sp>
        <p:nvSpPr>
          <p:cNvPr id="7" name="Shape 4"/>
          <p:cNvSpPr/>
          <p:nvPr/>
        </p:nvSpPr>
        <p:spPr>
          <a:xfrm>
            <a:off x="457200" y="2286000"/>
            <a:ext cx="2560320" cy="173736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8" name="Shape 5"/>
          <p:cNvSpPr/>
          <p:nvPr/>
        </p:nvSpPr>
        <p:spPr>
          <a:xfrm>
            <a:off x="1280160" y="2468880"/>
            <a:ext cx="731520" cy="731520"/>
          </a:xfrm>
          <a:prstGeom prst="ellipse">
            <a:avLst/>
          </a:prstGeom>
          <a:solidFill>
            <a:srgbClr val="8B7536"/>
          </a:solidFill>
          <a:ln/>
        </p:spPr>
        <p:txBody>
          <a:bodyPr/>
          <a:lstStyle/>
          <a:p>
            <a:endParaRPr lang="ja-JP" altLang="en-US"/>
          </a:p>
        </p:txBody>
      </p:sp>
      <p:pic>
        <p:nvPicPr>
          <p:cNvPr id="9" name="Image 1" descr="preencoded.png"/>
          <p:cNvPicPr>
            <a:picLocks noChangeAspect="1"/>
          </p:cNvPicPr>
          <p:nvPr/>
        </p:nvPicPr>
        <p:blipFill>
          <a:blip r:embed="rId4"/>
          <a:stretch>
            <a:fillRect/>
          </a:stretch>
        </p:blipFill>
        <p:spPr>
          <a:xfrm>
            <a:off x="1417320" y="2606040"/>
            <a:ext cx="457200" cy="457200"/>
          </a:xfrm>
          <a:prstGeom prst="rect">
            <a:avLst/>
          </a:prstGeom>
        </p:spPr>
      </p:pic>
      <p:sp>
        <p:nvSpPr>
          <p:cNvPr id="10" name="Text 6"/>
          <p:cNvSpPr/>
          <p:nvPr/>
        </p:nvSpPr>
        <p:spPr>
          <a:xfrm>
            <a:off x="594360" y="3246120"/>
            <a:ext cx="2286000" cy="320040"/>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所有不要</a:t>
            </a:r>
            <a:endParaRPr lang="en-US" sz="1300" dirty="0"/>
          </a:p>
        </p:txBody>
      </p:sp>
      <p:sp>
        <p:nvSpPr>
          <p:cNvPr id="11" name="Text 7"/>
          <p:cNvSpPr/>
          <p:nvPr/>
        </p:nvSpPr>
        <p:spPr>
          <a:xfrm>
            <a:off x="594360" y="3566160"/>
            <a:ext cx="2286000" cy="365760"/>
          </a:xfrm>
          <a:prstGeom prst="rect">
            <a:avLst/>
          </a:prstGeom>
          <a:noFill/>
          <a:ln/>
        </p:spPr>
        <p:txBody>
          <a:bodyPr wrap="square" lIns="0" tIns="0" rIns="0" bIns="0" rtlCol="0" anchor="t"/>
          <a:lstStyle/>
          <a:p>
            <a:pPr marL="0" indent="0" algn="ctr">
              <a:buNone/>
            </a:pPr>
            <a:r>
              <a:rPr lang="en-US" sz="1000" dirty="0">
                <a:solidFill>
                  <a:srgbClr val="666666"/>
                </a:solidFill>
                <a:latin typeface="Calibri" pitchFamily="34" charset="0"/>
                <a:ea typeface="Calibri" pitchFamily="34" charset="-122"/>
                <a:cs typeface="Calibri" pitchFamily="34" charset="-120"/>
              </a:rPr>
              <a:t>自社でサーバを購入・管理する必要がない</a:t>
            </a:r>
            <a:endParaRPr lang="en-US" sz="1000" dirty="0"/>
          </a:p>
        </p:txBody>
      </p:sp>
      <p:sp>
        <p:nvSpPr>
          <p:cNvPr id="12" name="Shape 8"/>
          <p:cNvSpPr/>
          <p:nvPr/>
        </p:nvSpPr>
        <p:spPr>
          <a:xfrm>
            <a:off x="3291840" y="2286000"/>
            <a:ext cx="2560320" cy="173736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3" name="Shape 9"/>
          <p:cNvSpPr/>
          <p:nvPr/>
        </p:nvSpPr>
        <p:spPr>
          <a:xfrm>
            <a:off x="4114800" y="2468880"/>
            <a:ext cx="731520" cy="731520"/>
          </a:xfrm>
          <a:prstGeom prst="ellipse">
            <a:avLst/>
          </a:prstGeom>
          <a:solidFill>
            <a:srgbClr val="C4A44A"/>
          </a:solidFill>
          <a:ln/>
        </p:spPr>
        <p:txBody>
          <a:bodyPr/>
          <a:lstStyle/>
          <a:p>
            <a:endParaRPr lang="ja-JP" altLang="en-US"/>
          </a:p>
        </p:txBody>
      </p:sp>
      <p:pic>
        <p:nvPicPr>
          <p:cNvPr id="14" name="Image 2" descr="preencoded.png"/>
          <p:cNvPicPr>
            <a:picLocks noChangeAspect="1"/>
          </p:cNvPicPr>
          <p:nvPr/>
        </p:nvPicPr>
        <p:blipFill>
          <a:blip r:embed="rId5"/>
          <a:stretch>
            <a:fillRect/>
          </a:stretch>
        </p:blipFill>
        <p:spPr>
          <a:xfrm>
            <a:off x="4251960" y="2606040"/>
            <a:ext cx="457200" cy="457200"/>
          </a:xfrm>
          <a:prstGeom prst="rect">
            <a:avLst/>
          </a:prstGeom>
        </p:spPr>
      </p:pic>
      <p:sp>
        <p:nvSpPr>
          <p:cNvPr id="15" name="Text 10"/>
          <p:cNvSpPr/>
          <p:nvPr/>
        </p:nvSpPr>
        <p:spPr>
          <a:xfrm>
            <a:off x="3429000" y="3246120"/>
            <a:ext cx="2286000" cy="320040"/>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従量課金</a:t>
            </a:r>
            <a:endParaRPr lang="en-US" sz="1300" dirty="0"/>
          </a:p>
        </p:txBody>
      </p:sp>
      <p:sp>
        <p:nvSpPr>
          <p:cNvPr id="16" name="Text 11"/>
          <p:cNvSpPr/>
          <p:nvPr/>
        </p:nvSpPr>
        <p:spPr>
          <a:xfrm>
            <a:off x="3429000" y="3566160"/>
            <a:ext cx="2286000" cy="365760"/>
          </a:xfrm>
          <a:prstGeom prst="rect">
            <a:avLst/>
          </a:prstGeom>
          <a:noFill/>
          <a:ln/>
        </p:spPr>
        <p:txBody>
          <a:bodyPr wrap="square" lIns="0" tIns="0" rIns="0" bIns="0" rtlCol="0" anchor="t"/>
          <a:lstStyle/>
          <a:p>
            <a:pPr marL="0" indent="0" algn="ctr">
              <a:buNone/>
            </a:pPr>
            <a:r>
              <a:rPr lang="en-US" sz="1000" dirty="0">
                <a:solidFill>
                  <a:srgbClr val="666666"/>
                </a:solidFill>
                <a:latin typeface="Calibri" pitchFamily="34" charset="0"/>
                <a:ea typeface="Calibri" pitchFamily="34" charset="-122"/>
                <a:cs typeface="Calibri" pitchFamily="34" charset="-120"/>
              </a:rPr>
              <a:t>必要な分だけ利用料を支払って使える</a:t>
            </a:r>
            <a:endParaRPr lang="en-US" sz="1000" dirty="0"/>
          </a:p>
        </p:txBody>
      </p:sp>
      <p:sp>
        <p:nvSpPr>
          <p:cNvPr id="17" name="Shape 12"/>
          <p:cNvSpPr/>
          <p:nvPr/>
        </p:nvSpPr>
        <p:spPr>
          <a:xfrm>
            <a:off x="6126480" y="2286000"/>
            <a:ext cx="2560320" cy="173736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8" name="Shape 13"/>
          <p:cNvSpPr/>
          <p:nvPr/>
        </p:nvSpPr>
        <p:spPr>
          <a:xfrm>
            <a:off x="6949440" y="2468880"/>
            <a:ext cx="731520" cy="731520"/>
          </a:xfrm>
          <a:prstGeom prst="ellipse">
            <a:avLst/>
          </a:prstGeom>
          <a:solidFill>
            <a:srgbClr val="6B5A2A"/>
          </a:solidFill>
          <a:ln/>
        </p:spPr>
        <p:txBody>
          <a:bodyPr/>
          <a:lstStyle/>
          <a:p>
            <a:endParaRPr lang="ja-JP" altLang="en-US"/>
          </a:p>
        </p:txBody>
      </p:sp>
      <p:pic>
        <p:nvPicPr>
          <p:cNvPr id="19" name="Image 3" descr="preencoded.png"/>
          <p:cNvPicPr>
            <a:picLocks noChangeAspect="1"/>
          </p:cNvPicPr>
          <p:nvPr/>
        </p:nvPicPr>
        <p:blipFill>
          <a:blip r:embed="rId5"/>
          <a:stretch>
            <a:fillRect/>
          </a:stretch>
        </p:blipFill>
        <p:spPr>
          <a:xfrm>
            <a:off x="7086600" y="2606040"/>
            <a:ext cx="457200" cy="457200"/>
          </a:xfrm>
          <a:prstGeom prst="rect">
            <a:avLst/>
          </a:prstGeom>
        </p:spPr>
      </p:pic>
      <p:sp>
        <p:nvSpPr>
          <p:cNvPr id="20" name="Text 14"/>
          <p:cNvSpPr/>
          <p:nvPr/>
        </p:nvSpPr>
        <p:spPr>
          <a:xfrm>
            <a:off x="6263640" y="3246120"/>
            <a:ext cx="2286000" cy="320040"/>
          </a:xfrm>
          <a:prstGeom prst="rect">
            <a:avLst/>
          </a:prstGeom>
          <a:noFill/>
          <a:ln/>
        </p:spPr>
        <p:txBody>
          <a:bodyPr wrap="square" lIns="0" tIns="0" rIns="0" bIns="0" rtlCol="0" anchor="ctr"/>
          <a:lstStyle/>
          <a:p>
            <a:pPr marL="0" indent="0" algn="ctr">
              <a:buNone/>
            </a:pPr>
            <a:r>
              <a:rPr lang="en-US" sz="1300" b="1" dirty="0">
                <a:solidFill>
                  <a:srgbClr val="333333"/>
                </a:solidFill>
                <a:latin typeface="Calibri" pitchFamily="34" charset="0"/>
                <a:ea typeface="Calibri" pitchFamily="34" charset="-122"/>
                <a:cs typeface="Calibri" pitchFamily="34" charset="-120"/>
              </a:rPr>
              <a:t>どこからでも</a:t>
            </a:r>
            <a:endParaRPr lang="en-US" sz="1300" dirty="0"/>
          </a:p>
        </p:txBody>
      </p:sp>
      <p:sp>
        <p:nvSpPr>
          <p:cNvPr id="21" name="Text 15"/>
          <p:cNvSpPr/>
          <p:nvPr/>
        </p:nvSpPr>
        <p:spPr>
          <a:xfrm>
            <a:off x="6263640" y="3566160"/>
            <a:ext cx="2286000" cy="365760"/>
          </a:xfrm>
          <a:prstGeom prst="rect">
            <a:avLst/>
          </a:prstGeom>
          <a:noFill/>
          <a:ln/>
        </p:spPr>
        <p:txBody>
          <a:bodyPr wrap="square" lIns="0" tIns="0" rIns="0" bIns="0" rtlCol="0" anchor="t"/>
          <a:lstStyle/>
          <a:p>
            <a:pPr marL="0" indent="0" algn="ctr">
              <a:buNone/>
            </a:pPr>
            <a:r>
              <a:rPr lang="en-US" sz="1000" dirty="0">
                <a:solidFill>
                  <a:srgbClr val="666666"/>
                </a:solidFill>
                <a:latin typeface="Calibri" pitchFamily="34" charset="0"/>
                <a:ea typeface="Calibri" pitchFamily="34" charset="-122"/>
                <a:cs typeface="Calibri" pitchFamily="34" charset="-120"/>
              </a:rPr>
              <a:t>インターネット接続さえあれば利用可能</a:t>
            </a:r>
            <a:endParaRPr lang="en-US" sz="1000" dirty="0"/>
          </a:p>
        </p:txBody>
      </p:sp>
      <p:sp>
        <p:nvSpPr>
          <p:cNvPr id="22" name="Shape 16"/>
          <p:cNvSpPr/>
          <p:nvPr/>
        </p:nvSpPr>
        <p:spPr>
          <a:xfrm>
            <a:off x="457200" y="4206240"/>
            <a:ext cx="8229600" cy="365760"/>
          </a:xfrm>
          <a:prstGeom prst="rect">
            <a:avLst/>
          </a:prstGeom>
          <a:solidFill>
            <a:srgbClr val="8B7536"/>
          </a:solidFill>
          <a:ln/>
        </p:spPr>
        <p:txBody>
          <a:bodyPr/>
          <a:lstStyle/>
          <a:p>
            <a:endParaRPr lang="ja-JP" altLang="en-US"/>
          </a:p>
        </p:txBody>
      </p:sp>
      <p:sp>
        <p:nvSpPr>
          <p:cNvPr id="23" name="Text 17"/>
          <p:cNvSpPr/>
          <p:nvPr/>
        </p:nvSpPr>
        <p:spPr>
          <a:xfrm>
            <a:off x="457200" y="4206240"/>
            <a:ext cx="8229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DX提案では「オンプレミスかクラウドか」が重要な論点になる</a:t>
            </a:r>
            <a:endParaRPr lang="en-US" sz="1200" dirty="0"/>
          </a:p>
        </p:txBody>
      </p:sp>
      <p:sp>
        <p:nvSpPr>
          <p:cNvPr id="24" name="Shape 18"/>
          <p:cNvSpPr/>
          <p:nvPr/>
        </p:nvSpPr>
        <p:spPr>
          <a:xfrm>
            <a:off x="0" y="4800600"/>
            <a:ext cx="9144000" cy="342900"/>
          </a:xfrm>
          <a:prstGeom prst="rect">
            <a:avLst/>
          </a:prstGeom>
          <a:solidFill>
            <a:srgbClr val="8B7536"/>
          </a:solidFill>
          <a:ln/>
        </p:spPr>
        <p:txBody>
          <a:bodyPr/>
          <a:lstStyle/>
          <a:p>
            <a:endParaRPr lang="ja-JP" altLang="en-US"/>
          </a:p>
        </p:txBody>
      </p:sp>
      <p:sp>
        <p:nvSpPr>
          <p:cNvPr id="25" name="Text 19"/>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6" name="Text 20"/>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クラウドのサービス形態と管理対象</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200" b="1" dirty="0">
                <a:solidFill>
                  <a:srgbClr val="8B7536"/>
                </a:solidFill>
                <a:latin typeface="Calibri" pitchFamily="34" charset="0"/>
                <a:ea typeface="Calibri" pitchFamily="34" charset="-122"/>
                <a:cs typeface="Calibri" pitchFamily="34" charset="-120"/>
              </a:rPr>
              <a:t>他人の「何」を利用するかでサービスの呼び方が変わる</a:t>
            </a:r>
            <a:endParaRPr lang="en-US" sz="1200" dirty="0"/>
          </a:p>
        </p:txBody>
      </p:sp>
      <p:sp>
        <p:nvSpPr>
          <p:cNvPr id="5" name="Shape 3"/>
          <p:cNvSpPr/>
          <p:nvPr/>
        </p:nvSpPr>
        <p:spPr>
          <a:xfrm>
            <a:off x="640080" y="1371600"/>
            <a:ext cx="1828800" cy="365760"/>
          </a:xfrm>
          <a:prstGeom prst="rect">
            <a:avLst/>
          </a:prstGeom>
          <a:solidFill>
            <a:srgbClr val="8B7536"/>
          </a:solidFill>
          <a:ln/>
        </p:spPr>
        <p:txBody>
          <a:bodyPr/>
          <a:lstStyle/>
          <a:p>
            <a:endParaRPr lang="ja-JP" altLang="en-US"/>
          </a:p>
        </p:txBody>
      </p:sp>
      <p:sp>
        <p:nvSpPr>
          <p:cNvPr id="6" name="Text 4"/>
          <p:cNvSpPr/>
          <p:nvPr/>
        </p:nvSpPr>
        <p:spPr>
          <a:xfrm>
            <a:off x="640080" y="137160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オンプレミス</a:t>
            </a:r>
            <a:endParaRPr lang="en-US" sz="1100" dirty="0"/>
          </a:p>
        </p:txBody>
      </p:sp>
      <p:sp>
        <p:nvSpPr>
          <p:cNvPr id="7" name="Shape 5"/>
          <p:cNvSpPr/>
          <p:nvPr/>
        </p:nvSpPr>
        <p:spPr>
          <a:xfrm>
            <a:off x="640080" y="178308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8" name="Text 6"/>
          <p:cNvSpPr/>
          <p:nvPr/>
        </p:nvSpPr>
        <p:spPr>
          <a:xfrm>
            <a:off x="640080" y="17830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9" name="Shape 7"/>
          <p:cNvSpPr/>
          <p:nvPr/>
        </p:nvSpPr>
        <p:spPr>
          <a:xfrm>
            <a:off x="640080" y="210312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10" name="Text 8"/>
          <p:cNvSpPr/>
          <p:nvPr/>
        </p:nvSpPr>
        <p:spPr>
          <a:xfrm>
            <a:off x="640080" y="210312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ミドルウェア</a:t>
            </a:r>
            <a:endParaRPr lang="en-US" sz="800" dirty="0"/>
          </a:p>
        </p:txBody>
      </p:sp>
      <p:sp>
        <p:nvSpPr>
          <p:cNvPr id="11" name="Shape 9"/>
          <p:cNvSpPr/>
          <p:nvPr/>
        </p:nvSpPr>
        <p:spPr>
          <a:xfrm>
            <a:off x="640080" y="242316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12" name="Text 10"/>
          <p:cNvSpPr/>
          <p:nvPr/>
        </p:nvSpPr>
        <p:spPr>
          <a:xfrm>
            <a:off x="640080" y="242316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13" name="Shape 11"/>
          <p:cNvSpPr/>
          <p:nvPr/>
        </p:nvSpPr>
        <p:spPr>
          <a:xfrm>
            <a:off x="640080" y="274320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14" name="Text 12"/>
          <p:cNvSpPr/>
          <p:nvPr/>
        </p:nvSpPr>
        <p:spPr>
          <a:xfrm>
            <a:off x="640080" y="274320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仮想化</a:t>
            </a:r>
            <a:endParaRPr lang="en-US" sz="800" dirty="0"/>
          </a:p>
        </p:txBody>
      </p:sp>
      <p:sp>
        <p:nvSpPr>
          <p:cNvPr id="15" name="Shape 13"/>
          <p:cNvSpPr/>
          <p:nvPr/>
        </p:nvSpPr>
        <p:spPr>
          <a:xfrm>
            <a:off x="640080" y="306324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16" name="Text 14"/>
          <p:cNvSpPr/>
          <p:nvPr/>
        </p:nvSpPr>
        <p:spPr>
          <a:xfrm>
            <a:off x="640080" y="306324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ハードウェア</a:t>
            </a:r>
            <a:endParaRPr lang="en-US" sz="800" dirty="0"/>
          </a:p>
        </p:txBody>
      </p:sp>
      <p:sp>
        <p:nvSpPr>
          <p:cNvPr id="17" name="Shape 15"/>
          <p:cNvSpPr/>
          <p:nvPr/>
        </p:nvSpPr>
        <p:spPr>
          <a:xfrm>
            <a:off x="640080" y="338328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18" name="Text 16"/>
          <p:cNvSpPr/>
          <p:nvPr/>
        </p:nvSpPr>
        <p:spPr>
          <a:xfrm>
            <a:off x="640080" y="33832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ネットワーク</a:t>
            </a:r>
            <a:endParaRPr lang="en-US" sz="800" dirty="0"/>
          </a:p>
        </p:txBody>
      </p:sp>
      <p:sp>
        <p:nvSpPr>
          <p:cNvPr id="19" name="Shape 17"/>
          <p:cNvSpPr/>
          <p:nvPr/>
        </p:nvSpPr>
        <p:spPr>
          <a:xfrm>
            <a:off x="2743200" y="1371600"/>
            <a:ext cx="1828800" cy="365760"/>
          </a:xfrm>
          <a:prstGeom prst="rect">
            <a:avLst/>
          </a:prstGeom>
          <a:solidFill>
            <a:srgbClr val="8B7536"/>
          </a:solidFill>
          <a:ln/>
        </p:spPr>
        <p:txBody>
          <a:bodyPr/>
          <a:lstStyle/>
          <a:p>
            <a:endParaRPr lang="ja-JP" altLang="en-US"/>
          </a:p>
        </p:txBody>
      </p:sp>
      <p:sp>
        <p:nvSpPr>
          <p:cNvPr id="20" name="Text 18"/>
          <p:cNvSpPr/>
          <p:nvPr/>
        </p:nvSpPr>
        <p:spPr>
          <a:xfrm>
            <a:off x="2743200" y="137160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IaaS</a:t>
            </a:r>
            <a:endParaRPr lang="en-US" sz="1100" dirty="0"/>
          </a:p>
        </p:txBody>
      </p:sp>
      <p:sp>
        <p:nvSpPr>
          <p:cNvPr id="21" name="Shape 19"/>
          <p:cNvSpPr/>
          <p:nvPr/>
        </p:nvSpPr>
        <p:spPr>
          <a:xfrm>
            <a:off x="2743200" y="178308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22" name="Text 20"/>
          <p:cNvSpPr/>
          <p:nvPr/>
        </p:nvSpPr>
        <p:spPr>
          <a:xfrm>
            <a:off x="2743200" y="17830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23" name="Shape 21"/>
          <p:cNvSpPr/>
          <p:nvPr/>
        </p:nvSpPr>
        <p:spPr>
          <a:xfrm>
            <a:off x="2743200" y="210312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24" name="Text 22"/>
          <p:cNvSpPr/>
          <p:nvPr/>
        </p:nvSpPr>
        <p:spPr>
          <a:xfrm>
            <a:off x="2743200" y="210312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ミドルウェア</a:t>
            </a:r>
            <a:endParaRPr lang="en-US" sz="800" dirty="0"/>
          </a:p>
        </p:txBody>
      </p:sp>
      <p:sp>
        <p:nvSpPr>
          <p:cNvPr id="25" name="Shape 23"/>
          <p:cNvSpPr/>
          <p:nvPr/>
        </p:nvSpPr>
        <p:spPr>
          <a:xfrm>
            <a:off x="2743200" y="242316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26" name="Text 24"/>
          <p:cNvSpPr/>
          <p:nvPr/>
        </p:nvSpPr>
        <p:spPr>
          <a:xfrm>
            <a:off x="2743200" y="242316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27" name="Shape 25"/>
          <p:cNvSpPr/>
          <p:nvPr/>
        </p:nvSpPr>
        <p:spPr>
          <a:xfrm>
            <a:off x="2743200" y="274320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28" name="Text 26"/>
          <p:cNvSpPr/>
          <p:nvPr/>
        </p:nvSpPr>
        <p:spPr>
          <a:xfrm>
            <a:off x="2743200" y="274320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仮想化</a:t>
            </a:r>
            <a:endParaRPr lang="en-US" sz="800" dirty="0"/>
          </a:p>
        </p:txBody>
      </p:sp>
      <p:sp>
        <p:nvSpPr>
          <p:cNvPr id="29" name="Shape 27"/>
          <p:cNvSpPr/>
          <p:nvPr/>
        </p:nvSpPr>
        <p:spPr>
          <a:xfrm>
            <a:off x="2743200" y="306324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30" name="Text 28"/>
          <p:cNvSpPr/>
          <p:nvPr/>
        </p:nvSpPr>
        <p:spPr>
          <a:xfrm>
            <a:off x="2743200" y="306324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ハードウェア</a:t>
            </a:r>
            <a:endParaRPr lang="en-US" sz="800" dirty="0"/>
          </a:p>
        </p:txBody>
      </p:sp>
      <p:sp>
        <p:nvSpPr>
          <p:cNvPr id="31" name="Shape 29"/>
          <p:cNvSpPr/>
          <p:nvPr/>
        </p:nvSpPr>
        <p:spPr>
          <a:xfrm>
            <a:off x="2743200" y="338328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32" name="Text 30"/>
          <p:cNvSpPr/>
          <p:nvPr/>
        </p:nvSpPr>
        <p:spPr>
          <a:xfrm>
            <a:off x="2743200" y="33832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ネットワーク</a:t>
            </a:r>
            <a:endParaRPr lang="en-US" sz="800" dirty="0"/>
          </a:p>
        </p:txBody>
      </p:sp>
      <p:sp>
        <p:nvSpPr>
          <p:cNvPr id="33" name="Shape 31"/>
          <p:cNvSpPr/>
          <p:nvPr/>
        </p:nvSpPr>
        <p:spPr>
          <a:xfrm>
            <a:off x="4846320" y="1371600"/>
            <a:ext cx="1828800" cy="365760"/>
          </a:xfrm>
          <a:prstGeom prst="rect">
            <a:avLst/>
          </a:prstGeom>
          <a:solidFill>
            <a:srgbClr val="8B7536"/>
          </a:solidFill>
          <a:ln/>
        </p:spPr>
        <p:txBody>
          <a:bodyPr/>
          <a:lstStyle/>
          <a:p>
            <a:endParaRPr lang="ja-JP" altLang="en-US"/>
          </a:p>
        </p:txBody>
      </p:sp>
      <p:sp>
        <p:nvSpPr>
          <p:cNvPr id="34" name="Text 32"/>
          <p:cNvSpPr/>
          <p:nvPr/>
        </p:nvSpPr>
        <p:spPr>
          <a:xfrm>
            <a:off x="4846320" y="137160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PaaS</a:t>
            </a:r>
            <a:endParaRPr lang="en-US" sz="1100" dirty="0"/>
          </a:p>
        </p:txBody>
      </p:sp>
      <p:sp>
        <p:nvSpPr>
          <p:cNvPr id="35" name="Shape 33"/>
          <p:cNvSpPr/>
          <p:nvPr/>
        </p:nvSpPr>
        <p:spPr>
          <a:xfrm>
            <a:off x="4846320" y="1783080"/>
            <a:ext cx="1828800" cy="301752"/>
          </a:xfrm>
          <a:prstGeom prst="rect">
            <a:avLst/>
          </a:prstGeom>
          <a:solidFill>
            <a:srgbClr val="FFE0CC"/>
          </a:solidFill>
          <a:ln w="3810">
            <a:solidFill>
              <a:srgbClr val="E0D9C8"/>
            </a:solidFill>
            <a:prstDash val="solid"/>
          </a:ln>
        </p:spPr>
        <p:txBody>
          <a:bodyPr/>
          <a:lstStyle/>
          <a:p>
            <a:endParaRPr lang="ja-JP" altLang="en-US"/>
          </a:p>
        </p:txBody>
      </p:sp>
      <p:sp>
        <p:nvSpPr>
          <p:cNvPr id="36" name="Text 34"/>
          <p:cNvSpPr/>
          <p:nvPr/>
        </p:nvSpPr>
        <p:spPr>
          <a:xfrm>
            <a:off x="4846320" y="17830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37" name="Shape 35"/>
          <p:cNvSpPr/>
          <p:nvPr/>
        </p:nvSpPr>
        <p:spPr>
          <a:xfrm>
            <a:off x="4846320" y="210312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38" name="Text 36"/>
          <p:cNvSpPr/>
          <p:nvPr/>
        </p:nvSpPr>
        <p:spPr>
          <a:xfrm>
            <a:off x="4846320" y="210312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ミドルウェア</a:t>
            </a:r>
            <a:endParaRPr lang="en-US" sz="800" dirty="0"/>
          </a:p>
        </p:txBody>
      </p:sp>
      <p:sp>
        <p:nvSpPr>
          <p:cNvPr id="39" name="Shape 37"/>
          <p:cNvSpPr/>
          <p:nvPr/>
        </p:nvSpPr>
        <p:spPr>
          <a:xfrm>
            <a:off x="4846320" y="242316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40" name="Text 38"/>
          <p:cNvSpPr/>
          <p:nvPr/>
        </p:nvSpPr>
        <p:spPr>
          <a:xfrm>
            <a:off x="4846320" y="242316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41" name="Shape 39"/>
          <p:cNvSpPr/>
          <p:nvPr/>
        </p:nvSpPr>
        <p:spPr>
          <a:xfrm>
            <a:off x="4846320" y="274320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42" name="Text 40"/>
          <p:cNvSpPr/>
          <p:nvPr/>
        </p:nvSpPr>
        <p:spPr>
          <a:xfrm>
            <a:off x="4846320" y="274320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仮想化</a:t>
            </a:r>
            <a:endParaRPr lang="en-US" sz="800" dirty="0"/>
          </a:p>
        </p:txBody>
      </p:sp>
      <p:sp>
        <p:nvSpPr>
          <p:cNvPr id="43" name="Shape 41"/>
          <p:cNvSpPr/>
          <p:nvPr/>
        </p:nvSpPr>
        <p:spPr>
          <a:xfrm>
            <a:off x="4846320" y="306324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44" name="Text 42"/>
          <p:cNvSpPr/>
          <p:nvPr/>
        </p:nvSpPr>
        <p:spPr>
          <a:xfrm>
            <a:off x="4846320" y="306324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ハードウェア</a:t>
            </a:r>
            <a:endParaRPr lang="en-US" sz="800" dirty="0"/>
          </a:p>
        </p:txBody>
      </p:sp>
      <p:sp>
        <p:nvSpPr>
          <p:cNvPr id="45" name="Shape 43"/>
          <p:cNvSpPr/>
          <p:nvPr/>
        </p:nvSpPr>
        <p:spPr>
          <a:xfrm>
            <a:off x="4846320" y="338328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46" name="Text 44"/>
          <p:cNvSpPr/>
          <p:nvPr/>
        </p:nvSpPr>
        <p:spPr>
          <a:xfrm>
            <a:off x="4846320" y="33832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ネットワーク</a:t>
            </a:r>
            <a:endParaRPr lang="en-US" sz="800" dirty="0"/>
          </a:p>
        </p:txBody>
      </p:sp>
      <p:sp>
        <p:nvSpPr>
          <p:cNvPr id="47" name="Shape 45"/>
          <p:cNvSpPr/>
          <p:nvPr/>
        </p:nvSpPr>
        <p:spPr>
          <a:xfrm>
            <a:off x="6949440" y="1371600"/>
            <a:ext cx="1828800" cy="365760"/>
          </a:xfrm>
          <a:prstGeom prst="rect">
            <a:avLst/>
          </a:prstGeom>
          <a:solidFill>
            <a:srgbClr val="8B7536"/>
          </a:solidFill>
          <a:ln/>
        </p:spPr>
        <p:txBody>
          <a:bodyPr/>
          <a:lstStyle/>
          <a:p>
            <a:endParaRPr lang="ja-JP" altLang="en-US"/>
          </a:p>
        </p:txBody>
      </p:sp>
      <p:sp>
        <p:nvSpPr>
          <p:cNvPr id="48" name="Text 46"/>
          <p:cNvSpPr/>
          <p:nvPr/>
        </p:nvSpPr>
        <p:spPr>
          <a:xfrm>
            <a:off x="6949440" y="1371600"/>
            <a:ext cx="1828800" cy="36576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SaaS</a:t>
            </a:r>
            <a:endParaRPr lang="en-US" sz="1100" dirty="0"/>
          </a:p>
        </p:txBody>
      </p:sp>
      <p:sp>
        <p:nvSpPr>
          <p:cNvPr id="49" name="Shape 47"/>
          <p:cNvSpPr/>
          <p:nvPr/>
        </p:nvSpPr>
        <p:spPr>
          <a:xfrm>
            <a:off x="6949440" y="178308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50" name="Text 48"/>
          <p:cNvSpPr/>
          <p:nvPr/>
        </p:nvSpPr>
        <p:spPr>
          <a:xfrm>
            <a:off x="6949440" y="17830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アプリ</a:t>
            </a:r>
            <a:endParaRPr lang="en-US" sz="800" dirty="0"/>
          </a:p>
        </p:txBody>
      </p:sp>
      <p:sp>
        <p:nvSpPr>
          <p:cNvPr id="51" name="Shape 49"/>
          <p:cNvSpPr/>
          <p:nvPr/>
        </p:nvSpPr>
        <p:spPr>
          <a:xfrm>
            <a:off x="6949440" y="210312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52" name="Text 50"/>
          <p:cNvSpPr/>
          <p:nvPr/>
        </p:nvSpPr>
        <p:spPr>
          <a:xfrm>
            <a:off x="6949440" y="210312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ミドルウェア</a:t>
            </a:r>
            <a:endParaRPr lang="en-US" sz="800" dirty="0"/>
          </a:p>
        </p:txBody>
      </p:sp>
      <p:sp>
        <p:nvSpPr>
          <p:cNvPr id="53" name="Shape 51"/>
          <p:cNvSpPr/>
          <p:nvPr/>
        </p:nvSpPr>
        <p:spPr>
          <a:xfrm>
            <a:off x="6949440" y="242316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54" name="Text 52"/>
          <p:cNvSpPr/>
          <p:nvPr/>
        </p:nvSpPr>
        <p:spPr>
          <a:xfrm>
            <a:off x="6949440" y="242316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OS</a:t>
            </a:r>
            <a:endParaRPr lang="en-US" sz="800" dirty="0"/>
          </a:p>
        </p:txBody>
      </p:sp>
      <p:sp>
        <p:nvSpPr>
          <p:cNvPr id="55" name="Shape 53"/>
          <p:cNvSpPr/>
          <p:nvPr/>
        </p:nvSpPr>
        <p:spPr>
          <a:xfrm>
            <a:off x="6949440" y="274320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56" name="Text 54"/>
          <p:cNvSpPr/>
          <p:nvPr/>
        </p:nvSpPr>
        <p:spPr>
          <a:xfrm>
            <a:off x="6949440" y="274320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仮想化</a:t>
            </a:r>
            <a:endParaRPr lang="en-US" sz="800" dirty="0"/>
          </a:p>
        </p:txBody>
      </p:sp>
      <p:sp>
        <p:nvSpPr>
          <p:cNvPr id="57" name="Shape 55"/>
          <p:cNvSpPr/>
          <p:nvPr/>
        </p:nvSpPr>
        <p:spPr>
          <a:xfrm>
            <a:off x="6949440" y="306324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58" name="Text 56"/>
          <p:cNvSpPr/>
          <p:nvPr/>
        </p:nvSpPr>
        <p:spPr>
          <a:xfrm>
            <a:off x="6949440" y="306324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ハードウェア</a:t>
            </a:r>
            <a:endParaRPr lang="en-US" sz="800" dirty="0"/>
          </a:p>
        </p:txBody>
      </p:sp>
      <p:sp>
        <p:nvSpPr>
          <p:cNvPr id="59" name="Shape 57"/>
          <p:cNvSpPr/>
          <p:nvPr/>
        </p:nvSpPr>
        <p:spPr>
          <a:xfrm>
            <a:off x="6949440" y="3383280"/>
            <a:ext cx="1828800" cy="301752"/>
          </a:xfrm>
          <a:prstGeom prst="rect">
            <a:avLst/>
          </a:prstGeom>
          <a:solidFill>
            <a:srgbClr val="D4E8D4"/>
          </a:solidFill>
          <a:ln w="3810">
            <a:solidFill>
              <a:srgbClr val="E0D9C8"/>
            </a:solidFill>
            <a:prstDash val="solid"/>
          </a:ln>
        </p:spPr>
        <p:txBody>
          <a:bodyPr/>
          <a:lstStyle/>
          <a:p>
            <a:endParaRPr lang="ja-JP" altLang="en-US"/>
          </a:p>
        </p:txBody>
      </p:sp>
      <p:sp>
        <p:nvSpPr>
          <p:cNvPr id="60" name="Text 58"/>
          <p:cNvSpPr/>
          <p:nvPr/>
        </p:nvSpPr>
        <p:spPr>
          <a:xfrm>
            <a:off x="6949440" y="3383280"/>
            <a:ext cx="1828800" cy="301752"/>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ネットワーク</a:t>
            </a:r>
            <a:endParaRPr lang="en-US" sz="800" dirty="0"/>
          </a:p>
        </p:txBody>
      </p:sp>
      <p:sp>
        <p:nvSpPr>
          <p:cNvPr id="61" name="Shape 59"/>
          <p:cNvSpPr/>
          <p:nvPr/>
        </p:nvSpPr>
        <p:spPr>
          <a:xfrm>
            <a:off x="914400" y="3794760"/>
            <a:ext cx="274320" cy="182880"/>
          </a:xfrm>
          <a:prstGeom prst="rect">
            <a:avLst/>
          </a:prstGeom>
          <a:solidFill>
            <a:srgbClr val="FFE0CC"/>
          </a:solidFill>
          <a:ln/>
        </p:spPr>
        <p:txBody>
          <a:bodyPr/>
          <a:lstStyle/>
          <a:p>
            <a:endParaRPr lang="ja-JP" altLang="en-US"/>
          </a:p>
        </p:txBody>
      </p:sp>
      <p:sp>
        <p:nvSpPr>
          <p:cNvPr id="62" name="Text 60"/>
          <p:cNvSpPr/>
          <p:nvPr/>
        </p:nvSpPr>
        <p:spPr>
          <a:xfrm>
            <a:off x="1234440" y="3767328"/>
            <a:ext cx="914400" cy="22860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自社管理</a:t>
            </a:r>
            <a:endParaRPr lang="en-US" sz="900" dirty="0"/>
          </a:p>
        </p:txBody>
      </p:sp>
      <p:sp>
        <p:nvSpPr>
          <p:cNvPr id="63" name="Shape 61"/>
          <p:cNvSpPr/>
          <p:nvPr/>
        </p:nvSpPr>
        <p:spPr>
          <a:xfrm>
            <a:off x="2560320" y="3794760"/>
            <a:ext cx="274320" cy="182880"/>
          </a:xfrm>
          <a:prstGeom prst="rect">
            <a:avLst/>
          </a:prstGeom>
          <a:solidFill>
            <a:srgbClr val="D4E8D4"/>
          </a:solidFill>
          <a:ln/>
        </p:spPr>
        <p:txBody>
          <a:bodyPr/>
          <a:lstStyle/>
          <a:p>
            <a:endParaRPr lang="ja-JP" altLang="en-US"/>
          </a:p>
        </p:txBody>
      </p:sp>
      <p:sp>
        <p:nvSpPr>
          <p:cNvPr id="64" name="Text 62"/>
          <p:cNvSpPr/>
          <p:nvPr/>
        </p:nvSpPr>
        <p:spPr>
          <a:xfrm>
            <a:off x="2880360" y="3767328"/>
            <a:ext cx="1828800" cy="228600"/>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クラウド事業者が管理</a:t>
            </a:r>
            <a:endParaRPr lang="en-US" sz="900" dirty="0"/>
          </a:p>
        </p:txBody>
      </p:sp>
      <p:sp>
        <p:nvSpPr>
          <p:cNvPr id="65" name="Shape 63"/>
          <p:cNvSpPr/>
          <p:nvPr/>
        </p:nvSpPr>
        <p:spPr>
          <a:xfrm>
            <a:off x="457200" y="4114800"/>
            <a:ext cx="8229600" cy="457200"/>
          </a:xfrm>
          <a:prstGeom prst="rect">
            <a:avLst/>
          </a:prstGeom>
          <a:solidFill>
            <a:srgbClr val="F5F0E6"/>
          </a:solidFill>
          <a:ln/>
        </p:spPr>
        <p:txBody>
          <a:bodyPr/>
          <a:lstStyle/>
          <a:p>
            <a:endParaRPr lang="ja-JP" altLang="en-US"/>
          </a:p>
        </p:txBody>
      </p:sp>
      <p:sp>
        <p:nvSpPr>
          <p:cNvPr id="66" name="Text 64"/>
          <p:cNvSpPr/>
          <p:nvPr/>
        </p:nvSpPr>
        <p:spPr>
          <a:xfrm>
            <a:off x="640080" y="4114800"/>
            <a:ext cx="7863840" cy="45720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例：</a:t>
            </a:r>
            <a:r>
              <a:rPr lang="en-US" sz="1100" dirty="0">
                <a:solidFill>
                  <a:srgbClr val="333333"/>
                </a:solidFill>
                <a:latin typeface="Calibri" pitchFamily="34" charset="0"/>
                <a:ea typeface="Calibri" pitchFamily="34" charset="-122"/>
                <a:cs typeface="Calibri" pitchFamily="34" charset="-120"/>
              </a:rPr>
              <a:t>IaaS = AWS EC2 / Azure VM    PaaS = Heroku / GAE    SaaS = Gmail / Office365 / Salesforce</a:t>
            </a:r>
            <a:endParaRPr lang="en-US" sz="1100" dirty="0"/>
          </a:p>
        </p:txBody>
      </p:sp>
      <p:sp>
        <p:nvSpPr>
          <p:cNvPr id="67" name="Shape 65"/>
          <p:cNvSpPr/>
          <p:nvPr/>
        </p:nvSpPr>
        <p:spPr>
          <a:xfrm>
            <a:off x="0" y="4800600"/>
            <a:ext cx="9144000" cy="342900"/>
          </a:xfrm>
          <a:prstGeom prst="rect">
            <a:avLst/>
          </a:prstGeom>
          <a:solidFill>
            <a:srgbClr val="8B7536"/>
          </a:solidFill>
          <a:ln/>
        </p:spPr>
        <p:txBody>
          <a:bodyPr/>
          <a:lstStyle/>
          <a:p>
            <a:endParaRPr lang="ja-JP" altLang="en-US"/>
          </a:p>
        </p:txBody>
      </p:sp>
      <p:sp>
        <p:nvSpPr>
          <p:cNvPr id="68" name="Text 66"/>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69" name="Text 67"/>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8B7536"/>
          </a:solidFill>
          <a:ln/>
        </p:spPr>
        <p:txBody>
          <a:bodyPr/>
          <a:lstStyle/>
          <a:p>
            <a:endParaRPr lang="ja-JP" altLang="en-US"/>
          </a:p>
        </p:txBody>
      </p:sp>
      <p:sp>
        <p:nvSpPr>
          <p:cNvPr id="3" name="Shape 1"/>
          <p:cNvSpPr/>
          <p:nvPr/>
        </p:nvSpPr>
        <p:spPr>
          <a:xfrm>
            <a:off x="2926080" y="0"/>
            <a:ext cx="6217920" cy="5143500"/>
          </a:xfrm>
          <a:prstGeom prst="rect">
            <a:avLst/>
          </a:prstGeom>
          <a:solidFill>
            <a:srgbClr val="1A1A1A"/>
          </a:solidFill>
          <a:ln/>
        </p:spPr>
        <p:txBody>
          <a:bodyPr/>
          <a:lstStyle/>
          <a:p>
            <a:endParaRPr lang="ja-JP" altLang="en-US"/>
          </a:p>
        </p:txBody>
      </p:sp>
      <p:sp>
        <p:nvSpPr>
          <p:cNvPr id="4" name="Text 2"/>
          <p:cNvSpPr/>
          <p:nvPr/>
        </p:nvSpPr>
        <p:spPr>
          <a:xfrm>
            <a:off x="457200" y="1371600"/>
            <a:ext cx="2011680" cy="1371600"/>
          </a:xfrm>
          <a:prstGeom prst="rect">
            <a:avLst/>
          </a:prstGeom>
          <a:noFill/>
          <a:ln/>
        </p:spPr>
        <p:txBody>
          <a:bodyPr wrap="square" lIns="0" tIns="0" rIns="0" bIns="0" rtlCol="0" anchor="ctr"/>
          <a:lstStyle/>
          <a:p>
            <a:pPr marL="0" indent="0" algn="ctr">
              <a:buNone/>
            </a:pPr>
            <a:r>
              <a:rPr lang="en-US" sz="6000" i="1" dirty="0">
                <a:solidFill>
                  <a:srgbClr val="FFFFFF"/>
                </a:solidFill>
                <a:latin typeface="Georgia" pitchFamily="34" charset="0"/>
                <a:ea typeface="Georgia" pitchFamily="34" charset="-122"/>
                <a:cs typeface="Georgia" pitchFamily="34" charset="-120"/>
              </a:rPr>
              <a:t>02</a:t>
            </a:r>
            <a:endParaRPr lang="en-US" sz="6000" dirty="0"/>
          </a:p>
        </p:txBody>
      </p:sp>
      <p:sp>
        <p:nvSpPr>
          <p:cNvPr id="5" name="Text 3"/>
          <p:cNvSpPr/>
          <p:nvPr/>
        </p:nvSpPr>
        <p:spPr>
          <a:xfrm>
            <a:off x="3474720" y="1645920"/>
            <a:ext cx="502920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仕組み・API</a:t>
            </a:r>
            <a:endParaRPr lang="en-US" sz="3200" dirty="0"/>
          </a:p>
        </p:txBody>
      </p:sp>
      <p:sp>
        <p:nvSpPr>
          <p:cNvPr id="6" name="Text 4"/>
          <p:cNvSpPr/>
          <p:nvPr/>
        </p:nvSpPr>
        <p:spPr>
          <a:xfrm>
            <a:off x="3474720" y="2651760"/>
            <a:ext cx="5029200" cy="548640"/>
          </a:xfrm>
          <a:prstGeom prst="rect">
            <a:avLst/>
          </a:prstGeom>
          <a:noFill/>
          <a:ln/>
        </p:spPr>
        <p:txBody>
          <a:bodyPr wrap="square" lIns="0" tIns="0" rIns="0" bIns="0" rtlCol="0" anchor="t"/>
          <a:lstStyle/>
          <a:p>
            <a:pPr marL="0" indent="0">
              <a:buNone/>
            </a:pPr>
            <a:r>
              <a:rPr lang="en-US" sz="1400" dirty="0">
                <a:solidFill>
                  <a:srgbClr val="AAAAAA"/>
                </a:solidFill>
                <a:latin typeface="Calibri" pitchFamily="34" charset="0"/>
                <a:ea typeface="Calibri" pitchFamily="34" charset="-122"/>
                <a:cs typeface="Calibri" pitchFamily="34" charset="-120"/>
              </a:rPr>
              <a:t>ここまでがサーバ、クラウドの話……</a:t>
            </a:r>
            <a:endParaRPr lang="en-US" sz="1400" dirty="0"/>
          </a:p>
        </p:txBody>
      </p:sp>
      <p:sp>
        <p:nvSpPr>
          <p:cNvPr id="7" name="Text 5"/>
          <p:cNvSpPr/>
          <p:nvPr/>
        </p:nvSpPr>
        <p:spPr>
          <a:xfrm>
            <a:off x="6858000" y="4663440"/>
            <a:ext cx="2103120" cy="36576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H A R M O N I C   i n s i g h t</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8B7536"/>
          </a:solidFill>
          <a:ln/>
        </p:spPr>
        <p:txBody>
          <a:bodyPr/>
          <a:lstStyle/>
          <a:p>
            <a:endParaRPr lang="ja-JP" altLang="en-US"/>
          </a:p>
        </p:txBody>
      </p:sp>
      <p:sp>
        <p:nvSpPr>
          <p:cNvPr id="3" name="Shape 1"/>
          <p:cNvSpPr/>
          <p:nvPr/>
        </p:nvSpPr>
        <p:spPr>
          <a:xfrm>
            <a:off x="2926080" y="0"/>
            <a:ext cx="6217920" cy="5143500"/>
          </a:xfrm>
          <a:prstGeom prst="rect">
            <a:avLst/>
          </a:prstGeom>
          <a:solidFill>
            <a:srgbClr val="1A1A1A"/>
          </a:solidFill>
          <a:ln/>
        </p:spPr>
        <p:txBody>
          <a:bodyPr/>
          <a:lstStyle/>
          <a:p>
            <a:endParaRPr lang="ja-JP" altLang="en-US"/>
          </a:p>
        </p:txBody>
      </p:sp>
      <p:sp>
        <p:nvSpPr>
          <p:cNvPr id="4" name="Text 2"/>
          <p:cNvSpPr/>
          <p:nvPr/>
        </p:nvSpPr>
        <p:spPr>
          <a:xfrm>
            <a:off x="457200" y="1371600"/>
            <a:ext cx="2011680" cy="1371600"/>
          </a:xfrm>
          <a:prstGeom prst="rect">
            <a:avLst/>
          </a:prstGeom>
          <a:noFill/>
          <a:ln/>
        </p:spPr>
        <p:txBody>
          <a:bodyPr wrap="square" lIns="0" tIns="0" rIns="0" bIns="0" rtlCol="0" anchor="ctr"/>
          <a:lstStyle/>
          <a:p>
            <a:pPr marL="0" indent="0" algn="ctr">
              <a:buNone/>
            </a:pPr>
            <a:r>
              <a:rPr lang="en-US" sz="6000" i="1" dirty="0">
                <a:solidFill>
                  <a:srgbClr val="FFFFFF"/>
                </a:solidFill>
                <a:latin typeface="Georgia" pitchFamily="34" charset="0"/>
                <a:ea typeface="Georgia" pitchFamily="34" charset="-122"/>
                <a:cs typeface="Georgia" pitchFamily="34" charset="-120"/>
              </a:rPr>
              <a:t>03</a:t>
            </a:r>
            <a:endParaRPr lang="en-US" sz="6000" dirty="0"/>
          </a:p>
        </p:txBody>
      </p:sp>
      <p:sp>
        <p:nvSpPr>
          <p:cNvPr id="5" name="Text 3"/>
          <p:cNvSpPr/>
          <p:nvPr/>
        </p:nvSpPr>
        <p:spPr>
          <a:xfrm>
            <a:off x="3474720" y="1645920"/>
            <a:ext cx="5029200" cy="91440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仕組み・APIの話</a:t>
            </a:r>
            <a:endParaRPr lang="en-US" sz="3200" dirty="0"/>
          </a:p>
        </p:txBody>
      </p:sp>
      <p:sp>
        <p:nvSpPr>
          <p:cNvPr id="6" name="Text 4"/>
          <p:cNvSpPr/>
          <p:nvPr/>
        </p:nvSpPr>
        <p:spPr>
          <a:xfrm>
            <a:off x="3474720" y="2651760"/>
            <a:ext cx="5029200" cy="548640"/>
          </a:xfrm>
          <a:prstGeom prst="rect">
            <a:avLst/>
          </a:prstGeom>
          <a:noFill/>
          <a:ln/>
        </p:spPr>
        <p:txBody>
          <a:bodyPr wrap="square" lIns="0" tIns="0" rIns="0" bIns="0" rtlCol="0" anchor="t"/>
          <a:lstStyle/>
          <a:p>
            <a:pPr marL="0" indent="0">
              <a:buNone/>
            </a:pPr>
            <a:r>
              <a:rPr lang="en-US" sz="1400" dirty="0">
                <a:solidFill>
                  <a:srgbClr val="AAAAAA"/>
                </a:solidFill>
                <a:latin typeface="Calibri" pitchFamily="34" charset="0"/>
                <a:ea typeface="Calibri" pitchFamily="34" charset="-122"/>
                <a:cs typeface="Calibri" pitchFamily="34" charset="-120"/>
              </a:rPr>
              <a:t>最初は数学の関数から……</a:t>
            </a:r>
            <a:endParaRPr lang="en-US" sz="1400" dirty="0"/>
          </a:p>
        </p:txBody>
      </p:sp>
      <p:sp>
        <p:nvSpPr>
          <p:cNvPr id="7" name="Text 5"/>
          <p:cNvSpPr/>
          <p:nvPr/>
        </p:nvSpPr>
        <p:spPr>
          <a:xfrm>
            <a:off x="6858000" y="4663440"/>
            <a:ext cx="2103120" cy="365760"/>
          </a:xfrm>
          <a:prstGeom prst="rect">
            <a:avLst/>
          </a:prstGeom>
          <a:noFill/>
          <a:ln/>
        </p:spPr>
        <p:txBody>
          <a:bodyPr wrap="square" lIns="0" tIns="0" rIns="0" bIns="0" rtlCol="0" anchor="ctr"/>
          <a:lstStyle/>
          <a:p>
            <a:pPr marL="0" indent="0" algn="r">
              <a:buNone/>
            </a:pPr>
            <a:r>
              <a:rPr lang="en-US" sz="800" dirty="0">
                <a:solidFill>
                  <a:srgbClr val="666666"/>
                </a:solidFill>
                <a:latin typeface="Calibri" pitchFamily="34" charset="0"/>
                <a:ea typeface="Calibri" pitchFamily="34" charset="-122"/>
                <a:cs typeface="Calibri" pitchFamily="34" charset="-120"/>
              </a:rPr>
              <a:t>H A R M O N I C   i n s i g h t</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引数と戻り値（基礎）</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3931920" cy="18288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5" name="Text 3"/>
          <p:cNvSpPr/>
          <p:nvPr/>
        </p:nvSpPr>
        <p:spPr>
          <a:xfrm>
            <a:off x="685800" y="1005840"/>
            <a:ext cx="347472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数学での関数</a:t>
            </a:r>
            <a:endParaRPr lang="en-US" sz="1300" dirty="0"/>
          </a:p>
        </p:txBody>
      </p:sp>
      <p:sp>
        <p:nvSpPr>
          <p:cNvPr id="6" name="Text 4"/>
          <p:cNvSpPr/>
          <p:nvPr/>
        </p:nvSpPr>
        <p:spPr>
          <a:xfrm>
            <a:off x="685800" y="1417320"/>
            <a:ext cx="3474720" cy="457200"/>
          </a:xfrm>
          <a:prstGeom prst="rect">
            <a:avLst/>
          </a:prstGeom>
          <a:noFill/>
          <a:ln/>
        </p:spPr>
        <p:txBody>
          <a:bodyPr wrap="square" lIns="0" tIns="0" rIns="0" bIns="0" rtlCol="0" anchor="ctr"/>
          <a:lstStyle/>
          <a:p>
            <a:pPr marL="0" indent="0">
              <a:buNone/>
            </a:pPr>
            <a:r>
              <a:rPr lang="en-US" sz="2000" i="1" dirty="0">
                <a:solidFill>
                  <a:srgbClr val="333333"/>
                </a:solidFill>
                <a:latin typeface="Georgia" pitchFamily="34" charset="0"/>
                <a:ea typeface="Georgia" pitchFamily="34" charset="-122"/>
                <a:cs typeface="Georgia" pitchFamily="34" charset="-120"/>
              </a:rPr>
              <a:t>y = f(x)       Y = f(x, y, z)</a:t>
            </a:r>
            <a:endParaRPr lang="en-US" sz="2000" dirty="0"/>
          </a:p>
        </p:txBody>
      </p:sp>
      <p:sp>
        <p:nvSpPr>
          <p:cNvPr id="7" name="Text 5"/>
          <p:cNvSpPr/>
          <p:nvPr/>
        </p:nvSpPr>
        <p:spPr>
          <a:xfrm>
            <a:off x="685800" y="1965960"/>
            <a:ext cx="347472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入力xを受け取り、処理して、結果yを返す</a:t>
            </a:r>
            <a:endParaRPr lang="en-US" sz="1000" dirty="0"/>
          </a:p>
        </p:txBody>
      </p:sp>
      <p:sp>
        <p:nvSpPr>
          <p:cNvPr id="8" name="Shape 6"/>
          <p:cNvSpPr/>
          <p:nvPr/>
        </p:nvSpPr>
        <p:spPr>
          <a:xfrm>
            <a:off x="4754880" y="914400"/>
            <a:ext cx="3931920" cy="18288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9" name="Text 7"/>
          <p:cNvSpPr/>
          <p:nvPr/>
        </p:nvSpPr>
        <p:spPr>
          <a:xfrm>
            <a:off x="4983480" y="1005840"/>
            <a:ext cx="347472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プログラム的に書くと</a:t>
            </a:r>
            <a:endParaRPr lang="en-US" sz="1300" dirty="0"/>
          </a:p>
        </p:txBody>
      </p:sp>
      <p:sp>
        <p:nvSpPr>
          <p:cNvPr id="10" name="Text 8"/>
          <p:cNvSpPr/>
          <p:nvPr/>
        </p:nvSpPr>
        <p:spPr>
          <a:xfrm>
            <a:off x="4983480" y="1371600"/>
            <a:ext cx="3474720" cy="1097280"/>
          </a:xfrm>
          <a:prstGeom prst="rect">
            <a:avLst/>
          </a:prstGeom>
          <a:noFill/>
          <a:ln/>
        </p:spPr>
        <p:txBody>
          <a:bodyPr wrap="square" lIns="0" tIns="0" rIns="0" bIns="0" rtlCol="0" anchor="t"/>
          <a:lstStyle/>
          <a:p>
            <a:pPr marL="0" indent="0">
              <a:buNone/>
            </a:pPr>
            <a:r>
              <a:rPr lang="en-US" sz="1200" dirty="0">
                <a:solidFill>
                  <a:srgbClr val="2C3E50"/>
                </a:solidFill>
                <a:latin typeface="Consolas" pitchFamily="34" charset="0"/>
                <a:ea typeface="Consolas" pitchFamily="34" charset="-122"/>
                <a:cs typeface="Consolas" pitchFamily="34" charset="-120"/>
              </a:rPr>
              <a:t>Function(x) {</a:t>
            </a:r>
            <a:endParaRPr lang="en-US" sz="1200" dirty="0"/>
          </a:p>
          <a:p>
            <a:pPr marL="0" indent="0">
              <a:buNone/>
            </a:pPr>
            <a:r>
              <a:rPr lang="en-US" sz="1200" dirty="0">
                <a:solidFill>
                  <a:srgbClr val="2C3E50"/>
                </a:solidFill>
                <a:latin typeface="Consolas" pitchFamily="34" charset="0"/>
                <a:ea typeface="Consolas" pitchFamily="34" charset="-122"/>
                <a:cs typeface="Consolas" pitchFamily="34" charset="-120"/>
              </a:rPr>
              <a:t>  z = x * x</a:t>
            </a:r>
            <a:endParaRPr lang="en-US" sz="1200" dirty="0"/>
          </a:p>
          <a:p>
            <a:pPr marL="0" indent="0">
              <a:buNone/>
            </a:pPr>
            <a:r>
              <a:rPr lang="en-US" sz="1200" dirty="0">
                <a:solidFill>
                  <a:srgbClr val="2C3E50"/>
                </a:solidFill>
                <a:latin typeface="Consolas" pitchFamily="34" charset="0"/>
                <a:ea typeface="Consolas" pitchFamily="34" charset="-122"/>
                <a:cs typeface="Consolas" pitchFamily="34" charset="-120"/>
              </a:rPr>
              <a:t>  Return z</a:t>
            </a:r>
            <a:endParaRPr lang="en-US" sz="1200" dirty="0"/>
          </a:p>
          <a:p>
            <a:pPr marL="0" indent="0">
              <a:buNone/>
            </a:pPr>
            <a:r>
              <a:rPr lang="en-US" sz="1200" dirty="0">
                <a:solidFill>
                  <a:srgbClr val="2C3E50"/>
                </a:solidFill>
                <a:latin typeface="Consolas" pitchFamily="34" charset="0"/>
                <a:ea typeface="Consolas" pitchFamily="34" charset="-122"/>
                <a:cs typeface="Consolas" pitchFamily="34" charset="-120"/>
              </a:rPr>
              <a:t>}</a:t>
            </a:r>
            <a:endParaRPr lang="en-US" sz="1200" dirty="0"/>
          </a:p>
        </p:txBody>
      </p:sp>
      <p:sp>
        <p:nvSpPr>
          <p:cNvPr id="11" name="Shape 9"/>
          <p:cNvSpPr/>
          <p:nvPr/>
        </p:nvSpPr>
        <p:spPr>
          <a:xfrm>
            <a:off x="457200" y="3017520"/>
            <a:ext cx="8229600" cy="45720"/>
          </a:xfrm>
          <a:prstGeom prst="rect">
            <a:avLst/>
          </a:prstGeom>
          <a:solidFill>
            <a:srgbClr val="8B7536"/>
          </a:solidFill>
          <a:ln/>
        </p:spPr>
        <p:txBody>
          <a:bodyPr/>
          <a:lstStyle/>
          <a:p>
            <a:endParaRPr lang="ja-JP" altLang="en-US"/>
          </a:p>
        </p:txBody>
      </p:sp>
      <p:sp>
        <p:nvSpPr>
          <p:cNvPr id="12" name="Shape 10"/>
          <p:cNvSpPr/>
          <p:nvPr/>
        </p:nvSpPr>
        <p:spPr>
          <a:xfrm>
            <a:off x="457200" y="3291840"/>
            <a:ext cx="3931920" cy="10972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3" name="Shape 11"/>
          <p:cNvSpPr/>
          <p:nvPr/>
        </p:nvSpPr>
        <p:spPr>
          <a:xfrm>
            <a:off x="457200" y="3291840"/>
            <a:ext cx="73152" cy="1097280"/>
          </a:xfrm>
          <a:prstGeom prst="rect">
            <a:avLst/>
          </a:prstGeom>
          <a:solidFill>
            <a:srgbClr val="C4A44A"/>
          </a:solidFill>
          <a:ln/>
        </p:spPr>
        <p:txBody>
          <a:bodyPr/>
          <a:lstStyle/>
          <a:p>
            <a:endParaRPr lang="ja-JP" altLang="en-US"/>
          </a:p>
        </p:txBody>
      </p:sp>
      <p:sp>
        <p:nvSpPr>
          <p:cNvPr id="14" name="Text 12"/>
          <p:cNvSpPr/>
          <p:nvPr/>
        </p:nvSpPr>
        <p:spPr>
          <a:xfrm>
            <a:off x="731520" y="3383280"/>
            <a:ext cx="3474720" cy="32004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引数（ひきすう）</a:t>
            </a:r>
            <a:endParaRPr lang="en-US" sz="1400" dirty="0"/>
          </a:p>
        </p:txBody>
      </p:sp>
      <p:sp>
        <p:nvSpPr>
          <p:cNvPr id="15" name="Text 13"/>
          <p:cNvSpPr/>
          <p:nvPr/>
        </p:nvSpPr>
        <p:spPr>
          <a:xfrm>
            <a:off x="731520" y="3703320"/>
            <a:ext cx="3474720" cy="5486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関数に渡す変数のこと。</a:t>
            </a:r>
            <a:endParaRPr lang="en-US" sz="1100" dirty="0"/>
          </a:p>
          <a:p>
            <a:pPr marL="0" indent="0">
              <a:buNone/>
            </a:pPr>
            <a:r>
              <a:rPr lang="en-US" sz="1100" dirty="0">
                <a:solidFill>
                  <a:srgbClr val="666666"/>
                </a:solidFill>
                <a:latin typeface="Calibri" pitchFamily="34" charset="0"/>
                <a:ea typeface="Calibri" pitchFamily="34" charset="-122"/>
                <a:cs typeface="Calibri" pitchFamily="34" charset="-120"/>
              </a:rPr>
              <a:t>f(x)のxが引数にあたる。</a:t>
            </a:r>
            <a:endParaRPr lang="en-US" sz="1100" dirty="0"/>
          </a:p>
        </p:txBody>
      </p:sp>
      <p:sp>
        <p:nvSpPr>
          <p:cNvPr id="16" name="Shape 14"/>
          <p:cNvSpPr/>
          <p:nvPr/>
        </p:nvSpPr>
        <p:spPr>
          <a:xfrm>
            <a:off x="4754880" y="3291840"/>
            <a:ext cx="3931920" cy="10972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7" name="Shape 15"/>
          <p:cNvSpPr/>
          <p:nvPr/>
        </p:nvSpPr>
        <p:spPr>
          <a:xfrm>
            <a:off x="4754880" y="3291840"/>
            <a:ext cx="73152" cy="1097280"/>
          </a:xfrm>
          <a:prstGeom prst="rect">
            <a:avLst/>
          </a:prstGeom>
          <a:solidFill>
            <a:srgbClr val="8B7536"/>
          </a:solidFill>
          <a:ln/>
        </p:spPr>
        <p:txBody>
          <a:bodyPr/>
          <a:lstStyle/>
          <a:p>
            <a:endParaRPr lang="ja-JP" altLang="en-US"/>
          </a:p>
        </p:txBody>
      </p:sp>
      <p:sp>
        <p:nvSpPr>
          <p:cNvPr id="18" name="Text 16"/>
          <p:cNvSpPr/>
          <p:nvPr/>
        </p:nvSpPr>
        <p:spPr>
          <a:xfrm>
            <a:off x="5029200" y="3383280"/>
            <a:ext cx="3474720" cy="32004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戻り値（もどりち）</a:t>
            </a:r>
            <a:endParaRPr lang="en-US" sz="1400" dirty="0"/>
          </a:p>
        </p:txBody>
      </p:sp>
      <p:sp>
        <p:nvSpPr>
          <p:cNvPr id="19" name="Text 17"/>
          <p:cNvSpPr/>
          <p:nvPr/>
        </p:nvSpPr>
        <p:spPr>
          <a:xfrm>
            <a:off x="5029200" y="3703320"/>
            <a:ext cx="3474720" cy="54864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Returnで返される結果の数値。</a:t>
            </a:r>
            <a:endParaRPr lang="en-US" sz="1100" dirty="0"/>
          </a:p>
          <a:p>
            <a:pPr marL="0" indent="0">
              <a:buNone/>
            </a:pPr>
            <a:r>
              <a:rPr lang="en-US" sz="1100" dirty="0">
                <a:solidFill>
                  <a:srgbClr val="666666"/>
                </a:solidFill>
                <a:latin typeface="Calibri" pitchFamily="34" charset="0"/>
                <a:ea typeface="Calibri" pitchFamily="34" charset="-122"/>
                <a:cs typeface="Calibri" pitchFamily="34" charset="-120"/>
              </a:rPr>
              <a:t>y = f(x)のyが戻り値にあたる。</a:t>
            </a:r>
            <a:endParaRPr lang="en-US" sz="1100" dirty="0"/>
          </a:p>
        </p:txBody>
      </p:sp>
      <p:sp>
        <p:nvSpPr>
          <p:cNvPr id="20" name="Shape 18"/>
          <p:cNvSpPr/>
          <p:nvPr/>
        </p:nvSpPr>
        <p:spPr>
          <a:xfrm>
            <a:off x="0" y="4800600"/>
            <a:ext cx="9144000" cy="342900"/>
          </a:xfrm>
          <a:prstGeom prst="rect">
            <a:avLst/>
          </a:prstGeom>
          <a:solidFill>
            <a:srgbClr val="8B7536"/>
          </a:solidFill>
          <a:ln/>
        </p:spPr>
        <p:txBody>
          <a:bodyPr/>
          <a:lstStyle/>
          <a:p>
            <a:endParaRPr lang="ja-JP" altLang="en-US"/>
          </a:p>
        </p:txBody>
      </p:sp>
      <p:sp>
        <p:nvSpPr>
          <p:cNvPr id="21" name="Text 19"/>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2" name="Text 20"/>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引数と戻り値 ― IPOの基本構造</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b="1" dirty="0">
                <a:solidFill>
                  <a:srgbClr val="8B7536"/>
                </a:solidFill>
                <a:latin typeface="Calibri" pitchFamily="34" charset="0"/>
                <a:ea typeface="Calibri" pitchFamily="34" charset="-122"/>
                <a:cs typeface="Calibri" pitchFamily="34" charset="-120"/>
              </a:rPr>
              <a:t>入力 → 処理 → 出力（IPO）</a:t>
            </a:r>
            <a:endParaRPr lang="en-US" sz="1400" dirty="0"/>
          </a:p>
        </p:txBody>
      </p:sp>
      <p:sp>
        <p:nvSpPr>
          <p:cNvPr id="5" name="Shape 3"/>
          <p:cNvSpPr/>
          <p:nvPr/>
        </p:nvSpPr>
        <p:spPr>
          <a:xfrm>
            <a:off x="731520" y="1463040"/>
            <a:ext cx="2194560" cy="1463040"/>
          </a:xfrm>
          <a:prstGeom prst="rect">
            <a:avLst/>
          </a:prstGeom>
          <a:solidFill>
            <a:srgbClr val="E8D5A0"/>
          </a:solidFill>
          <a:ln/>
          <a:effectLst>
            <a:outerShdw blurRad="50800" dist="12700" dir="8100000" algn="bl" rotWithShape="0">
              <a:srgbClr val="000000">
                <a:alpha val="8000"/>
              </a:srgbClr>
            </a:outerShdw>
          </a:effectLst>
        </p:spPr>
        <p:txBody>
          <a:bodyPr/>
          <a:lstStyle/>
          <a:p>
            <a:endParaRPr lang="ja-JP" altLang="en-US"/>
          </a:p>
        </p:txBody>
      </p:sp>
      <p:sp>
        <p:nvSpPr>
          <p:cNvPr id="6" name="Text 4"/>
          <p:cNvSpPr/>
          <p:nvPr/>
        </p:nvSpPr>
        <p:spPr>
          <a:xfrm>
            <a:off x="731520" y="1508760"/>
            <a:ext cx="2194560" cy="73152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Input</a:t>
            </a:r>
            <a:endParaRPr lang="en-US" sz="1600" dirty="0"/>
          </a:p>
          <a:p>
            <a:pPr marL="0" indent="0" algn="ctr">
              <a:buNone/>
            </a:pPr>
            <a:r>
              <a:rPr lang="en-US" sz="1600" b="1" dirty="0">
                <a:solidFill>
                  <a:srgbClr val="333333"/>
                </a:solidFill>
                <a:latin typeface="Calibri" pitchFamily="34" charset="0"/>
                <a:ea typeface="Calibri" pitchFamily="34" charset="-122"/>
                <a:cs typeface="Calibri" pitchFamily="34" charset="-120"/>
              </a:rPr>
              <a:t>（引数）</a:t>
            </a:r>
            <a:endParaRPr lang="en-US" sz="1600" dirty="0"/>
          </a:p>
        </p:txBody>
      </p:sp>
      <p:sp>
        <p:nvSpPr>
          <p:cNvPr id="7" name="Text 5"/>
          <p:cNvSpPr/>
          <p:nvPr/>
        </p:nvSpPr>
        <p:spPr>
          <a:xfrm>
            <a:off x="731520" y="2194560"/>
            <a:ext cx="2194560" cy="640080"/>
          </a:xfrm>
          <a:prstGeom prst="rect">
            <a:avLst/>
          </a:prstGeom>
          <a:noFill/>
          <a:ln/>
        </p:spPr>
        <p:txBody>
          <a:bodyPr wrap="square" lIns="0" tIns="0" rIns="0" bIns="0" rtlCol="0" anchor="ctr"/>
          <a:lstStyle/>
          <a:p>
            <a:pPr marL="0" indent="0" algn="ctr">
              <a:buNone/>
            </a:pPr>
            <a:r>
              <a:rPr lang="en-US" sz="1100" dirty="0">
                <a:solidFill>
                  <a:srgbClr val="666666"/>
                </a:solidFill>
                <a:latin typeface="Calibri" pitchFamily="34" charset="0"/>
                <a:ea typeface="Calibri" pitchFamily="34" charset="-122"/>
                <a:cs typeface="Calibri" pitchFamily="34" charset="-120"/>
              </a:rPr>
              <a:t>関数に渡す</a:t>
            </a:r>
            <a:endParaRPr lang="en-US" sz="1100" dirty="0"/>
          </a:p>
          <a:p>
            <a:pPr marL="0" indent="0" algn="ctr">
              <a:buNone/>
            </a:pPr>
            <a:r>
              <a:rPr lang="en-US" sz="1100" dirty="0">
                <a:solidFill>
                  <a:srgbClr val="666666"/>
                </a:solidFill>
                <a:latin typeface="Calibri" pitchFamily="34" charset="0"/>
                <a:ea typeface="Calibri" pitchFamily="34" charset="-122"/>
                <a:cs typeface="Calibri" pitchFamily="34" charset="-120"/>
              </a:rPr>
              <a:t>変数・データ</a:t>
            </a:r>
            <a:endParaRPr lang="en-US" sz="1100" dirty="0"/>
          </a:p>
        </p:txBody>
      </p:sp>
      <p:sp>
        <p:nvSpPr>
          <p:cNvPr id="8" name="Shape 6"/>
          <p:cNvSpPr/>
          <p:nvPr/>
        </p:nvSpPr>
        <p:spPr>
          <a:xfrm>
            <a:off x="3474720" y="1463040"/>
            <a:ext cx="2194560" cy="1463040"/>
          </a:xfrm>
          <a:prstGeom prst="rect">
            <a:avLst/>
          </a:prstGeom>
          <a:solidFill>
            <a:srgbClr val="C4A44A"/>
          </a:solidFill>
          <a:ln/>
          <a:effectLst>
            <a:outerShdw blurRad="50800" dist="12700" dir="8100000" algn="bl" rotWithShape="0">
              <a:srgbClr val="000000">
                <a:alpha val="8000"/>
              </a:srgbClr>
            </a:outerShdw>
          </a:effectLst>
        </p:spPr>
        <p:txBody>
          <a:bodyPr/>
          <a:lstStyle/>
          <a:p>
            <a:endParaRPr lang="ja-JP" altLang="en-US"/>
          </a:p>
        </p:txBody>
      </p:sp>
      <p:sp>
        <p:nvSpPr>
          <p:cNvPr id="9" name="Text 7"/>
          <p:cNvSpPr/>
          <p:nvPr/>
        </p:nvSpPr>
        <p:spPr>
          <a:xfrm>
            <a:off x="3474720" y="1508760"/>
            <a:ext cx="219456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Process</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（処理）</a:t>
            </a:r>
            <a:endParaRPr lang="en-US" sz="1600" dirty="0"/>
          </a:p>
        </p:txBody>
      </p:sp>
      <p:sp>
        <p:nvSpPr>
          <p:cNvPr id="10" name="Text 8"/>
          <p:cNvSpPr/>
          <p:nvPr/>
        </p:nvSpPr>
        <p:spPr>
          <a:xfrm>
            <a:off x="3474720" y="2194560"/>
            <a:ext cx="2194560" cy="640080"/>
          </a:xfrm>
          <a:prstGeom prst="rect">
            <a:avLst/>
          </a:prstGeom>
          <a:noFill/>
          <a:ln/>
        </p:spPr>
        <p:txBody>
          <a:bodyPr wrap="square" lIns="0" tIns="0" rIns="0" bIns="0" rtlCol="0" anchor="ctr"/>
          <a:lstStyle/>
          <a:p>
            <a:pPr marL="0" indent="0" algn="ctr">
              <a:buNone/>
            </a:pPr>
            <a:r>
              <a:rPr lang="en-US" sz="1100" dirty="0">
                <a:solidFill>
                  <a:srgbClr val="EEEEEE"/>
                </a:solidFill>
                <a:latin typeface="Calibri" pitchFamily="34" charset="0"/>
                <a:ea typeface="Calibri" pitchFamily="34" charset="-122"/>
                <a:cs typeface="Calibri" pitchFamily="34" charset="-120"/>
              </a:rPr>
              <a:t>関数の実行</a:t>
            </a:r>
            <a:endParaRPr lang="en-US" sz="1100" dirty="0"/>
          </a:p>
          <a:p>
            <a:pPr marL="0" indent="0" algn="ctr">
              <a:buNone/>
            </a:pPr>
            <a:r>
              <a:rPr lang="en-US" sz="1100" dirty="0">
                <a:solidFill>
                  <a:srgbClr val="EEEEEE"/>
                </a:solidFill>
                <a:latin typeface="Calibri" pitchFamily="34" charset="0"/>
                <a:ea typeface="Calibri" pitchFamily="34" charset="-122"/>
                <a:cs typeface="Calibri" pitchFamily="34" charset="-120"/>
              </a:rPr>
              <a:t>f(x) = x * x</a:t>
            </a:r>
            <a:endParaRPr lang="en-US" sz="1100" dirty="0"/>
          </a:p>
        </p:txBody>
      </p:sp>
      <p:sp>
        <p:nvSpPr>
          <p:cNvPr id="11" name="Shape 9"/>
          <p:cNvSpPr/>
          <p:nvPr/>
        </p:nvSpPr>
        <p:spPr>
          <a:xfrm>
            <a:off x="6217920" y="1463040"/>
            <a:ext cx="2194560" cy="1463040"/>
          </a:xfrm>
          <a:prstGeom prst="rect">
            <a:avLst/>
          </a:prstGeom>
          <a:solidFill>
            <a:srgbClr val="8B7536"/>
          </a:solidFill>
          <a:ln/>
          <a:effectLst>
            <a:outerShdw blurRad="50800" dist="12700" dir="8100000" algn="bl" rotWithShape="0">
              <a:srgbClr val="000000">
                <a:alpha val="8000"/>
              </a:srgbClr>
            </a:outerShdw>
          </a:effectLst>
        </p:spPr>
        <p:txBody>
          <a:bodyPr/>
          <a:lstStyle/>
          <a:p>
            <a:endParaRPr lang="ja-JP" altLang="en-US"/>
          </a:p>
        </p:txBody>
      </p:sp>
      <p:sp>
        <p:nvSpPr>
          <p:cNvPr id="12" name="Text 10"/>
          <p:cNvSpPr/>
          <p:nvPr/>
        </p:nvSpPr>
        <p:spPr>
          <a:xfrm>
            <a:off x="6217920" y="1508760"/>
            <a:ext cx="219456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Output</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（戻り値）</a:t>
            </a:r>
            <a:endParaRPr lang="en-US" sz="1600" dirty="0"/>
          </a:p>
        </p:txBody>
      </p:sp>
      <p:sp>
        <p:nvSpPr>
          <p:cNvPr id="13" name="Text 11"/>
          <p:cNvSpPr/>
          <p:nvPr/>
        </p:nvSpPr>
        <p:spPr>
          <a:xfrm>
            <a:off x="6217920" y="2194560"/>
            <a:ext cx="2194560" cy="640080"/>
          </a:xfrm>
          <a:prstGeom prst="rect">
            <a:avLst/>
          </a:prstGeom>
          <a:noFill/>
          <a:ln/>
        </p:spPr>
        <p:txBody>
          <a:bodyPr wrap="square" lIns="0" tIns="0" rIns="0" bIns="0" rtlCol="0" anchor="ctr"/>
          <a:lstStyle/>
          <a:p>
            <a:pPr marL="0" indent="0" algn="ctr">
              <a:buNone/>
            </a:pPr>
            <a:r>
              <a:rPr lang="en-US" sz="1100" dirty="0">
                <a:solidFill>
                  <a:srgbClr val="EEEEEE"/>
                </a:solidFill>
                <a:latin typeface="Calibri" pitchFamily="34" charset="0"/>
                <a:ea typeface="Calibri" pitchFamily="34" charset="-122"/>
                <a:cs typeface="Calibri" pitchFamily="34" charset="-120"/>
              </a:rPr>
              <a:t>Returnで返す</a:t>
            </a:r>
            <a:endParaRPr lang="en-US" sz="1100" dirty="0"/>
          </a:p>
          <a:p>
            <a:pPr marL="0" indent="0" algn="ctr">
              <a:buNone/>
            </a:pPr>
            <a:r>
              <a:rPr lang="en-US" sz="1100" dirty="0">
                <a:solidFill>
                  <a:srgbClr val="EEEEEE"/>
                </a:solidFill>
                <a:latin typeface="Calibri" pitchFamily="34" charset="0"/>
                <a:ea typeface="Calibri" pitchFamily="34" charset="-122"/>
                <a:cs typeface="Calibri" pitchFamily="34" charset="-120"/>
              </a:rPr>
              <a:t>結果の値</a:t>
            </a:r>
            <a:endParaRPr lang="en-US" sz="1100" dirty="0"/>
          </a:p>
        </p:txBody>
      </p:sp>
      <p:pic>
        <p:nvPicPr>
          <p:cNvPr id="14" name="Image 0" descr="preencoded.png"/>
          <p:cNvPicPr>
            <a:picLocks noChangeAspect="1"/>
          </p:cNvPicPr>
          <p:nvPr/>
        </p:nvPicPr>
        <p:blipFill>
          <a:blip r:embed="rId3"/>
          <a:stretch>
            <a:fillRect/>
          </a:stretch>
        </p:blipFill>
        <p:spPr>
          <a:xfrm>
            <a:off x="3017520" y="1920240"/>
            <a:ext cx="365760" cy="365760"/>
          </a:xfrm>
          <a:prstGeom prst="rect">
            <a:avLst/>
          </a:prstGeom>
        </p:spPr>
      </p:pic>
      <p:pic>
        <p:nvPicPr>
          <p:cNvPr id="15" name="Image 1" descr="preencoded.png"/>
          <p:cNvPicPr>
            <a:picLocks noChangeAspect="1"/>
          </p:cNvPicPr>
          <p:nvPr/>
        </p:nvPicPr>
        <p:blipFill>
          <a:blip r:embed="rId3"/>
          <a:stretch>
            <a:fillRect/>
          </a:stretch>
        </p:blipFill>
        <p:spPr>
          <a:xfrm>
            <a:off x="5760720" y="1920240"/>
            <a:ext cx="365760" cy="365760"/>
          </a:xfrm>
          <a:prstGeom prst="rect">
            <a:avLst/>
          </a:prstGeom>
        </p:spPr>
      </p:pic>
      <p:sp>
        <p:nvSpPr>
          <p:cNvPr id="16" name="Shape 12"/>
          <p:cNvSpPr/>
          <p:nvPr/>
        </p:nvSpPr>
        <p:spPr>
          <a:xfrm>
            <a:off x="457200" y="3200400"/>
            <a:ext cx="8229600" cy="45720"/>
          </a:xfrm>
          <a:prstGeom prst="rect">
            <a:avLst/>
          </a:prstGeom>
          <a:solidFill>
            <a:srgbClr val="8B7536"/>
          </a:solidFill>
          <a:ln/>
        </p:spPr>
        <p:txBody>
          <a:bodyPr/>
          <a:lstStyle/>
          <a:p>
            <a:endParaRPr lang="ja-JP" altLang="en-US"/>
          </a:p>
        </p:txBody>
      </p:sp>
      <p:sp>
        <p:nvSpPr>
          <p:cNvPr id="17" name="Text 13"/>
          <p:cNvSpPr/>
          <p:nvPr/>
        </p:nvSpPr>
        <p:spPr>
          <a:xfrm>
            <a:off x="457200" y="3383280"/>
            <a:ext cx="822960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画面操作との対応</a:t>
            </a:r>
            <a:endParaRPr lang="en-US" sz="1300" dirty="0"/>
          </a:p>
        </p:txBody>
      </p:sp>
      <p:sp>
        <p:nvSpPr>
          <p:cNvPr id="18" name="Text 14"/>
          <p:cNvSpPr/>
          <p:nvPr/>
        </p:nvSpPr>
        <p:spPr>
          <a:xfrm>
            <a:off x="731520" y="3749040"/>
            <a:ext cx="7680960" cy="457200"/>
          </a:xfrm>
          <a:prstGeom prst="rect">
            <a:avLst/>
          </a:prstGeom>
          <a:noFill/>
          <a:ln/>
        </p:spPr>
        <p:txBody>
          <a:bodyPr wrap="square" lIns="0" tIns="0" rIns="0" bIns="0" rtlCol="0" anchor="t"/>
          <a:lstStyle/>
          <a:p>
            <a:pPr marL="0" indent="0">
              <a:buNone/>
            </a:pPr>
            <a:r>
              <a:rPr lang="en-US" sz="1100" b="1" dirty="0">
                <a:solidFill>
                  <a:srgbClr val="333333"/>
                </a:solidFill>
                <a:latin typeface="Calibri" pitchFamily="34" charset="0"/>
                <a:ea typeface="Calibri" pitchFamily="34" charset="-122"/>
                <a:cs typeface="Calibri" pitchFamily="34" charset="-120"/>
              </a:rPr>
              <a:t>ユーザーが画面で値を入力</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 引数として関数に渡される → 関数が計算処理 → 結果（戻り値）が画面に表示</a:t>
            </a:r>
            <a:endParaRPr lang="en-US" sz="1100" dirty="0"/>
          </a:p>
        </p:txBody>
      </p:sp>
      <p:sp>
        <p:nvSpPr>
          <p:cNvPr id="19" name="Shape 15"/>
          <p:cNvSpPr/>
          <p:nvPr/>
        </p:nvSpPr>
        <p:spPr>
          <a:xfrm>
            <a:off x="457200" y="4297680"/>
            <a:ext cx="8229600" cy="320040"/>
          </a:xfrm>
          <a:prstGeom prst="rect">
            <a:avLst/>
          </a:prstGeom>
          <a:solidFill>
            <a:srgbClr val="F5F0E6"/>
          </a:solidFill>
          <a:ln/>
        </p:spPr>
        <p:txBody>
          <a:bodyPr/>
          <a:lstStyle/>
          <a:p>
            <a:endParaRPr lang="ja-JP" altLang="en-US"/>
          </a:p>
        </p:txBody>
      </p:sp>
      <p:sp>
        <p:nvSpPr>
          <p:cNvPr id="20" name="Text 16"/>
          <p:cNvSpPr/>
          <p:nvPr/>
        </p:nvSpPr>
        <p:spPr>
          <a:xfrm>
            <a:off x="457200" y="4297680"/>
            <a:ext cx="8229600" cy="320040"/>
          </a:xfrm>
          <a:prstGeom prst="rect">
            <a:avLst/>
          </a:prstGeom>
          <a:noFill/>
          <a:ln/>
        </p:spPr>
        <p:txBody>
          <a:bodyPr wrap="square" lIns="0" tIns="0" rIns="0" bIns="0" rtlCol="0" anchor="ctr"/>
          <a:lstStyle/>
          <a:p>
            <a:pPr marL="0" indent="0" algn="ctr">
              <a:buNone/>
            </a:pPr>
            <a:r>
              <a:rPr lang="en-US" sz="1100" b="1" dirty="0">
                <a:solidFill>
                  <a:srgbClr val="8B7536"/>
                </a:solidFill>
                <a:latin typeface="Calibri" pitchFamily="34" charset="0"/>
                <a:ea typeface="Calibri" pitchFamily="34" charset="-122"/>
                <a:cs typeface="Calibri" pitchFamily="34" charset="-120"/>
              </a:rPr>
              <a:t>Function First Design：機能（関数）から考え、UIは後から設計する</a:t>
            </a:r>
            <a:endParaRPr lang="en-US" sz="1100" dirty="0"/>
          </a:p>
        </p:txBody>
      </p:sp>
      <p:sp>
        <p:nvSpPr>
          <p:cNvPr id="21" name="Shape 17"/>
          <p:cNvSpPr/>
          <p:nvPr/>
        </p:nvSpPr>
        <p:spPr>
          <a:xfrm>
            <a:off x="0" y="4800600"/>
            <a:ext cx="9144000" cy="342900"/>
          </a:xfrm>
          <a:prstGeom prst="rect">
            <a:avLst/>
          </a:prstGeom>
          <a:solidFill>
            <a:srgbClr val="8B7536"/>
          </a:solidFill>
          <a:ln/>
        </p:spPr>
        <p:txBody>
          <a:bodyPr/>
          <a:lstStyle/>
          <a:p>
            <a:endParaRPr lang="ja-JP" altLang="en-US"/>
          </a:p>
        </p:txBody>
      </p:sp>
      <p:sp>
        <p:nvSpPr>
          <p:cNvPr id="22" name="Text 18"/>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3" name="Text 19"/>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引数と戻り値 ― 具体的な処理</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計算ボタンを押した後、裏で何が起きているか</a:t>
            </a:r>
            <a:endParaRPr lang="en-US" sz="1200" dirty="0"/>
          </a:p>
        </p:txBody>
      </p:sp>
      <p:sp>
        <p:nvSpPr>
          <p:cNvPr id="5" name="Shape 3"/>
          <p:cNvSpPr/>
          <p:nvPr/>
        </p:nvSpPr>
        <p:spPr>
          <a:xfrm>
            <a:off x="457200" y="1371600"/>
            <a:ext cx="3931920" cy="22860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6" name="Shape 4"/>
          <p:cNvSpPr/>
          <p:nvPr/>
        </p:nvSpPr>
        <p:spPr>
          <a:xfrm>
            <a:off x="457200" y="1371600"/>
            <a:ext cx="3931920" cy="411480"/>
          </a:xfrm>
          <a:prstGeom prst="rect">
            <a:avLst/>
          </a:prstGeom>
          <a:solidFill>
            <a:srgbClr val="8B7536"/>
          </a:solidFill>
          <a:ln/>
        </p:spPr>
        <p:txBody>
          <a:bodyPr/>
          <a:lstStyle/>
          <a:p>
            <a:endParaRPr lang="ja-JP" altLang="en-US"/>
          </a:p>
        </p:txBody>
      </p:sp>
      <p:sp>
        <p:nvSpPr>
          <p:cNvPr id="7" name="Text 5"/>
          <p:cNvSpPr/>
          <p:nvPr/>
        </p:nvSpPr>
        <p:spPr>
          <a:xfrm>
            <a:off x="457200" y="1371600"/>
            <a:ext cx="3931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例1: 2乗計算</a:t>
            </a:r>
            <a:endParaRPr lang="en-US" sz="1300" dirty="0"/>
          </a:p>
        </p:txBody>
      </p:sp>
      <p:sp>
        <p:nvSpPr>
          <p:cNvPr id="8" name="Text 6"/>
          <p:cNvSpPr/>
          <p:nvPr/>
        </p:nvSpPr>
        <p:spPr>
          <a:xfrm>
            <a:off x="731520" y="1920240"/>
            <a:ext cx="3383280" cy="27432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入力値: x = 5</a:t>
            </a:r>
            <a:endParaRPr lang="en-US" sz="1200" dirty="0"/>
          </a:p>
        </p:txBody>
      </p:sp>
      <p:pic>
        <p:nvPicPr>
          <p:cNvPr id="9" name="Image 0" descr="preencoded.png"/>
          <p:cNvPicPr>
            <a:picLocks noChangeAspect="1"/>
          </p:cNvPicPr>
          <p:nvPr/>
        </p:nvPicPr>
        <p:blipFill>
          <a:blip r:embed="rId3"/>
          <a:stretch>
            <a:fillRect/>
          </a:stretch>
        </p:blipFill>
        <p:spPr>
          <a:xfrm>
            <a:off x="1371600" y="2286000"/>
            <a:ext cx="274320" cy="274320"/>
          </a:xfrm>
          <a:prstGeom prst="rect">
            <a:avLst/>
          </a:prstGeom>
        </p:spPr>
      </p:pic>
      <p:sp>
        <p:nvSpPr>
          <p:cNvPr id="10" name="Text 7"/>
          <p:cNvSpPr/>
          <p:nvPr/>
        </p:nvSpPr>
        <p:spPr>
          <a:xfrm>
            <a:off x="731520" y="2560320"/>
            <a:ext cx="3383280" cy="274320"/>
          </a:xfrm>
          <a:prstGeom prst="rect">
            <a:avLst/>
          </a:prstGeom>
          <a:noFill/>
          <a:ln/>
        </p:spPr>
        <p:txBody>
          <a:bodyPr wrap="square" lIns="0" tIns="0" rIns="0" bIns="0" rtlCol="0" anchor="ctr"/>
          <a:lstStyle/>
          <a:p>
            <a:pPr marL="0" indent="0">
              <a:buNone/>
            </a:pPr>
            <a:r>
              <a:rPr lang="en-US" sz="1400" b="1" dirty="0">
                <a:solidFill>
                  <a:srgbClr val="8B7536"/>
                </a:solidFill>
                <a:latin typeface="Consolas" pitchFamily="34" charset="0"/>
                <a:ea typeface="Consolas" pitchFamily="34" charset="-122"/>
                <a:cs typeface="Consolas" pitchFamily="34" charset="-120"/>
              </a:rPr>
              <a:t>f(x) = x * x = 25</a:t>
            </a:r>
            <a:endParaRPr lang="en-US" sz="1400" dirty="0"/>
          </a:p>
        </p:txBody>
      </p:sp>
      <p:pic>
        <p:nvPicPr>
          <p:cNvPr id="11" name="Image 1" descr="preencoded.png"/>
          <p:cNvPicPr>
            <a:picLocks noChangeAspect="1"/>
          </p:cNvPicPr>
          <p:nvPr/>
        </p:nvPicPr>
        <p:blipFill>
          <a:blip r:embed="rId3"/>
          <a:stretch>
            <a:fillRect/>
          </a:stretch>
        </p:blipFill>
        <p:spPr>
          <a:xfrm>
            <a:off x="1371600" y="2880360"/>
            <a:ext cx="274320" cy="274320"/>
          </a:xfrm>
          <a:prstGeom prst="rect">
            <a:avLst/>
          </a:prstGeom>
        </p:spPr>
      </p:pic>
      <p:sp>
        <p:nvSpPr>
          <p:cNvPr id="12" name="Text 8"/>
          <p:cNvSpPr/>
          <p:nvPr/>
        </p:nvSpPr>
        <p:spPr>
          <a:xfrm>
            <a:off x="731520" y="3154680"/>
            <a:ext cx="3383280" cy="274320"/>
          </a:xfrm>
          <a:prstGeom prst="rect">
            <a:avLst/>
          </a:prstGeom>
          <a:noFill/>
          <a:ln/>
        </p:spPr>
        <p:txBody>
          <a:bodyPr wrap="square" lIns="0" tIns="0" rIns="0" bIns="0"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戻り値: 25</a:t>
            </a:r>
            <a:endParaRPr lang="en-US" sz="1200" dirty="0"/>
          </a:p>
        </p:txBody>
      </p:sp>
      <p:sp>
        <p:nvSpPr>
          <p:cNvPr id="13" name="Shape 9"/>
          <p:cNvSpPr/>
          <p:nvPr/>
        </p:nvSpPr>
        <p:spPr>
          <a:xfrm>
            <a:off x="4754880" y="1371600"/>
            <a:ext cx="3931920" cy="22860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4" name="Shape 10"/>
          <p:cNvSpPr/>
          <p:nvPr/>
        </p:nvSpPr>
        <p:spPr>
          <a:xfrm>
            <a:off x="4754880" y="1371600"/>
            <a:ext cx="3931920" cy="411480"/>
          </a:xfrm>
          <a:prstGeom prst="rect">
            <a:avLst/>
          </a:prstGeom>
          <a:solidFill>
            <a:srgbClr val="C4A44A"/>
          </a:solidFill>
          <a:ln/>
        </p:spPr>
        <p:txBody>
          <a:bodyPr/>
          <a:lstStyle/>
          <a:p>
            <a:endParaRPr lang="ja-JP" altLang="en-US"/>
          </a:p>
        </p:txBody>
      </p:sp>
      <p:sp>
        <p:nvSpPr>
          <p:cNvPr id="15" name="Text 11"/>
          <p:cNvSpPr/>
          <p:nvPr/>
        </p:nvSpPr>
        <p:spPr>
          <a:xfrm>
            <a:off x="4754880" y="1371600"/>
            <a:ext cx="39319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例2: 合計計算</a:t>
            </a:r>
            <a:endParaRPr lang="en-US" sz="1300" dirty="0"/>
          </a:p>
        </p:txBody>
      </p:sp>
      <p:sp>
        <p:nvSpPr>
          <p:cNvPr id="16" name="Text 12"/>
          <p:cNvSpPr/>
          <p:nvPr/>
        </p:nvSpPr>
        <p:spPr>
          <a:xfrm>
            <a:off x="5029200" y="1920240"/>
            <a:ext cx="3383280" cy="274320"/>
          </a:xfrm>
          <a:prstGeom prst="rect">
            <a:avLst/>
          </a:prstGeom>
          <a:noFill/>
          <a:ln/>
        </p:spPr>
        <p:txBody>
          <a:bodyPr wrap="square" lIns="0" tIns="0" rIns="0" bIns="0" rtlCol="0" anchor="ctr"/>
          <a:lstStyle/>
          <a:p>
            <a:pPr marL="0" indent="0">
              <a:buNone/>
            </a:pPr>
            <a:r>
              <a:rPr lang="en-US" sz="1200" dirty="0">
                <a:solidFill>
                  <a:srgbClr val="333333"/>
                </a:solidFill>
                <a:latin typeface="Calibri" pitchFamily="34" charset="0"/>
                <a:ea typeface="Calibri" pitchFamily="34" charset="-122"/>
                <a:cs typeface="Calibri" pitchFamily="34" charset="-120"/>
              </a:rPr>
              <a:t>入力値: x=1, y=2, z=3</a:t>
            </a:r>
            <a:endParaRPr lang="en-US" sz="1200" dirty="0"/>
          </a:p>
        </p:txBody>
      </p:sp>
      <p:pic>
        <p:nvPicPr>
          <p:cNvPr id="17" name="Image 2" descr="preencoded.png"/>
          <p:cNvPicPr>
            <a:picLocks noChangeAspect="1"/>
          </p:cNvPicPr>
          <p:nvPr/>
        </p:nvPicPr>
        <p:blipFill>
          <a:blip r:embed="rId3"/>
          <a:stretch>
            <a:fillRect/>
          </a:stretch>
        </p:blipFill>
        <p:spPr>
          <a:xfrm>
            <a:off x="5669280" y="2286000"/>
            <a:ext cx="274320" cy="274320"/>
          </a:xfrm>
          <a:prstGeom prst="rect">
            <a:avLst/>
          </a:prstGeom>
        </p:spPr>
      </p:pic>
      <p:sp>
        <p:nvSpPr>
          <p:cNvPr id="18" name="Text 13"/>
          <p:cNvSpPr/>
          <p:nvPr/>
        </p:nvSpPr>
        <p:spPr>
          <a:xfrm>
            <a:off x="5029200" y="2560320"/>
            <a:ext cx="3383280" cy="274320"/>
          </a:xfrm>
          <a:prstGeom prst="rect">
            <a:avLst/>
          </a:prstGeom>
          <a:noFill/>
          <a:ln/>
        </p:spPr>
        <p:txBody>
          <a:bodyPr wrap="square" lIns="0" tIns="0" rIns="0" bIns="0" rtlCol="0" anchor="ctr"/>
          <a:lstStyle/>
          <a:p>
            <a:pPr marL="0" indent="0">
              <a:buNone/>
            </a:pPr>
            <a:r>
              <a:rPr lang="en-US" sz="1400" b="1" dirty="0">
                <a:solidFill>
                  <a:srgbClr val="C4A44A"/>
                </a:solidFill>
                <a:latin typeface="Consolas" pitchFamily="34" charset="0"/>
                <a:ea typeface="Consolas" pitchFamily="34" charset="-122"/>
                <a:cs typeface="Consolas" pitchFamily="34" charset="-120"/>
              </a:rPr>
              <a:t>f(x,y,z) = x+y+z = 6</a:t>
            </a:r>
            <a:endParaRPr lang="en-US" sz="1400" dirty="0"/>
          </a:p>
        </p:txBody>
      </p:sp>
      <p:pic>
        <p:nvPicPr>
          <p:cNvPr id="19" name="Image 3" descr="preencoded.png"/>
          <p:cNvPicPr>
            <a:picLocks noChangeAspect="1"/>
          </p:cNvPicPr>
          <p:nvPr/>
        </p:nvPicPr>
        <p:blipFill>
          <a:blip r:embed="rId3"/>
          <a:stretch>
            <a:fillRect/>
          </a:stretch>
        </p:blipFill>
        <p:spPr>
          <a:xfrm>
            <a:off x="5669280" y="2880360"/>
            <a:ext cx="274320" cy="274320"/>
          </a:xfrm>
          <a:prstGeom prst="rect">
            <a:avLst/>
          </a:prstGeom>
        </p:spPr>
      </p:pic>
      <p:sp>
        <p:nvSpPr>
          <p:cNvPr id="20" name="Text 14"/>
          <p:cNvSpPr/>
          <p:nvPr/>
        </p:nvSpPr>
        <p:spPr>
          <a:xfrm>
            <a:off x="5029200" y="3154680"/>
            <a:ext cx="3383280" cy="274320"/>
          </a:xfrm>
          <a:prstGeom prst="rect">
            <a:avLst/>
          </a:prstGeom>
          <a:noFill/>
          <a:ln/>
        </p:spPr>
        <p:txBody>
          <a:bodyPr wrap="square" lIns="0" tIns="0" rIns="0" bIns="0" rtlCol="0" anchor="ctr"/>
          <a:lstStyle/>
          <a:p>
            <a:pPr marL="0" indent="0">
              <a:buNone/>
            </a:pPr>
            <a:r>
              <a:rPr lang="en-US" sz="1200" b="1" dirty="0">
                <a:solidFill>
                  <a:srgbClr val="27AE60"/>
                </a:solidFill>
                <a:latin typeface="Calibri" pitchFamily="34" charset="0"/>
                <a:ea typeface="Calibri" pitchFamily="34" charset="-122"/>
                <a:cs typeface="Calibri" pitchFamily="34" charset="-120"/>
              </a:rPr>
              <a:t>戻り値: 6</a:t>
            </a:r>
            <a:endParaRPr lang="en-US" sz="1200" dirty="0"/>
          </a:p>
        </p:txBody>
      </p:sp>
      <p:sp>
        <p:nvSpPr>
          <p:cNvPr id="21" name="Shape 15"/>
          <p:cNvSpPr/>
          <p:nvPr/>
        </p:nvSpPr>
        <p:spPr>
          <a:xfrm>
            <a:off x="457200" y="3931920"/>
            <a:ext cx="8229600" cy="640080"/>
          </a:xfrm>
          <a:prstGeom prst="rect">
            <a:avLst/>
          </a:prstGeom>
          <a:solidFill>
            <a:srgbClr val="F5F0E6"/>
          </a:solidFill>
          <a:ln/>
        </p:spPr>
        <p:txBody>
          <a:bodyPr/>
          <a:lstStyle/>
          <a:p>
            <a:endParaRPr lang="ja-JP" altLang="en-US"/>
          </a:p>
        </p:txBody>
      </p:sp>
      <p:sp>
        <p:nvSpPr>
          <p:cNvPr id="22" name="Text 16"/>
          <p:cNvSpPr/>
          <p:nvPr/>
        </p:nvSpPr>
        <p:spPr>
          <a:xfrm>
            <a:off x="640080" y="3931920"/>
            <a:ext cx="7863840" cy="64008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ユーザーは「ボタンを押す」操作だけ。内部の処理はサーバ側で完結する。</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これが「関数」「引数」「戻り値」のシステムへの応用。</a:t>
            </a:r>
            <a:endParaRPr lang="en-US" sz="1100" dirty="0"/>
          </a:p>
        </p:txBody>
      </p:sp>
      <p:sp>
        <p:nvSpPr>
          <p:cNvPr id="23" name="Shape 17"/>
          <p:cNvSpPr/>
          <p:nvPr/>
        </p:nvSpPr>
        <p:spPr>
          <a:xfrm>
            <a:off x="0" y="4800600"/>
            <a:ext cx="9144000" cy="342900"/>
          </a:xfrm>
          <a:prstGeom prst="rect">
            <a:avLst/>
          </a:prstGeom>
          <a:solidFill>
            <a:srgbClr val="8B7536"/>
          </a:solidFill>
          <a:ln/>
        </p:spPr>
        <p:txBody>
          <a:bodyPr/>
          <a:lstStyle/>
          <a:p>
            <a:endParaRPr lang="ja-JP" altLang="en-US"/>
          </a:p>
        </p:txBody>
      </p:sp>
      <p:sp>
        <p:nvSpPr>
          <p:cNvPr id="24" name="Text 18"/>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5" name="Text 19"/>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クライアントとサーバの定義</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1005840"/>
            <a:ext cx="3840480" cy="21031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5" name="Shape 3"/>
          <p:cNvSpPr/>
          <p:nvPr/>
        </p:nvSpPr>
        <p:spPr>
          <a:xfrm>
            <a:off x="1737360" y="1188720"/>
            <a:ext cx="914400" cy="914400"/>
          </a:xfrm>
          <a:prstGeom prst="ellipse">
            <a:avLst/>
          </a:prstGeom>
          <a:solidFill>
            <a:srgbClr val="F5F0E6"/>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874520" y="1325880"/>
            <a:ext cx="640080" cy="640080"/>
          </a:xfrm>
          <a:prstGeom prst="rect">
            <a:avLst/>
          </a:prstGeom>
        </p:spPr>
      </p:pic>
      <p:sp>
        <p:nvSpPr>
          <p:cNvPr id="7" name="Text 4"/>
          <p:cNvSpPr/>
          <p:nvPr/>
        </p:nvSpPr>
        <p:spPr>
          <a:xfrm>
            <a:off x="640080" y="2194560"/>
            <a:ext cx="3474720" cy="36576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クライアント</a:t>
            </a:r>
            <a:endParaRPr lang="en-US" sz="1600" dirty="0"/>
          </a:p>
        </p:txBody>
      </p:sp>
      <p:sp>
        <p:nvSpPr>
          <p:cNvPr id="8" name="Text 5"/>
          <p:cNvSpPr/>
          <p:nvPr/>
        </p:nvSpPr>
        <p:spPr>
          <a:xfrm>
            <a:off x="640080" y="2560320"/>
            <a:ext cx="3474720" cy="457200"/>
          </a:xfrm>
          <a:prstGeom prst="rect">
            <a:avLst/>
          </a:prstGeom>
          <a:noFill/>
          <a:ln/>
        </p:spPr>
        <p:txBody>
          <a:bodyPr wrap="square" lIns="0" tIns="0" rIns="0" bIns="0" rtlCol="0" anchor="t"/>
          <a:lstStyle/>
          <a:p>
            <a:pPr marL="0" indent="0" algn="ctr">
              <a:buNone/>
            </a:pPr>
            <a:r>
              <a:rPr lang="en-US" sz="1100" dirty="0">
                <a:solidFill>
                  <a:srgbClr val="666666"/>
                </a:solidFill>
                <a:latin typeface="Calibri" pitchFamily="34" charset="0"/>
                <a:ea typeface="Calibri" pitchFamily="34" charset="-122"/>
                <a:cs typeface="Calibri" pitchFamily="34" charset="-120"/>
              </a:rPr>
              <a:t>処理を要求するコンピューター</a:t>
            </a:r>
            <a:endParaRPr lang="en-US" sz="1100" dirty="0"/>
          </a:p>
          <a:p>
            <a:pPr marL="0" indent="0" algn="ctr">
              <a:buNone/>
            </a:pPr>
            <a:r>
              <a:rPr lang="en-US" sz="1100" dirty="0">
                <a:solidFill>
                  <a:srgbClr val="666666"/>
                </a:solidFill>
                <a:latin typeface="Calibri" pitchFamily="34" charset="0"/>
                <a:ea typeface="Calibri" pitchFamily="34" charset="-122"/>
                <a:cs typeface="Calibri" pitchFamily="34" charset="-120"/>
              </a:rPr>
              <a:t>（ユーザーが操作する側）</a:t>
            </a:r>
            <a:endParaRPr lang="en-US" sz="1100" dirty="0"/>
          </a:p>
        </p:txBody>
      </p:sp>
      <p:pic>
        <p:nvPicPr>
          <p:cNvPr id="9" name="Image 1" descr="preencoded.png"/>
          <p:cNvPicPr>
            <a:picLocks noChangeAspect="1"/>
          </p:cNvPicPr>
          <p:nvPr/>
        </p:nvPicPr>
        <p:blipFill>
          <a:blip r:embed="rId4"/>
          <a:stretch>
            <a:fillRect/>
          </a:stretch>
        </p:blipFill>
        <p:spPr>
          <a:xfrm>
            <a:off x="4206240" y="1645920"/>
            <a:ext cx="640080" cy="640080"/>
          </a:xfrm>
          <a:prstGeom prst="rect">
            <a:avLst/>
          </a:prstGeom>
        </p:spPr>
      </p:pic>
      <p:sp>
        <p:nvSpPr>
          <p:cNvPr id="10" name="Shape 6"/>
          <p:cNvSpPr/>
          <p:nvPr/>
        </p:nvSpPr>
        <p:spPr>
          <a:xfrm>
            <a:off x="4846320" y="1005840"/>
            <a:ext cx="3840480" cy="21031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1" name="Shape 7"/>
          <p:cNvSpPr/>
          <p:nvPr/>
        </p:nvSpPr>
        <p:spPr>
          <a:xfrm>
            <a:off x="6126480" y="1188720"/>
            <a:ext cx="914400" cy="914400"/>
          </a:xfrm>
          <a:prstGeom prst="ellipse">
            <a:avLst/>
          </a:prstGeom>
          <a:solidFill>
            <a:srgbClr val="8B7536"/>
          </a:solidFill>
          <a:ln/>
        </p:spPr>
        <p:txBody>
          <a:bodyPr/>
          <a:lstStyle/>
          <a:p>
            <a:endParaRPr lang="ja-JP" altLang="en-US"/>
          </a:p>
        </p:txBody>
      </p:sp>
      <p:pic>
        <p:nvPicPr>
          <p:cNvPr id="12" name="Image 2" descr="preencoded.png"/>
          <p:cNvPicPr>
            <a:picLocks noChangeAspect="1"/>
          </p:cNvPicPr>
          <p:nvPr/>
        </p:nvPicPr>
        <p:blipFill>
          <a:blip r:embed="rId5"/>
          <a:stretch>
            <a:fillRect/>
          </a:stretch>
        </p:blipFill>
        <p:spPr>
          <a:xfrm>
            <a:off x="6263640" y="1325880"/>
            <a:ext cx="640080" cy="640080"/>
          </a:xfrm>
          <a:prstGeom prst="rect">
            <a:avLst/>
          </a:prstGeom>
        </p:spPr>
      </p:pic>
      <p:sp>
        <p:nvSpPr>
          <p:cNvPr id="13" name="Text 8"/>
          <p:cNvSpPr/>
          <p:nvPr/>
        </p:nvSpPr>
        <p:spPr>
          <a:xfrm>
            <a:off x="5029200" y="2194560"/>
            <a:ext cx="3474720" cy="365760"/>
          </a:xfrm>
          <a:prstGeom prst="rect">
            <a:avLst/>
          </a:prstGeom>
          <a:noFill/>
          <a:ln/>
        </p:spPr>
        <p:txBody>
          <a:bodyPr wrap="square" lIns="0" tIns="0" rIns="0" bIns="0" rtlCol="0" anchor="ctr"/>
          <a:lstStyle/>
          <a:p>
            <a:pPr marL="0" indent="0" algn="ctr">
              <a:buNone/>
            </a:pPr>
            <a:r>
              <a:rPr lang="en-US" sz="1600" b="1" dirty="0">
                <a:solidFill>
                  <a:srgbClr val="333333"/>
                </a:solidFill>
                <a:latin typeface="Calibri" pitchFamily="34" charset="0"/>
                <a:ea typeface="Calibri" pitchFamily="34" charset="-122"/>
                <a:cs typeface="Calibri" pitchFamily="34" charset="-120"/>
              </a:rPr>
              <a:t>サーバ</a:t>
            </a:r>
            <a:endParaRPr lang="en-US" sz="1600" dirty="0"/>
          </a:p>
        </p:txBody>
      </p:sp>
      <p:sp>
        <p:nvSpPr>
          <p:cNvPr id="14" name="Text 9"/>
          <p:cNvSpPr/>
          <p:nvPr/>
        </p:nvSpPr>
        <p:spPr>
          <a:xfrm>
            <a:off x="5029200" y="2560320"/>
            <a:ext cx="3474720" cy="457200"/>
          </a:xfrm>
          <a:prstGeom prst="rect">
            <a:avLst/>
          </a:prstGeom>
          <a:noFill/>
          <a:ln/>
        </p:spPr>
        <p:txBody>
          <a:bodyPr wrap="square" lIns="0" tIns="0" rIns="0" bIns="0" rtlCol="0" anchor="t"/>
          <a:lstStyle/>
          <a:p>
            <a:pPr marL="0" indent="0" algn="ctr">
              <a:buNone/>
            </a:pPr>
            <a:r>
              <a:rPr lang="en-US" sz="1100" dirty="0">
                <a:solidFill>
                  <a:srgbClr val="666666"/>
                </a:solidFill>
                <a:latin typeface="Calibri" pitchFamily="34" charset="0"/>
                <a:ea typeface="Calibri" pitchFamily="34" charset="-122"/>
                <a:cs typeface="Calibri" pitchFamily="34" charset="-120"/>
              </a:rPr>
              <a:t>処理（関数の実行）を行うコンピューター</a:t>
            </a:r>
            <a:endParaRPr lang="en-US" sz="1100" dirty="0"/>
          </a:p>
          <a:p>
            <a:pPr marL="0" indent="0" algn="ctr">
              <a:buNone/>
            </a:pPr>
            <a:r>
              <a:rPr lang="en-US" sz="1100" dirty="0">
                <a:solidFill>
                  <a:srgbClr val="666666"/>
                </a:solidFill>
                <a:latin typeface="Calibri" pitchFamily="34" charset="0"/>
                <a:ea typeface="Calibri" pitchFamily="34" charset="-122"/>
                <a:cs typeface="Calibri" pitchFamily="34" charset="-120"/>
              </a:rPr>
              <a:t>（計算・処理を担当する側）</a:t>
            </a:r>
            <a:endParaRPr lang="en-US" sz="1100" dirty="0"/>
          </a:p>
        </p:txBody>
      </p:sp>
      <p:sp>
        <p:nvSpPr>
          <p:cNvPr id="15" name="Shape 10"/>
          <p:cNvSpPr/>
          <p:nvPr/>
        </p:nvSpPr>
        <p:spPr>
          <a:xfrm>
            <a:off x="457200" y="3383280"/>
            <a:ext cx="8229600" cy="457200"/>
          </a:xfrm>
          <a:prstGeom prst="rect">
            <a:avLst/>
          </a:prstGeom>
          <a:solidFill>
            <a:srgbClr val="8B7536"/>
          </a:solidFill>
          <a:ln/>
        </p:spPr>
        <p:txBody>
          <a:bodyPr/>
          <a:lstStyle/>
          <a:p>
            <a:endParaRPr lang="ja-JP" altLang="en-US"/>
          </a:p>
        </p:txBody>
      </p:sp>
      <p:sp>
        <p:nvSpPr>
          <p:cNvPr id="16" name="Text 11"/>
          <p:cNvSpPr/>
          <p:nvPr/>
        </p:nvSpPr>
        <p:spPr>
          <a:xfrm>
            <a:off x="457200" y="3383280"/>
            <a:ext cx="82296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このクライアント ↔ サーバの関係がすべてのシステムの基本構造</a:t>
            </a:r>
            <a:endParaRPr lang="en-US" sz="1400" dirty="0"/>
          </a:p>
        </p:txBody>
      </p:sp>
      <p:sp>
        <p:nvSpPr>
          <p:cNvPr id="17" name="Text 12"/>
          <p:cNvSpPr/>
          <p:nvPr/>
        </p:nvSpPr>
        <p:spPr>
          <a:xfrm>
            <a:off x="457200" y="4023360"/>
            <a:ext cx="8229600" cy="274320"/>
          </a:xfrm>
          <a:prstGeom prst="rect">
            <a:avLst/>
          </a:prstGeom>
          <a:noFill/>
          <a:ln/>
        </p:spPr>
        <p:txBody>
          <a:bodyPr wrap="square" lIns="0" tIns="0" rIns="0" bIns="0" rtlCol="0" anchor="ctr"/>
          <a:lstStyle/>
          <a:p>
            <a:pPr marL="0" indent="0">
              <a:buNone/>
            </a:pPr>
            <a:r>
              <a:rPr lang="en-US" sz="1200" b="1" dirty="0">
                <a:solidFill>
                  <a:srgbClr val="8B7536"/>
                </a:solidFill>
                <a:latin typeface="Calibri" pitchFamily="34" charset="0"/>
                <a:ea typeface="Calibri" pitchFamily="34" charset="-122"/>
                <a:cs typeface="Calibri" pitchFamily="34" charset="-120"/>
              </a:rPr>
              <a:t>引数に渡せるのは数字だけではない</a:t>
            </a:r>
            <a:endParaRPr lang="en-US" sz="1200" dirty="0"/>
          </a:p>
        </p:txBody>
      </p:sp>
      <p:sp>
        <p:nvSpPr>
          <p:cNvPr id="18" name="Text 13"/>
          <p:cNvSpPr/>
          <p:nvPr/>
        </p:nvSpPr>
        <p:spPr>
          <a:xfrm>
            <a:off x="457200" y="4297680"/>
            <a:ext cx="822960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文字・画像・音楽・動画など様々なデータを引数として渡せる → 写真を渡して透過処理、動画を渡してCMカット等</a:t>
            </a:r>
            <a:endParaRPr lang="en-US" sz="1000" dirty="0"/>
          </a:p>
        </p:txBody>
      </p:sp>
      <p:sp>
        <p:nvSpPr>
          <p:cNvPr id="19" name="Shape 14"/>
          <p:cNvSpPr/>
          <p:nvPr/>
        </p:nvSpPr>
        <p:spPr>
          <a:xfrm>
            <a:off x="0" y="4800600"/>
            <a:ext cx="9144000" cy="342900"/>
          </a:xfrm>
          <a:prstGeom prst="rect">
            <a:avLst/>
          </a:prstGeom>
          <a:solidFill>
            <a:srgbClr val="8B7536"/>
          </a:solidFill>
          <a:ln/>
        </p:spPr>
        <p:txBody>
          <a:bodyPr/>
          <a:lstStyle/>
          <a:p>
            <a:endParaRPr lang="ja-JP" altLang="en-US"/>
          </a:p>
        </p:txBody>
      </p:sp>
      <p:sp>
        <p:nvSpPr>
          <p:cNvPr id="20" name="Text 15"/>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1" name="Text 16"/>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WEBだと、こんな感じ</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411480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365760">
                <a:tc>
                  <a:txBody>
                    <a:bodyPr/>
                    <a:lstStyle/>
                    <a:p>
                      <a:pPr marL="0" indent="0">
                        <a:buNone/>
                      </a:pPr>
                      <a:r>
                        <a:rPr lang="en-US" sz="1200" b="1" dirty="0">
                          <a:solidFill>
                            <a:srgbClr val="FFFFFF"/>
                          </a:solidFill>
                        </a:rPr>
                        <a:t>概念</a:t>
                      </a:r>
                      <a:endParaRPr lang="en-US" sz="12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solidFill>
                      <a:srgbClr val="8B7536"/>
                    </a:solidFill>
                  </a:tcPr>
                </a:tc>
                <a:tc>
                  <a:txBody>
                    <a:bodyPr/>
                    <a:lstStyle/>
                    <a:p>
                      <a:pPr marL="0" indent="0">
                        <a:buNone/>
                      </a:pPr>
                      <a:r>
                        <a:rPr lang="en-US" sz="1200" b="1" dirty="0">
                          <a:solidFill>
                            <a:srgbClr val="FFFFFF"/>
                          </a:solidFill>
                        </a:rPr>
                        <a:t>WEBでの実現</a:t>
                      </a:r>
                      <a:endParaRPr lang="en-US" sz="12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solidFill>
                      <a:srgbClr val="8B7536"/>
                    </a:solidFill>
                  </a:tcPr>
                </a:tc>
                <a:extLst>
                  <a:ext uri="{0D108BD9-81ED-4DB2-BD59-A6C34878D82A}">
                    <a16:rowId xmlns:a16="http://schemas.microsoft.com/office/drawing/2014/main" val="10000"/>
                  </a:ext>
                </a:extLst>
              </a:tr>
              <a:tr h="347472">
                <a:tc>
                  <a:txBody>
                    <a:bodyPr/>
                    <a:lstStyle/>
                    <a:p>
                      <a:pPr marL="0" indent="0">
                        <a:buNone/>
                      </a:pPr>
                      <a:r>
                        <a:rPr lang="en-US" sz="1100" b="1" dirty="0">
                          <a:solidFill>
                            <a:srgbClr val="000000"/>
                          </a:solidFill>
                        </a:rPr>
                        <a:t>関数</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100" dirty="0">
                          <a:solidFill>
                            <a:srgbClr val="000000"/>
                          </a:solidFill>
                        </a:rPr>
                        <a:t>サーバ上のプログラム</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buNone/>
                      </a:pPr>
                      <a:r>
                        <a:rPr lang="en-US" sz="1100" b="1" dirty="0">
                          <a:solidFill>
                            <a:srgbClr val="000000"/>
                          </a:solidFill>
                        </a:rPr>
                        <a:t>引数</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100" dirty="0">
                          <a:solidFill>
                            <a:srgbClr val="000000"/>
                          </a:solidFill>
                        </a:rPr>
                        <a:t>URLパラメータ / リクエストボディ</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2"/>
                  </a:ext>
                </a:extLst>
              </a:tr>
              <a:tr h="347472">
                <a:tc>
                  <a:txBody>
                    <a:bodyPr/>
                    <a:lstStyle/>
                    <a:p>
                      <a:pPr marL="0" indent="0">
                        <a:buNone/>
                      </a:pPr>
                      <a:r>
                        <a:rPr lang="en-US" sz="1100" b="1" dirty="0">
                          <a:solidFill>
                            <a:srgbClr val="000000"/>
                          </a:solidFill>
                        </a:rPr>
                        <a:t>戻り値</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100" dirty="0">
                          <a:solidFill>
                            <a:srgbClr val="000000"/>
                          </a:solidFill>
                        </a:rPr>
                        <a:t>レスポンス（HTML・JSON等）</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3"/>
                  </a:ext>
                </a:extLst>
              </a:tr>
              <a:tr h="347472">
                <a:tc>
                  <a:txBody>
                    <a:bodyPr/>
                    <a:lstStyle/>
                    <a:p>
                      <a:pPr marL="0" indent="0">
                        <a:buNone/>
                      </a:pPr>
                      <a:r>
                        <a:rPr lang="en-US" sz="1100" b="1" dirty="0">
                          <a:solidFill>
                            <a:srgbClr val="000000"/>
                          </a:solidFill>
                        </a:rPr>
                        <a:t>クライアント</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100" dirty="0">
                          <a:solidFill>
                            <a:srgbClr val="000000"/>
                          </a:solidFill>
                        </a:rPr>
                        <a:t>ブラウザ</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4"/>
                  </a:ext>
                </a:extLst>
              </a:tr>
              <a:tr h="347472">
                <a:tc>
                  <a:txBody>
                    <a:bodyPr/>
                    <a:lstStyle/>
                    <a:p>
                      <a:pPr marL="0" indent="0">
                        <a:buNone/>
                      </a:pPr>
                      <a:r>
                        <a:rPr lang="en-US" sz="1100" b="1" dirty="0">
                          <a:solidFill>
                            <a:srgbClr val="000000"/>
                          </a:solidFill>
                        </a:rPr>
                        <a:t>サーバ</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tc>
                  <a:txBody>
                    <a:bodyPr/>
                    <a:lstStyle/>
                    <a:p>
                      <a:pPr marL="0" indent="0">
                        <a:buNone/>
                      </a:pPr>
                      <a:r>
                        <a:rPr lang="en-US" sz="1100" dirty="0">
                          <a:solidFill>
                            <a:srgbClr val="000000"/>
                          </a:solidFill>
                        </a:rPr>
                        <a:t>Webサーバ</a:t>
                      </a:r>
                      <a:endParaRPr lang="en-US" sz="1100" dirty="0"/>
                    </a:p>
                  </a:txBody>
                  <a:tcPr>
                    <a:lnL w="6350" cap="flat" cmpd="sng" algn="ctr">
                      <a:solidFill>
                        <a:srgbClr val="E0D9C8"/>
                      </a:solidFill>
                      <a:prstDash val="solid"/>
                      <a:round/>
                      <a:headEnd type="none" w="med" len="med"/>
                      <a:tailEnd type="none" w="med" len="med"/>
                    </a:lnL>
                    <a:lnR w="6350" cap="flat" cmpd="sng" algn="ctr">
                      <a:solidFill>
                        <a:srgbClr val="E0D9C8"/>
                      </a:solidFill>
                      <a:prstDash val="solid"/>
                      <a:round/>
                      <a:headEnd type="none" w="med" len="med"/>
                      <a:tailEnd type="none" w="med" len="med"/>
                    </a:lnR>
                    <a:lnT w="6350" cap="flat" cmpd="sng" algn="ctr">
                      <a:solidFill>
                        <a:srgbClr val="E0D9C8"/>
                      </a:solidFill>
                      <a:prstDash val="solid"/>
                      <a:round/>
                      <a:headEnd type="none" w="med" len="med"/>
                      <a:tailEnd type="none" w="med" len="med"/>
                    </a:lnT>
                    <a:lnB w="6350" cap="flat" cmpd="sng" algn="ctr">
                      <a:solidFill>
                        <a:srgbClr val="E0D9C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4846320" y="1005840"/>
            <a:ext cx="3840480" cy="32004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6" name="Text 3"/>
          <p:cNvSpPr/>
          <p:nvPr/>
        </p:nvSpPr>
        <p:spPr>
          <a:xfrm>
            <a:off x="5029200" y="1097280"/>
            <a:ext cx="347472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URLを入力すると……</a:t>
            </a:r>
            <a:endParaRPr lang="en-US" sz="1300" dirty="0"/>
          </a:p>
        </p:txBody>
      </p:sp>
      <p:sp>
        <p:nvSpPr>
          <p:cNvPr id="7" name="Shape 4"/>
          <p:cNvSpPr/>
          <p:nvPr/>
        </p:nvSpPr>
        <p:spPr>
          <a:xfrm>
            <a:off x="5120640" y="1554480"/>
            <a:ext cx="3291840" cy="365760"/>
          </a:xfrm>
          <a:prstGeom prst="rect">
            <a:avLst/>
          </a:prstGeom>
          <a:solidFill>
            <a:srgbClr val="F5F0E6"/>
          </a:solidFill>
          <a:ln w="3810">
            <a:solidFill>
              <a:srgbClr val="E0D9C8"/>
            </a:solidFill>
            <a:prstDash val="solid"/>
          </a:ln>
        </p:spPr>
        <p:txBody>
          <a:bodyPr/>
          <a:lstStyle/>
          <a:p>
            <a:endParaRPr lang="ja-JP" altLang="en-US"/>
          </a:p>
        </p:txBody>
      </p:sp>
      <p:sp>
        <p:nvSpPr>
          <p:cNvPr id="8" name="Text 5"/>
          <p:cNvSpPr/>
          <p:nvPr/>
        </p:nvSpPr>
        <p:spPr>
          <a:xfrm>
            <a:off x="5120640" y="1554480"/>
            <a:ext cx="329184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① ブラウザにURLを入力</a:t>
            </a:r>
            <a:endParaRPr lang="en-US" sz="1000" dirty="0"/>
          </a:p>
        </p:txBody>
      </p:sp>
      <p:sp>
        <p:nvSpPr>
          <p:cNvPr id="9" name="Shape 6"/>
          <p:cNvSpPr/>
          <p:nvPr/>
        </p:nvSpPr>
        <p:spPr>
          <a:xfrm>
            <a:off x="5120640" y="2011680"/>
            <a:ext cx="3291840" cy="365760"/>
          </a:xfrm>
          <a:prstGeom prst="rect">
            <a:avLst/>
          </a:prstGeom>
          <a:solidFill>
            <a:srgbClr val="F5F0E6"/>
          </a:solidFill>
          <a:ln w="3810">
            <a:solidFill>
              <a:srgbClr val="E0D9C8"/>
            </a:solidFill>
            <a:prstDash val="solid"/>
          </a:ln>
        </p:spPr>
        <p:txBody>
          <a:bodyPr/>
          <a:lstStyle/>
          <a:p>
            <a:endParaRPr lang="ja-JP" altLang="en-US"/>
          </a:p>
        </p:txBody>
      </p:sp>
      <p:sp>
        <p:nvSpPr>
          <p:cNvPr id="10" name="Text 7"/>
          <p:cNvSpPr/>
          <p:nvPr/>
        </p:nvSpPr>
        <p:spPr>
          <a:xfrm>
            <a:off x="5120640" y="2011680"/>
            <a:ext cx="329184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② DNS解決でサーバを特定</a:t>
            </a:r>
            <a:endParaRPr lang="en-US" sz="1000" dirty="0"/>
          </a:p>
        </p:txBody>
      </p:sp>
      <p:sp>
        <p:nvSpPr>
          <p:cNvPr id="11" name="Shape 8"/>
          <p:cNvSpPr/>
          <p:nvPr/>
        </p:nvSpPr>
        <p:spPr>
          <a:xfrm>
            <a:off x="5120640" y="2468880"/>
            <a:ext cx="3291840" cy="365760"/>
          </a:xfrm>
          <a:prstGeom prst="rect">
            <a:avLst/>
          </a:prstGeom>
          <a:solidFill>
            <a:srgbClr val="F5F0E6"/>
          </a:solidFill>
          <a:ln w="3810">
            <a:solidFill>
              <a:srgbClr val="E0D9C8"/>
            </a:solidFill>
            <a:prstDash val="solid"/>
          </a:ln>
        </p:spPr>
        <p:txBody>
          <a:bodyPr/>
          <a:lstStyle/>
          <a:p>
            <a:endParaRPr lang="ja-JP" altLang="en-US"/>
          </a:p>
        </p:txBody>
      </p:sp>
      <p:sp>
        <p:nvSpPr>
          <p:cNvPr id="12" name="Text 9"/>
          <p:cNvSpPr/>
          <p:nvPr/>
        </p:nvSpPr>
        <p:spPr>
          <a:xfrm>
            <a:off x="5120640" y="2468880"/>
            <a:ext cx="329184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③ サーバにリクエスト送信</a:t>
            </a:r>
            <a:endParaRPr lang="en-US" sz="1000" dirty="0"/>
          </a:p>
        </p:txBody>
      </p:sp>
      <p:sp>
        <p:nvSpPr>
          <p:cNvPr id="13" name="Shape 10"/>
          <p:cNvSpPr/>
          <p:nvPr/>
        </p:nvSpPr>
        <p:spPr>
          <a:xfrm>
            <a:off x="5120640" y="2926080"/>
            <a:ext cx="3291840" cy="365760"/>
          </a:xfrm>
          <a:prstGeom prst="rect">
            <a:avLst/>
          </a:prstGeom>
          <a:solidFill>
            <a:srgbClr val="8B7536"/>
          </a:solidFill>
          <a:ln w="3810">
            <a:solidFill>
              <a:srgbClr val="E0D9C8"/>
            </a:solidFill>
            <a:prstDash val="solid"/>
          </a:ln>
        </p:spPr>
        <p:txBody>
          <a:bodyPr/>
          <a:lstStyle/>
          <a:p>
            <a:endParaRPr lang="ja-JP" altLang="en-US"/>
          </a:p>
        </p:txBody>
      </p:sp>
      <p:sp>
        <p:nvSpPr>
          <p:cNvPr id="14" name="Text 11"/>
          <p:cNvSpPr/>
          <p:nvPr/>
        </p:nvSpPr>
        <p:spPr>
          <a:xfrm>
            <a:off x="5120640" y="2926080"/>
            <a:ext cx="329184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④ サーバが処理しレスポンス返却</a:t>
            </a:r>
            <a:endParaRPr lang="en-US" sz="1000" dirty="0"/>
          </a:p>
        </p:txBody>
      </p:sp>
      <p:sp>
        <p:nvSpPr>
          <p:cNvPr id="15" name="Shape 12"/>
          <p:cNvSpPr/>
          <p:nvPr/>
        </p:nvSpPr>
        <p:spPr>
          <a:xfrm>
            <a:off x="5120640" y="3383280"/>
            <a:ext cx="3291840" cy="365760"/>
          </a:xfrm>
          <a:prstGeom prst="rect">
            <a:avLst/>
          </a:prstGeom>
          <a:solidFill>
            <a:srgbClr val="F5F0E6"/>
          </a:solidFill>
          <a:ln w="3810">
            <a:solidFill>
              <a:srgbClr val="E0D9C8"/>
            </a:solidFill>
            <a:prstDash val="solid"/>
          </a:ln>
        </p:spPr>
        <p:txBody>
          <a:bodyPr/>
          <a:lstStyle/>
          <a:p>
            <a:endParaRPr lang="ja-JP" altLang="en-US"/>
          </a:p>
        </p:txBody>
      </p:sp>
      <p:sp>
        <p:nvSpPr>
          <p:cNvPr id="16" name="Text 13"/>
          <p:cNvSpPr/>
          <p:nvPr/>
        </p:nvSpPr>
        <p:spPr>
          <a:xfrm>
            <a:off x="5120640" y="3383280"/>
            <a:ext cx="3291840" cy="365760"/>
          </a:xfrm>
          <a:prstGeom prst="rect">
            <a:avLst/>
          </a:prstGeom>
          <a:noFill/>
          <a:ln/>
        </p:spPr>
        <p:txBody>
          <a:bodyPr wrap="square" lIns="0" tIns="0" rIns="0" bIns="0"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⑤ ブラウザが画面に表示</a:t>
            </a:r>
            <a:endParaRPr lang="en-US" sz="1000" dirty="0"/>
          </a:p>
        </p:txBody>
      </p:sp>
      <p:sp>
        <p:nvSpPr>
          <p:cNvPr id="17" name="Shape 14"/>
          <p:cNvSpPr/>
          <p:nvPr/>
        </p:nvSpPr>
        <p:spPr>
          <a:xfrm>
            <a:off x="457200" y="4206240"/>
            <a:ext cx="8229600" cy="365760"/>
          </a:xfrm>
          <a:prstGeom prst="rect">
            <a:avLst/>
          </a:prstGeom>
          <a:solidFill>
            <a:srgbClr val="F5F0E6"/>
          </a:solidFill>
          <a:ln/>
        </p:spPr>
        <p:txBody>
          <a:bodyPr/>
          <a:lstStyle/>
          <a:p>
            <a:endParaRPr lang="ja-JP" altLang="en-US"/>
          </a:p>
        </p:txBody>
      </p:sp>
      <p:sp>
        <p:nvSpPr>
          <p:cNvPr id="18" name="Text 15"/>
          <p:cNvSpPr/>
          <p:nvPr/>
        </p:nvSpPr>
        <p:spPr>
          <a:xfrm>
            <a:off x="457200" y="4206240"/>
            <a:ext cx="8229600" cy="365760"/>
          </a:xfrm>
          <a:prstGeom prst="rect">
            <a:avLst/>
          </a:prstGeom>
          <a:noFill/>
          <a:ln/>
        </p:spPr>
        <p:txBody>
          <a:bodyPr wrap="square" lIns="0" tIns="0" rIns="0" bIns="0" rtlCol="0" anchor="ctr"/>
          <a:lstStyle/>
          <a:p>
            <a:pPr marL="0" indent="0" algn="ctr">
              <a:buNone/>
            </a:pPr>
            <a:r>
              <a:rPr lang="en-US" sz="1200" b="1" dirty="0">
                <a:solidFill>
                  <a:srgbClr val="8B7536"/>
                </a:solidFill>
                <a:latin typeface="Calibri" pitchFamily="34" charset="0"/>
                <a:ea typeface="Calibri" pitchFamily="34" charset="-122"/>
                <a:cs typeface="Calibri" pitchFamily="34" charset="-120"/>
              </a:rPr>
              <a:t>すべては同じ仕組みの応用 ― 関数の概念がWEBの基礎</a:t>
            </a:r>
            <a:endParaRPr lang="en-US" sz="1200" dirty="0"/>
          </a:p>
        </p:txBody>
      </p:sp>
      <p:sp>
        <p:nvSpPr>
          <p:cNvPr id="4" name="Shape 16"/>
          <p:cNvSpPr/>
          <p:nvPr/>
        </p:nvSpPr>
        <p:spPr>
          <a:xfrm>
            <a:off x="0" y="4800600"/>
            <a:ext cx="9144000" cy="342900"/>
          </a:xfrm>
          <a:prstGeom prst="rect">
            <a:avLst/>
          </a:prstGeom>
          <a:solidFill>
            <a:srgbClr val="8B7536"/>
          </a:solidFill>
          <a:ln/>
        </p:spPr>
        <p:txBody>
          <a:bodyPr/>
          <a:lstStyle/>
          <a:p>
            <a:endParaRPr lang="ja-JP" altLang="en-US"/>
          </a:p>
        </p:txBody>
      </p:sp>
      <p:sp>
        <p:nvSpPr>
          <p:cNvPr id="20" name="Text 17"/>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1" name="Text 18"/>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リクエストの仕組み（GETパラメータ）</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1005840"/>
            <a:ext cx="8229600" cy="16459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5" name="Text 3"/>
          <p:cNvSpPr/>
          <p:nvPr/>
        </p:nvSpPr>
        <p:spPr>
          <a:xfrm>
            <a:off x="640080" y="1097280"/>
            <a:ext cx="7863840" cy="32004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GETメソッドによるパラメータ渡し</a:t>
            </a:r>
            <a:endParaRPr lang="en-US" sz="1300" dirty="0"/>
          </a:p>
        </p:txBody>
      </p:sp>
      <p:sp>
        <p:nvSpPr>
          <p:cNvPr id="6" name="Shape 4"/>
          <p:cNvSpPr/>
          <p:nvPr/>
        </p:nvSpPr>
        <p:spPr>
          <a:xfrm>
            <a:off x="640080" y="1508760"/>
            <a:ext cx="7863840" cy="457200"/>
          </a:xfrm>
          <a:prstGeom prst="rect">
            <a:avLst/>
          </a:prstGeom>
          <a:solidFill>
            <a:srgbClr val="F5F5F5"/>
          </a:solidFill>
          <a:ln/>
        </p:spPr>
        <p:txBody>
          <a:bodyPr/>
          <a:lstStyle/>
          <a:p>
            <a:endParaRPr lang="ja-JP" altLang="en-US"/>
          </a:p>
        </p:txBody>
      </p:sp>
      <p:sp>
        <p:nvSpPr>
          <p:cNvPr id="7" name="Text 5"/>
          <p:cNvSpPr/>
          <p:nvPr/>
        </p:nvSpPr>
        <p:spPr>
          <a:xfrm>
            <a:off x="822960" y="1508760"/>
            <a:ext cx="7498080" cy="457200"/>
          </a:xfrm>
          <a:prstGeom prst="rect">
            <a:avLst/>
          </a:prstGeom>
          <a:noFill/>
          <a:ln/>
        </p:spPr>
        <p:txBody>
          <a:bodyPr wrap="square" lIns="0" tIns="0" rIns="0" bIns="0" rtlCol="0" anchor="ctr"/>
          <a:lstStyle/>
          <a:p>
            <a:pPr marL="0" indent="0">
              <a:buNone/>
            </a:pPr>
            <a:r>
              <a:rPr lang="en-US" sz="1300" dirty="0">
                <a:solidFill>
                  <a:srgbClr val="666666"/>
                </a:solidFill>
                <a:latin typeface="Consolas" pitchFamily="34" charset="0"/>
                <a:ea typeface="Consolas" pitchFamily="34" charset="-122"/>
                <a:cs typeface="Consolas" pitchFamily="34" charset="-120"/>
              </a:rPr>
              <a:t>https://example.com/search</a:t>
            </a:r>
            <a:r>
              <a:rPr lang="en-US" sz="1300" b="1" dirty="0">
                <a:solidFill>
                  <a:srgbClr val="8B7536"/>
                </a:solidFill>
                <a:latin typeface="Consolas" pitchFamily="34" charset="0"/>
                <a:ea typeface="Consolas" pitchFamily="34" charset="-122"/>
                <a:cs typeface="Consolas" pitchFamily="34" charset="-120"/>
              </a:rPr>
              <a:t>?q=キーワード</a:t>
            </a:r>
            <a:endParaRPr lang="en-US" sz="1300" dirty="0"/>
          </a:p>
        </p:txBody>
      </p:sp>
      <p:sp>
        <p:nvSpPr>
          <p:cNvPr id="8" name="Text 6"/>
          <p:cNvSpPr/>
          <p:nvPr/>
        </p:nvSpPr>
        <p:spPr>
          <a:xfrm>
            <a:off x="822960" y="2011680"/>
            <a:ext cx="3657600" cy="274320"/>
          </a:xfrm>
          <a:prstGeom prst="rect">
            <a:avLst/>
          </a:prstGeom>
          <a:noFill/>
          <a:ln/>
        </p:spPr>
        <p:txBody>
          <a:bodyPr wrap="square" lIns="0" tIns="0" rIns="0" bIns="0" rtlCol="0" anchor="ctr"/>
          <a:lstStyle/>
          <a:p>
            <a:pPr marL="0" indent="0">
              <a:buNone/>
            </a:pPr>
            <a:r>
              <a:rPr lang="en-US" sz="900" dirty="0">
                <a:solidFill>
                  <a:srgbClr val="666666"/>
                </a:solidFill>
                <a:latin typeface="Calibri" pitchFamily="34" charset="0"/>
                <a:ea typeface="Calibri" pitchFamily="34" charset="-122"/>
                <a:cs typeface="Calibri" pitchFamily="34" charset="-120"/>
              </a:rPr>
              <a:t>↑ URL（サーバのアドレス + パス）</a:t>
            </a:r>
            <a:endParaRPr lang="en-US" sz="900" dirty="0"/>
          </a:p>
        </p:txBody>
      </p:sp>
      <p:sp>
        <p:nvSpPr>
          <p:cNvPr id="9" name="Text 7"/>
          <p:cNvSpPr/>
          <p:nvPr/>
        </p:nvSpPr>
        <p:spPr>
          <a:xfrm>
            <a:off x="5029200" y="2011680"/>
            <a:ext cx="2743200" cy="274320"/>
          </a:xfrm>
          <a:prstGeom prst="rect">
            <a:avLst/>
          </a:prstGeom>
          <a:noFill/>
          <a:ln/>
        </p:spPr>
        <p:txBody>
          <a:bodyPr wrap="square" lIns="0" tIns="0" rIns="0" bIns="0" rtlCol="0" anchor="ctr"/>
          <a:lstStyle/>
          <a:p>
            <a:pPr marL="0" indent="0">
              <a:buNone/>
            </a:pPr>
            <a:r>
              <a:rPr lang="en-US" sz="900" b="1" dirty="0">
                <a:solidFill>
                  <a:srgbClr val="8B7536"/>
                </a:solidFill>
                <a:latin typeface="Calibri" pitchFamily="34" charset="0"/>
                <a:ea typeface="Calibri" pitchFamily="34" charset="-122"/>
                <a:cs typeface="Calibri" pitchFamily="34" charset="-120"/>
              </a:rPr>
              <a:t>↑ 引数（パラメータ）</a:t>
            </a:r>
            <a:endParaRPr lang="en-US" sz="900" dirty="0"/>
          </a:p>
        </p:txBody>
      </p:sp>
      <p:sp>
        <p:nvSpPr>
          <p:cNvPr id="10" name="Text 8"/>
          <p:cNvSpPr/>
          <p:nvPr/>
        </p:nvSpPr>
        <p:spPr>
          <a:xfrm>
            <a:off x="457200" y="2743200"/>
            <a:ext cx="8229600" cy="36576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HTTPリクエストメソッドの主な2種類</a:t>
            </a:r>
            <a:endParaRPr lang="en-US" sz="1300" dirty="0"/>
          </a:p>
        </p:txBody>
      </p:sp>
      <p:sp>
        <p:nvSpPr>
          <p:cNvPr id="11" name="Shape 9"/>
          <p:cNvSpPr/>
          <p:nvPr/>
        </p:nvSpPr>
        <p:spPr>
          <a:xfrm>
            <a:off x="457200" y="3200400"/>
            <a:ext cx="3840480" cy="1188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2" name="Shape 10"/>
          <p:cNvSpPr/>
          <p:nvPr/>
        </p:nvSpPr>
        <p:spPr>
          <a:xfrm>
            <a:off x="457200" y="3200400"/>
            <a:ext cx="73152" cy="1188720"/>
          </a:xfrm>
          <a:prstGeom prst="rect">
            <a:avLst/>
          </a:prstGeom>
          <a:solidFill>
            <a:srgbClr val="27AE60"/>
          </a:solidFill>
          <a:ln/>
        </p:spPr>
        <p:txBody>
          <a:bodyPr/>
          <a:lstStyle/>
          <a:p>
            <a:endParaRPr lang="ja-JP" altLang="en-US"/>
          </a:p>
        </p:txBody>
      </p:sp>
      <p:sp>
        <p:nvSpPr>
          <p:cNvPr id="13" name="Text 11"/>
          <p:cNvSpPr/>
          <p:nvPr/>
        </p:nvSpPr>
        <p:spPr>
          <a:xfrm>
            <a:off x="731520" y="3246120"/>
            <a:ext cx="3383280" cy="320040"/>
          </a:xfrm>
          <a:prstGeom prst="rect">
            <a:avLst/>
          </a:prstGeom>
          <a:noFill/>
          <a:ln/>
        </p:spPr>
        <p:txBody>
          <a:bodyPr wrap="square" lIns="0" tIns="0" rIns="0" bIns="0" rtlCol="0" anchor="ctr"/>
          <a:lstStyle/>
          <a:p>
            <a:pPr marL="0" indent="0">
              <a:buNone/>
            </a:pPr>
            <a:r>
              <a:rPr lang="en-US" sz="1300" b="1" dirty="0">
                <a:solidFill>
                  <a:srgbClr val="333333"/>
                </a:solidFill>
                <a:latin typeface="Calibri" pitchFamily="34" charset="0"/>
                <a:ea typeface="Calibri" pitchFamily="34" charset="-122"/>
                <a:cs typeface="Calibri" pitchFamily="34" charset="-120"/>
              </a:rPr>
              <a:t>GET ― データ取得</a:t>
            </a:r>
            <a:endParaRPr lang="en-US" sz="1300" dirty="0"/>
          </a:p>
        </p:txBody>
      </p:sp>
      <p:sp>
        <p:nvSpPr>
          <p:cNvPr id="14" name="Text 12"/>
          <p:cNvSpPr/>
          <p:nvPr/>
        </p:nvSpPr>
        <p:spPr>
          <a:xfrm>
            <a:off x="731520" y="3611880"/>
            <a:ext cx="3383280" cy="5486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パラメータはURLに付与</a:t>
            </a:r>
            <a:endParaRPr lang="en-US" sz="1000" dirty="0"/>
          </a:p>
          <a:p>
            <a:pPr marL="0" indent="0">
              <a:buNone/>
            </a:pPr>
            <a:r>
              <a:rPr lang="en-US" sz="1000" dirty="0">
                <a:solidFill>
                  <a:srgbClr val="666666"/>
                </a:solidFill>
                <a:latin typeface="Calibri" pitchFamily="34" charset="0"/>
                <a:ea typeface="Calibri" pitchFamily="34" charset="-122"/>
                <a:cs typeface="Calibri" pitchFamily="34" charset="-120"/>
              </a:rPr>
              <a:t>URLを共有すれば同じデータを取得可能</a:t>
            </a:r>
            <a:endParaRPr lang="en-US" sz="1000" dirty="0"/>
          </a:p>
        </p:txBody>
      </p:sp>
      <p:sp>
        <p:nvSpPr>
          <p:cNvPr id="15" name="Shape 13"/>
          <p:cNvSpPr/>
          <p:nvPr/>
        </p:nvSpPr>
        <p:spPr>
          <a:xfrm>
            <a:off x="4846320" y="3200400"/>
            <a:ext cx="3840480" cy="1188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6" name="Shape 14"/>
          <p:cNvSpPr/>
          <p:nvPr/>
        </p:nvSpPr>
        <p:spPr>
          <a:xfrm>
            <a:off x="4846320" y="3200400"/>
            <a:ext cx="73152" cy="1188720"/>
          </a:xfrm>
          <a:prstGeom prst="rect">
            <a:avLst/>
          </a:prstGeom>
          <a:solidFill>
            <a:srgbClr val="2C3E50"/>
          </a:solidFill>
          <a:ln/>
        </p:spPr>
        <p:txBody>
          <a:bodyPr/>
          <a:lstStyle/>
          <a:p>
            <a:endParaRPr lang="ja-JP" altLang="en-US"/>
          </a:p>
        </p:txBody>
      </p:sp>
      <p:sp>
        <p:nvSpPr>
          <p:cNvPr id="17" name="Text 15"/>
          <p:cNvSpPr/>
          <p:nvPr/>
        </p:nvSpPr>
        <p:spPr>
          <a:xfrm>
            <a:off x="5120640" y="3246120"/>
            <a:ext cx="3383280" cy="320040"/>
          </a:xfrm>
          <a:prstGeom prst="rect">
            <a:avLst/>
          </a:prstGeom>
          <a:noFill/>
          <a:ln/>
        </p:spPr>
        <p:txBody>
          <a:bodyPr wrap="square" lIns="0" tIns="0" rIns="0" bIns="0" rtlCol="0" anchor="ctr"/>
          <a:lstStyle/>
          <a:p>
            <a:pPr marL="0" indent="0">
              <a:buNone/>
            </a:pPr>
            <a:r>
              <a:rPr lang="en-US" sz="1300" b="1" dirty="0">
                <a:solidFill>
                  <a:srgbClr val="333333"/>
                </a:solidFill>
                <a:latin typeface="Calibri" pitchFamily="34" charset="0"/>
                <a:ea typeface="Calibri" pitchFamily="34" charset="-122"/>
                <a:cs typeface="Calibri" pitchFamily="34" charset="-120"/>
              </a:rPr>
              <a:t>POST ― データ送信</a:t>
            </a:r>
            <a:endParaRPr lang="en-US" sz="1300" dirty="0"/>
          </a:p>
        </p:txBody>
      </p:sp>
      <p:sp>
        <p:nvSpPr>
          <p:cNvPr id="18" name="Text 16"/>
          <p:cNvSpPr/>
          <p:nvPr/>
        </p:nvSpPr>
        <p:spPr>
          <a:xfrm>
            <a:off x="5120640" y="3611880"/>
            <a:ext cx="3383280" cy="5486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パラメータはリクエスト本文に含む</a:t>
            </a:r>
            <a:endParaRPr lang="en-US" sz="1000" dirty="0"/>
          </a:p>
          <a:p>
            <a:pPr marL="0" indent="0">
              <a:buNone/>
            </a:pPr>
            <a:r>
              <a:rPr lang="en-US" sz="1000" dirty="0">
                <a:solidFill>
                  <a:srgbClr val="666666"/>
                </a:solidFill>
                <a:latin typeface="Calibri" pitchFamily="34" charset="0"/>
                <a:ea typeface="Calibri" pitchFamily="34" charset="-122"/>
                <a:cs typeface="Calibri" pitchFamily="34" charset="-120"/>
              </a:rPr>
              <a:t>フォーム送信やログインで使用</a:t>
            </a:r>
            <a:endParaRPr lang="en-US" sz="1000" dirty="0"/>
          </a:p>
        </p:txBody>
      </p:sp>
      <p:sp>
        <p:nvSpPr>
          <p:cNvPr id="19" name="Shape 17"/>
          <p:cNvSpPr/>
          <p:nvPr/>
        </p:nvSpPr>
        <p:spPr>
          <a:xfrm>
            <a:off x="0" y="4800600"/>
            <a:ext cx="9144000" cy="342900"/>
          </a:xfrm>
          <a:prstGeom prst="rect">
            <a:avLst/>
          </a:prstGeom>
          <a:solidFill>
            <a:srgbClr val="8B7536"/>
          </a:solidFill>
          <a:ln/>
        </p:spPr>
        <p:txBody>
          <a:bodyPr/>
          <a:lstStyle/>
          <a:p>
            <a:endParaRPr lang="ja-JP" altLang="en-US"/>
          </a:p>
        </p:txBody>
      </p:sp>
      <p:sp>
        <p:nvSpPr>
          <p:cNvPr id="20" name="Text 18"/>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1" name="Text 19"/>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APIとは</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8229600" cy="1188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685800" y="1051560"/>
            <a:ext cx="640080" cy="640080"/>
          </a:xfrm>
          <a:prstGeom prst="rect">
            <a:avLst/>
          </a:prstGeom>
        </p:spPr>
      </p:pic>
      <p:sp>
        <p:nvSpPr>
          <p:cNvPr id="6" name="Text 3"/>
          <p:cNvSpPr/>
          <p:nvPr/>
        </p:nvSpPr>
        <p:spPr>
          <a:xfrm>
            <a:off x="1463040" y="960120"/>
            <a:ext cx="6949440" cy="457200"/>
          </a:xfrm>
          <a:prstGeom prst="rect">
            <a:avLst/>
          </a:prstGeom>
          <a:noFill/>
          <a:ln/>
        </p:spPr>
        <p:txBody>
          <a:bodyPr wrap="square" lIns="0" tIns="0" rIns="0" bIns="0" rtlCol="0" anchor="ctr"/>
          <a:lstStyle/>
          <a:p>
            <a:pPr marL="0" indent="0">
              <a:buNone/>
            </a:pPr>
            <a:r>
              <a:rPr lang="en-US" sz="1500" b="1" dirty="0">
                <a:solidFill>
                  <a:srgbClr val="333333"/>
                </a:solidFill>
                <a:latin typeface="Calibri" pitchFamily="34" charset="0"/>
                <a:ea typeface="Calibri" pitchFamily="34" charset="-122"/>
                <a:cs typeface="Calibri" pitchFamily="34" charset="-120"/>
              </a:rPr>
              <a:t>API（Application Programming Interface）</a:t>
            </a:r>
            <a:endParaRPr lang="en-US" sz="1500" dirty="0"/>
          </a:p>
        </p:txBody>
      </p:sp>
      <p:sp>
        <p:nvSpPr>
          <p:cNvPr id="7" name="Text 4"/>
          <p:cNvSpPr/>
          <p:nvPr/>
        </p:nvSpPr>
        <p:spPr>
          <a:xfrm>
            <a:off x="1463040" y="1417320"/>
            <a:ext cx="6949440" cy="45720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アプリケーション同士が通信するための「窓口」。WEBではURLを通じてサーバの機能を呼び出す仕組み。</a:t>
            </a:r>
            <a:endParaRPr lang="en-US" sz="1100" dirty="0"/>
          </a:p>
        </p:txBody>
      </p:sp>
      <p:sp>
        <p:nvSpPr>
          <p:cNvPr id="8" name="Text 5"/>
          <p:cNvSpPr/>
          <p:nvPr/>
        </p:nvSpPr>
        <p:spPr>
          <a:xfrm>
            <a:off x="457200" y="2286000"/>
            <a:ext cx="8229600" cy="365760"/>
          </a:xfrm>
          <a:prstGeom prst="rect">
            <a:avLst/>
          </a:prstGeom>
          <a:noFill/>
          <a:ln/>
        </p:spPr>
        <p:txBody>
          <a:bodyPr wrap="square" lIns="0" tIns="0" rIns="0" bIns="0" rtlCol="0" anchor="ctr"/>
          <a:lstStyle/>
          <a:p>
            <a:pPr marL="0" indent="0">
              <a:buNone/>
            </a:pPr>
            <a:r>
              <a:rPr lang="en-US" sz="1300" b="1" dirty="0">
                <a:solidFill>
                  <a:srgbClr val="8B7536"/>
                </a:solidFill>
                <a:latin typeface="Calibri" pitchFamily="34" charset="0"/>
                <a:ea typeface="Calibri" pitchFamily="34" charset="-122"/>
                <a:cs typeface="Calibri" pitchFamily="34" charset="-120"/>
              </a:rPr>
              <a:t>REST API の主なメソッド</a:t>
            </a:r>
            <a:endParaRPr lang="en-US" sz="1300" dirty="0"/>
          </a:p>
        </p:txBody>
      </p:sp>
      <p:sp>
        <p:nvSpPr>
          <p:cNvPr id="9" name="Shape 6"/>
          <p:cNvSpPr/>
          <p:nvPr/>
        </p:nvSpPr>
        <p:spPr>
          <a:xfrm>
            <a:off x="457200" y="2743200"/>
            <a:ext cx="1828800" cy="731520"/>
          </a:xfrm>
          <a:prstGeom prst="rect">
            <a:avLst/>
          </a:prstGeom>
          <a:solidFill>
            <a:srgbClr val="27AE60"/>
          </a:solidFill>
          <a:ln/>
          <a:effectLst>
            <a:outerShdw blurRad="50800" dist="12700" dir="8100000" algn="bl" rotWithShape="0">
              <a:srgbClr val="000000">
                <a:alpha val="8000"/>
              </a:srgbClr>
            </a:outerShdw>
          </a:effectLst>
        </p:spPr>
        <p:txBody>
          <a:bodyPr/>
          <a:lstStyle/>
          <a:p>
            <a:endParaRPr lang="ja-JP" altLang="en-US"/>
          </a:p>
        </p:txBody>
      </p:sp>
      <p:sp>
        <p:nvSpPr>
          <p:cNvPr id="10" name="Text 7"/>
          <p:cNvSpPr/>
          <p:nvPr/>
        </p:nvSpPr>
        <p:spPr>
          <a:xfrm>
            <a:off x="457200" y="2743200"/>
            <a:ext cx="182880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GET</a:t>
            </a:r>
            <a:endParaRPr lang="en-US" sz="1600" dirty="0"/>
          </a:p>
        </p:txBody>
      </p:sp>
      <p:sp>
        <p:nvSpPr>
          <p:cNvPr id="11" name="Text 8"/>
          <p:cNvSpPr/>
          <p:nvPr/>
        </p:nvSpPr>
        <p:spPr>
          <a:xfrm>
            <a:off x="457200" y="3154680"/>
            <a:ext cx="18288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データ取得</a:t>
            </a:r>
            <a:endParaRPr lang="en-US" sz="1000" dirty="0"/>
          </a:p>
        </p:txBody>
      </p:sp>
      <p:sp>
        <p:nvSpPr>
          <p:cNvPr id="12" name="Shape 9"/>
          <p:cNvSpPr/>
          <p:nvPr/>
        </p:nvSpPr>
        <p:spPr>
          <a:xfrm>
            <a:off x="2560320" y="2743200"/>
            <a:ext cx="1828800" cy="731520"/>
          </a:xfrm>
          <a:prstGeom prst="rect">
            <a:avLst/>
          </a:prstGeom>
          <a:solidFill>
            <a:srgbClr val="2980B9"/>
          </a:solidFill>
          <a:ln/>
          <a:effectLst>
            <a:outerShdw blurRad="50800" dist="12700" dir="8100000" algn="bl" rotWithShape="0">
              <a:srgbClr val="000000">
                <a:alpha val="8000"/>
              </a:srgbClr>
            </a:outerShdw>
          </a:effectLst>
        </p:spPr>
        <p:txBody>
          <a:bodyPr/>
          <a:lstStyle/>
          <a:p>
            <a:endParaRPr lang="ja-JP" altLang="en-US"/>
          </a:p>
        </p:txBody>
      </p:sp>
      <p:sp>
        <p:nvSpPr>
          <p:cNvPr id="13" name="Text 10"/>
          <p:cNvSpPr/>
          <p:nvPr/>
        </p:nvSpPr>
        <p:spPr>
          <a:xfrm>
            <a:off x="2560320" y="2743200"/>
            <a:ext cx="182880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POST</a:t>
            </a:r>
            <a:endParaRPr lang="en-US" sz="1600" dirty="0"/>
          </a:p>
        </p:txBody>
      </p:sp>
      <p:sp>
        <p:nvSpPr>
          <p:cNvPr id="14" name="Text 11"/>
          <p:cNvSpPr/>
          <p:nvPr/>
        </p:nvSpPr>
        <p:spPr>
          <a:xfrm>
            <a:off x="2560320" y="3154680"/>
            <a:ext cx="18288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データ作成</a:t>
            </a:r>
            <a:endParaRPr lang="en-US" sz="1000" dirty="0"/>
          </a:p>
        </p:txBody>
      </p:sp>
      <p:sp>
        <p:nvSpPr>
          <p:cNvPr id="15" name="Shape 12"/>
          <p:cNvSpPr/>
          <p:nvPr/>
        </p:nvSpPr>
        <p:spPr>
          <a:xfrm>
            <a:off x="4663440" y="2743200"/>
            <a:ext cx="1828800" cy="731520"/>
          </a:xfrm>
          <a:prstGeom prst="rect">
            <a:avLst/>
          </a:prstGeom>
          <a:solidFill>
            <a:srgbClr val="C4A44A"/>
          </a:solidFill>
          <a:ln/>
          <a:effectLst>
            <a:outerShdw blurRad="50800" dist="12700" dir="8100000" algn="bl" rotWithShape="0">
              <a:srgbClr val="000000">
                <a:alpha val="8000"/>
              </a:srgbClr>
            </a:outerShdw>
          </a:effectLst>
        </p:spPr>
        <p:txBody>
          <a:bodyPr/>
          <a:lstStyle/>
          <a:p>
            <a:endParaRPr lang="ja-JP" altLang="en-US"/>
          </a:p>
        </p:txBody>
      </p:sp>
      <p:sp>
        <p:nvSpPr>
          <p:cNvPr id="16" name="Text 13"/>
          <p:cNvSpPr/>
          <p:nvPr/>
        </p:nvSpPr>
        <p:spPr>
          <a:xfrm>
            <a:off x="4663440" y="2743200"/>
            <a:ext cx="182880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PUT</a:t>
            </a:r>
            <a:endParaRPr lang="en-US" sz="1600" dirty="0"/>
          </a:p>
        </p:txBody>
      </p:sp>
      <p:sp>
        <p:nvSpPr>
          <p:cNvPr id="17" name="Text 14"/>
          <p:cNvSpPr/>
          <p:nvPr/>
        </p:nvSpPr>
        <p:spPr>
          <a:xfrm>
            <a:off x="4663440" y="3154680"/>
            <a:ext cx="18288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データ更新</a:t>
            </a:r>
            <a:endParaRPr lang="en-US" sz="1000" dirty="0"/>
          </a:p>
        </p:txBody>
      </p:sp>
      <p:sp>
        <p:nvSpPr>
          <p:cNvPr id="18" name="Shape 15"/>
          <p:cNvSpPr/>
          <p:nvPr/>
        </p:nvSpPr>
        <p:spPr>
          <a:xfrm>
            <a:off x="6766560" y="2743200"/>
            <a:ext cx="1828800" cy="731520"/>
          </a:xfrm>
          <a:prstGeom prst="rect">
            <a:avLst/>
          </a:prstGeom>
          <a:solidFill>
            <a:srgbClr val="C0392B"/>
          </a:solidFill>
          <a:ln/>
          <a:effectLst>
            <a:outerShdw blurRad="50800" dist="12700" dir="8100000" algn="bl" rotWithShape="0">
              <a:srgbClr val="000000">
                <a:alpha val="8000"/>
              </a:srgbClr>
            </a:outerShdw>
          </a:effectLst>
        </p:spPr>
        <p:txBody>
          <a:bodyPr/>
          <a:lstStyle/>
          <a:p>
            <a:endParaRPr lang="ja-JP" altLang="en-US"/>
          </a:p>
        </p:txBody>
      </p:sp>
      <p:sp>
        <p:nvSpPr>
          <p:cNvPr id="19" name="Text 16"/>
          <p:cNvSpPr/>
          <p:nvPr/>
        </p:nvSpPr>
        <p:spPr>
          <a:xfrm>
            <a:off x="6766560" y="2743200"/>
            <a:ext cx="182880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onsolas" pitchFamily="34" charset="0"/>
                <a:ea typeface="Consolas" pitchFamily="34" charset="-122"/>
                <a:cs typeface="Consolas" pitchFamily="34" charset="-120"/>
              </a:rPr>
              <a:t>DELETE</a:t>
            </a:r>
            <a:endParaRPr lang="en-US" sz="1600" dirty="0"/>
          </a:p>
        </p:txBody>
      </p:sp>
      <p:sp>
        <p:nvSpPr>
          <p:cNvPr id="20" name="Text 17"/>
          <p:cNvSpPr/>
          <p:nvPr/>
        </p:nvSpPr>
        <p:spPr>
          <a:xfrm>
            <a:off x="6766560" y="3154680"/>
            <a:ext cx="1828800"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データ削除</a:t>
            </a:r>
            <a:endParaRPr lang="en-US" sz="1000" dirty="0"/>
          </a:p>
        </p:txBody>
      </p:sp>
      <p:sp>
        <p:nvSpPr>
          <p:cNvPr id="21" name="Shape 18"/>
          <p:cNvSpPr/>
          <p:nvPr/>
        </p:nvSpPr>
        <p:spPr>
          <a:xfrm>
            <a:off x="457200" y="3749040"/>
            <a:ext cx="8229600" cy="777240"/>
          </a:xfrm>
          <a:prstGeom prst="rect">
            <a:avLst/>
          </a:prstGeom>
          <a:solidFill>
            <a:srgbClr val="F5F0E6"/>
          </a:solidFill>
          <a:ln/>
        </p:spPr>
        <p:txBody>
          <a:bodyPr/>
          <a:lstStyle/>
          <a:p>
            <a:endParaRPr lang="ja-JP" altLang="en-US"/>
          </a:p>
        </p:txBody>
      </p:sp>
      <p:pic>
        <p:nvPicPr>
          <p:cNvPr id="22" name="Image 1" descr="preencoded.png"/>
          <p:cNvPicPr>
            <a:picLocks noChangeAspect="1"/>
          </p:cNvPicPr>
          <p:nvPr/>
        </p:nvPicPr>
        <p:blipFill>
          <a:blip r:embed="rId4"/>
          <a:stretch>
            <a:fillRect/>
          </a:stretch>
        </p:blipFill>
        <p:spPr>
          <a:xfrm>
            <a:off x="640080" y="3886200"/>
            <a:ext cx="365760" cy="365760"/>
          </a:xfrm>
          <a:prstGeom prst="rect">
            <a:avLst/>
          </a:prstGeom>
        </p:spPr>
      </p:pic>
      <p:sp>
        <p:nvSpPr>
          <p:cNvPr id="23" name="Text 19"/>
          <p:cNvSpPr/>
          <p:nvPr/>
        </p:nvSpPr>
        <p:spPr>
          <a:xfrm>
            <a:off x="1143000" y="3749040"/>
            <a:ext cx="7315200" cy="77724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コンサルタントの現場で：</a:t>
            </a:r>
            <a:endParaRPr lang="en-US" sz="1100" dirty="0"/>
          </a:p>
          <a:p>
            <a:pPr marL="0" indent="0">
              <a:buNone/>
            </a:pPr>
            <a:r>
              <a:rPr lang="en-US" sz="1100" dirty="0">
                <a:solidFill>
                  <a:srgbClr val="333333"/>
                </a:solidFill>
                <a:latin typeface="Calibri" pitchFamily="34" charset="0"/>
                <a:ea typeface="Calibri" pitchFamily="34" charset="-122"/>
                <a:cs typeface="Calibri" pitchFamily="34" charset="-120"/>
              </a:rPr>
              <a:t>「このシステムはAPIを公開していますか？」→ 外部連携の可否を判断する基本質問</a:t>
            </a:r>
            <a:endParaRPr lang="en-US" sz="1100" dirty="0"/>
          </a:p>
        </p:txBody>
      </p:sp>
      <p:sp>
        <p:nvSpPr>
          <p:cNvPr id="24" name="Shape 20"/>
          <p:cNvSpPr/>
          <p:nvPr/>
        </p:nvSpPr>
        <p:spPr>
          <a:xfrm>
            <a:off x="0" y="4800600"/>
            <a:ext cx="9144000" cy="342900"/>
          </a:xfrm>
          <a:prstGeom prst="rect">
            <a:avLst/>
          </a:prstGeom>
          <a:solidFill>
            <a:srgbClr val="8B7536"/>
          </a:solidFill>
          <a:ln/>
        </p:spPr>
        <p:txBody>
          <a:bodyPr/>
          <a:lstStyle/>
          <a:p>
            <a:endParaRPr lang="ja-JP" altLang="en-US"/>
          </a:p>
        </p:txBody>
      </p:sp>
      <p:sp>
        <p:nvSpPr>
          <p:cNvPr id="25" name="Text 21"/>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6" name="Text 22"/>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APIの例 ― Autodesk Construction Cloud</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8229600" cy="201168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pic>
        <p:nvPicPr>
          <p:cNvPr id="5" name="Image 0" descr="preencoded.png"/>
          <p:cNvPicPr>
            <a:picLocks noChangeAspect="1"/>
          </p:cNvPicPr>
          <p:nvPr/>
        </p:nvPicPr>
        <p:blipFill>
          <a:blip r:embed="rId3"/>
          <a:stretch>
            <a:fillRect/>
          </a:stretch>
        </p:blipFill>
        <p:spPr>
          <a:xfrm>
            <a:off x="685800" y="1097280"/>
            <a:ext cx="457200" cy="457200"/>
          </a:xfrm>
          <a:prstGeom prst="rect">
            <a:avLst/>
          </a:prstGeom>
        </p:spPr>
      </p:pic>
      <p:sp>
        <p:nvSpPr>
          <p:cNvPr id="6" name="Text 3"/>
          <p:cNvSpPr/>
          <p:nvPr/>
        </p:nvSpPr>
        <p:spPr>
          <a:xfrm>
            <a:off x="1280160" y="1051560"/>
            <a:ext cx="6400800" cy="411480"/>
          </a:xfrm>
          <a:prstGeom prst="rect">
            <a:avLst/>
          </a:prstGeom>
          <a:noFill/>
          <a:ln/>
        </p:spPr>
        <p:txBody>
          <a:bodyPr wrap="square" lIns="0" tIns="0" rIns="0" bIns="0" rtlCol="0" anchor="ctr"/>
          <a:lstStyle/>
          <a:p>
            <a:pPr marL="0" indent="0">
              <a:buNone/>
            </a:pPr>
            <a:r>
              <a:rPr lang="en-US" sz="1500" b="1" dirty="0">
                <a:solidFill>
                  <a:srgbClr val="333333"/>
                </a:solidFill>
                <a:latin typeface="Calibri" pitchFamily="34" charset="0"/>
                <a:ea typeface="Calibri" pitchFamily="34" charset="-122"/>
                <a:cs typeface="Calibri" pitchFamily="34" charset="-120"/>
              </a:rPr>
              <a:t>Autodesk Platform Services（APS）</a:t>
            </a:r>
            <a:endParaRPr lang="en-US" sz="1500" dirty="0"/>
          </a:p>
        </p:txBody>
      </p:sp>
      <p:sp>
        <p:nvSpPr>
          <p:cNvPr id="7" name="Text 4"/>
          <p:cNvSpPr/>
          <p:nvPr/>
        </p:nvSpPr>
        <p:spPr>
          <a:xfrm>
            <a:off x="1280160" y="1417320"/>
            <a:ext cx="7132320" cy="32004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建設クラウドサービスの機能をAPIとして公開 ― https://aps.autodesk.com/</a:t>
            </a:r>
            <a:endParaRPr lang="en-US" sz="1000" dirty="0"/>
          </a:p>
        </p:txBody>
      </p:sp>
      <p:pic>
        <p:nvPicPr>
          <p:cNvPr id="8" name="Image 1" descr="preencoded.png"/>
          <p:cNvPicPr>
            <a:picLocks noChangeAspect="1"/>
          </p:cNvPicPr>
          <p:nvPr/>
        </p:nvPicPr>
        <p:blipFill>
          <a:blip r:embed="rId4"/>
          <a:stretch>
            <a:fillRect/>
          </a:stretch>
        </p:blipFill>
        <p:spPr>
          <a:xfrm>
            <a:off x="914400" y="1828800"/>
            <a:ext cx="201168" cy="201168"/>
          </a:xfrm>
          <a:prstGeom prst="rect">
            <a:avLst/>
          </a:prstGeom>
        </p:spPr>
      </p:pic>
      <p:sp>
        <p:nvSpPr>
          <p:cNvPr id="9" name="Text 5"/>
          <p:cNvSpPr/>
          <p:nvPr/>
        </p:nvSpPr>
        <p:spPr>
          <a:xfrm>
            <a:off x="1234440" y="1828800"/>
            <a:ext cx="713232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外部アプリからACCのデータにプログラムでアクセス可能</a:t>
            </a:r>
            <a:endParaRPr lang="en-US" sz="1100" dirty="0"/>
          </a:p>
        </p:txBody>
      </p:sp>
      <p:pic>
        <p:nvPicPr>
          <p:cNvPr id="10" name="Image 2" descr="preencoded.png"/>
          <p:cNvPicPr>
            <a:picLocks noChangeAspect="1"/>
          </p:cNvPicPr>
          <p:nvPr/>
        </p:nvPicPr>
        <p:blipFill>
          <a:blip r:embed="rId4"/>
          <a:stretch>
            <a:fillRect/>
          </a:stretch>
        </p:blipFill>
        <p:spPr>
          <a:xfrm>
            <a:off x="914400" y="2148840"/>
            <a:ext cx="201168" cy="201168"/>
          </a:xfrm>
          <a:prstGeom prst="rect">
            <a:avLst/>
          </a:prstGeom>
        </p:spPr>
      </p:pic>
      <p:sp>
        <p:nvSpPr>
          <p:cNvPr id="11" name="Text 6"/>
          <p:cNvSpPr/>
          <p:nvPr/>
        </p:nvSpPr>
        <p:spPr>
          <a:xfrm>
            <a:off x="1234440" y="2148840"/>
            <a:ext cx="713232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建設現場のプロジェクト・図面データを操作できる</a:t>
            </a:r>
            <a:endParaRPr lang="en-US" sz="1100" dirty="0"/>
          </a:p>
        </p:txBody>
      </p:sp>
      <p:pic>
        <p:nvPicPr>
          <p:cNvPr id="12" name="Image 3" descr="preencoded.png"/>
          <p:cNvPicPr>
            <a:picLocks noChangeAspect="1"/>
          </p:cNvPicPr>
          <p:nvPr/>
        </p:nvPicPr>
        <p:blipFill>
          <a:blip r:embed="rId4"/>
          <a:stretch>
            <a:fillRect/>
          </a:stretch>
        </p:blipFill>
        <p:spPr>
          <a:xfrm>
            <a:off x="914400" y="2468880"/>
            <a:ext cx="201168" cy="201168"/>
          </a:xfrm>
          <a:prstGeom prst="rect">
            <a:avLst/>
          </a:prstGeom>
        </p:spPr>
      </p:pic>
      <p:sp>
        <p:nvSpPr>
          <p:cNvPr id="13" name="Text 7"/>
          <p:cNvSpPr/>
          <p:nvPr/>
        </p:nvSpPr>
        <p:spPr>
          <a:xfrm>
            <a:off x="1234440" y="2468880"/>
            <a:ext cx="7132320" cy="2743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基幹システムとの連携や独自ダッシュボード構築に活用</a:t>
            </a:r>
            <a:endParaRPr lang="en-US" sz="1100" dirty="0"/>
          </a:p>
        </p:txBody>
      </p:sp>
      <p:sp>
        <p:nvSpPr>
          <p:cNvPr id="14" name="Shape 8"/>
          <p:cNvSpPr/>
          <p:nvPr/>
        </p:nvSpPr>
        <p:spPr>
          <a:xfrm>
            <a:off x="457200" y="3108960"/>
            <a:ext cx="8229600" cy="1188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pic>
        <p:nvPicPr>
          <p:cNvPr id="15" name="Image 4" descr="preencoded.png"/>
          <p:cNvPicPr>
            <a:picLocks noChangeAspect="1"/>
          </p:cNvPicPr>
          <p:nvPr/>
        </p:nvPicPr>
        <p:blipFill>
          <a:blip r:embed="rId5"/>
          <a:stretch>
            <a:fillRect/>
          </a:stretch>
        </p:blipFill>
        <p:spPr>
          <a:xfrm>
            <a:off x="685800" y="3246120"/>
            <a:ext cx="457200" cy="457200"/>
          </a:xfrm>
          <a:prstGeom prst="rect">
            <a:avLst/>
          </a:prstGeom>
        </p:spPr>
      </p:pic>
      <p:sp>
        <p:nvSpPr>
          <p:cNvPr id="16" name="Text 9"/>
          <p:cNvSpPr/>
          <p:nvPr/>
        </p:nvSpPr>
        <p:spPr>
          <a:xfrm>
            <a:off x="1280160" y="3200400"/>
            <a:ext cx="64008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Swagger ― APIの仕様書 + テストツール</a:t>
            </a:r>
            <a:endParaRPr lang="en-US" sz="1400" dirty="0"/>
          </a:p>
        </p:txBody>
      </p:sp>
      <p:sp>
        <p:nvSpPr>
          <p:cNvPr id="17" name="Text 10"/>
          <p:cNvSpPr/>
          <p:nvPr/>
        </p:nvSpPr>
        <p:spPr>
          <a:xfrm>
            <a:off x="1280160" y="3520440"/>
            <a:ext cx="6400800" cy="2743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https://petstore.swagger.io/ でサンプルを体験可能</a:t>
            </a:r>
            <a:endParaRPr lang="en-US" sz="1000" dirty="0"/>
          </a:p>
        </p:txBody>
      </p:sp>
      <p:pic>
        <p:nvPicPr>
          <p:cNvPr id="18" name="Image 5" descr="preencoded.png"/>
          <p:cNvPicPr>
            <a:picLocks noChangeAspect="1"/>
          </p:cNvPicPr>
          <p:nvPr/>
        </p:nvPicPr>
        <p:blipFill>
          <a:blip r:embed="rId6"/>
          <a:stretch>
            <a:fillRect/>
          </a:stretch>
        </p:blipFill>
        <p:spPr>
          <a:xfrm>
            <a:off x="1280160" y="3794760"/>
            <a:ext cx="164592" cy="164592"/>
          </a:xfrm>
          <a:prstGeom prst="rect">
            <a:avLst/>
          </a:prstGeom>
        </p:spPr>
      </p:pic>
      <p:sp>
        <p:nvSpPr>
          <p:cNvPr id="19" name="Text 11"/>
          <p:cNvSpPr/>
          <p:nvPr/>
        </p:nvSpPr>
        <p:spPr>
          <a:xfrm>
            <a:off x="1554480" y="3794760"/>
            <a:ext cx="6400800" cy="22860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利用可能なAPIの一覧</a:t>
            </a:r>
            <a:endParaRPr lang="en-US" sz="1000" dirty="0"/>
          </a:p>
        </p:txBody>
      </p:sp>
      <p:pic>
        <p:nvPicPr>
          <p:cNvPr id="20" name="Image 6" descr="preencoded.png"/>
          <p:cNvPicPr>
            <a:picLocks noChangeAspect="1"/>
          </p:cNvPicPr>
          <p:nvPr/>
        </p:nvPicPr>
        <p:blipFill>
          <a:blip r:embed="rId6"/>
          <a:stretch>
            <a:fillRect/>
          </a:stretch>
        </p:blipFill>
        <p:spPr>
          <a:xfrm>
            <a:off x="1280160" y="4023360"/>
            <a:ext cx="164592" cy="164592"/>
          </a:xfrm>
          <a:prstGeom prst="rect">
            <a:avLst/>
          </a:prstGeom>
        </p:spPr>
      </p:pic>
      <p:sp>
        <p:nvSpPr>
          <p:cNvPr id="21" name="Text 12"/>
          <p:cNvSpPr/>
          <p:nvPr/>
        </p:nvSpPr>
        <p:spPr>
          <a:xfrm>
            <a:off x="1554480" y="4023360"/>
            <a:ext cx="6400800" cy="22860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各APIの引数（パラメータ）と使い方</a:t>
            </a:r>
            <a:endParaRPr lang="en-US" sz="1000" dirty="0"/>
          </a:p>
        </p:txBody>
      </p:sp>
      <p:pic>
        <p:nvPicPr>
          <p:cNvPr id="22" name="Image 7" descr="preencoded.png"/>
          <p:cNvPicPr>
            <a:picLocks noChangeAspect="1"/>
          </p:cNvPicPr>
          <p:nvPr/>
        </p:nvPicPr>
        <p:blipFill>
          <a:blip r:embed="rId6"/>
          <a:stretch>
            <a:fillRect/>
          </a:stretch>
        </p:blipFill>
        <p:spPr>
          <a:xfrm>
            <a:off x="1280160" y="4251960"/>
            <a:ext cx="164592" cy="164592"/>
          </a:xfrm>
          <a:prstGeom prst="rect">
            <a:avLst/>
          </a:prstGeom>
        </p:spPr>
      </p:pic>
      <p:sp>
        <p:nvSpPr>
          <p:cNvPr id="23" name="Text 13"/>
          <p:cNvSpPr/>
          <p:nvPr/>
        </p:nvSpPr>
        <p:spPr>
          <a:xfrm>
            <a:off x="1554480" y="4251960"/>
            <a:ext cx="6400800" cy="22860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戻り値（レスポンス）の具体例</a:t>
            </a:r>
            <a:endParaRPr lang="en-US" sz="1000" dirty="0"/>
          </a:p>
        </p:txBody>
      </p:sp>
      <p:sp>
        <p:nvSpPr>
          <p:cNvPr id="24" name="Shape 14"/>
          <p:cNvSpPr/>
          <p:nvPr/>
        </p:nvSpPr>
        <p:spPr>
          <a:xfrm>
            <a:off x="0" y="4800600"/>
            <a:ext cx="9144000" cy="342900"/>
          </a:xfrm>
          <a:prstGeom prst="rect">
            <a:avLst/>
          </a:prstGeom>
          <a:solidFill>
            <a:srgbClr val="8B7536"/>
          </a:solidFill>
          <a:ln/>
        </p:spPr>
        <p:txBody>
          <a:bodyPr/>
          <a:lstStyle/>
          <a:p>
            <a:endParaRPr lang="ja-JP" altLang="en-US"/>
          </a:p>
        </p:txBody>
      </p:sp>
      <p:sp>
        <p:nvSpPr>
          <p:cNvPr id="25" name="Text 15"/>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6" name="Text 16"/>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マイクロサービスアーキテクチャ</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業務単位で分割された独立したサービスの集合体</a:t>
            </a:r>
            <a:endParaRPr lang="en-US" sz="1200" dirty="0"/>
          </a:p>
        </p:txBody>
      </p:sp>
      <p:sp>
        <p:nvSpPr>
          <p:cNvPr id="5" name="Text 3"/>
          <p:cNvSpPr/>
          <p:nvPr/>
        </p:nvSpPr>
        <p:spPr>
          <a:xfrm>
            <a:off x="457200" y="1371600"/>
            <a:ext cx="3657600" cy="320040"/>
          </a:xfrm>
          <a:prstGeom prst="rect">
            <a:avLst/>
          </a:prstGeom>
          <a:noFill/>
          <a:ln/>
        </p:spPr>
        <p:txBody>
          <a:bodyPr wrap="square" lIns="0" tIns="0" rIns="0" bIns="0"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モノリシック（一枚岩）</a:t>
            </a:r>
            <a:endParaRPr lang="en-US" sz="1300" dirty="0"/>
          </a:p>
        </p:txBody>
      </p:sp>
      <p:sp>
        <p:nvSpPr>
          <p:cNvPr id="6" name="Shape 4"/>
          <p:cNvSpPr/>
          <p:nvPr/>
        </p:nvSpPr>
        <p:spPr>
          <a:xfrm>
            <a:off x="731520" y="1828800"/>
            <a:ext cx="3200400" cy="1828800"/>
          </a:xfrm>
          <a:prstGeom prst="rect">
            <a:avLst/>
          </a:prstGeom>
          <a:solidFill>
            <a:srgbClr val="FFE0CC"/>
          </a:solidFill>
          <a:ln w="12700">
            <a:solidFill>
              <a:srgbClr val="C0392B"/>
            </a:solidFill>
            <a:prstDash val="solid"/>
          </a:ln>
        </p:spPr>
        <p:txBody>
          <a:bodyPr/>
          <a:lstStyle/>
          <a:p>
            <a:endParaRPr lang="ja-JP" altLang="en-US"/>
          </a:p>
        </p:txBody>
      </p:sp>
      <p:sp>
        <p:nvSpPr>
          <p:cNvPr id="7" name="Text 5"/>
          <p:cNvSpPr/>
          <p:nvPr/>
        </p:nvSpPr>
        <p:spPr>
          <a:xfrm>
            <a:off x="731520" y="1828800"/>
            <a:ext cx="3200400" cy="1828800"/>
          </a:xfrm>
          <a:prstGeom prst="rect">
            <a:avLst/>
          </a:prstGeom>
          <a:noFill/>
          <a:ln/>
        </p:spPr>
        <p:txBody>
          <a:bodyPr wrap="square" lIns="0" tIns="0" rIns="0" bIns="0" rtlCol="0" anchor="ctr"/>
          <a:lstStyle/>
          <a:p>
            <a:pPr marL="0" indent="0" algn="ctr">
              <a:buNone/>
            </a:pPr>
            <a:r>
              <a:rPr lang="en-US" sz="1400" dirty="0">
                <a:solidFill>
                  <a:srgbClr val="333333"/>
                </a:solidFill>
                <a:latin typeface="Calibri" pitchFamily="34" charset="0"/>
                <a:ea typeface="Calibri" pitchFamily="34" charset="-122"/>
                <a:cs typeface="Calibri" pitchFamily="34" charset="-120"/>
              </a:rPr>
              <a:t>全機能が</a:t>
            </a:r>
            <a:endParaRPr lang="en-US" sz="1400" dirty="0"/>
          </a:p>
          <a:p>
            <a:pPr marL="0" indent="0" algn="ctr">
              <a:buNone/>
            </a:pPr>
            <a:r>
              <a:rPr lang="en-US" sz="1400" dirty="0">
                <a:solidFill>
                  <a:srgbClr val="333333"/>
                </a:solidFill>
                <a:latin typeface="Calibri" pitchFamily="34" charset="0"/>
                <a:ea typeface="Calibri" pitchFamily="34" charset="-122"/>
                <a:cs typeface="Calibri" pitchFamily="34" charset="-120"/>
              </a:rPr>
              <a:t>1つのプログラム</a:t>
            </a:r>
            <a:endParaRPr lang="en-US" sz="1400" dirty="0"/>
          </a:p>
          <a:p>
            <a:pPr marL="0" indent="0" algn="ctr">
              <a:buNone/>
            </a:pPr>
            <a:r>
              <a:rPr lang="en-US" sz="1400" dirty="0">
                <a:solidFill>
                  <a:srgbClr val="333333"/>
                </a:solidFill>
                <a:latin typeface="Calibri" pitchFamily="34" charset="0"/>
                <a:ea typeface="Calibri" pitchFamily="34" charset="-122"/>
                <a:cs typeface="Calibri" pitchFamily="34" charset="-120"/>
              </a:rPr>
              <a:t>に結合</a:t>
            </a:r>
            <a:endParaRPr lang="en-US" sz="1400" dirty="0"/>
          </a:p>
        </p:txBody>
      </p:sp>
      <p:pic>
        <p:nvPicPr>
          <p:cNvPr id="8" name="Image 0" descr="preencoded.png"/>
          <p:cNvPicPr>
            <a:picLocks noChangeAspect="1"/>
          </p:cNvPicPr>
          <p:nvPr/>
        </p:nvPicPr>
        <p:blipFill>
          <a:blip r:embed="rId3"/>
          <a:stretch>
            <a:fillRect/>
          </a:stretch>
        </p:blipFill>
        <p:spPr>
          <a:xfrm>
            <a:off x="4114800" y="2468880"/>
            <a:ext cx="457200" cy="457200"/>
          </a:xfrm>
          <a:prstGeom prst="rect">
            <a:avLst/>
          </a:prstGeom>
        </p:spPr>
      </p:pic>
      <p:sp>
        <p:nvSpPr>
          <p:cNvPr id="9" name="Text 6"/>
          <p:cNvSpPr/>
          <p:nvPr/>
        </p:nvSpPr>
        <p:spPr>
          <a:xfrm>
            <a:off x="4846320" y="1371600"/>
            <a:ext cx="3657600" cy="320040"/>
          </a:xfrm>
          <a:prstGeom prst="rect">
            <a:avLst/>
          </a:prstGeom>
          <a:noFill/>
          <a:ln/>
        </p:spPr>
        <p:txBody>
          <a:bodyPr wrap="square" lIns="0" tIns="0" rIns="0" bIns="0" rtlCol="0" anchor="ctr"/>
          <a:lstStyle/>
          <a:p>
            <a:pPr marL="0" indent="0">
              <a:buNone/>
            </a:pPr>
            <a:r>
              <a:rPr lang="en-US" sz="1300" b="1" dirty="0">
                <a:solidFill>
                  <a:srgbClr val="27AE60"/>
                </a:solidFill>
                <a:latin typeface="Calibri" pitchFamily="34" charset="0"/>
                <a:ea typeface="Calibri" pitchFamily="34" charset="-122"/>
                <a:cs typeface="Calibri" pitchFamily="34" charset="-120"/>
              </a:rPr>
              <a:t>マイクロサービス</a:t>
            </a:r>
            <a:endParaRPr lang="en-US" sz="1300" dirty="0"/>
          </a:p>
        </p:txBody>
      </p:sp>
      <p:sp>
        <p:nvSpPr>
          <p:cNvPr id="10" name="Shape 7"/>
          <p:cNvSpPr/>
          <p:nvPr/>
        </p:nvSpPr>
        <p:spPr>
          <a:xfrm>
            <a:off x="4846320" y="1828800"/>
            <a:ext cx="1645920" cy="731520"/>
          </a:xfrm>
          <a:prstGeom prst="rect">
            <a:avLst/>
          </a:prstGeom>
          <a:solidFill>
            <a:srgbClr val="D4E8D4"/>
          </a:solidFill>
          <a:ln w="6350">
            <a:solidFill>
              <a:srgbClr val="27AE60"/>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1" name="Text 8"/>
          <p:cNvSpPr/>
          <p:nvPr/>
        </p:nvSpPr>
        <p:spPr>
          <a:xfrm>
            <a:off x="4846320" y="1828800"/>
            <a:ext cx="1645920" cy="731520"/>
          </a:xfrm>
          <a:prstGeom prst="rect">
            <a:avLst/>
          </a:prstGeom>
          <a:noFill/>
          <a:ln/>
        </p:spPr>
        <p:txBody>
          <a:bodyPr wrap="square" lIns="0" tIns="0" rIns="0" bIns="0"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営業管理</a:t>
            </a:r>
            <a:endParaRPr lang="en-US" sz="1100" dirty="0"/>
          </a:p>
        </p:txBody>
      </p:sp>
      <p:sp>
        <p:nvSpPr>
          <p:cNvPr id="12" name="Shape 9"/>
          <p:cNvSpPr/>
          <p:nvPr/>
        </p:nvSpPr>
        <p:spPr>
          <a:xfrm>
            <a:off x="6675120" y="1828800"/>
            <a:ext cx="1645920" cy="731520"/>
          </a:xfrm>
          <a:prstGeom prst="rect">
            <a:avLst/>
          </a:prstGeom>
          <a:solidFill>
            <a:srgbClr val="D4E8D4"/>
          </a:solidFill>
          <a:ln w="6350">
            <a:solidFill>
              <a:srgbClr val="27AE60"/>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3" name="Text 10"/>
          <p:cNvSpPr/>
          <p:nvPr/>
        </p:nvSpPr>
        <p:spPr>
          <a:xfrm>
            <a:off x="6675120" y="1828800"/>
            <a:ext cx="1645920" cy="731520"/>
          </a:xfrm>
          <a:prstGeom prst="rect">
            <a:avLst/>
          </a:prstGeom>
          <a:noFill/>
          <a:ln/>
        </p:spPr>
        <p:txBody>
          <a:bodyPr wrap="square" lIns="0" tIns="0" rIns="0" bIns="0"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施工管理</a:t>
            </a:r>
            <a:endParaRPr lang="en-US" sz="1100" dirty="0"/>
          </a:p>
        </p:txBody>
      </p:sp>
      <p:sp>
        <p:nvSpPr>
          <p:cNvPr id="14" name="Shape 11"/>
          <p:cNvSpPr/>
          <p:nvPr/>
        </p:nvSpPr>
        <p:spPr>
          <a:xfrm>
            <a:off x="4846320" y="2743200"/>
            <a:ext cx="1645920" cy="731520"/>
          </a:xfrm>
          <a:prstGeom prst="rect">
            <a:avLst/>
          </a:prstGeom>
          <a:solidFill>
            <a:srgbClr val="D4E8D4"/>
          </a:solidFill>
          <a:ln w="6350">
            <a:solidFill>
              <a:srgbClr val="27AE60"/>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5" name="Text 12"/>
          <p:cNvSpPr/>
          <p:nvPr/>
        </p:nvSpPr>
        <p:spPr>
          <a:xfrm>
            <a:off x="4846320" y="2743200"/>
            <a:ext cx="1645920" cy="731520"/>
          </a:xfrm>
          <a:prstGeom prst="rect">
            <a:avLst/>
          </a:prstGeom>
          <a:noFill/>
          <a:ln/>
        </p:spPr>
        <p:txBody>
          <a:bodyPr wrap="square" lIns="0" tIns="0" rIns="0" bIns="0"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予実管理</a:t>
            </a:r>
            <a:endParaRPr lang="en-US" sz="1100" dirty="0"/>
          </a:p>
        </p:txBody>
      </p:sp>
      <p:sp>
        <p:nvSpPr>
          <p:cNvPr id="16" name="Shape 13"/>
          <p:cNvSpPr/>
          <p:nvPr/>
        </p:nvSpPr>
        <p:spPr>
          <a:xfrm>
            <a:off x="6675120" y="2743200"/>
            <a:ext cx="1645920" cy="731520"/>
          </a:xfrm>
          <a:prstGeom prst="rect">
            <a:avLst/>
          </a:prstGeom>
          <a:solidFill>
            <a:srgbClr val="D4E8D4"/>
          </a:solidFill>
          <a:ln w="6350">
            <a:solidFill>
              <a:srgbClr val="27AE60"/>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7" name="Text 14"/>
          <p:cNvSpPr/>
          <p:nvPr/>
        </p:nvSpPr>
        <p:spPr>
          <a:xfrm>
            <a:off x="6675120" y="2743200"/>
            <a:ext cx="1645920" cy="731520"/>
          </a:xfrm>
          <a:prstGeom prst="rect">
            <a:avLst/>
          </a:prstGeom>
          <a:noFill/>
          <a:ln/>
        </p:spPr>
        <p:txBody>
          <a:bodyPr wrap="square" lIns="0" tIns="0" rIns="0" bIns="0"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原価管理</a:t>
            </a:r>
            <a:endParaRPr lang="en-US" sz="1100" dirty="0"/>
          </a:p>
        </p:txBody>
      </p:sp>
      <p:sp>
        <p:nvSpPr>
          <p:cNvPr id="18" name="Text 15"/>
          <p:cNvSpPr/>
          <p:nvPr/>
        </p:nvSpPr>
        <p:spPr>
          <a:xfrm>
            <a:off x="5943600" y="2057400"/>
            <a:ext cx="548640" cy="27432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API</a:t>
            </a:r>
            <a:endParaRPr lang="en-US" sz="800" dirty="0"/>
          </a:p>
        </p:txBody>
      </p:sp>
      <p:sp>
        <p:nvSpPr>
          <p:cNvPr id="19" name="Text 16"/>
          <p:cNvSpPr/>
          <p:nvPr/>
        </p:nvSpPr>
        <p:spPr>
          <a:xfrm>
            <a:off x="5943600" y="2971800"/>
            <a:ext cx="548640" cy="274320"/>
          </a:xfrm>
          <a:prstGeom prst="rect">
            <a:avLst/>
          </a:prstGeom>
          <a:noFill/>
          <a:ln/>
        </p:spPr>
        <p:txBody>
          <a:bodyPr wrap="square" lIns="0" tIns="0" rIns="0" bIns="0" rtlCol="0" anchor="ctr"/>
          <a:lstStyle/>
          <a:p>
            <a:pPr marL="0" indent="0" algn="ctr">
              <a:buNone/>
            </a:pPr>
            <a:r>
              <a:rPr lang="en-US" sz="800" b="1" dirty="0">
                <a:solidFill>
                  <a:srgbClr val="27AE60"/>
                </a:solidFill>
                <a:latin typeface="Calibri" pitchFamily="34" charset="0"/>
                <a:ea typeface="Calibri" pitchFamily="34" charset="-122"/>
                <a:cs typeface="Calibri" pitchFamily="34" charset="-120"/>
              </a:rPr>
              <a:t>API</a:t>
            </a:r>
            <a:endParaRPr lang="en-US" sz="800" dirty="0"/>
          </a:p>
        </p:txBody>
      </p:sp>
      <p:sp>
        <p:nvSpPr>
          <p:cNvPr id="20" name="Shape 17"/>
          <p:cNvSpPr/>
          <p:nvPr/>
        </p:nvSpPr>
        <p:spPr>
          <a:xfrm>
            <a:off x="457200" y="3931920"/>
            <a:ext cx="8229600" cy="640080"/>
          </a:xfrm>
          <a:prstGeom prst="rect">
            <a:avLst/>
          </a:prstGeom>
          <a:solidFill>
            <a:srgbClr val="F5F0E6"/>
          </a:solidFill>
          <a:ln/>
        </p:spPr>
        <p:txBody>
          <a:bodyPr/>
          <a:lstStyle/>
          <a:p>
            <a:endParaRPr lang="ja-JP" altLang="en-US"/>
          </a:p>
        </p:txBody>
      </p:sp>
      <p:sp>
        <p:nvSpPr>
          <p:cNvPr id="21" name="Text 18"/>
          <p:cNvSpPr/>
          <p:nvPr/>
        </p:nvSpPr>
        <p:spPr>
          <a:xfrm>
            <a:off x="640080" y="3931920"/>
            <a:ext cx="7863840" cy="320040"/>
          </a:xfrm>
          <a:prstGeom prst="rect">
            <a:avLst/>
          </a:prstGeom>
          <a:noFill/>
          <a:ln/>
        </p:spPr>
        <p:txBody>
          <a:bodyPr wrap="square" lIns="0" tIns="0" rIns="0" bIns="0" rtlCol="0" anchor="ctr"/>
          <a:lstStyle/>
          <a:p>
            <a:pPr marL="0" indent="0">
              <a:buNone/>
            </a:pPr>
            <a:r>
              <a:rPr lang="en-US" sz="1100" b="1" dirty="0">
                <a:solidFill>
                  <a:srgbClr val="333333"/>
                </a:solidFill>
                <a:latin typeface="Calibri" pitchFamily="34" charset="0"/>
                <a:ea typeface="Calibri" pitchFamily="34" charset="-122"/>
                <a:cs typeface="Calibri" pitchFamily="34" charset="-120"/>
              </a:rPr>
              <a:t>メリット：</a:t>
            </a:r>
            <a:r>
              <a:rPr lang="en-US" sz="1100" dirty="0">
                <a:solidFill>
                  <a:srgbClr val="333333"/>
                </a:solidFill>
                <a:latin typeface="Calibri" pitchFamily="34" charset="0"/>
                <a:ea typeface="Calibri" pitchFamily="34" charset="-122"/>
                <a:cs typeface="Calibri" pitchFamily="34" charset="-120"/>
              </a:rPr>
              <a:t>各サービスを独立して開発・デプロイ可能  /  障害の影響範囲を局所化  /  技術スタックの柔軟な選択</a:t>
            </a:r>
            <a:endParaRPr lang="en-US" sz="1100" dirty="0"/>
          </a:p>
        </p:txBody>
      </p:sp>
      <p:sp>
        <p:nvSpPr>
          <p:cNvPr id="22" name="Text 19"/>
          <p:cNvSpPr/>
          <p:nvPr/>
        </p:nvSpPr>
        <p:spPr>
          <a:xfrm>
            <a:off x="640080" y="4251960"/>
            <a:ext cx="7863840" cy="274320"/>
          </a:xfrm>
          <a:prstGeom prst="rect">
            <a:avLst/>
          </a:prstGeom>
          <a:noFill/>
          <a:ln/>
        </p:spPr>
        <p:txBody>
          <a:bodyPr wrap="square" lIns="0" tIns="0" rIns="0" bIns="0" rtlCol="0" anchor="ctr"/>
          <a:lstStyle/>
          <a:p>
            <a:pPr marL="0" indent="0">
              <a:buNone/>
            </a:pPr>
            <a:r>
              <a:rPr lang="en-US" sz="1000" b="1" dirty="0">
                <a:solidFill>
                  <a:srgbClr val="8B7536"/>
                </a:solidFill>
                <a:latin typeface="Calibri" pitchFamily="34" charset="0"/>
                <a:ea typeface="Calibri" pitchFamily="34" charset="-122"/>
                <a:cs typeface="Calibri" pitchFamily="34" charset="-120"/>
              </a:rPr>
              <a:t>建設業の基幹システムはモノリシックなものが多く、マイクロサービス化はDXの大きなテーマ</a:t>
            </a:r>
            <a:endParaRPr lang="en-US" sz="1000" dirty="0"/>
          </a:p>
        </p:txBody>
      </p:sp>
      <p:sp>
        <p:nvSpPr>
          <p:cNvPr id="23" name="Shape 20"/>
          <p:cNvSpPr/>
          <p:nvPr/>
        </p:nvSpPr>
        <p:spPr>
          <a:xfrm>
            <a:off x="0" y="4800600"/>
            <a:ext cx="9144000" cy="342900"/>
          </a:xfrm>
          <a:prstGeom prst="rect">
            <a:avLst/>
          </a:prstGeom>
          <a:solidFill>
            <a:srgbClr val="8B7536"/>
          </a:solidFill>
          <a:ln/>
        </p:spPr>
        <p:txBody>
          <a:bodyPr/>
          <a:lstStyle/>
          <a:p>
            <a:endParaRPr lang="ja-JP" altLang="en-US"/>
          </a:p>
        </p:txBody>
      </p:sp>
      <p:sp>
        <p:nvSpPr>
          <p:cNvPr id="24" name="Text 21"/>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5" name="Text 22"/>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システム構成図とアーキテクチャ図</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3840480" cy="13716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5" name="Shape 3"/>
          <p:cNvSpPr/>
          <p:nvPr/>
        </p:nvSpPr>
        <p:spPr>
          <a:xfrm>
            <a:off x="457200" y="914400"/>
            <a:ext cx="73152" cy="1371600"/>
          </a:xfrm>
          <a:prstGeom prst="rect">
            <a:avLst/>
          </a:prstGeom>
          <a:solidFill>
            <a:srgbClr val="8B7536"/>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731520" y="1051560"/>
            <a:ext cx="365760" cy="365760"/>
          </a:xfrm>
          <a:prstGeom prst="rect">
            <a:avLst/>
          </a:prstGeom>
        </p:spPr>
      </p:pic>
      <p:sp>
        <p:nvSpPr>
          <p:cNvPr id="7" name="Text 4"/>
          <p:cNvSpPr/>
          <p:nvPr/>
        </p:nvSpPr>
        <p:spPr>
          <a:xfrm>
            <a:off x="1188720" y="1005840"/>
            <a:ext cx="2926080" cy="32004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システム構成図</a:t>
            </a:r>
            <a:endParaRPr lang="en-US" sz="1400" dirty="0"/>
          </a:p>
        </p:txBody>
      </p:sp>
      <p:sp>
        <p:nvSpPr>
          <p:cNvPr id="8" name="Text 5"/>
          <p:cNvSpPr/>
          <p:nvPr/>
        </p:nvSpPr>
        <p:spPr>
          <a:xfrm>
            <a:off x="731520" y="1417320"/>
            <a:ext cx="3383280" cy="64008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HW・SW・ネットワーク構成を</a:t>
            </a:r>
            <a:endParaRPr lang="en-US" sz="1100" dirty="0"/>
          </a:p>
          <a:p>
            <a:pPr marL="0" indent="0">
              <a:buNone/>
            </a:pPr>
            <a:r>
              <a:rPr lang="en-US" sz="1100" dirty="0">
                <a:solidFill>
                  <a:srgbClr val="666666"/>
                </a:solidFill>
                <a:latin typeface="Calibri" pitchFamily="34" charset="0"/>
                <a:ea typeface="Calibri" pitchFamily="34" charset="-122"/>
                <a:cs typeface="Calibri" pitchFamily="34" charset="-120"/>
              </a:rPr>
              <a:t>物理的・論理的に視覚化した図</a:t>
            </a:r>
            <a:endParaRPr lang="en-US" sz="1100" dirty="0"/>
          </a:p>
        </p:txBody>
      </p:sp>
      <p:sp>
        <p:nvSpPr>
          <p:cNvPr id="9" name="Shape 6"/>
          <p:cNvSpPr/>
          <p:nvPr/>
        </p:nvSpPr>
        <p:spPr>
          <a:xfrm>
            <a:off x="4846320" y="914400"/>
            <a:ext cx="3840480" cy="137160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0" name="Shape 7"/>
          <p:cNvSpPr/>
          <p:nvPr/>
        </p:nvSpPr>
        <p:spPr>
          <a:xfrm>
            <a:off x="4846320" y="914400"/>
            <a:ext cx="73152" cy="1371600"/>
          </a:xfrm>
          <a:prstGeom prst="rect">
            <a:avLst/>
          </a:prstGeom>
          <a:solidFill>
            <a:srgbClr val="C4A44A"/>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5120640" y="1051560"/>
            <a:ext cx="365760" cy="365760"/>
          </a:xfrm>
          <a:prstGeom prst="rect">
            <a:avLst/>
          </a:prstGeom>
        </p:spPr>
      </p:pic>
      <p:sp>
        <p:nvSpPr>
          <p:cNvPr id="12" name="Text 8"/>
          <p:cNvSpPr/>
          <p:nvPr/>
        </p:nvSpPr>
        <p:spPr>
          <a:xfrm>
            <a:off x="5577840" y="1005840"/>
            <a:ext cx="2926080" cy="32004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アーキテクチャ図</a:t>
            </a:r>
            <a:endParaRPr lang="en-US" sz="1400" dirty="0"/>
          </a:p>
        </p:txBody>
      </p:sp>
      <p:sp>
        <p:nvSpPr>
          <p:cNvPr id="13" name="Text 9"/>
          <p:cNvSpPr/>
          <p:nvPr/>
        </p:nvSpPr>
        <p:spPr>
          <a:xfrm>
            <a:off x="5120640" y="1417320"/>
            <a:ext cx="3383280" cy="640080"/>
          </a:xfrm>
          <a:prstGeom prst="rect">
            <a:avLst/>
          </a:prstGeom>
          <a:noFill/>
          <a:ln/>
        </p:spPr>
        <p:txBody>
          <a:bodyPr wrap="square" lIns="0" tIns="0" rIns="0" bIns="0" rtlCol="0" anchor="ctr"/>
          <a:lstStyle/>
          <a:p>
            <a:pPr marL="0" indent="0">
              <a:buNone/>
            </a:pPr>
            <a:r>
              <a:rPr lang="en-US" sz="1100" dirty="0">
                <a:solidFill>
                  <a:srgbClr val="666666"/>
                </a:solidFill>
                <a:latin typeface="Calibri" pitchFamily="34" charset="0"/>
                <a:ea typeface="Calibri" pitchFamily="34" charset="-122"/>
                <a:cs typeface="Calibri" pitchFamily="34" charset="-120"/>
              </a:rPr>
              <a:t>システムの論理的な設計構造を</a:t>
            </a:r>
            <a:endParaRPr lang="en-US" sz="1100" dirty="0"/>
          </a:p>
          <a:p>
            <a:pPr marL="0" indent="0">
              <a:buNone/>
            </a:pPr>
            <a:r>
              <a:rPr lang="en-US" sz="1100" dirty="0">
                <a:solidFill>
                  <a:srgbClr val="666666"/>
                </a:solidFill>
                <a:latin typeface="Calibri" pitchFamily="34" charset="0"/>
                <a:ea typeface="Calibri" pitchFamily="34" charset="-122"/>
                <a:cs typeface="Calibri" pitchFamily="34" charset="-120"/>
              </a:rPr>
              <a:t>示す図。企画・設計で重要。</a:t>
            </a:r>
            <a:endParaRPr lang="en-US" sz="1100" dirty="0"/>
          </a:p>
        </p:txBody>
      </p:sp>
      <p:sp>
        <p:nvSpPr>
          <p:cNvPr id="14" name="Text 10"/>
          <p:cNvSpPr/>
          <p:nvPr/>
        </p:nvSpPr>
        <p:spPr>
          <a:xfrm>
            <a:off x="457200" y="2560320"/>
            <a:ext cx="8229600" cy="365760"/>
          </a:xfrm>
          <a:prstGeom prst="rect">
            <a:avLst/>
          </a:prstGeom>
          <a:noFill/>
          <a:ln/>
        </p:spPr>
        <p:txBody>
          <a:bodyPr wrap="square" lIns="0" tIns="0" rIns="0" bIns="0" rtlCol="0" anchor="ctr"/>
          <a:lstStyle/>
          <a:p>
            <a:pPr marL="0" indent="0">
              <a:buNone/>
            </a:pPr>
            <a:r>
              <a:rPr lang="en-US" sz="1400" b="1" dirty="0">
                <a:solidFill>
                  <a:srgbClr val="8B7536"/>
                </a:solidFill>
                <a:latin typeface="Calibri" pitchFamily="34" charset="0"/>
                <a:ea typeface="Calibri" pitchFamily="34" charset="-122"/>
                <a:cs typeface="Calibri" pitchFamily="34" charset="-120"/>
              </a:rPr>
              <a:t>FPTのアプローチ ― 5層システム構成</a:t>
            </a:r>
            <a:endParaRPr lang="en-US" sz="1400" dirty="0"/>
          </a:p>
        </p:txBody>
      </p:sp>
      <p:sp>
        <p:nvSpPr>
          <p:cNvPr id="15" name="Shape 11"/>
          <p:cNvSpPr/>
          <p:nvPr/>
        </p:nvSpPr>
        <p:spPr>
          <a:xfrm>
            <a:off x="685800" y="3017520"/>
            <a:ext cx="7772400" cy="320040"/>
          </a:xfrm>
          <a:prstGeom prst="rect">
            <a:avLst/>
          </a:prstGeom>
          <a:solidFill>
            <a:srgbClr val="D4C89A"/>
          </a:solidFill>
          <a:ln/>
        </p:spPr>
        <p:txBody>
          <a:bodyPr/>
          <a:lstStyle/>
          <a:p>
            <a:endParaRPr lang="ja-JP" altLang="en-US"/>
          </a:p>
        </p:txBody>
      </p:sp>
      <p:sp>
        <p:nvSpPr>
          <p:cNvPr id="16" name="Text 12"/>
          <p:cNvSpPr/>
          <p:nvPr/>
        </p:nvSpPr>
        <p:spPr>
          <a:xfrm>
            <a:off x="868680" y="3017520"/>
            <a:ext cx="7406640" cy="320040"/>
          </a:xfrm>
          <a:prstGeom prst="rect">
            <a:avLst/>
          </a:prstGeom>
          <a:noFill/>
          <a:ln/>
        </p:spPr>
        <p:txBody>
          <a:bodyPr wrap="square" lIns="0" tIns="0" rIns="0" bIns="0" rtlCol="0" anchor="ctr"/>
          <a:lstStyle/>
          <a:p>
            <a:pPr marL="0" indent="0">
              <a:buNone/>
            </a:pPr>
            <a:r>
              <a:rPr lang="en-US" sz="900" b="1" dirty="0">
                <a:solidFill>
                  <a:srgbClr val="333333"/>
                </a:solidFill>
                <a:latin typeface="Calibri" pitchFamily="34" charset="0"/>
                <a:ea typeface="Calibri" pitchFamily="34" charset="-122"/>
                <a:cs typeface="Calibri" pitchFamily="34" charset="-120"/>
              </a:rPr>
              <a:t>5  外部システム連携  ―  バッチ・リアルタイム同期</a:t>
            </a:r>
            <a:endParaRPr lang="en-US" sz="900" dirty="0"/>
          </a:p>
        </p:txBody>
      </p:sp>
      <p:sp>
        <p:nvSpPr>
          <p:cNvPr id="17" name="Shape 13"/>
          <p:cNvSpPr/>
          <p:nvPr/>
        </p:nvSpPr>
        <p:spPr>
          <a:xfrm>
            <a:off x="822960" y="3364992"/>
            <a:ext cx="7498080" cy="320040"/>
          </a:xfrm>
          <a:prstGeom prst="rect">
            <a:avLst/>
          </a:prstGeom>
          <a:solidFill>
            <a:srgbClr val="C4A44A"/>
          </a:solidFill>
          <a:ln/>
        </p:spPr>
        <p:txBody>
          <a:bodyPr/>
          <a:lstStyle/>
          <a:p>
            <a:endParaRPr lang="ja-JP" altLang="en-US"/>
          </a:p>
        </p:txBody>
      </p:sp>
      <p:sp>
        <p:nvSpPr>
          <p:cNvPr id="18" name="Text 14"/>
          <p:cNvSpPr/>
          <p:nvPr/>
        </p:nvSpPr>
        <p:spPr>
          <a:xfrm>
            <a:off x="1005840" y="3364992"/>
            <a:ext cx="7132320" cy="320040"/>
          </a:xfrm>
          <a:prstGeom prst="rect">
            <a:avLst/>
          </a:prstGeom>
          <a:noFill/>
          <a:ln/>
        </p:spPr>
        <p:txBody>
          <a:bodyPr wrap="square" lIns="0" tIns="0" rIns="0" bIns="0" rtlCol="0" anchor="ctr"/>
          <a:lstStyle/>
          <a:p>
            <a:pPr marL="0" indent="0">
              <a:buNone/>
            </a:pPr>
            <a:r>
              <a:rPr lang="en-US" sz="900" b="1" dirty="0">
                <a:solidFill>
                  <a:srgbClr val="333333"/>
                </a:solidFill>
                <a:latin typeface="Calibri" pitchFamily="34" charset="0"/>
                <a:ea typeface="Calibri" pitchFamily="34" charset="-122"/>
                <a:cs typeface="Calibri" pitchFamily="34" charset="-120"/>
              </a:rPr>
              <a:t>4  アプリケーション層  ―  Web版・モバイル版・ダッシュボード</a:t>
            </a:r>
            <a:endParaRPr lang="en-US" sz="900" dirty="0"/>
          </a:p>
        </p:txBody>
      </p:sp>
      <p:sp>
        <p:nvSpPr>
          <p:cNvPr id="19" name="Shape 15"/>
          <p:cNvSpPr/>
          <p:nvPr/>
        </p:nvSpPr>
        <p:spPr>
          <a:xfrm>
            <a:off x="960120" y="3712464"/>
            <a:ext cx="7223760" cy="320040"/>
          </a:xfrm>
          <a:prstGeom prst="rect">
            <a:avLst/>
          </a:prstGeom>
          <a:solidFill>
            <a:srgbClr val="8B7536"/>
          </a:solidFill>
          <a:ln/>
        </p:spPr>
        <p:txBody>
          <a:bodyPr/>
          <a:lstStyle/>
          <a:p>
            <a:endParaRPr lang="ja-JP" altLang="en-US"/>
          </a:p>
        </p:txBody>
      </p:sp>
      <p:sp>
        <p:nvSpPr>
          <p:cNvPr id="20" name="Text 16"/>
          <p:cNvSpPr/>
          <p:nvPr/>
        </p:nvSpPr>
        <p:spPr>
          <a:xfrm>
            <a:off x="1143000" y="3712464"/>
            <a:ext cx="6858000" cy="32004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3  ビジネスロジック層  ―  マイクロサービスで業務APIを実現</a:t>
            </a:r>
            <a:endParaRPr lang="en-US" sz="900" dirty="0"/>
          </a:p>
        </p:txBody>
      </p:sp>
      <p:sp>
        <p:nvSpPr>
          <p:cNvPr id="21" name="Shape 17"/>
          <p:cNvSpPr/>
          <p:nvPr/>
        </p:nvSpPr>
        <p:spPr>
          <a:xfrm>
            <a:off x="1097280" y="4059936"/>
            <a:ext cx="6949440" cy="320040"/>
          </a:xfrm>
          <a:prstGeom prst="rect">
            <a:avLst/>
          </a:prstGeom>
          <a:solidFill>
            <a:srgbClr val="6B5A2A"/>
          </a:solidFill>
          <a:ln/>
        </p:spPr>
        <p:txBody>
          <a:bodyPr/>
          <a:lstStyle/>
          <a:p>
            <a:endParaRPr lang="ja-JP" altLang="en-US"/>
          </a:p>
        </p:txBody>
      </p:sp>
      <p:sp>
        <p:nvSpPr>
          <p:cNvPr id="22" name="Text 18"/>
          <p:cNvSpPr/>
          <p:nvPr/>
        </p:nvSpPr>
        <p:spPr>
          <a:xfrm>
            <a:off x="1280160" y="4059936"/>
            <a:ext cx="6583680" cy="32004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2  データ基盤  ―  クラウドDB・データレイク</a:t>
            </a:r>
            <a:endParaRPr lang="en-US" sz="900" dirty="0"/>
          </a:p>
        </p:txBody>
      </p:sp>
      <p:sp>
        <p:nvSpPr>
          <p:cNvPr id="23" name="Shape 19"/>
          <p:cNvSpPr/>
          <p:nvPr/>
        </p:nvSpPr>
        <p:spPr>
          <a:xfrm>
            <a:off x="1234440" y="4407408"/>
            <a:ext cx="6675120" cy="320040"/>
          </a:xfrm>
          <a:prstGeom prst="rect">
            <a:avLst/>
          </a:prstGeom>
          <a:solidFill>
            <a:srgbClr val="1A1A1A"/>
          </a:solidFill>
          <a:ln/>
        </p:spPr>
        <p:txBody>
          <a:bodyPr/>
          <a:lstStyle/>
          <a:p>
            <a:endParaRPr lang="ja-JP" altLang="en-US"/>
          </a:p>
        </p:txBody>
      </p:sp>
      <p:sp>
        <p:nvSpPr>
          <p:cNvPr id="24" name="Text 20"/>
          <p:cNvSpPr/>
          <p:nvPr/>
        </p:nvSpPr>
        <p:spPr>
          <a:xfrm>
            <a:off x="1417320" y="4407408"/>
            <a:ext cx="6309360" cy="32004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1  共通基盤  ―  アカウント管理・権限管理・SSO</a:t>
            </a:r>
            <a:endParaRPr lang="en-US" sz="900" dirty="0"/>
          </a:p>
        </p:txBody>
      </p:sp>
      <p:sp>
        <p:nvSpPr>
          <p:cNvPr id="25" name="Shape 21"/>
          <p:cNvSpPr/>
          <p:nvPr/>
        </p:nvSpPr>
        <p:spPr>
          <a:xfrm>
            <a:off x="0" y="4800600"/>
            <a:ext cx="9144000" cy="342900"/>
          </a:xfrm>
          <a:prstGeom prst="rect">
            <a:avLst/>
          </a:prstGeom>
          <a:solidFill>
            <a:srgbClr val="8B7536"/>
          </a:solidFill>
          <a:ln/>
        </p:spPr>
        <p:txBody>
          <a:bodyPr/>
          <a:lstStyle/>
          <a:p>
            <a:endParaRPr lang="ja-JP" altLang="en-US"/>
          </a:p>
        </p:txBody>
      </p:sp>
      <p:sp>
        <p:nvSpPr>
          <p:cNvPr id="26" name="Text 22"/>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7" name="Text 23"/>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クライアント・サーバ構成（2層型）</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200" i="1" dirty="0">
                <a:solidFill>
                  <a:srgbClr val="666666"/>
                </a:solidFill>
                <a:latin typeface="Calibri" pitchFamily="34" charset="0"/>
                <a:ea typeface="Calibri" pitchFamily="34" charset="-122"/>
                <a:cs typeface="Calibri" pitchFamily="34" charset="-120"/>
              </a:rPr>
              <a:t>昔のスタイル ― すべてのPCにアプリをインストール</a:t>
            </a:r>
            <a:endParaRPr lang="en-US" sz="1200" dirty="0"/>
          </a:p>
        </p:txBody>
      </p:sp>
      <p:sp>
        <p:nvSpPr>
          <p:cNvPr id="5" name="Shape 3"/>
          <p:cNvSpPr/>
          <p:nvPr/>
        </p:nvSpPr>
        <p:spPr>
          <a:xfrm>
            <a:off x="731520" y="1463040"/>
            <a:ext cx="1188720" cy="914400"/>
          </a:xfrm>
          <a:prstGeom prst="rect">
            <a:avLst/>
          </a:prstGeom>
          <a:solidFill>
            <a:srgbClr val="FFE0CC"/>
          </a:solidFill>
          <a:ln w="6350">
            <a:solidFill>
              <a:srgbClr val="E0D9C8"/>
            </a:solidFill>
            <a:prstDash val="solid"/>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1005840" y="1508760"/>
            <a:ext cx="320040" cy="320040"/>
          </a:xfrm>
          <a:prstGeom prst="rect">
            <a:avLst/>
          </a:prstGeom>
        </p:spPr>
      </p:pic>
      <p:sp>
        <p:nvSpPr>
          <p:cNvPr id="7" name="Text 4"/>
          <p:cNvSpPr/>
          <p:nvPr/>
        </p:nvSpPr>
        <p:spPr>
          <a:xfrm>
            <a:off x="731520" y="1920240"/>
            <a:ext cx="118872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PC + アプリ</a:t>
            </a:r>
            <a:endParaRPr lang="en-US" sz="800" dirty="0"/>
          </a:p>
        </p:txBody>
      </p:sp>
      <p:sp>
        <p:nvSpPr>
          <p:cNvPr id="8" name="Shape 5"/>
          <p:cNvSpPr/>
          <p:nvPr/>
        </p:nvSpPr>
        <p:spPr>
          <a:xfrm>
            <a:off x="2194560" y="1463040"/>
            <a:ext cx="1188720" cy="914400"/>
          </a:xfrm>
          <a:prstGeom prst="rect">
            <a:avLst/>
          </a:prstGeom>
          <a:solidFill>
            <a:srgbClr val="FFE0CC"/>
          </a:solidFill>
          <a:ln w="6350">
            <a:solidFill>
              <a:srgbClr val="E0D9C8"/>
            </a:solidFill>
            <a:prstDash val="solid"/>
          </a:ln>
        </p:spPr>
        <p:txBody>
          <a:bodyPr/>
          <a:lstStyle/>
          <a:p>
            <a:endParaRPr lang="ja-JP" altLang="en-US"/>
          </a:p>
        </p:txBody>
      </p:sp>
      <p:pic>
        <p:nvPicPr>
          <p:cNvPr id="9" name="Image 1" descr="preencoded.png"/>
          <p:cNvPicPr>
            <a:picLocks noChangeAspect="1"/>
          </p:cNvPicPr>
          <p:nvPr/>
        </p:nvPicPr>
        <p:blipFill>
          <a:blip r:embed="rId3"/>
          <a:stretch>
            <a:fillRect/>
          </a:stretch>
        </p:blipFill>
        <p:spPr>
          <a:xfrm>
            <a:off x="2468880" y="1508760"/>
            <a:ext cx="320040" cy="320040"/>
          </a:xfrm>
          <a:prstGeom prst="rect">
            <a:avLst/>
          </a:prstGeom>
        </p:spPr>
      </p:pic>
      <p:sp>
        <p:nvSpPr>
          <p:cNvPr id="10" name="Text 6"/>
          <p:cNvSpPr/>
          <p:nvPr/>
        </p:nvSpPr>
        <p:spPr>
          <a:xfrm>
            <a:off x="2194560" y="1920240"/>
            <a:ext cx="118872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PC + アプリ</a:t>
            </a:r>
            <a:endParaRPr lang="en-US" sz="800" dirty="0"/>
          </a:p>
        </p:txBody>
      </p:sp>
      <p:sp>
        <p:nvSpPr>
          <p:cNvPr id="11" name="Shape 7"/>
          <p:cNvSpPr/>
          <p:nvPr/>
        </p:nvSpPr>
        <p:spPr>
          <a:xfrm>
            <a:off x="3657600" y="1463040"/>
            <a:ext cx="1188720" cy="914400"/>
          </a:xfrm>
          <a:prstGeom prst="rect">
            <a:avLst/>
          </a:prstGeom>
          <a:solidFill>
            <a:srgbClr val="FFE0CC"/>
          </a:solidFill>
          <a:ln w="6350">
            <a:solidFill>
              <a:srgbClr val="E0D9C8"/>
            </a:solidFill>
            <a:prstDash val="solid"/>
          </a:ln>
        </p:spPr>
        <p:txBody>
          <a:bodyPr/>
          <a:lstStyle/>
          <a:p>
            <a:endParaRPr lang="ja-JP" altLang="en-US"/>
          </a:p>
        </p:txBody>
      </p:sp>
      <p:pic>
        <p:nvPicPr>
          <p:cNvPr id="12" name="Image 2" descr="preencoded.png"/>
          <p:cNvPicPr>
            <a:picLocks noChangeAspect="1"/>
          </p:cNvPicPr>
          <p:nvPr/>
        </p:nvPicPr>
        <p:blipFill>
          <a:blip r:embed="rId3"/>
          <a:stretch>
            <a:fillRect/>
          </a:stretch>
        </p:blipFill>
        <p:spPr>
          <a:xfrm>
            <a:off x="3931920" y="1508760"/>
            <a:ext cx="320040" cy="320040"/>
          </a:xfrm>
          <a:prstGeom prst="rect">
            <a:avLst/>
          </a:prstGeom>
        </p:spPr>
      </p:pic>
      <p:sp>
        <p:nvSpPr>
          <p:cNvPr id="13" name="Text 8"/>
          <p:cNvSpPr/>
          <p:nvPr/>
        </p:nvSpPr>
        <p:spPr>
          <a:xfrm>
            <a:off x="3657600" y="1920240"/>
            <a:ext cx="1188720" cy="365760"/>
          </a:xfrm>
          <a:prstGeom prst="rect">
            <a:avLst/>
          </a:prstGeom>
          <a:noFill/>
          <a:ln/>
        </p:spPr>
        <p:txBody>
          <a:bodyPr wrap="square" lIns="0" tIns="0" rIns="0" bIns="0" rtlCol="0" anchor="ctr"/>
          <a:lstStyle/>
          <a:p>
            <a:pPr marL="0" indent="0" algn="ctr">
              <a:buNone/>
            </a:pPr>
            <a:r>
              <a:rPr lang="en-US" sz="800" dirty="0">
                <a:solidFill>
                  <a:srgbClr val="333333"/>
                </a:solidFill>
                <a:latin typeface="Calibri" pitchFamily="34" charset="0"/>
                <a:ea typeface="Calibri" pitchFamily="34" charset="-122"/>
                <a:cs typeface="Calibri" pitchFamily="34" charset="-120"/>
              </a:rPr>
              <a:t>PC + アプリ</a:t>
            </a:r>
            <a:endParaRPr lang="en-US" sz="800" dirty="0"/>
          </a:p>
        </p:txBody>
      </p:sp>
      <p:sp>
        <p:nvSpPr>
          <p:cNvPr id="14" name="Text 9"/>
          <p:cNvSpPr/>
          <p:nvPr/>
        </p:nvSpPr>
        <p:spPr>
          <a:xfrm>
            <a:off x="1828800" y="2423160"/>
            <a:ext cx="1371600" cy="274320"/>
          </a:xfrm>
          <a:prstGeom prst="rect">
            <a:avLst/>
          </a:prstGeom>
          <a:noFill/>
          <a:ln/>
        </p:spPr>
        <p:txBody>
          <a:bodyPr wrap="square" lIns="0" tIns="0" rIns="0" bIns="0" rtlCol="0" anchor="ctr"/>
          <a:lstStyle/>
          <a:p>
            <a:pPr marL="0" indent="0" algn="ctr">
              <a:buNone/>
            </a:pPr>
            <a:r>
              <a:rPr lang="en-US" sz="900" dirty="0">
                <a:solidFill>
                  <a:srgbClr val="666666"/>
                </a:solidFill>
                <a:latin typeface="Calibri" pitchFamily="34" charset="0"/>
                <a:ea typeface="Calibri" pitchFamily="34" charset="-122"/>
                <a:cs typeface="Calibri" pitchFamily="34" charset="-120"/>
              </a:rPr>
              <a:t>直接接続</a:t>
            </a:r>
            <a:endParaRPr lang="en-US" sz="900" dirty="0"/>
          </a:p>
        </p:txBody>
      </p:sp>
      <p:sp>
        <p:nvSpPr>
          <p:cNvPr id="15" name="Shape 10"/>
          <p:cNvSpPr/>
          <p:nvPr/>
        </p:nvSpPr>
        <p:spPr>
          <a:xfrm>
            <a:off x="1280160" y="2834640"/>
            <a:ext cx="2103120" cy="822960"/>
          </a:xfrm>
          <a:prstGeom prst="rect">
            <a:avLst/>
          </a:prstGeom>
          <a:solidFill>
            <a:srgbClr val="8B7536"/>
          </a:solidFill>
          <a:ln/>
        </p:spPr>
        <p:txBody>
          <a:bodyPr/>
          <a:lstStyle/>
          <a:p>
            <a:endParaRPr lang="ja-JP" altLang="en-US"/>
          </a:p>
        </p:txBody>
      </p:sp>
      <p:pic>
        <p:nvPicPr>
          <p:cNvPr id="16" name="Image 3" descr="preencoded.png"/>
          <p:cNvPicPr>
            <a:picLocks noChangeAspect="1"/>
          </p:cNvPicPr>
          <p:nvPr/>
        </p:nvPicPr>
        <p:blipFill>
          <a:blip r:embed="rId4"/>
          <a:stretch>
            <a:fillRect/>
          </a:stretch>
        </p:blipFill>
        <p:spPr>
          <a:xfrm>
            <a:off x="1371600" y="2926080"/>
            <a:ext cx="365760" cy="365760"/>
          </a:xfrm>
          <a:prstGeom prst="rect">
            <a:avLst/>
          </a:prstGeom>
        </p:spPr>
      </p:pic>
      <p:sp>
        <p:nvSpPr>
          <p:cNvPr id="17" name="Text 11"/>
          <p:cNvSpPr/>
          <p:nvPr/>
        </p:nvSpPr>
        <p:spPr>
          <a:xfrm>
            <a:off x="1828800" y="2880360"/>
            <a:ext cx="1371600" cy="7315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DBサーバ</a:t>
            </a:r>
            <a:endParaRPr lang="en-US" sz="1100" dirty="0"/>
          </a:p>
        </p:txBody>
      </p:sp>
      <p:sp>
        <p:nvSpPr>
          <p:cNvPr id="18" name="Shape 12"/>
          <p:cNvSpPr/>
          <p:nvPr/>
        </p:nvSpPr>
        <p:spPr>
          <a:xfrm>
            <a:off x="4846320" y="1371600"/>
            <a:ext cx="3840480" cy="25603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9" name="Shape 13"/>
          <p:cNvSpPr/>
          <p:nvPr/>
        </p:nvSpPr>
        <p:spPr>
          <a:xfrm>
            <a:off x="4846320" y="1371600"/>
            <a:ext cx="3840480" cy="411480"/>
          </a:xfrm>
          <a:prstGeom prst="rect">
            <a:avLst/>
          </a:prstGeom>
          <a:solidFill>
            <a:srgbClr val="C0392B"/>
          </a:solidFill>
          <a:ln/>
        </p:spPr>
        <p:txBody>
          <a:bodyPr/>
          <a:lstStyle/>
          <a:p>
            <a:endParaRPr lang="ja-JP" altLang="en-US"/>
          </a:p>
        </p:txBody>
      </p:sp>
      <p:sp>
        <p:nvSpPr>
          <p:cNvPr id="20" name="Text 14"/>
          <p:cNvSpPr/>
          <p:nvPr/>
        </p:nvSpPr>
        <p:spPr>
          <a:xfrm>
            <a:off x="4846320" y="1371600"/>
            <a:ext cx="3840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課題</a:t>
            </a:r>
            <a:endParaRPr lang="en-US" sz="1300" dirty="0"/>
          </a:p>
        </p:txBody>
      </p:sp>
      <p:pic>
        <p:nvPicPr>
          <p:cNvPr id="21" name="Image 4" descr="preencoded.png"/>
          <p:cNvPicPr>
            <a:picLocks noChangeAspect="1"/>
          </p:cNvPicPr>
          <p:nvPr/>
        </p:nvPicPr>
        <p:blipFill>
          <a:blip r:embed="rId5"/>
          <a:stretch>
            <a:fillRect/>
          </a:stretch>
        </p:blipFill>
        <p:spPr>
          <a:xfrm>
            <a:off x="5120640" y="1965960"/>
            <a:ext cx="274320" cy="274320"/>
          </a:xfrm>
          <a:prstGeom prst="rect">
            <a:avLst/>
          </a:prstGeom>
        </p:spPr>
      </p:pic>
      <p:sp>
        <p:nvSpPr>
          <p:cNvPr id="22" name="Text 15"/>
          <p:cNvSpPr/>
          <p:nvPr/>
        </p:nvSpPr>
        <p:spPr>
          <a:xfrm>
            <a:off x="5532120" y="1920240"/>
            <a:ext cx="2926080" cy="50292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全PCへ再インストールが必要</a:t>
            </a:r>
            <a:endParaRPr lang="en-US" sz="1000" dirty="0"/>
          </a:p>
          <a:p>
            <a:pPr marL="0" indent="0">
              <a:buNone/>
            </a:pPr>
            <a:r>
              <a:rPr lang="en-US" sz="1000" dirty="0">
                <a:solidFill>
                  <a:srgbClr val="333333"/>
                </a:solidFill>
                <a:latin typeface="Calibri" pitchFamily="34" charset="0"/>
                <a:ea typeface="Calibri" pitchFamily="34" charset="-122"/>
                <a:cs typeface="Calibri" pitchFamily="34" charset="-120"/>
              </a:rPr>
              <a:t>（バージョンアップのたび）</a:t>
            </a:r>
            <a:endParaRPr lang="en-US" sz="1000" dirty="0"/>
          </a:p>
        </p:txBody>
      </p:sp>
      <p:pic>
        <p:nvPicPr>
          <p:cNvPr id="23" name="Image 5" descr="preencoded.png"/>
          <p:cNvPicPr>
            <a:picLocks noChangeAspect="1"/>
          </p:cNvPicPr>
          <p:nvPr/>
        </p:nvPicPr>
        <p:blipFill>
          <a:blip r:embed="rId5"/>
          <a:stretch>
            <a:fillRect/>
          </a:stretch>
        </p:blipFill>
        <p:spPr>
          <a:xfrm>
            <a:off x="5120640" y="2560320"/>
            <a:ext cx="274320" cy="274320"/>
          </a:xfrm>
          <a:prstGeom prst="rect">
            <a:avLst/>
          </a:prstGeom>
        </p:spPr>
      </p:pic>
      <p:sp>
        <p:nvSpPr>
          <p:cNvPr id="24" name="Text 16"/>
          <p:cNvSpPr/>
          <p:nvPr/>
        </p:nvSpPr>
        <p:spPr>
          <a:xfrm>
            <a:off x="5532120" y="2514600"/>
            <a:ext cx="2926080" cy="50292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ライセンス管理・配布コスト大</a:t>
            </a:r>
            <a:endParaRPr lang="en-US" sz="1000" dirty="0"/>
          </a:p>
        </p:txBody>
      </p:sp>
      <p:pic>
        <p:nvPicPr>
          <p:cNvPr id="25" name="Image 6" descr="preencoded.png"/>
          <p:cNvPicPr>
            <a:picLocks noChangeAspect="1"/>
          </p:cNvPicPr>
          <p:nvPr/>
        </p:nvPicPr>
        <p:blipFill>
          <a:blip r:embed="rId5"/>
          <a:stretch>
            <a:fillRect/>
          </a:stretch>
        </p:blipFill>
        <p:spPr>
          <a:xfrm>
            <a:off x="5120640" y="3154680"/>
            <a:ext cx="274320" cy="274320"/>
          </a:xfrm>
          <a:prstGeom prst="rect">
            <a:avLst/>
          </a:prstGeom>
        </p:spPr>
      </p:pic>
      <p:sp>
        <p:nvSpPr>
          <p:cNvPr id="26" name="Text 17"/>
          <p:cNvSpPr/>
          <p:nvPr/>
        </p:nvSpPr>
        <p:spPr>
          <a:xfrm>
            <a:off x="5532120" y="3108960"/>
            <a:ext cx="2926080" cy="50292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サーバに直接接続 → セキュリティ課題</a:t>
            </a:r>
            <a:endParaRPr lang="en-US" sz="1000" dirty="0"/>
          </a:p>
        </p:txBody>
      </p:sp>
      <p:sp>
        <p:nvSpPr>
          <p:cNvPr id="27" name="Shape 18"/>
          <p:cNvSpPr/>
          <p:nvPr/>
        </p:nvSpPr>
        <p:spPr>
          <a:xfrm>
            <a:off x="457200" y="4023360"/>
            <a:ext cx="8229600" cy="502920"/>
          </a:xfrm>
          <a:prstGeom prst="rect">
            <a:avLst/>
          </a:prstGeom>
          <a:solidFill>
            <a:srgbClr val="F5F0E6"/>
          </a:solidFill>
          <a:ln/>
        </p:spPr>
        <p:txBody>
          <a:bodyPr/>
          <a:lstStyle/>
          <a:p>
            <a:endParaRPr lang="ja-JP" altLang="en-US"/>
          </a:p>
        </p:txBody>
      </p:sp>
      <p:sp>
        <p:nvSpPr>
          <p:cNvPr id="28" name="Text 19"/>
          <p:cNvSpPr/>
          <p:nvPr/>
        </p:nvSpPr>
        <p:spPr>
          <a:xfrm>
            <a:off x="640080" y="4023360"/>
            <a:ext cx="7863840" cy="502920"/>
          </a:xfrm>
          <a:prstGeom prst="rect">
            <a:avLst/>
          </a:prstGeom>
          <a:noFill/>
          <a:ln/>
        </p:spPr>
        <p:txBody>
          <a:bodyPr wrap="square" lIns="0" tIns="0" rIns="0" bIns="0" rtlCol="0" anchor="ctr"/>
          <a:lstStyle/>
          <a:p>
            <a:pPr marL="0" indent="0">
              <a:buNone/>
            </a:pPr>
            <a:r>
              <a:rPr lang="en-US" sz="1100" dirty="0">
                <a:solidFill>
                  <a:srgbClr val="333333"/>
                </a:solidFill>
                <a:latin typeface="Calibri" pitchFamily="34" charset="0"/>
                <a:ea typeface="Calibri" pitchFamily="34" charset="-122"/>
                <a:cs typeface="Calibri" pitchFamily="34" charset="-120"/>
              </a:rPr>
              <a:t>例：CADソフトのインストール型。今でも重いアプリケーションはこの方式が残っている</a:t>
            </a:r>
            <a:endParaRPr lang="en-US" sz="1100" dirty="0"/>
          </a:p>
        </p:txBody>
      </p:sp>
      <p:sp>
        <p:nvSpPr>
          <p:cNvPr id="29" name="Shape 20"/>
          <p:cNvSpPr/>
          <p:nvPr/>
        </p:nvSpPr>
        <p:spPr>
          <a:xfrm>
            <a:off x="0" y="4800600"/>
            <a:ext cx="9144000" cy="342900"/>
          </a:xfrm>
          <a:prstGeom prst="rect">
            <a:avLst/>
          </a:prstGeom>
          <a:solidFill>
            <a:srgbClr val="8B7536"/>
          </a:solidFill>
          <a:ln/>
        </p:spPr>
        <p:txBody>
          <a:bodyPr/>
          <a:lstStyle/>
          <a:p>
            <a:endParaRPr lang="ja-JP" altLang="en-US"/>
          </a:p>
        </p:txBody>
      </p:sp>
      <p:sp>
        <p:nvSpPr>
          <p:cNvPr id="30" name="Text 21"/>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31" name="Text 22"/>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クライアント・サーバ構成（WEB型・3層型）</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Text 2"/>
          <p:cNvSpPr/>
          <p:nvPr/>
        </p:nvSpPr>
        <p:spPr>
          <a:xfrm>
            <a:off x="457200" y="868680"/>
            <a:ext cx="8229600" cy="320040"/>
          </a:xfrm>
          <a:prstGeom prst="rect">
            <a:avLst/>
          </a:prstGeom>
          <a:noFill/>
          <a:ln/>
        </p:spPr>
        <p:txBody>
          <a:bodyPr wrap="square" lIns="0" tIns="0" rIns="0" bIns="0" rtlCol="0" anchor="ctr"/>
          <a:lstStyle/>
          <a:p>
            <a:pPr marL="0" indent="0">
              <a:buNone/>
            </a:pPr>
            <a:r>
              <a:rPr lang="en-US" sz="1200" b="1" dirty="0">
                <a:solidFill>
                  <a:srgbClr val="8B7536"/>
                </a:solidFill>
                <a:latin typeface="Calibri" pitchFamily="34" charset="0"/>
                <a:ea typeface="Calibri" pitchFamily="34" charset="-122"/>
                <a:cs typeface="Calibri" pitchFamily="34" charset="-120"/>
              </a:rPr>
              <a:t>現在の主流 ― ブラウザですべてを操作</a:t>
            </a:r>
            <a:endParaRPr lang="en-US" sz="1200" dirty="0"/>
          </a:p>
        </p:txBody>
      </p:sp>
      <p:sp>
        <p:nvSpPr>
          <p:cNvPr id="5" name="Shape 3"/>
          <p:cNvSpPr/>
          <p:nvPr/>
        </p:nvSpPr>
        <p:spPr>
          <a:xfrm>
            <a:off x="731520" y="1371600"/>
            <a:ext cx="3657600" cy="640080"/>
          </a:xfrm>
          <a:prstGeom prst="rect">
            <a:avLst/>
          </a:prstGeom>
          <a:solidFill>
            <a:srgbClr val="D4E8D4"/>
          </a:solidFill>
          <a:ln/>
          <a:effectLst>
            <a:outerShdw blurRad="50800" dist="12700" dir="8100000" algn="bl" rotWithShape="0">
              <a:srgbClr val="000000">
                <a:alpha val="8000"/>
              </a:srgbClr>
            </a:outerShdw>
          </a:effectLst>
        </p:spPr>
        <p:txBody>
          <a:bodyPr/>
          <a:lstStyle/>
          <a:p>
            <a:endParaRPr lang="ja-JP" altLang="en-US"/>
          </a:p>
        </p:txBody>
      </p:sp>
      <p:sp>
        <p:nvSpPr>
          <p:cNvPr id="6" name="Text 4"/>
          <p:cNvSpPr/>
          <p:nvPr/>
        </p:nvSpPr>
        <p:spPr>
          <a:xfrm>
            <a:off x="731520" y="1371600"/>
            <a:ext cx="3657600" cy="365760"/>
          </a:xfrm>
          <a:prstGeom prst="rect">
            <a:avLst/>
          </a:prstGeom>
          <a:noFill/>
          <a:ln/>
        </p:spPr>
        <p:txBody>
          <a:bodyPr wrap="square" lIns="0" tIns="0" rIns="0" bIns="0" rtlCol="0" anchor="ctr"/>
          <a:lstStyle/>
          <a:p>
            <a:pPr marL="0" indent="0" algn="ctr">
              <a:buNone/>
            </a:pPr>
            <a:r>
              <a:rPr lang="en-US" sz="1200" b="1" dirty="0">
                <a:solidFill>
                  <a:srgbClr val="333333"/>
                </a:solidFill>
                <a:latin typeface="Calibri" pitchFamily="34" charset="0"/>
                <a:ea typeface="Calibri" pitchFamily="34" charset="-122"/>
                <a:cs typeface="Calibri" pitchFamily="34" charset="-120"/>
              </a:rPr>
              <a:t>プレゼンテーション層</a:t>
            </a:r>
            <a:endParaRPr lang="en-US" sz="1200" dirty="0"/>
          </a:p>
        </p:txBody>
      </p:sp>
      <p:sp>
        <p:nvSpPr>
          <p:cNvPr id="7" name="Text 5"/>
          <p:cNvSpPr/>
          <p:nvPr/>
        </p:nvSpPr>
        <p:spPr>
          <a:xfrm>
            <a:off x="731520" y="1691640"/>
            <a:ext cx="3657600" cy="274320"/>
          </a:xfrm>
          <a:prstGeom prst="rect">
            <a:avLst/>
          </a:prstGeom>
          <a:noFill/>
          <a:ln/>
        </p:spPr>
        <p:txBody>
          <a:bodyPr wrap="square" lIns="0" tIns="0" rIns="0" bIns="0" rtlCol="0" anchor="ctr"/>
          <a:lstStyle/>
          <a:p>
            <a:pPr marL="0" indent="0" algn="ctr">
              <a:buNone/>
            </a:pPr>
            <a:r>
              <a:rPr lang="en-US" sz="900" dirty="0">
                <a:solidFill>
                  <a:srgbClr val="666666"/>
                </a:solidFill>
                <a:latin typeface="Calibri" pitchFamily="34" charset="0"/>
                <a:ea typeface="Calibri" pitchFamily="34" charset="-122"/>
                <a:cs typeface="Calibri" pitchFamily="34" charset="-120"/>
              </a:rPr>
              <a:t>ブラウザ（クライアント）</a:t>
            </a:r>
            <a:endParaRPr lang="en-US" sz="900" dirty="0"/>
          </a:p>
        </p:txBody>
      </p:sp>
      <p:sp>
        <p:nvSpPr>
          <p:cNvPr id="8" name="Text 6"/>
          <p:cNvSpPr/>
          <p:nvPr/>
        </p:nvSpPr>
        <p:spPr>
          <a:xfrm>
            <a:off x="2103120" y="2011680"/>
            <a:ext cx="457200" cy="274320"/>
          </a:xfrm>
          <a:prstGeom prst="rect">
            <a:avLst/>
          </a:prstGeom>
          <a:noFill/>
          <a:ln/>
        </p:spPr>
        <p:txBody>
          <a:bodyPr wrap="square" lIns="0" tIns="0" rIns="0" bIns="0" rtlCol="0" anchor="ctr"/>
          <a:lstStyle/>
          <a:p>
            <a:pPr marL="0" indent="0" algn="ctr">
              <a:buNone/>
            </a:pPr>
            <a:r>
              <a:rPr lang="en-US" sz="1600" dirty="0">
                <a:solidFill>
                  <a:srgbClr val="8B7536"/>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731520" y="2286000"/>
            <a:ext cx="3657600" cy="640080"/>
          </a:xfrm>
          <a:prstGeom prst="rect">
            <a:avLst/>
          </a:prstGeom>
          <a:solidFill>
            <a:srgbClr val="C4A44A"/>
          </a:solidFill>
          <a:ln/>
          <a:effectLst>
            <a:outerShdw blurRad="50800" dist="12700" dir="8100000" algn="bl" rotWithShape="0">
              <a:srgbClr val="000000">
                <a:alpha val="8000"/>
              </a:srgbClr>
            </a:outerShdw>
          </a:effectLst>
        </p:spPr>
        <p:txBody>
          <a:bodyPr/>
          <a:lstStyle/>
          <a:p>
            <a:endParaRPr lang="ja-JP" altLang="en-US"/>
          </a:p>
        </p:txBody>
      </p:sp>
      <p:sp>
        <p:nvSpPr>
          <p:cNvPr id="10" name="Text 8"/>
          <p:cNvSpPr/>
          <p:nvPr/>
        </p:nvSpPr>
        <p:spPr>
          <a:xfrm>
            <a:off x="731520" y="2286000"/>
            <a:ext cx="3657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アプリケーション層</a:t>
            </a:r>
            <a:endParaRPr lang="en-US" sz="1200" dirty="0"/>
          </a:p>
        </p:txBody>
      </p:sp>
      <p:sp>
        <p:nvSpPr>
          <p:cNvPr id="11" name="Text 9"/>
          <p:cNvSpPr/>
          <p:nvPr/>
        </p:nvSpPr>
        <p:spPr>
          <a:xfrm>
            <a:off x="731520" y="2606040"/>
            <a:ext cx="3657600" cy="274320"/>
          </a:xfrm>
          <a:prstGeom prst="rect">
            <a:avLst/>
          </a:prstGeom>
          <a:noFill/>
          <a:ln/>
        </p:spPr>
        <p:txBody>
          <a:bodyPr wrap="square" lIns="0" tIns="0" rIns="0" bIns="0" rtlCol="0" anchor="ctr"/>
          <a:lstStyle/>
          <a:p>
            <a:pPr marL="0" indent="0" algn="ctr">
              <a:buNone/>
            </a:pPr>
            <a:r>
              <a:rPr lang="en-US" sz="900" dirty="0">
                <a:solidFill>
                  <a:srgbClr val="EEEEEE"/>
                </a:solidFill>
                <a:latin typeface="Calibri" pitchFamily="34" charset="0"/>
                <a:ea typeface="Calibri" pitchFamily="34" charset="-122"/>
                <a:cs typeface="Calibri" pitchFamily="34" charset="-120"/>
              </a:rPr>
              <a:t>Webサーバ（処理担当）</a:t>
            </a:r>
            <a:endParaRPr lang="en-US" sz="900" dirty="0"/>
          </a:p>
        </p:txBody>
      </p:sp>
      <p:sp>
        <p:nvSpPr>
          <p:cNvPr id="12" name="Text 10"/>
          <p:cNvSpPr/>
          <p:nvPr/>
        </p:nvSpPr>
        <p:spPr>
          <a:xfrm>
            <a:off x="2103120" y="2926080"/>
            <a:ext cx="457200" cy="274320"/>
          </a:xfrm>
          <a:prstGeom prst="rect">
            <a:avLst/>
          </a:prstGeom>
          <a:noFill/>
          <a:ln/>
        </p:spPr>
        <p:txBody>
          <a:bodyPr wrap="square" lIns="0" tIns="0" rIns="0" bIns="0" rtlCol="0" anchor="ctr"/>
          <a:lstStyle/>
          <a:p>
            <a:pPr marL="0" indent="0" algn="ctr">
              <a:buNone/>
            </a:pPr>
            <a:r>
              <a:rPr lang="en-US" sz="1600" dirty="0">
                <a:solidFill>
                  <a:srgbClr val="8B7536"/>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31520" y="3200400"/>
            <a:ext cx="3657600" cy="640080"/>
          </a:xfrm>
          <a:prstGeom prst="rect">
            <a:avLst/>
          </a:prstGeom>
          <a:solidFill>
            <a:srgbClr val="8B7536"/>
          </a:solidFill>
          <a:ln/>
          <a:effectLst>
            <a:outerShdw blurRad="50800" dist="12700" dir="8100000" algn="bl" rotWithShape="0">
              <a:srgbClr val="000000">
                <a:alpha val="8000"/>
              </a:srgbClr>
            </a:outerShdw>
          </a:effectLst>
        </p:spPr>
        <p:txBody>
          <a:bodyPr/>
          <a:lstStyle/>
          <a:p>
            <a:endParaRPr lang="ja-JP" altLang="en-US"/>
          </a:p>
        </p:txBody>
      </p:sp>
      <p:sp>
        <p:nvSpPr>
          <p:cNvPr id="14" name="Text 12"/>
          <p:cNvSpPr/>
          <p:nvPr/>
        </p:nvSpPr>
        <p:spPr>
          <a:xfrm>
            <a:off x="731520" y="3200400"/>
            <a:ext cx="3657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データ層</a:t>
            </a:r>
            <a:endParaRPr lang="en-US" sz="1200" dirty="0"/>
          </a:p>
        </p:txBody>
      </p:sp>
      <p:sp>
        <p:nvSpPr>
          <p:cNvPr id="15" name="Text 13"/>
          <p:cNvSpPr/>
          <p:nvPr/>
        </p:nvSpPr>
        <p:spPr>
          <a:xfrm>
            <a:off x="731520" y="3520440"/>
            <a:ext cx="3657600" cy="274320"/>
          </a:xfrm>
          <a:prstGeom prst="rect">
            <a:avLst/>
          </a:prstGeom>
          <a:noFill/>
          <a:ln/>
        </p:spPr>
        <p:txBody>
          <a:bodyPr wrap="square" lIns="0" tIns="0" rIns="0" bIns="0" rtlCol="0" anchor="ctr"/>
          <a:lstStyle/>
          <a:p>
            <a:pPr marL="0" indent="0" algn="ctr">
              <a:buNone/>
            </a:pPr>
            <a:r>
              <a:rPr lang="en-US" sz="900" dirty="0">
                <a:solidFill>
                  <a:srgbClr val="EEEEEE"/>
                </a:solidFill>
                <a:latin typeface="Calibri" pitchFamily="34" charset="0"/>
                <a:ea typeface="Calibri" pitchFamily="34" charset="-122"/>
                <a:cs typeface="Calibri" pitchFamily="34" charset="-120"/>
              </a:rPr>
              <a:t>データベースサーバ</a:t>
            </a:r>
            <a:endParaRPr lang="en-US" sz="900" dirty="0"/>
          </a:p>
        </p:txBody>
      </p:sp>
      <p:sp>
        <p:nvSpPr>
          <p:cNvPr id="16" name="Shape 14"/>
          <p:cNvSpPr/>
          <p:nvPr/>
        </p:nvSpPr>
        <p:spPr>
          <a:xfrm>
            <a:off x="4846320" y="1371600"/>
            <a:ext cx="3840480" cy="1188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7" name="Shape 15"/>
          <p:cNvSpPr/>
          <p:nvPr/>
        </p:nvSpPr>
        <p:spPr>
          <a:xfrm>
            <a:off x="4846320" y="1371600"/>
            <a:ext cx="3840480" cy="365760"/>
          </a:xfrm>
          <a:prstGeom prst="rect">
            <a:avLst/>
          </a:prstGeom>
          <a:solidFill>
            <a:srgbClr val="27AE60"/>
          </a:solidFill>
          <a:ln/>
        </p:spPr>
        <p:txBody>
          <a:bodyPr/>
          <a:lstStyle/>
          <a:p>
            <a:endParaRPr lang="ja-JP" altLang="en-US"/>
          </a:p>
        </p:txBody>
      </p:sp>
      <p:sp>
        <p:nvSpPr>
          <p:cNvPr id="18" name="Text 16"/>
          <p:cNvSpPr/>
          <p:nvPr/>
        </p:nvSpPr>
        <p:spPr>
          <a:xfrm>
            <a:off x="4846320" y="1371600"/>
            <a:ext cx="3840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メリット</a:t>
            </a:r>
            <a:endParaRPr lang="en-US" sz="1200" dirty="0"/>
          </a:p>
        </p:txBody>
      </p:sp>
      <p:sp>
        <p:nvSpPr>
          <p:cNvPr id="19" name="Text 17"/>
          <p:cNvSpPr/>
          <p:nvPr/>
        </p:nvSpPr>
        <p:spPr>
          <a:xfrm>
            <a:off x="5029200" y="1783080"/>
            <a:ext cx="3474720" cy="64008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バージョンアップはサーバ側だけ</a:t>
            </a:r>
            <a:endParaRPr lang="en-US" sz="1000" dirty="0"/>
          </a:p>
          <a:p>
            <a:pPr marL="0" indent="0">
              <a:buNone/>
            </a:pPr>
            <a:r>
              <a:rPr lang="en-US" sz="1000" dirty="0">
                <a:solidFill>
                  <a:srgbClr val="333333"/>
                </a:solidFill>
                <a:latin typeface="Calibri" pitchFamily="34" charset="0"/>
                <a:ea typeface="Calibri" pitchFamily="34" charset="-122"/>
                <a:cs typeface="Calibri" pitchFamily="34" charset="-120"/>
              </a:rPr>
              <a:t>クライアントへの配布不要</a:t>
            </a:r>
            <a:endParaRPr lang="en-US" sz="1000" dirty="0"/>
          </a:p>
          <a:p>
            <a:pPr marL="0" indent="0">
              <a:buNone/>
            </a:pPr>
            <a:r>
              <a:rPr lang="en-US" sz="1000" dirty="0">
                <a:solidFill>
                  <a:srgbClr val="333333"/>
                </a:solidFill>
                <a:latin typeface="Calibri" pitchFamily="34" charset="0"/>
                <a:ea typeface="Calibri" pitchFamily="34" charset="-122"/>
                <a:cs typeface="Calibri" pitchFamily="34" charset="-120"/>
              </a:rPr>
              <a:t>どこからでもアクセス可能</a:t>
            </a:r>
            <a:endParaRPr lang="en-US" sz="1000" dirty="0"/>
          </a:p>
        </p:txBody>
      </p:sp>
      <p:sp>
        <p:nvSpPr>
          <p:cNvPr id="20" name="Shape 18"/>
          <p:cNvSpPr/>
          <p:nvPr/>
        </p:nvSpPr>
        <p:spPr>
          <a:xfrm>
            <a:off x="4846320" y="2743200"/>
            <a:ext cx="3840480" cy="11887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21" name="Shape 19"/>
          <p:cNvSpPr/>
          <p:nvPr/>
        </p:nvSpPr>
        <p:spPr>
          <a:xfrm>
            <a:off x="4846320" y="2743200"/>
            <a:ext cx="3840480" cy="365760"/>
          </a:xfrm>
          <a:prstGeom prst="rect">
            <a:avLst/>
          </a:prstGeom>
          <a:solidFill>
            <a:srgbClr val="C0392B"/>
          </a:solidFill>
          <a:ln/>
        </p:spPr>
        <p:txBody>
          <a:bodyPr/>
          <a:lstStyle/>
          <a:p>
            <a:endParaRPr lang="ja-JP" altLang="en-US"/>
          </a:p>
        </p:txBody>
      </p:sp>
      <p:sp>
        <p:nvSpPr>
          <p:cNvPr id="22" name="Text 20"/>
          <p:cNvSpPr/>
          <p:nvPr/>
        </p:nvSpPr>
        <p:spPr>
          <a:xfrm>
            <a:off x="4846320" y="2743200"/>
            <a:ext cx="384048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デメリット</a:t>
            </a:r>
            <a:endParaRPr lang="en-US" sz="1200" dirty="0"/>
          </a:p>
        </p:txBody>
      </p:sp>
      <p:sp>
        <p:nvSpPr>
          <p:cNvPr id="23" name="Text 21"/>
          <p:cNvSpPr/>
          <p:nvPr/>
        </p:nvSpPr>
        <p:spPr>
          <a:xfrm>
            <a:off x="5029200" y="3154680"/>
            <a:ext cx="3474720" cy="640080"/>
          </a:xfrm>
          <a:prstGeom prst="rect">
            <a:avLst/>
          </a:prstGeom>
          <a:noFill/>
          <a:ln/>
        </p:spPr>
        <p:txBody>
          <a:bodyPr wrap="square" lIns="0" tIns="0" rIns="0" bIns="0" rtlCol="0" anchor="ctr"/>
          <a:lstStyle/>
          <a:p>
            <a:pPr marL="0" indent="0">
              <a:buNone/>
            </a:pPr>
            <a:r>
              <a:rPr lang="en-US" sz="1000" dirty="0">
                <a:solidFill>
                  <a:srgbClr val="333333"/>
                </a:solidFill>
                <a:latin typeface="Calibri" pitchFamily="34" charset="0"/>
                <a:ea typeface="Calibri" pitchFamily="34" charset="-122"/>
                <a:cs typeface="Calibri" pitchFamily="34" charset="-120"/>
              </a:rPr>
              <a:t>ネットワーク経由 → オフライン不可</a:t>
            </a:r>
            <a:endParaRPr lang="en-US" sz="1000" dirty="0"/>
          </a:p>
          <a:p>
            <a:pPr marL="0" indent="0">
              <a:buNone/>
            </a:pPr>
            <a:r>
              <a:rPr lang="en-US" sz="1000" dirty="0">
                <a:solidFill>
                  <a:srgbClr val="333333"/>
                </a:solidFill>
                <a:latin typeface="Calibri" pitchFamily="34" charset="0"/>
                <a:ea typeface="Calibri" pitchFamily="34" charset="-122"/>
                <a:cs typeface="Calibri" pitchFamily="34" charset="-120"/>
              </a:rPr>
              <a:t>速度はネットワーク状況に依存</a:t>
            </a:r>
            <a:endParaRPr lang="en-US" sz="1000" dirty="0"/>
          </a:p>
          <a:p>
            <a:pPr marL="0" indent="0">
              <a:buNone/>
            </a:pPr>
            <a:r>
              <a:rPr lang="en-US" sz="1000" dirty="0">
                <a:solidFill>
                  <a:srgbClr val="333333"/>
                </a:solidFill>
                <a:latin typeface="Calibri" pitchFamily="34" charset="0"/>
                <a:ea typeface="Calibri" pitchFamily="34" charset="-122"/>
                <a:cs typeface="Calibri" pitchFamily="34" charset="-120"/>
              </a:rPr>
              <a:t>建設現場での通信環境が課題に</a:t>
            </a:r>
            <a:endParaRPr lang="en-US" sz="1000" dirty="0"/>
          </a:p>
        </p:txBody>
      </p:sp>
      <p:graphicFrame>
        <p:nvGraphicFramePr>
          <p:cNvPr id="24" name="Chart 0"/>
          <p:cNvGraphicFramePr/>
          <p:nvPr/>
        </p:nvGraphicFramePr>
        <p:xfrm>
          <a:off x="457200" y="3931920"/>
          <a:ext cx="8229600" cy="257175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0" y="4800600"/>
            <a:ext cx="9144000" cy="342900"/>
          </a:xfrm>
          <a:prstGeom prst="rect">
            <a:avLst/>
          </a:prstGeom>
          <a:solidFill>
            <a:srgbClr val="8B7536"/>
          </a:solidFill>
          <a:ln/>
        </p:spPr>
        <p:txBody>
          <a:bodyPr/>
          <a:lstStyle/>
          <a:p>
            <a:endParaRPr lang="ja-JP" altLang="en-US"/>
          </a:p>
        </p:txBody>
      </p:sp>
      <p:sp>
        <p:nvSpPr>
          <p:cNvPr id="26" name="Text 23"/>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7" name="Text 24"/>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まとめ ― 3つのアーキテクチャ比較</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graphicFrame>
        <p:nvGraphicFramePr>
          <p:cNvPr id="4" name="Chart 0"/>
          <p:cNvGraphicFramePr/>
          <p:nvPr/>
        </p:nvGraphicFramePr>
        <p:xfrm>
          <a:off x="457200" y="914400"/>
          <a:ext cx="82296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57200" y="4206240"/>
            <a:ext cx="8229600" cy="365760"/>
          </a:xfrm>
          <a:prstGeom prst="rect">
            <a:avLst/>
          </a:prstGeom>
          <a:solidFill>
            <a:srgbClr val="8B7536"/>
          </a:solidFill>
          <a:ln/>
        </p:spPr>
        <p:txBody>
          <a:bodyPr/>
          <a:lstStyle/>
          <a:p>
            <a:endParaRPr lang="ja-JP" altLang="en-US"/>
          </a:p>
        </p:txBody>
      </p:sp>
      <p:sp>
        <p:nvSpPr>
          <p:cNvPr id="6" name="Text 3"/>
          <p:cNvSpPr/>
          <p:nvPr/>
        </p:nvSpPr>
        <p:spPr>
          <a:xfrm>
            <a:off x="457200" y="4206240"/>
            <a:ext cx="82296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建設DXでは用途に応じた最適なアーキテクチャ選定が重要</a:t>
            </a:r>
            <a:endParaRPr lang="en-US" sz="1200" dirty="0"/>
          </a:p>
        </p:txBody>
      </p:sp>
      <p:sp>
        <p:nvSpPr>
          <p:cNvPr id="7" name="Shape 4"/>
          <p:cNvSpPr/>
          <p:nvPr/>
        </p:nvSpPr>
        <p:spPr>
          <a:xfrm>
            <a:off x="0" y="4800600"/>
            <a:ext cx="9144000" cy="342900"/>
          </a:xfrm>
          <a:prstGeom prst="rect">
            <a:avLst/>
          </a:prstGeom>
          <a:solidFill>
            <a:srgbClr val="8B7536"/>
          </a:solidFill>
          <a:ln/>
        </p:spPr>
        <p:txBody>
          <a:bodyPr/>
          <a:lstStyle/>
          <a:p>
            <a:endParaRPr lang="ja-JP" altLang="en-US"/>
          </a:p>
        </p:txBody>
      </p:sp>
      <p:sp>
        <p:nvSpPr>
          <p:cNvPr id="8" name="Text 5"/>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9" name="Text 6"/>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lIns="0" tIns="0" rIns="0" bIns="0" rtlCol="0" anchor="ctr"/>
          <a:lstStyle/>
          <a:p>
            <a:pPr marL="0" indent="0">
              <a:buNone/>
            </a:pPr>
            <a:r>
              <a:rPr lang="en-US" sz="2200" b="1" dirty="0">
                <a:solidFill>
                  <a:srgbClr val="333333"/>
                </a:solidFill>
                <a:latin typeface="Calibri" pitchFamily="34" charset="0"/>
                <a:ea typeface="Calibri" pitchFamily="34" charset="-122"/>
                <a:cs typeface="Calibri" pitchFamily="34" charset="-120"/>
              </a:rPr>
              <a:t>本日の学びの振り返り</a:t>
            </a:r>
            <a:endParaRPr lang="en-US" sz="2200" dirty="0"/>
          </a:p>
        </p:txBody>
      </p:sp>
      <p:sp>
        <p:nvSpPr>
          <p:cNvPr id="3" name="Shape 1"/>
          <p:cNvSpPr/>
          <p:nvPr/>
        </p:nvSpPr>
        <p:spPr>
          <a:xfrm>
            <a:off x="457200" y="685800"/>
            <a:ext cx="1097280" cy="36576"/>
          </a:xfrm>
          <a:prstGeom prst="rect">
            <a:avLst/>
          </a:prstGeom>
          <a:solidFill>
            <a:srgbClr val="8B7536"/>
          </a:solidFill>
          <a:ln/>
        </p:spPr>
        <p:txBody>
          <a:bodyPr/>
          <a:lstStyle/>
          <a:p>
            <a:endParaRPr lang="ja-JP" altLang="en-US"/>
          </a:p>
        </p:txBody>
      </p:sp>
      <p:sp>
        <p:nvSpPr>
          <p:cNvPr id="4" name="Shape 2"/>
          <p:cNvSpPr/>
          <p:nvPr/>
        </p:nvSpPr>
        <p:spPr>
          <a:xfrm>
            <a:off x="457200" y="914400"/>
            <a:ext cx="3931920" cy="14173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5" name="Shape 3"/>
          <p:cNvSpPr/>
          <p:nvPr/>
        </p:nvSpPr>
        <p:spPr>
          <a:xfrm>
            <a:off x="640080" y="1188720"/>
            <a:ext cx="640080" cy="640080"/>
          </a:xfrm>
          <a:prstGeom prst="ellipse">
            <a:avLst/>
          </a:prstGeom>
          <a:solidFill>
            <a:srgbClr val="8B7536"/>
          </a:solidFill>
          <a:ln/>
        </p:spPr>
        <p:txBody>
          <a:bodyPr/>
          <a:lstStyle/>
          <a:p>
            <a:endParaRPr lang="ja-JP" altLang="en-US"/>
          </a:p>
        </p:txBody>
      </p:sp>
      <p:pic>
        <p:nvPicPr>
          <p:cNvPr id="6" name="Image 0" descr="preencoded.png"/>
          <p:cNvPicPr>
            <a:picLocks noChangeAspect="1"/>
          </p:cNvPicPr>
          <p:nvPr/>
        </p:nvPicPr>
        <p:blipFill>
          <a:blip r:embed="rId3"/>
          <a:stretch>
            <a:fillRect/>
          </a:stretch>
        </p:blipFill>
        <p:spPr>
          <a:xfrm>
            <a:off x="758952" y="1307592"/>
            <a:ext cx="402336" cy="402336"/>
          </a:xfrm>
          <a:prstGeom prst="rect">
            <a:avLst/>
          </a:prstGeom>
        </p:spPr>
      </p:pic>
      <p:sp>
        <p:nvSpPr>
          <p:cNvPr id="7" name="Text 4"/>
          <p:cNvSpPr/>
          <p:nvPr/>
        </p:nvSpPr>
        <p:spPr>
          <a:xfrm>
            <a:off x="1463040" y="1051560"/>
            <a:ext cx="27432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インフラ・サーバ</a:t>
            </a:r>
            <a:endParaRPr lang="en-US" sz="1400" dirty="0"/>
          </a:p>
        </p:txBody>
      </p:sp>
      <p:sp>
        <p:nvSpPr>
          <p:cNvPr id="8" name="Text 5"/>
          <p:cNvSpPr/>
          <p:nvPr/>
        </p:nvSpPr>
        <p:spPr>
          <a:xfrm>
            <a:off x="1463040" y="1417320"/>
            <a:ext cx="2743200" cy="7315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ITインフラ = システムの土台。サーバは機能を提供するコンピュータ。物理→仮想→コンテナと進化。</a:t>
            </a:r>
            <a:endParaRPr lang="en-US" sz="1000" dirty="0"/>
          </a:p>
        </p:txBody>
      </p:sp>
      <p:sp>
        <p:nvSpPr>
          <p:cNvPr id="9" name="Shape 6"/>
          <p:cNvSpPr/>
          <p:nvPr/>
        </p:nvSpPr>
        <p:spPr>
          <a:xfrm>
            <a:off x="4663440" y="914400"/>
            <a:ext cx="3931920" cy="14173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0" name="Shape 7"/>
          <p:cNvSpPr/>
          <p:nvPr/>
        </p:nvSpPr>
        <p:spPr>
          <a:xfrm>
            <a:off x="4846320" y="1188720"/>
            <a:ext cx="640080" cy="640080"/>
          </a:xfrm>
          <a:prstGeom prst="ellipse">
            <a:avLst/>
          </a:prstGeom>
          <a:solidFill>
            <a:srgbClr val="8B7536"/>
          </a:solidFill>
          <a:ln/>
        </p:spPr>
        <p:txBody>
          <a:bodyPr/>
          <a:lstStyle/>
          <a:p>
            <a:endParaRPr lang="ja-JP" altLang="en-US"/>
          </a:p>
        </p:txBody>
      </p:sp>
      <p:pic>
        <p:nvPicPr>
          <p:cNvPr id="11" name="Image 1" descr="preencoded.png"/>
          <p:cNvPicPr>
            <a:picLocks noChangeAspect="1"/>
          </p:cNvPicPr>
          <p:nvPr/>
        </p:nvPicPr>
        <p:blipFill>
          <a:blip r:embed="rId4"/>
          <a:stretch>
            <a:fillRect/>
          </a:stretch>
        </p:blipFill>
        <p:spPr>
          <a:xfrm>
            <a:off x="4965192" y="1307592"/>
            <a:ext cx="402336" cy="402336"/>
          </a:xfrm>
          <a:prstGeom prst="rect">
            <a:avLst/>
          </a:prstGeom>
        </p:spPr>
      </p:pic>
      <p:sp>
        <p:nvSpPr>
          <p:cNvPr id="12" name="Text 8"/>
          <p:cNvSpPr/>
          <p:nvPr/>
        </p:nvSpPr>
        <p:spPr>
          <a:xfrm>
            <a:off x="5669280" y="1051560"/>
            <a:ext cx="27432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クラウド</a:t>
            </a:r>
            <a:endParaRPr lang="en-US" sz="1400" dirty="0"/>
          </a:p>
        </p:txBody>
      </p:sp>
      <p:sp>
        <p:nvSpPr>
          <p:cNvPr id="13" name="Text 9"/>
          <p:cNvSpPr/>
          <p:nvPr/>
        </p:nvSpPr>
        <p:spPr>
          <a:xfrm>
            <a:off x="5669280" y="1417320"/>
            <a:ext cx="2743200" cy="7315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他者のサーバをネット経由で利用。IaaS/PaaS/SaaSの3分類。所有から利用へ。</a:t>
            </a:r>
            <a:endParaRPr lang="en-US" sz="1000" dirty="0"/>
          </a:p>
        </p:txBody>
      </p:sp>
      <p:sp>
        <p:nvSpPr>
          <p:cNvPr id="14" name="Shape 10"/>
          <p:cNvSpPr/>
          <p:nvPr/>
        </p:nvSpPr>
        <p:spPr>
          <a:xfrm>
            <a:off x="457200" y="2560320"/>
            <a:ext cx="3931920" cy="14173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15" name="Shape 11"/>
          <p:cNvSpPr/>
          <p:nvPr/>
        </p:nvSpPr>
        <p:spPr>
          <a:xfrm>
            <a:off x="640080" y="2834640"/>
            <a:ext cx="640080" cy="640080"/>
          </a:xfrm>
          <a:prstGeom prst="ellipse">
            <a:avLst/>
          </a:prstGeom>
          <a:solidFill>
            <a:srgbClr val="8B7536"/>
          </a:solidFill>
          <a:ln/>
        </p:spPr>
        <p:txBody>
          <a:bodyPr/>
          <a:lstStyle/>
          <a:p>
            <a:endParaRPr lang="ja-JP" altLang="en-US"/>
          </a:p>
        </p:txBody>
      </p:sp>
      <p:pic>
        <p:nvPicPr>
          <p:cNvPr id="16" name="Image 2" descr="preencoded.png"/>
          <p:cNvPicPr>
            <a:picLocks noChangeAspect="1"/>
          </p:cNvPicPr>
          <p:nvPr/>
        </p:nvPicPr>
        <p:blipFill>
          <a:blip r:embed="rId5"/>
          <a:stretch>
            <a:fillRect/>
          </a:stretch>
        </p:blipFill>
        <p:spPr>
          <a:xfrm>
            <a:off x="758952" y="2953512"/>
            <a:ext cx="402336" cy="402336"/>
          </a:xfrm>
          <a:prstGeom prst="rect">
            <a:avLst/>
          </a:prstGeom>
        </p:spPr>
      </p:pic>
      <p:sp>
        <p:nvSpPr>
          <p:cNvPr id="17" name="Text 12"/>
          <p:cNvSpPr/>
          <p:nvPr/>
        </p:nvSpPr>
        <p:spPr>
          <a:xfrm>
            <a:off x="1463040" y="2697480"/>
            <a:ext cx="27432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API・関数</a:t>
            </a:r>
            <a:endParaRPr lang="en-US" sz="1400" dirty="0"/>
          </a:p>
        </p:txBody>
      </p:sp>
      <p:sp>
        <p:nvSpPr>
          <p:cNvPr id="18" name="Text 13"/>
          <p:cNvSpPr/>
          <p:nvPr/>
        </p:nvSpPr>
        <p:spPr>
          <a:xfrm>
            <a:off x="1463040" y="3063240"/>
            <a:ext cx="2743200" cy="7315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引数(Input)→処理(Process)→戻り値(Output)。すべてのシステムの基本構造。</a:t>
            </a:r>
            <a:endParaRPr lang="en-US" sz="1000" dirty="0"/>
          </a:p>
        </p:txBody>
      </p:sp>
      <p:sp>
        <p:nvSpPr>
          <p:cNvPr id="19" name="Shape 14"/>
          <p:cNvSpPr/>
          <p:nvPr/>
        </p:nvSpPr>
        <p:spPr>
          <a:xfrm>
            <a:off x="4663440" y="2560320"/>
            <a:ext cx="3931920" cy="1417320"/>
          </a:xfrm>
          <a:prstGeom prst="rect">
            <a:avLst/>
          </a:prstGeom>
          <a:solidFill>
            <a:srgbClr val="FFFFFF"/>
          </a:solidFill>
          <a:ln w="6350">
            <a:solidFill>
              <a:srgbClr val="E0D9C8"/>
            </a:solidFill>
            <a:prstDash val="solid"/>
          </a:ln>
          <a:effectLst>
            <a:outerShdw blurRad="50800" dist="12700" dir="8100000" algn="bl" rotWithShape="0">
              <a:srgbClr val="000000">
                <a:alpha val="8000"/>
              </a:srgbClr>
            </a:outerShdw>
          </a:effectLst>
        </p:spPr>
        <p:txBody>
          <a:bodyPr/>
          <a:lstStyle/>
          <a:p>
            <a:endParaRPr lang="ja-JP" altLang="en-US"/>
          </a:p>
        </p:txBody>
      </p:sp>
      <p:sp>
        <p:nvSpPr>
          <p:cNvPr id="20" name="Shape 15"/>
          <p:cNvSpPr/>
          <p:nvPr/>
        </p:nvSpPr>
        <p:spPr>
          <a:xfrm>
            <a:off x="4846320" y="2834640"/>
            <a:ext cx="640080" cy="640080"/>
          </a:xfrm>
          <a:prstGeom prst="ellipse">
            <a:avLst/>
          </a:prstGeom>
          <a:solidFill>
            <a:srgbClr val="8B7536"/>
          </a:solidFill>
          <a:ln/>
        </p:spPr>
        <p:txBody>
          <a:bodyPr/>
          <a:lstStyle/>
          <a:p>
            <a:endParaRPr lang="ja-JP" altLang="en-US"/>
          </a:p>
        </p:txBody>
      </p:sp>
      <p:pic>
        <p:nvPicPr>
          <p:cNvPr id="21" name="Image 3" descr="preencoded.png"/>
          <p:cNvPicPr>
            <a:picLocks noChangeAspect="1"/>
          </p:cNvPicPr>
          <p:nvPr/>
        </p:nvPicPr>
        <p:blipFill>
          <a:blip r:embed="rId6"/>
          <a:stretch>
            <a:fillRect/>
          </a:stretch>
        </p:blipFill>
        <p:spPr>
          <a:xfrm>
            <a:off x="4965192" y="2953512"/>
            <a:ext cx="402336" cy="402336"/>
          </a:xfrm>
          <a:prstGeom prst="rect">
            <a:avLst/>
          </a:prstGeom>
        </p:spPr>
      </p:pic>
      <p:sp>
        <p:nvSpPr>
          <p:cNvPr id="22" name="Text 16"/>
          <p:cNvSpPr/>
          <p:nvPr/>
        </p:nvSpPr>
        <p:spPr>
          <a:xfrm>
            <a:off x="5669280" y="2697480"/>
            <a:ext cx="2743200" cy="365760"/>
          </a:xfrm>
          <a:prstGeom prst="rect">
            <a:avLst/>
          </a:prstGeom>
          <a:noFill/>
          <a:ln/>
        </p:spPr>
        <p:txBody>
          <a:bodyPr wrap="square" lIns="0" tIns="0" rIns="0" bIns="0" rtlCol="0" anchor="ctr"/>
          <a:lstStyle/>
          <a:p>
            <a:pPr marL="0" indent="0">
              <a:buNone/>
            </a:pPr>
            <a:r>
              <a:rPr lang="en-US" sz="1400" b="1" dirty="0">
                <a:solidFill>
                  <a:srgbClr val="333333"/>
                </a:solidFill>
                <a:latin typeface="Calibri" pitchFamily="34" charset="0"/>
                <a:ea typeface="Calibri" pitchFamily="34" charset="-122"/>
                <a:cs typeface="Calibri" pitchFamily="34" charset="-120"/>
              </a:rPr>
              <a:t>アーキテクチャ</a:t>
            </a:r>
            <a:endParaRPr lang="en-US" sz="1400" dirty="0"/>
          </a:p>
        </p:txBody>
      </p:sp>
      <p:sp>
        <p:nvSpPr>
          <p:cNvPr id="23" name="Text 17"/>
          <p:cNvSpPr/>
          <p:nvPr/>
        </p:nvSpPr>
        <p:spPr>
          <a:xfrm>
            <a:off x="5669280" y="3063240"/>
            <a:ext cx="2743200" cy="731520"/>
          </a:xfrm>
          <a:prstGeom prst="rect">
            <a:avLst/>
          </a:prstGeom>
          <a:noFill/>
          <a:ln/>
        </p:spPr>
        <p:txBody>
          <a:bodyPr wrap="square" lIns="0" tIns="0" rIns="0" bIns="0" rtlCol="0" anchor="ctr"/>
          <a:lstStyle/>
          <a:p>
            <a:pPr marL="0" indent="0">
              <a:buNone/>
            </a:pPr>
            <a:r>
              <a:rPr lang="en-US" sz="1000" dirty="0">
                <a:solidFill>
                  <a:srgbClr val="666666"/>
                </a:solidFill>
                <a:latin typeface="Calibri" pitchFamily="34" charset="0"/>
                <a:ea typeface="Calibri" pitchFamily="34" charset="-122"/>
                <a:cs typeface="Calibri" pitchFamily="34" charset="-120"/>
              </a:rPr>
              <a:t>2層型→3層型（WEB型）。マイクロサービス。用途に応じた最適選定が重要。</a:t>
            </a:r>
            <a:endParaRPr lang="en-US" sz="1000" dirty="0"/>
          </a:p>
        </p:txBody>
      </p:sp>
      <p:sp>
        <p:nvSpPr>
          <p:cNvPr id="24" name="Shape 18"/>
          <p:cNvSpPr/>
          <p:nvPr/>
        </p:nvSpPr>
        <p:spPr>
          <a:xfrm>
            <a:off x="457200" y="4297680"/>
            <a:ext cx="8229600" cy="502920"/>
          </a:xfrm>
          <a:prstGeom prst="rect">
            <a:avLst/>
          </a:prstGeom>
          <a:solidFill>
            <a:srgbClr val="8B7536"/>
          </a:solidFill>
          <a:ln/>
        </p:spPr>
        <p:txBody>
          <a:bodyPr/>
          <a:lstStyle/>
          <a:p>
            <a:endParaRPr lang="ja-JP" altLang="en-US"/>
          </a:p>
        </p:txBody>
      </p:sp>
      <p:sp>
        <p:nvSpPr>
          <p:cNvPr id="25" name="Text 19"/>
          <p:cNvSpPr/>
          <p:nvPr/>
        </p:nvSpPr>
        <p:spPr>
          <a:xfrm>
            <a:off x="457200" y="4297680"/>
            <a:ext cx="822960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関数 = API  /  引数 = パラメータ  /  戻り値 = レスポンス ― この対応関係を覚えておこう</a:t>
            </a:r>
            <a:endParaRPr lang="en-US" sz="1300" dirty="0"/>
          </a:p>
        </p:txBody>
      </p:sp>
      <p:sp>
        <p:nvSpPr>
          <p:cNvPr id="26" name="Shape 20"/>
          <p:cNvSpPr/>
          <p:nvPr/>
        </p:nvSpPr>
        <p:spPr>
          <a:xfrm>
            <a:off x="0" y="4800600"/>
            <a:ext cx="9144000" cy="342900"/>
          </a:xfrm>
          <a:prstGeom prst="rect">
            <a:avLst/>
          </a:prstGeom>
          <a:solidFill>
            <a:srgbClr val="8B7536"/>
          </a:solidFill>
          <a:ln/>
        </p:spPr>
        <p:txBody>
          <a:bodyPr/>
          <a:lstStyle/>
          <a:p>
            <a:endParaRPr lang="ja-JP" altLang="en-US"/>
          </a:p>
        </p:txBody>
      </p:sp>
      <p:sp>
        <p:nvSpPr>
          <p:cNvPr id="27" name="Text 21"/>
          <p:cNvSpPr/>
          <p:nvPr/>
        </p:nvSpPr>
        <p:spPr>
          <a:xfrm>
            <a:off x="457200" y="4800600"/>
            <a:ext cx="5486400" cy="342900"/>
          </a:xfrm>
          <a:prstGeom prst="rect">
            <a:avLst/>
          </a:prstGeom>
          <a:noFill/>
          <a:ln/>
        </p:spPr>
        <p:txBody>
          <a:bodyPr wrap="square" lIns="0" tIns="0" rIns="0" bIns="0" rtlCol="0" anchor="ctr"/>
          <a:lstStyle/>
          <a:p>
            <a:pPr marL="0" indent="0">
              <a:buNone/>
            </a:pPr>
            <a:r>
              <a:rPr lang="en-US" sz="800" dirty="0">
                <a:solidFill>
                  <a:srgbClr val="FFFFFF"/>
                </a:solidFill>
                <a:latin typeface="Calibri" pitchFamily="34" charset="0"/>
                <a:ea typeface="Calibri" pitchFamily="34" charset="-122"/>
                <a:cs typeface="Calibri" pitchFamily="34" charset="-120"/>
              </a:rPr>
              <a:t>H A R M O N I C   i n s i g h t</a:t>
            </a:r>
            <a:endParaRPr lang="en-US" sz="800" dirty="0"/>
          </a:p>
        </p:txBody>
      </p:sp>
      <p:sp>
        <p:nvSpPr>
          <p:cNvPr id="28" name="Text 22"/>
          <p:cNvSpPr/>
          <p:nvPr/>
        </p:nvSpPr>
        <p:spPr>
          <a:xfrm>
            <a:off x="8229600" y="4800600"/>
            <a:ext cx="731520" cy="342900"/>
          </a:xfrm>
          <a:prstGeom prst="rect">
            <a:avLst/>
          </a:prstGeom>
          <a:noFill/>
          <a:ln/>
        </p:spPr>
        <p:txBody>
          <a:bodyPr wrap="square" lIns="0" tIns="0" rIns="0" bIns="0" rtlCol="0" anchor="ctr"/>
          <a:lstStyle/>
          <a:p>
            <a:pPr marL="0" indent="0" algn="r">
              <a:buNone/>
            </a:pPr>
            <a:r>
              <a:rPr lang="en-US" sz="800" dirty="0">
                <a:solidFill>
                  <a:srgbClr val="FFFFFF"/>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B8860B"/>
          </a:solidFill>
          <a:ln/>
        </p:spPr>
        <p:txBody>
          <a:bodyPr/>
          <a:lstStyle/>
          <a:p>
            <a:endParaRPr lang="ja-JP" altLang="en-US"/>
          </a:p>
        </p:txBody>
      </p:sp>
      <p:sp>
        <p:nvSpPr>
          <p:cNvPr id="3" name="Shape 1"/>
          <p:cNvSpPr/>
          <p:nvPr/>
        </p:nvSpPr>
        <p:spPr>
          <a:xfrm>
            <a:off x="0" y="5088636"/>
            <a:ext cx="9144000" cy="54864"/>
          </a:xfrm>
          <a:prstGeom prst="rect">
            <a:avLst/>
          </a:prstGeom>
          <a:solidFill>
            <a:srgbClr val="B8860B"/>
          </a:solidFill>
          <a:ln/>
        </p:spPr>
        <p:txBody>
          <a:bodyPr/>
          <a:lstStyle/>
          <a:p>
            <a:endParaRPr lang="ja-JP" altLang="en-US"/>
          </a:p>
        </p:txBody>
      </p:sp>
      <p:sp>
        <p:nvSpPr>
          <p:cNvPr id="4" name="Shape 2"/>
          <p:cNvSpPr/>
          <p:nvPr/>
        </p:nvSpPr>
        <p:spPr>
          <a:xfrm>
            <a:off x="3977640" y="1188720"/>
            <a:ext cx="1188720" cy="914400"/>
          </a:xfrm>
          <a:prstGeom prst="rect">
            <a:avLst/>
          </a:prstGeom>
          <a:solidFill>
            <a:srgbClr val="F5F0E8"/>
          </a:solidFill>
          <a:ln w="12700">
            <a:solidFill>
              <a:srgbClr val="C4A855"/>
            </a:solidFill>
            <a:prstDash val="solid"/>
          </a:ln>
        </p:spPr>
        <p:txBody>
          <a:bodyPr/>
          <a:lstStyle/>
          <a:p>
            <a:endParaRPr lang="ja-JP" altLang="en-US"/>
          </a:p>
        </p:txBody>
      </p:sp>
      <p:sp>
        <p:nvSpPr>
          <p:cNvPr id="5" name="Text 3"/>
          <p:cNvSpPr/>
          <p:nvPr/>
        </p:nvSpPr>
        <p:spPr>
          <a:xfrm>
            <a:off x="3977640" y="1188720"/>
            <a:ext cx="1188720" cy="914400"/>
          </a:xfrm>
          <a:prstGeom prst="rect">
            <a:avLst/>
          </a:prstGeom>
          <a:noFill/>
          <a:ln/>
        </p:spPr>
        <p:txBody>
          <a:bodyPr wrap="square" lIns="0" tIns="0" rIns="0" bIns="0" rtlCol="0" anchor="ctr"/>
          <a:lstStyle/>
          <a:p>
            <a:pPr marL="0" indent="0" algn="ctr">
              <a:buNone/>
            </a:pPr>
            <a:r>
              <a:rPr lang="en-US" sz="2200" dirty="0">
                <a:solidFill>
                  <a:srgbClr val="C9A84C"/>
                </a:solidFill>
                <a:latin typeface="Georgia" pitchFamily="34" charset="0"/>
                <a:ea typeface="Georgia" pitchFamily="34" charset="-122"/>
                <a:cs typeface="Georgia" pitchFamily="34" charset="-120"/>
              </a:rPr>
              <a:t>Hi</a:t>
            </a:r>
            <a:endParaRPr lang="en-US" sz="2200" dirty="0"/>
          </a:p>
        </p:txBody>
      </p:sp>
      <p:sp>
        <p:nvSpPr>
          <p:cNvPr id="6" name="Shape 4"/>
          <p:cNvSpPr/>
          <p:nvPr/>
        </p:nvSpPr>
        <p:spPr>
          <a:xfrm>
            <a:off x="914400" y="2377440"/>
            <a:ext cx="2926080" cy="0"/>
          </a:xfrm>
          <a:prstGeom prst="line">
            <a:avLst/>
          </a:prstGeom>
          <a:noFill/>
          <a:ln w="12700">
            <a:solidFill>
              <a:srgbClr val="C4A855"/>
            </a:solidFill>
            <a:prstDash val="solid"/>
          </a:ln>
        </p:spPr>
        <p:txBody>
          <a:bodyPr/>
          <a:lstStyle/>
          <a:p>
            <a:endParaRPr lang="ja-JP" altLang="en-US"/>
          </a:p>
        </p:txBody>
      </p:sp>
      <p:sp>
        <p:nvSpPr>
          <p:cNvPr id="7" name="Shape 5"/>
          <p:cNvSpPr/>
          <p:nvPr/>
        </p:nvSpPr>
        <p:spPr>
          <a:xfrm>
            <a:off x="5303520" y="2377440"/>
            <a:ext cx="2926080" cy="0"/>
          </a:xfrm>
          <a:prstGeom prst="line">
            <a:avLst/>
          </a:prstGeom>
          <a:noFill/>
          <a:ln w="12700">
            <a:solidFill>
              <a:srgbClr val="C4A855"/>
            </a:solidFill>
            <a:prstDash val="solid"/>
          </a:ln>
        </p:spPr>
        <p:txBody>
          <a:bodyPr/>
          <a:lstStyle/>
          <a:p>
            <a:endParaRPr lang="ja-JP" altLang="en-US"/>
          </a:p>
        </p:txBody>
      </p:sp>
      <p:sp>
        <p:nvSpPr>
          <p:cNvPr id="8" name="Text 6"/>
          <p:cNvSpPr/>
          <p:nvPr/>
        </p:nvSpPr>
        <p:spPr>
          <a:xfrm>
            <a:off x="457200" y="2560320"/>
            <a:ext cx="8229600" cy="822960"/>
          </a:xfrm>
          <a:prstGeom prst="rect">
            <a:avLst/>
          </a:prstGeom>
          <a:noFill/>
          <a:ln/>
        </p:spPr>
        <p:txBody>
          <a:bodyPr wrap="square" lIns="0" tIns="0" rIns="0" bIns="0" rtlCol="0" anchor="ctr"/>
          <a:lstStyle/>
          <a:p>
            <a:pPr marL="0" indent="0" algn="ctr">
              <a:buNone/>
            </a:pPr>
            <a:r>
              <a:rPr lang="en-US" sz="3600" dirty="0">
                <a:solidFill>
                  <a:srgbClr val="3C2F1E"/>
                </a:solidFill>
                <a:latin typeface="Georgia" pitchFamily="34" charset="0"/>
                <a:ea typeface="Georgia" pitchFamily="34" charset="-122"/>
                <a:cs typeface="Georgia" pitchFamily="34" charset="-120"/>
              </a:rPr>
              <a:t>ありがとうございました</a:t>
            </a:r>
            <a:endParaRPr lang="en-US" sz="3600" dirty="0"/>
          </a:p>
        </p:txBody>
      </p:sp>
      <p:sp>
        <p:nvSpPr>
          <p:cNvPr id="9" name="Shape 7"/>
          <p:cNvSpPr/>
          <p:nvPr/>
        </p:nvSpPr>
        <p:spPr>
          <a:xfrm>
            <a:off x="2286000" y="3474720"/>
            <a:ext cx="4572000" cy="0"/>
          </a:xfrm>
          <a:prstGeom prst="line">
            <a:avLst/>
          </a:prstGeom>
          <a:noFill/>
          <a:ln w="12700">
            <a:solidFill>
              <a:srgbClr val="C4A855"/>
            </a:solidFill>
            <a:prstDash val="solid"/>
          </a:ln>
        </p:spPr>
        <p:txBody>
          <a:bodyPr/>
          <a:lstStyle/>
          <a:p>
            <a:endParaRPr lang="ja-JP" altLang="en-US"/>
          </a:p>
        </p:txBody>
      </p:sp>
      <p:sp>
        <p:nvSpPr>
          <p:cNvPr id="10" name="Text 8"/>
          <p:cNvSpPr/>
          <p:nvPr/>
        </p:nvSpPr>
        <p:spPr>
          <a:xfrm>
            <a:off x="457200" y="3611880"/>
            <a:ext cx="8229600" cy="320040"/>
          </a:xfrm>
          <a:prstGeom prst="rect">
            <a:avLst/>
          </a:prstGeom>
          <a:noFill/>
          <a:ln/>
        </p:spPr>
        <p:txBody>
          <a:bodyPr wrap="square" lIns="0" tIns="0" rIns="0" bIns="0" rtlCol="0" anchor="ctr"/>
          <a:lstStyle/>
          <a:p>
            <a:pPr marL="0" indent="0" algn="ctr">
              <a:buNone/>
            </a:pPr>
            <a:r>
              <a:rPr lang="en-US" sz="1300" kern="0" spc="600" dirty="0">
                <a:solidFill>
                  <a:srgbClr val="3C2F1E"/>
                </a:solidFill>
                <a:latin typeface="Calibri" pitchFamily="34" charset="0"/>
                <a:ea typeface="Calibri" pitchFamily="34" charset="-122"/>
                <a:cs typeface="Calibri" pitchFamily="34" charset="-120"/>
              </a:rPr>
              <a:t>H A R M O N I C</a:t>
            </a:r>
            <a:endParaRPr lang="en-US" sz="1300" dirty="0"/>
          </a:p>
        </p:txBody>
      </p:sp>
      <p:sp>
        <p:nvSpPr>
          <p:cNvPr id="11" name="Text 9"/>
          <p:cNvSpPr/>
          <p:nvPr/>
        </p:nvSpPr>
        <p:spPr>
          <a:xfrm>
            <a:off x="457200" y="3886200"/>
            <a:ext cx="8229600" cy="274320"/>
          </a:xfrm>
          <a:prstGeom prst="rect">
            <a:avLst/>
          </a:prstGeom>
          <a:noFill/>
          <a:ln/>
        </p:spPr>
        <p:txBody>
          <a:bodyPr wrap="square" lIns="0" tIns="0" rIns="0" bIns="0" rtlCol="0" anchor="ctr"/>
          <a:lstStyle/>
          <a:p>
            <a:pPr marL="0" indent="0" algn="ctr">
              <a:buNone/>
            </a:pPr>
            <a:r>
              <a:rPr lang="en-US" sz="1300" i="1" kern="0" spc="400" dirty="0">
                <a:solidFill>
                  <a:srgbClr val="C9A84C"/>
                </a:solidFill>
                <a:latin typeface="Calibri" pitchFamily="34" charset="0"/>
                <a:ea typeface="Calibri" pitchFamily="34" charset="-122"/>
                <a:cs typeface="Calibri" pitchFamily="34" charset="-120"/>
              </a:rPr>
              <a:t>i n s i g h t</a:t>
            </a:r>
            <a:endParaRPr lang="en-US" sz="1300" dirty="0"/>
          </a:p>
        </p:txBody>
      </p:sp>
      <p:sp>
        <p:nvSpPr>
          <p:cNvPr id="12" name="Text 10"/>
          <p:cNvSpPr/>
          <p:nvPr/>
        </p:nvSpPr>
        <p:spPr>
          <a:xfrm>
            <a:off x="457200" y="4251960"/>
            <a:ext cx="8229600" cy="274320"/>
          </a:xfrm>
          <a:prstGeom prst="rect">
            <a:avLst/>
          </a:prstGeom>
          <a:noFill/>
          <a:ln/>
        </p:spPr>
        <p:txBody>
          <a:bodyPr wrap="square" lIns="0" tIns="0" rIns="0" bIns="0" rtlCol="0" anchor="ctr"/>
          <a:lstStyle/>
          <a:p>
            <a:pPr marL="0" indent="0" algn="ctr">
              <a:buNone/>
            </a:pPr>
            <a:r>
              <a:rPr lang="en-US" sz="1000" dirty="0">
                <a:solidFill>
                  <a:srgbClr val="8B7355"/>
                </a:solidFill>
                <a:latin typeface="Calibri" pitchFamily="34" charset="0"/>
                <a:ea typeface="Calibri" pitchFamily="34" charset="-122"/>
                <a:cs typeface="Calibri" pitchFamily="34" charset="-120"/>
              </a:rPr>
              <a:t>h-insight.jp</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2859</Words>
  <Application>Microsoft Office PowerPoint</Application>
  <PresentationFormat>画面に合わせる (16:9)</PresentationFormat>
  <Paragraphs>466</Paragraphs>
  <Slides>28</Slides>
  <Notes>28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28</vt:i4>
      </vt:variant>
    </vt:vector>
  </HeadingPairs>
  <TitlesOfParts>
    <vt:vector size="33" baseType="lpstr">
      <vt:lpstr>Arial</vt:lpstr>
      <vt:lpstr>Calibri</vt:lpstr>
      <vt:lpstr>Consolas</vt:lpstr>
      <vt:lpstr>Georgia</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システム・インフラ 入門編 Vol1</dc:title>
  <dc:subject>PptxGenJS Presentation</dc:subject>
  <dc:creator>Harmonic Insight</dc:creator>
  <cp:lastModifiedBy>博之 瀬田</cp:lastModifiedBy>
  <cp:revision>5</cp:revision>
  <dcterms:created xsi:type="dcterms:W3CDTF">2026-03-09T11:48:22Z</dcterms:created>
  <dcterms:modified xsi:type="dcterms:W3CDTF">2026-03-09T12:00:13Z</dcterms:modified>
</cp:coreProperties>
</file>