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92700"/>
            <a:ext cx="9144000" cy="50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7680960" cy="1371600"/>
          </a:xfrm>
          <a:prstGeom prst="rect">
            <a:avLst/>
          </a:prstGeom>
          <a:noFill/>
        </p:spPr>
        <p:txBody>
          <a:bodyPr wrap="square">
            <a:spAutoFit/>
          </a:bodyPr>
          <a:lstStyle/>
          <a:p>
            <a:pPr algn="ctr">
              <a:defRPr sz="3200" b="1">
                <a:solidFill>
                  <a:srgbClr val="C9A84C"/>
                </a:solidFill>
                <a:latin typeface="Yu Gothic"/>
              </a:defRPr>
            </a:pPr>
            <a:r>
              <a:t>グローバル教育トレンドと</a:t>
            </a:r>
            <a:br/>
            <a:r>
              <a:t>オンライン学習の未来</a:t>
            </a:r>
          </a:p>
        </p:txBody>
      </p:sp>
      <p:sp>
        <p:nvSpPr>
          <p:cNvPr id="6" name="TextBox 5"/>
          <p:cNvSpPr txBox="1"/>
          <p:nvPr/>
        </p:nvSpPr>
        <p:spPr>
          <a:xfrm>
            <a:off x="914400" y="2926080"/>
            <a:ext cx="7315200" cy="914400"/>
          </a:xfrm>
          <a:prstGeom prst="rect">
            <a:avLst/>
          </a:prstGeom>
          <a:noFill/>
        </p:spPr>
        <p:txBody>
          <a:bodyPr wrap="square">
            <a:spAutoFit/>
          </a:bodyPr>
          <a:lstStyle/>
          <a:p>
            <a:pPr algn="ctr">
              <a:defRPr sz="1600" b="0">
                <a:solidFill>
                  <a:srgbClr val="F5F0E8"/>
                </a:solidFill>
                <a:latin typeface="Yu Gothic"/>
              </a:defRPr>
            </a:pPr>
            <a:r>
              <a:t>海外学習・留学から見る日米欧の教育比較と</a:t>
            </a:r>
            <a:br/>
            <a:r>
              <a:t>ウェブサイト構築戦略</a:t>
            </a:r>
          </a:p>
        </p:txBody>
      </p:sp>
      <p:sp>
        <p:nvSpPr>
          <p:cNvPr id="7" name="TextBox 6"/>
          <p:cNvSpPr txBox="1"/>
          <p:nvPr/>
        </p:nvSpPr>
        <p:spPr>
          <a:xfrm>
            <a:off x="457200" y="4389120"/>
            <a:ext cx="8229600" cy="365760"/>
          </a:xfrm>
          <a:prstGeom prst="rect">
            <a:avLst/>
          </a:prstGeom>
          <a:noFill/>
        </p:spPr>
        <p:txBody>
          <a:bodyPr wrap="square">
            <a:spAutoFit/>
          </a:bodyPr>
          <a:lstStyle/>
          <a:p>
            <a:pPr algn="r">
              <a:defRPr sz="1100" b="0">
                <a:solidFill>
                  <a:srgbClr val="8B7536"/>
                </a:solidFill>
                <a:latin typeface="Yu Gothic"/>
              </a:defRPr>
            </a:pPr>
            <a:r>
              <a:t>Harmonic Insight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本日のアジェンダ</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1. オンライン教育のグローバル市場動向</a:t>
            </a:r>
          </a:p>
          <a:p>
            <a:pPr>
              <a:spcAft>
                <a:spcPts val="600"/>
              </a:spcAft>
              <a:defRPr sz="1300">
                <a:solidFill>
                  <a:srgbClr val="333333"/>
                </a:solidFill>
                <a:latin typeface="Yu Gothic"/>
              </a:defRPr>
            </a:pPr>
            <a:r>
              <a:t>2. 海外の学習・キャリア観 ── 米国・英国・アジア</a:t>
            </a:r>
          </a:p>
          <a:p>
            <a:pPr>
              <a:spcAft>
                <a:spcPts val="600"/>
              </a:spcAft>
              <a:defRPr sz="1300">
                <a:solidFill>
                  <a:srgbClr val="333333"/>
                </a:solidFill>
                <a:latin typeface="Yu Gothic"/>
              </a:defRPr>
            </a:pPr>
            <a:r>
              <a:t>3. 日米欧オンライン高校・大学の比較分析</a:t>
            </a:r>
          </a:p>
          <a:p>
            <a:pPr>
              <a:spcAft>
                <a:spcPts val="600"/>
              </a:spcAft>
              <a:defRPr sz="1300">
                <a:solidFill>
                  <a:srgbClr val="333333"/>
                </a:solidFill>
                <a:latin typeface="Yu Gothic"/>
              </a:defRPr>
            </a:pPr>
            <a:r>
              <a:t>4. 日本の通信制教育の現状と進路状況</a:t>
            </a:r>
          </a:p>
          <a:p>
            <a:pPr>
              <a:spcAft>
                <a:spcPts val="600"/>
              </a:spcAft>
              <a:defRPr sz="1300">
                <a:solidFill>
                  <a:srgbClr val="333333"/>
                </a:solidFill>
                <a:latin typeface="Yu Gothic"/>
              </a:defRPr>
            </a:pPr>
            <a:r>
              <a:t>5. MOOCs市場と学習プラットフォーム比較</a:t>
            </a:r>
          </a:p>
          <a:p>
            <a:pPr>
              <a:spcAft>
                <a:spcPts val="600"/>
              </a:spcAft>
              <a:defRPr sz="1300">
                <a:solidFill>
                  <a:srgbClr val="333333"/>
                </a:solidFill>
                <a:latin typeface="Yu Gothic"/>
              </a:defRPr>
            </a:pPr>
            <a:r>
              <a:t>6. コンテンツ連携戦略とサイト構造の設計</a:t>
            </a:r>
          </a:p>
          <a:p>
            <a:pPr>
              <a:spcAft>
                <a:spcPts val="600"/>
              </a:spcAft>
              <a:defRPr sz="1300">
                <a:solidFill>
                  <a:srgbClr val="333333"/>
                </a:solidFill>
                <a:latin typeface="Yu Gothic"/>
              </a:defRPr>
            </a:pPr>
            <a:r>
              <a:t>7. 収益化モデルとロードマップ</a:t>
            </a:r>
          </a:p>
          <a:p>
            <a:pPr>
              <a:spcAft>
                <a:spcPts val="600"/>
              </a:spcAft>
              <a:defRPr sz="1300">
                <a:solidFill>
                  <a:srgbClr val="333333"/>
                </a:solidFill>
                <a:latin typeface="Yu Gothic"/>
              </a:defRPr>
            </a:pPr>
            <a:r>
              <a:t>8. 成功事例と提言</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1371600"/>
            <a:ext cx="50800" cy="22860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7315200" cy="548640"/>
          </a:xfrm>
          <a:prstGeom prst="rect">
            <a:avLst/>
          </a:prstGeom>
          <a:noFill/>
        </p:spPr>
        <p:txBody>
          <a:bodyPr wrap="square">
            <a:spAutoFit/>
          </a:bodyPr>
          <a:lstStyle/>
          <a:p>
            <a:pPr algn="l">
              <a:defRPr sz="1400" b="0">
                <a:solidFill>
                  <a:srgbClr val="C9A84C"/>
                </a:solidFill>
                <a:latin typeface="Yu Gothic"/>
              </a:defRPr>
            </a:pPr>
            <a:r>
              <a:t>SECTION 01</a:t>
            </a:r>
          </a:p>
        </p:txBody>
      </p:sp>
      <p:sp>
        <p:nvSpPr>
          <p:cNvPr id="5" name="TextBox 4"/>
          <p:cNvSpPr txBox="1"/>
          <p:nvPr/>
        </p:nvSpPr>
        <p:spPr>
          <a:xfrm>
            <a:off x="548640" y="1737360"/>
            <a:ext cx="7772400" cy="1371600"/>
          </a:xfrm>
          <a:prstGeom prst="rect">
            <a:avLst/>
          </a:prstGeom>
          <a:noFill/>
        </p:spPr>
        <p:txBody>
          <a:bodyPr wrap="square">
            <a:spAutoFit/>
          </a:bodyPr>
          <a:lstStyle/>
          <a:p>
            <a:pPr algn="l">
              <a:defRPr sz="2800" b="1">
                <a:solidFill>
                  <a:srgbClr val="F5F0E8"/>
                </a:solidFill>
                <a:latin typeface="Yu Gothic"/>
              </a:defRPr>
            </a:pPr>
            <a:r>
              <a:t>オンライン教育の</a:t>
            </a:r>
            <a:br/>
            <a:r>
              <a:t>グローバル市場動向</a:t>
            </a:r>
          </a:p>
        </p:txBody>
      </p:sp>
      <p:sp>
        <p:nvSpPr>
          <p:cNvPr id="6" name="TextBox 5"/>
          <p:cNvSpPr txBox="1"/>
          <p:nvPr/>
        </p:nvSpPr>
        <p:spPr>
          <a:xfrm>
            <a:off x="457200" y="4389120"/>
            <a:ext cx="8229600" cy="365760"/>
          </a:xfrm>
          <a:prstGeom prst="rect">
            <a:avLst/>
          </a:prstGeom>
          <a:noFill/>
        </p:spPr>
        <p:txBody>
          <a:bodyPr wrap="square">
            <a:spAutoFit/>
          </a:bodyPr>
          <a:lstStyle/>
          <a:p>
            <a:pPr algn="r">
              <a:defRPr sz="1000" b="0">
                <a:solidFill>
                  <a:srgbClr val="8B7536"/>
                </a:solidFill>
                <a:latin typeface="Yu Gothic"/>
              </a:defRPr>
            </a:pPr>
            <a:r>
              <a:t>Harmonic Insight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世界のオンライン教育市場 ── 爆発的成長</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14400"/>
            <a:ext cx="3200400" cy="18288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05840"/>
            <a:ext cx="3017520" cy="1097280"/>
          </a:xfrm>
          <a:prstGeom prst="rect">
            <a:avLst/>
          </a:prstGeom>
          <a:noFill/>
        </p:spPr>
        <p:txBody>
          <a:bodyPr wrap="square">
            <a:spAutoFit/>
          </a:bodyPr>
          <a:lstStyle/>
          <a:p>
            <a:pPr algn="ctr">
              <a:defRPr sz="4000" b="1">
                <a:solidFill>
                  <a:srgbClr val="C9A84C"/>
                </a:solidFill>
                <a:latin typeface="Yu Gothic"/>
              </a:defRPr>
            </a:pPr>
            <a:r>
              <a:t>3,888億$</a:t>
            </a:r>
          </a:p>
        </p:txBody>
      </p:sp>
      <p:sp>
        <p:nvSpPr>
          <p:cNvPr id="9" name="TextBox 8"/>
          <p:cNvSpPr txBox="1"/>
          <p:nvPr/>
        </p:nvSpPr>
        <p:spPr>
          <a:xfrm>
            <a:off x="548640" y="2011680"/>
            <a:ext cx="3017520" cy="548640"/>
          </a:xfrm>
          <a:prstGeom prst="rect">
            <a:avLst/>
          </a:prstGeom>
          <a:noFill/>
        </p:spPr>
        <p:txBody>
          <a:bodyPr wrap="square">
            <a:spAutoFit/>
          </a:bodyPr>
          <a:lstStyle/>
          <a:p>
            <a:pPr algn="ctr">
              <a:defRPr sz="1400" b="0">
                <a:solidFill>
                  <a:srgbClr val="F5F0E8"/>
                </a:solidFill>
                <a:latin typeface="Yu Gothic"/>
              </a:defRPr>
            </a:pPr>
            <a:r>
              <a:t>2025年 世界市場予測</a:t>
            </a:r>
          </a:p>
        </p:txBody>
      </p:sp>
      <p:sp>
        <p:nvSpPr>
          <p:cNvPr id="10" name="TextBox 9"/>
          <p:cNvSpPr txBox="1"/>
          <p:nvPr/>
        </p:nvSpPr>
        <p:spPr>
          <a:xfrm>
            <a:off x="3931920" y="914400"/>
            <a:ext cx="4754880" cy="3200400"/>
          </a:xfrm>
          <a:prstGeom prst="rect">
            <a:avLst/>
          </a:prstGeom>
          <a:noFill/>
        </p:spPr>
        <p:txBody>
          <a:bodyPr wrap="square">
            <a:spAutoFit/>
          </a:bodyPr>
          <a:lstStyle/>
          <a:p>
            <a:pPr>
              <a:spcAft>
                <a:spcPts val="600"/>
              </a:spcAft>
              <a:defRPr sz="1200">
                <a:solidFill>
                  <a:srgbClr val="333333"/>
                </a:solidFill>
                <a:latin typeface="Yu Gothic"/>
              </a:defRPr>
            </a:pPr>
            <a:r>
              <a:t>2000年から市場規模は900%拡大</a:t>
            </a:r>
          </a:p>
          <a:p>
            <a:pPr>
              <a:spcAft>
                <a:spcPts val="600"/>
              </a:spcAft>
              <a:defRPr sz="1200">
                <a:solidFill>
                  <a:srgbClr val="333333"/>
                </a:solidFill>
                <a:latin typeface="Yu Gothic"/>
              </a:defRPr>
            </a:pPr>
            <a:r>
              <a:t>2030年には5,647億ドル規模へ（CAGR 7.75%）</a:t>
            </a:r>
          </a:p>
          <a:p>
            <a:pPr>
              <a:spcAft>
                <a:spcPts val="600"/>
              </a:spcAft>
              <a:defRPr sz="1200">
                <a:solidFill>
                  <a:srgbClr val="333333"/>
                </a:solidFill>
                <a:latin typeface="Yu Gothic"/>
              </a:defRPr>
            </a:pPr>
            <a:r>
              <a:t>2029年までに約11.21億人がオンライン学習にアクセス</a:t>
            </a:r>
          </a:p>
          <a:p>
            <a:pPr>
              <a:spcAft>
                <a:spcPts val="600"/>
              </a:spcAft>
              <a:defRPr sz="1200">
                <a:solidFill>
                  <a:srgbClr val="333333"/>
                </a:solidFill>
                <a:latin typeface="Yu Gothic"/>
              </a:defRPr>
            </a:pPr>
            <a:r>
              <a:t>COVID-19後も米国のオンライン学習率は28%を維持</a:t>
            </a:r>
          </a:p>
          <a:p>
            <a:pPr>
              <a:spcAft>
                <a:spcPts val="600"/>
              </a:spcAft>
              <a:defRPr sz="1200">
                <a:solidFill>
                  <a:srgbClr val="333333"/>
                </a:solidFill>
                <a:latin typeface="Yu Gothic"/>
              </a:defRPr>
            </a:pPr>
            <a:r>
              <a:t>   （パンデミック前は10%未満）</a:t>
            </a:r>
          </a:p>
          <a:p>
            <a:pPr>
              <a:spcAft>
                <a:spcPts val="600"/>
              </a:spcAft>
              <a:defRPr sz="1200">
                <a:solidFill>
                  <a:srgbClr val="333333"/>
                </a:solidFill>
                <a:latin typeface="Yu Gothic"/>
              </a:defRPr>
            </a:pPr>
            <a:r>
              <a:t>AI・VR/AR・クラウド技術の統合が成長を加速</a:t>
            </a:r>
          </a:p>
        </p:txBody>
      </p:sp>
      <p:sp>
        <p:nvSpPr>
          <p:cNvPr id="11" name="TextBox 10"/>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オンライン学習の普遍的な利点と課題</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【利点】</a:t>
            </a:r>
          </a:p>
          <a:p>
            <a:pPr>
              <a:spcAft>
                <a:spcPts val="600"/>
              </a:spcAft>
              <a:defRPr sz="1300">
                <a:solidFill>
                  <a:srgbClr val="333333"/>
                </a:solidFill>
                <a:latin typeface="Yu Gothic"/>
              </a:defRPr>
            </a:pPr>
            <a:r>
              <a:t>  ・地理的・時間的制約からの解放 ── いつでもどこでも学べる</a:t>
            </a:r>
          </a:p>
          <a:p>
            <a:pPr>
              <a:spcAft>
                <a:spcPts val="600"/>
              </a:spcAft>
              <a:defRPr sz="1300">
                <a:solidFill>
                  <a:srgbClr val="333333"/>
                </a:solidFill>
                <a:latin typeface="Yu Gothic"/>
              </a:defRPr>
            </a:pPr>
            <a:r>
              <a:t>  ・個別最適化された学習（アダプティブラーニング）</a:t>
            </a:r>
          </a:p>
          <a:p>
            <a:pPr>
              <a:spcAft>
                <a:spcPts val="600"/>
              </a:spcAft>
              <a:defRPr sz="1300">
                <a:solidFill>
                  <a:srgbClr val="333333"/>
                </a:solidFill>
                <a:latin typeface="Yu Gothic"/>
              </a:defRPr>
            </a:pPr>
            <a:r>
              <a:t>  ・教師の働き方の多様化と効率化</a:t>
            </a:r>
          </a:p>
          <a:p>
            <a:pPr>
              <a:spcAft>
                <a:spcPts val="600"/>
              </a:spcAft>
              <a:defRPr sz="1300">
                <a:solidFill>
                  <a:srgbClr val="333333"/>
                </a:solidFill>
                <a:latin typeface="Yu Gothic"/>
              </a:defRPr>
            </a:pPr>
            <a:r>
              <a:t>  ・対話の質向上と平等な学習環境の実現</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【課題】</a:t>
            </a:r>
          </a:p>
          <a:p>
            <a:pPr>
              <a:spcAft>
                <a:spcPts val="600"/>
              </a:spcAft>
              <a:defRPr sz="1300">
                <a:solidFill>
                  <a:srgbClr val="333333"/>
                </a:solidFill>
                <a:latin typeface="Yu Gothic"/>
              </a:defRPr>
            </a:pPr>
            <a:r>
              <a:t>  ・社会的交流の欠如とモチベーション維持の難しさ</a:t>
            </a:r>
          </a:p>
          <a:p>
            <a:pPr>
              <a:spcAft>
                <a:spcPts val="600"/>
              </a:spcAft>
              <a:defRPr sz="1300">
                <a:solidFill>
                  <a:srgbClr val="333333"/>
                </a:solidFill>
                <a:latin typeface="Yu Gothic"/>
              </a:defRPr>
            </a:pPr>
            <a:r>
              <a:t>  ・デジタルデバイド ── 低所得層・地方の格差</a:t>
            </a:r>
          </a:p>
          <a:p>
            <a:pPr>
              <a:spcAft>
                <a:spcPts val="600"/>
              </a:spcAft>
              <a:defRPr sz="1300">
                <a:solidFill>
                  <a:srgbClr val="333333"/>
                </a:solidFill>
                <a:latin typeface="Yu Gothic"/>
              </a:defRPr>
            </a:pPr>
            <a:r>
              <a:t>  ・教育の質のばらつきと学業不正への懸念</a:t>
            </a:r>
          </a:p>
          <a:p>
            <a:pPr>
              <a:spcAft>
                <a:spcPts val="600"/>
              </a:spcAft>
              <a:defRPr sz="1300">
                <a:solidFill>
                  <a:srgbClr val="333333"/>
                </a:solidFill>
                <a:latin typeface="Yu Gothic"/>
              </a:defRPr>
            </a:pPr>
            <a:r>
              <a:t>  ・実践的・実習的科目のオンライン化の限界</a:t>
            </a:r>
          </a:p>
          <a:p>
            <a:pPr>
              <a:spcAft>
                <a:spcPts val="600"/>
              </a:spcAft>
              <a:defRPr sz="1300">
                <a:solidFill>
                  <a:srgbClr val="333333"/>
                </a:solidFill>
                <a:latin typeface="Yu Gothic"/>
              </a:defRPr>
            </a:pPr>
            <a:r>
              <a:t>  ・教員のオンライン指導スキル不足</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1371600"/>
            <a:ext cx="50800" cy="22860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7315200" cy="548640"/>
          </a:xfrm>
          <a:prstGeom prst="rect">
            <a:avLst/>
          </a:prstGeom>
          <a:noFill/>
        </p:spPr>
        <p:txBody>
          <a:bodyPr wrap="square">
            <a:spAutoFit/>
          </a:bodyPr>
          <a:lstStyle/>
          <a:p>
            <a:pPr algn="l">
              <a:defRPr sz="1400" b="0">
                <a:solidFill>
                  <a:srgbClr val="C9A84C"/>
                </a:solidFill>
                <a:latin typeface="Yu Gothic"/>
              </a:defRPr>
            </a:pPr>
            <a:r>
              <a:t>SECTION 02</a:t>
            </a:r>
          </a:p>
        </p:txBody>
      </p:sp>
      <p:sp>
        <p:nvSpPr>
          <p:cNvPr id="5" name="TextBox 4"/>
          <p:cNvSpPr txBox="1"/>
          <p:nvPr/>
        </p:nvSpPr>
        <p:spPr>
          <a:xfrm>
            <a:off x="548640" y="1737360"/>
            <a:ext cx="7772400" cy="1371600"/>
          </a:xfrm>
          <a:prstGeom prst="rect">
            <a:avLst/>
          </a:prstGeom>
          <a:noFill/>
        </p:spPr>
        <p:txBody>
          <a:bodyPr wrap="square">
            <a:spAutoFit/>
          </a:bodyPr>
          <a:lstStyle/>
          <a:p>
            <a:pPr algn="l">
              <a:defRPr sz="2800" b="1">
                <a:solidFill>
                  <a:srgbClr val="F5F0E8"/>
                </a:solidFill>
                <a:latin typeface="Yu Gothic"/>
              </a:defRPr>
            </a:pPr>
            <a:r>
              <a:t>海外の高校生・大学生の「今」</a:t>
            </a:r>
            <a:br/>
            <a:r>
              <a:t>米国・英国・アジアの学習・キャリア観</a:t>
            </a:r>
          </a:p>
        </p:txBody>
      </p:sp>
      <p:sp>
        <p:nvSpPr>
          <p:cNvPr id="6" name="TextBox 5"/>
          <p:cNvSpPr txBox="1"/>
          <p:nvPr/>
        </p:nvSpPr>
        <p:spPr>
          <a:xfrm>
            <a:off x="457200" y="4389120"/>
            <a:ext cx="8229600" cy="365760"/>
          </a:xfrm>
          <a:prstGeom prst="rect">
            <a:avLst/>
          </a:prstGeom>
          <a:noFill/>
        </p:spPr>
        <p:txBody>
          <a:bodyPr wrap="square">
            <a:spAutoFit/>
          </a:bodyPr>
          <a:lstStyle/>
          <a:p>
            <a:pPr algn="r">
              <a:defRPr sz="1000" b="0">
                <a:solidFill>
                  <a:srgbClr val="8B7536"/>
                </a:solidFill>
                <a:latin typeface="Yu Gothic"/>
              </a:defRPr>
            </a:pPr>
            <a:r>
              <a:t>Harmonic Insight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各国の教育文化と学生の「今」── 比較分析</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822960"/>
            <a:ext cx="2651760" cy="32004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822960"/>
            <a:ext cx="2560320" cy="320040"/>
          </a:xfrm>
          <a:prstGeom prst="rect">
            <a:avLst/>
          </a:prstGeom>
          <a:noFill/>
        </p:spPr>
        <p:txBody>
          <a:bodyPr wrap="square">
            <a:spAutoFit/>
          </a:bodyPr>
          <a:lstStyle/>
          <a:p>
            <a:pPr algn="ctr">
              <a:defRPr sz="1200" b="1">
                <a:solidFill>
                  <a:srgbClr val="FFFFFF"/>
                </a:solidFill>
                <a:latin typeface="Yu Gothic"/>
              </a:defRPr>
            </a:pPr>
            <a:r>
              <a:t>アメリカ</a:t>
            </a:r>
          </a:p>
        </p:txBody>
      </p:sp>
      <p:sp>
        <p:nvSpPr>
          <p:cNvPr id="9" name="TextBox 8"/>
          <p:cNvSpPr txBox="1"/>
          <p:nvPr/>
        </p:nvSpPr>
        <p:spPr>
          <a:xfrm>
            <a:off x="41148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学業＋人間性・コミットメントを重視</a:t>
            </a:r>
          </a:p>
          <a:p>
            <a:pPr>
              <a:spcAft>
                <a:spcPts val="400"/>
              </a:spcAft>
              <a:defRPr sz="1000">
                <a:solidFill>
                  <a:srgbClr val="333333"/>
                </a:solidFill>
                <a:latin typeface="Yu Gothic"/>
              </a:defRPr>
            </a:pPr>
            <a:r>
              <a:t>課外活動の「継続性」が評価される</a:t>
            </a:r>
          </a:p>
          <a:p>
            <a:pPr>
              <a:spcAft>
                <a:spcPts val="400"/>
              </a:spcAft>
              <a:defRPr sz="1000">
                <a:solidFill>
                  <a:srgbClr val="333333"/>
                </a:solidFill>
                <a:latin typeface="Yu Gothic"/>
              </a:defRPr>
            </a:pPr>
            <a:r>
              <a:t>クラブ・ボランティア・インターンシップ</a:t>
            </a:r>
          </a:p>
          <a:p>
            <a:pPr>
              <a:spcAft>
                <a:spcPts val="400"/>
              </a:spcAft>
              <a:defRPr sz="1000">
                <a:solidFill>
                  <a:srgbClr val="333333"/>
                </a:solidFill>
                <a:latin typeface="Yu Gothic"/>
              </a:defRPr>
            </a:pPr>
            <a:r>
              <a:t>特定分野のインターン経験が強力なアピール</a:t>
            </a:r>
          </a:p>
          <a:p>
            <a:pPr>
              <a:spcAft>
                <a:spcPts val="400"/>
              </a:spcAft>
              <a:defRPr sz="1000">
                <a:solidFill>
                  <a:srgbClr val="333333"/>
                </a:solidFill>
                <a:latin typeface="Yu Gothic"/>
              </a:defRPr>
            </a:pPr>
            <a:r>
              <a:t>大学入試は「なぜその活動をしたか」を深掘り</a:t>
            </a:r>
          </a:p>
        </p:txBody>
      </p:sp>
      <p:sp>
        <p:nvSpPr>
          <p:cNvPr id="10" name="Rectangle 9"/>
          <p:cNvSpPr/>
          <p:nvPr/>
        </p:nvSpPr>
        <p:spPr>
          <a:xfrm>
            <a:off x="3154680" y="822960"/>
            <a:ext cx="265176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822960"/>
            <a:ext cx="2560320" cy="320040"/>
          </a:xfrm>
          <a:prstGeom prst="rect">
            <a:avLst/>
          </a:prstGeom>
          <a:noFill/>
        </p:spPr>
        <p:txBody>
          <a:bodyPr wrap="square">
            <a:spAutoFit/>
          </a:bodyPr>
          <a:lstStyle/>
          <a:p>
            <a:pPr algn="ctr">
              <a:defRPr sz="1200" b="1">
                <a:solidFill>
                  <a:srgbClr val="FFFFFF"/>
                </a:solidFill>
                <a:latin typeface="Yu Gothic"/>
              </a:defRPr>
            </a:pPr>
            <a:r>
              <a:t>イギリス</a:t>
            </a:r>
          </a:p>
        </p:txBody>
      </p:sp>
      <p:sp>
        <p:nvSpPr>
          <p:cNvPr id="12" name="TextBox 11"/>
          <p:cNvSpPr txBox="1"/>
          <p:nvPr/>
        </p:nvSpPr>
        <p:spPr>
          <a:xfrm>
            <a:off x="324612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「ギャップイヤー」文化が定着</a:t>
            </a:r>
          </a:p>
          <a:p>
            <a:pPr>
              <a:spcAft>
                <a:spcPts val="400"/>
              </a:spcAft>
              <a:defRPr sz="1000">
                <a:solidFill>
                  <a:srgbClr val="333333"/>
                </a:solidFill>
                <a:latin typeface="Yu Gothic"/>
              </a:defRPr>
            </a:pPr>
            <a:r>
              <a:t>若者の83%が国内就業、56%が海外滞在</a:t>
            </a:r>
          </a:p>
          <a:p>
            <a:pPr>
              <a:spcAft>
                <a:spcPts val="400"/>
              </a:spcAft>
              <a:defRPr sz="1000">
                <a:solidFill>
                  <a:srgbClr val="333333"/>
                </a:solidFill>
                <a:latin typeface="Yu Gothic"/>
              </a:defRPr>
            </a:pPr>
            <a:r>
              <a:t>企業の94%がギャップイヤー経験者の採用に前向き</a:t>
            </a:r>
          </a:p>
          <a:p>
            <a:pPr>
              <a:spcAft>
                <a:spcPts val="400"/>
              </a:spcAft>
              <a:defRPr sz="1000">
                <a:solidFill>
                  <a:srgbClr val="333333"/>
                </a:solidFill>
                <a:latin typeface="Yu Gothic"/>
              </a:defRPr>
            </a:pPr>
            <a:r>
              <a:t>主体性・異文化理解・問題解決能力を評価</a:t>
            </a:r>
          </a:p>
          <a:p>
            <a:pPr>
              <a:spcAft>
                <a:spcPts val="400"/>
              </a:spcAft>
              <a:defRPr sz="1000">
                <a:solidFill>
                  <a:srgbClr val="333333"/>
                </a:solidFill>
                <a:latin typeface="Yu Gothic"/>
              </a:defRPr>
            </a:pPr>
            <a:r>
              <a:t>ワーホリ：年間144万〜226万円</a:t>
            </a:r>
          </a:p>
        </p:txBody>
      </p:sp>
      <p:sp>
        <p:nvSpPr>
          <p:cNvPr id="13" name="Rectangle 12"/>
          <p:cNvSpPr/>
          <p:nvPr/>
        </p:nvSpPr>
        <p:spPr>
          <a:xfrm>
            <a:off x="5989320" y="822960"/>
            <a:ext cx="2651760"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0" y="822960"/>
            <a:ext cx="2560320" cy="320040"/>
          </a:xfrm>
          <a:prstGeom prst="rect">
            <a:avLst/>
          </a:prstGeom>
          <a:noFill/>
        </p:spPr>
        <p:txBody>
          <a:bodyPr wrap="square">
            <a:spAutoFit/>
          </a:bodyPr>
          <a:lstStyle/>
          <a:p>
            <a:pPr algn="ctr">
              <a:defRPr sz="1200" b="1">
                <a:solidFill>
                  <a:srgbClr val="FFFFFF"/>
                </a:solidFill>
                <a:latin typeface="Yu Gothic"/>
              </a:defRPr>
            </a:pPr>
            <a:r>
              <a:t>アジア（韓国・シンガポール）</a:t>
            </a:r>
          </a:p>
        </p:txBody>
      </p:sp>
      <p:sp>
        <p:nvSpPr>
          <p:cNvPr id="15" name="TextBox 14"/>
          <p:cNvSpPr txBox="1"/>
          <p:nvPr/>
        </p:nvSpPr>
        <p:spPr>
          <a:xfrm>
            <a:off x="608076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韓国：「SKY大学」がエリートの象徴</a:t>
            </a:r>
          </a:p>
          <a:p>
            <a:pPr>
              <a:spcAft>
                <a:spcPts val="400"/>
              </a:spcAft>
              <a:defRPr sz="1000">
                <a:solidFill>
                  <a:srgbClr val="333333"/>
                </a:solidFill>
                <a:latin typeface="Yu Gothic"/>
              </a:defRPr>
            </a:pPr>
            <a:r>
              <a:t>高校生は深夜まで塾通いの受験競争</a:t>
            </a:r>
          </a:p>
          <a:p>
            <a:pPr>
              <a:spcAft>
                <a:spcPts val="400"/>
              </a:spcAft>
              <a:defRPr sz="1000">
                <a:solidFill>
                  <a:srgbClr val="333333"/>
                </a:solidFill>
                <a:latin typeface="Yu Gothic"/>
              </a:defRPr>
            </a:pPr>
            <a:r>
              <a:t>シンガポール：大学進学率3〜4割</a:t>
            </a:r>
          </a:p>
          <a:p>
            <a:pPr>
              <a:spcAft>
                <a:spcPts val="400"/>
              </a:spcAft>
              <a:defRPr sz="1000">
                <a:solidFill>
                  <a:srgbClr val="333333"/>
                </a:solidFill>
                <a:latin typeface="Yu Gothic"/>
              </a:defRPr>
            </a:pPr>
            <a:r>
              <a:t>ポリテクニック・ITEの職業訓練が主流</a:t>
            </a:r>
          </a:p>
          <a:p>
            <a:pPr>
              <a:spcAft>
                <a:spcPts val="400"/>
              </a:spcAft>
              <a:defRPr sz="1000">
                <a:solidFill>
                  <a:srgbClr val="333333"/>
                </a:solidFill>
                <a:latin typeface="Yu Gothic"/>
              </a:defRPr>
            </a:pPr>
            <a:r>
              <a:t>効率的な学習とキャリア直結を重視</a:t>
            </a:r>
          </a:p>
        </p:txBody>
      </p:sp>
      <p:sp>
        <p:nvSpPr>
          <p:cNvPr id="16" name="TextBox 15"/>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日本の若者層・社会人の学習ニーズ</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【通信制教育の利用者が抱える課題】</a:t>
            </a:r>
          </a:p>
          <a:p>
            <a:pPr>
              <a:spcAft>
                <a:spcPts val="600"/>
              </a:spcAft>
              <a:defRPr sz="1300">
                <a:solidFill>
                  <a:srgbClr val="333333"/>
                </a:solidFill>
                <a:latin typeface="Yu Gothic"/>
              </a:defRPr>
            </a:pPr>
            <a:r>
              <a:t>  ・メリット：自分のペースで学習、費用が安価</a:t>
            </a:r>
          </a:p>
          <a:p>
            <a:pPr>
              <a:spcAft>
                <a:spcPts val="600"/>
              </a:spcAft>
              <a:defRPr sz="1300">
                <a:solidFill>
                  <a:srgbClr val="333333"/>
                </a:solidFill>
                <a:latin typeface="Yu Gothic"/>
              </a:defRPr>
            </a:pPr>
            <a:r>
              <a:t>  ・デメリット：大学受験の難しさ、友人ができにくい</a:t>
            </a:r>
          </a:p>
          <a:p>
            <a:pPr>
              <a:spcAft>
                <a:spcPts val="600"/>
              </a:spcAft>
              <a:defRPr sz="1300">
                <a:solidFill>
                  <a:srgbClr val="333333"/>
                </a:solidFill>
                <a:latin typeface="Yu Gothic"/>
              </a:defRPr>
            </a:pPr>
            <a:r>
              <a:t>  ・学習の継続性、社会的評価、孤立感の克服が必要</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【オンライン学習者に求められるもの】</a:t>
            </a:r>
          </a:p>
          <a:p>
            <a:pPr>
              <a:spcAft>
                <a:spcPts val="600"/>
              </a:spcAft>
              <a:defRPr sz="1300">
                <a:solidFill>
                  <a:srgbClr val="333333"/>
                </a:solidFill>
                <a:latin typeface="Yu Gothic"/>
              </a:defRPr>
            </a:pPr>
            <a:r>
              <a:t>  ・知識だけでなく「社会的側面」「モチベーション維持」</a:t>
            </a:r>
          </a:p>
          <a:p>
            <a:pPr>
              <a:spcAft>
                <a:spcPts val="600"/>
              </a:spcAft>
              <a:defRPr sz="1300">
                <a:solidFill>
                  <a:srgbClr val="333333"/>
                </a:solidFill>
                <a:latin typeface="Yu Gothic"/>
              </a:defRPr>
            </a:pPr>
            <a:r>
              <a:t>  ・コミュニティとしての学習プラットフォーム</a:t>
            </a:r>
          </a:p>
          <a:p>
            <a:pPr>
              <a:spcAft>
                <a:spcPts val="600"/>
              </a:spcAft>
              <a:defRPr sz="1300">
                <a:solidFill>
                  <a:srgbClr val="333333"/>
                </a:solidFill>
                <a:latin typeface="Yu Gothic"/>
              </a:defRPr>
            </a:pPr>
            <a:r>
              <a:t>  ・海外学生のリアルな生活 → 「憧れ」「目標」としての機能</a:t>
            </a:r>
          </a:p>
          <a:p>
            <a:pPr>
              <a:spcAft>
                <a:spcPts val="600"/>
              </a:spcAft>
              <a:defRPr sz="1300">
                <a:solidFill>
                  <a:srgbClr val="333333"/>
                </a:solidFill>
                <a:latin typeface="Yu Gothic"/>
              </a:defRPr>
            </a:pPr>
            <a:r>
              <a:t>  ・N高等学校はアバターチャットで生徒間交流を促進</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1371600"/>
            <a:ext cx="50800" cy="22860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7315200" cy="548640"/>
          </a:xfrm>
          <a:prstGeom prst="rect">
            <a:avLst/>
          </a:prstGeom>
          <a:noFill/>
        </p:spPr>
        <p:txBody>
          <a:bodyPr wrap="square">
            <a:spAutoFit/>
          </a:bodyPr>
          <a:lstStyle/>
          <a:p>
            <a:pPr algn="l">
              <a:defRPr sz="1400" b="0">
                <a:solidFill>
                  <a:srgbClr val="C9A84C"/>
                </a:solidFill>
                <a:latin typeface="Yu Gothic"/>
              </a:defRPr>
            </a:pPr>
            <a:r>
              <a:t>SECTION 03</a:t>
            </a:r>
          </a:p>
        </p:txBody>
      </p:sp>
      <p:sp>
        <p:nvSpPr>
          <p:cNvPr id="5" name="TextBox 4"/>
          <p:cNvSpPr txBox="1"/>
          <p:nvPr/>
        </p:nvSpPr>
        <p:spPr>
          <a:xfrm>
            <a:off x="548640" y="1737360"/>
            <a:ext cx="7772400" cy="1371600"/>
          </a:xfrm>
          <a:prstGeom prst="rect">
            <a:avLst/>
          </a:prstGeom>
          <a:noFill/>
        </p:spPr>
        <p:txBody>
          <a:bodyPr wrap="square">
            <a:spAutoFit/>
          </a:bodyPr>
          <a:lstStyle/>
          <a:p>
            <a:pPr algn="l">
              <a:defRPr sz="2800" b="1">
                <a:solidFill>
                  <a:srgbClr val="F5F0E8"/>
                </a:solidFill>
                <a:latin typeface="Yu Gothic"/>
              </a:defRPr>
            </a:pPr>
            <a:r>
              <a:t>日米欧オンライン高校・大学の</a:t>
            </a:r>
            <a:br/>
            <a:r>
              <a:t>比較分析</a:t>
            </a:r>
          </a:p>
        </p:txBody>
      </p:sp>
      <p:sp>
        <p:nvSpPr>
          <p:cNvPr id="6" name="TextBox 5"/>
          <p:cNvSpPr txBox="1"/>
          <p:nvPr/>
        </p:nvSpPr>
        <p:spPr>
          <a:xfrm>
            <a:off x="457200" y="4389120"/>
            <a:ext cx="8229600" cy="365760"/>
          </a:xfrm>
          <a:prstGeom prst="rect">
            <a:avLst/>
          </a:prstGeom>
          <a:noFill/>
        </p:spPr>
        <p:txBody>
          <a:bodyPr wrap="square">
            <a:spAutoFit/>
          </a:bodyPr>
          <a:lstStyle/>
          <a:p>
            <a:pPr algn="r">
              <a:defRPr sz="1000" b="0">
                <a:solidFill>
                  <a:srgbClr val="8B7536"/>
                </a:solidFill>
                <a:latin typeface="Yu Gothic"/>
              </a:defRPr>
            </a:pPr>
            <a:r>
              <a:t>Harmonic Insight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アメリカのオンライン高校 ── 大学進学準備の徹底</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822960"/>
            <a:ext cx="3931920" cy="36576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841248"/>
            <a:ext cx="3749039" cy="320040"/>
          </a:xfrm>
          <a:prstGeom prst="rect">
            <a:avLst/>
          </a:prstGeom>
          <a:noFill/>
        </p:spPr>
        <p:txBody>
          <a:bodyPr wrap="square">
            <a:spAutoFit/>
          </a:bodyPr>
          <a:lstStyle/>
          <a:p>
            <a:pPr algn="ctr">
              <a:defRPr sz="1300" b="1">
                <a:solidFill>
                  <a:srgbClr val="FFFFFF"/>
                </a:solidFill>
                <a:latin typeface="Yu Gothic"/>
              </a:defRPr>
            </a:pPr>
            <a:r>
              <a:t>カリキュラム・学習モデル</a:t>
            </a:r>
          </a:p>
        </p:txBody>
      </p:sp>
      <p:sp>
        <p:nvSpPr>
          <p:cNvPr id="9" name="TextBox 8"/>
          <p:cNvSpPr txBox="1"/>
          <p:nvPr/>
        </p:nvSpPr>
        <p:spPr>
          <a:xfrm>
            <a:off x="457200" y="1280160"/>
            <a:ext cx="3749039" cy="2926080"/>
          </a:xfrm>
          <a:prstGeom prst="rect">
            <a:avLst/>
          </a:prstGeom>
          <a:noFill/>
        </p:spPr>
        <p:txBody>
          <a:bodyPr wrap="square">
            <a:spAutoFit/>
          </a:bodyPr>
          <a:lstStyle/>
          <a:p>
            <a:pPr>
              <a:spcAft>
                <a:spcPts val="600"/>
              </a:spcAft>
              <a:defRPr sz="1100">
                <a:solidFill>
                  <a:srgbClr val="333333"/>
                </a:solidFill>
                <a:latin typeface="Yu Gothic"/>
              </a:defRPr>
            </a:pPr>
            <a:r>
              <a:t>・コア科目＋多様な選択科目</a:t>
            </a:r>
          </a:p>
          <a:p>
            <a:pPr>
              <a:spcAft>
                <a:spcPts val="600"/>
              </a:spcAft>
              <a:defRPr sz="1100">
                <a:solidFill>
                  <a:srgbClr val="333333"/>
                </a:solidFill>
                <a:latin typeface="Yu Gothic"/>
              </a:defRPr>
            </a:pPr>
            <a:r>
              <a:t>・Honors / AP / NCAA承認コース</a:t>
            </a:r>
          </a:p>
          <a:p>
            <a:pPr>
              <a:spcAft>
                <a:spcPts val="600"/>
              </a:spcAft>
              <a:defRPr sz="1100">
                <a:solidFill>
                  <a:srgbClr val="333333"/>
                </a:solidFill>
                <a:latin typeface="Yu Gothic"/>
              </a:defRPr>
            </a:pPr>
            <a:r>
              <a:t>・週30時間の学習推奨（80-90%がPC上）</a:t>
            </a:r>
          </a:p>
          <a:p>
            <a:pPr>
              <a:spcAft>
                <a:spcPts val="600"/>
              </a:spcAft>
              <a:defRPr sz="1100">
                <a:solidFill>
                  <a:srgbClr val="333333"/>
                </a:solidFill>
                <a:latin typeface="Yu Gothic"/>
              </a:defRPr>
            </a:pPr>
            <a:r>
              <a:t>・大学進学に特化した包括的プログラム</a:t>
            </a:r>
          </a:p>
          <a:p>
            <a:pPr>
              <a:spcAft>
                <a:spcPts val="600"/>
              </a:spcAft>
              <a:defRPr sz="1100">
                <a:solidFill>
                  <a:srgbClr val="333333"/>
                </a:solidFill>
                <a:latin typeface="Yu Gothic"/>
              </a:defRPr>
            </a:pPr>
            <a:r>
              <a:t>・代表校：Pearson Online Academy</a:t>
            </a:r>
          </a:p>
          <a:p>
            <a:pPr>
              <a:spcAft>
                <a:spcPts val="600"/>
              </a:spcAft>
              <a:defRPr sz="1100">
                <a:solidFill>
                  <a:srgbClr val="333333"/>
                </a:solidFill>
                <a:latin typeface="Yu Gothic"/>
              </a:defRPr>
            </a:pPr>
            <a:r>
              <a:t>        Connections Academy</a:t>
            </a:r>
          </a:p>
        </p:txBody>
      </p:sp>
      <p:sp>
        <p:nvSpPr>
          <p:cNvPr id="10" name="Rectangle 9"/>
          <p:cNvSpPr/>
          <p:nvPr/>
        </p:nvSpPr>
        <p:spPr>
          <a:xfrm>
            <a:off x="4754880" y="822960"/>
            <a:ext cx="3931920" cy="36576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841248"/>
            <a:ext cx="3749039" cy="320040"/>
          </a:xfrm>
          <a:prstGeom prst="rect">
            <a:avLst/>
          </a:prstGeom>
          <a:noFill/>
        </p:spPr>
        <p:txBody>
          <a:bodyPr wrap="square">
            <a:spAutoFit/>
          </a:bodyPr>
          <a:lstStyle/>
          <a:p>
            <a:pPr algn="ctr">
              <a:defRPr sz="1300" b="1">
                <a:solidFill>
                  <a:srgbClr val="FFFFFF"/>
                </a:solidFill>
                <a:latin typeface="Yu Gothic"/>
              </a:defRPr>
            </a:pPr>
            <a:r>
              <a:t>サポート体制</a:t>
            </a:r>
          </a:p>
        </p:txBody>
      </p:sp>
      <p:sp>
        <p:nvSpPr>
          <p:cNvPr id="12" name="TextBox 11"/>
          <p:cNvSpPr txBox="1"/>
          <p:nvPr/>
        </p:nvSpPr>
        <p:spPr>
          <a:xfrm>
            <a:off x="4846320" y="1280160"/>
            <a:ext cx="3749039" cy="2926080"/>
          </a:xfrm>
          <a:prstGeom prst="rect">
            <a:avLst/>
          </a:prstGeom>
          <a:noFill/>
        </p:spPr>
        <p:txBody>
          <a:bodyPr wrap="square">
            <a:spAutoFit/>
          </a:bodyPr>
          <a:lstStyle/>
          <a:p>
            <a:pPr>
              <a:spcAft>
                <a:spcPts val="600"/>
              </a:spcAft>
              <a:defRPr sz="1100">
                <a:solidFill>
                  <a:srgbClr val="333333"/>
                </a:solidFill>
                <a:latin typeface="Yu Gothic"/>
              </a:defRPr>
            </a:pPr>
            <a:r>
              <a:t>・科目別教員＋ホームルーム教員</a:t>
            </a:r>
          </a:p>
          <a:p>
            <a:pPr>
              <a:spcAft>
                <a:spcPts val="600"/>
              </a:spcAft>
              <a:defRPr sz="1100">
                <a:solidFill>
                  <a:srgbClr val="333333"/>
                </a:solidFill>
                <a:latin typeface="Yu Gothic"/>
              </a:defRPr>
            </a:pPr>
            <a:r>
              <a:t>・専任スクールカウンセラー常駐</a:t>
            </a:r>
          </a:p>
          <a:p>
            <a:pPr>
              <a:spcAft>
                <a:spcPts val="600"/>
              </a:spcAft>
              <a:defRPr sz="1100">
                <a:solidFill>
                  <a:srgbClr val="333333"/>
                </a:solidFill>
                <a:latin typeface="Yu Gothic"/>
              </a:defRPr>
            </a:pPr>
            <a:r>
              <a:t>・4年間の学習計画作成支援</a:t>
            </a:r>
          </a:p>
          <a:p>
            <a:pPr>
              <a:spcAft>
                <a:spcPts val="600"/>
              </a:spcAft>
              <a:defRPr sz="1100">
                <a:solidFill>
                  <a:srgbClr val="333333"/>
                </a:solidFill>
                <a:latin typeface="Yu Gothic"/>
              </a:defRPr>
            </a:pPr>
            <a:r>
              <a:t>・大学出願・奨学金・入試対策サポート</a:t>
            </a:r>
          </a:p>
          <a:p>
            <a:pPr>
              <a:spcAft>
                <a:spcPts val="600"/>
              </a:spcAft>
              <a:defRPr sz="1100">
                <a:solidFill>
                  <a:srgbClr val="333333"/>
                </a:solidFill>
                <a:latin typeface="Yu Gothic"/>
              </a:defRPr>
            </a:pPr>
            <a:r>
              <a:t>・National Honor Society等の課外活動</a:t>
            </a:r>
          </a:p>
          <a:p>
            <a:pPr>
              <a:spcAft>
                <a:spcPts val="600"/>
              </a:spcAft>
              <a:defRPr sz="1100">
                <a:solidFill>
                  <a:srgbClr val="333333"/>
                </a:solidFill>
                <a:latin typeface="Yu Gothic"/>
              </a:defRPr>
            </a:pPr>
            <a:r>
              <a:t>・学費：年間$1,800〜$2,800（FT）</a:t>
            </a:r>
          </a:p>
        </p:txBody>
      </p:sp>
      <p:sp>
        <p:nvSpPr>
          <p:cNvPr id="13" name="TextBox 12"/>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ヨーロッパのオンライン教育 ── 機会均等と質保証</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822960"/>
            <a:ext cx="3931920" cy="36576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841248"/>
            <a:ext cx="3749039" cy="320040"/>
          </a:xfrm>
          <a:prstGeom prst="rect">
            <a:avLst/>
          </a:prstGeom>
          <a:noFill/>
        </p:spPr>
        <p:txBody>
          <a:bodyPr wrap="square">
            <a:spAutoFit/>
          </a:bodyPr>
          <a:lstStyle/>
          <a:p>
            <a:pPr algn="ctr">
              <a:defRPr sz="1300" b="1">
                <a:solidFill>
                  <a:srgbClr val="FFFFFF"/>
                </a:solidFill>
                <a:latin typeface="Yu Gothic"/>
              </a:defRPr>
            </a:pPr>
            <a:r>
              <a:t>高校教育の特徴</a:t>
            </a:r>
          </a:p>
        </p:txBody>
      </p:sp>
      <p:sp>
        <p:nvSpPr>
          <p:cNvPr id="9" name="TextBox 8"/>
          <p:cNvSpPr txBox="1"/>
          <p:nvPr/>
        </p:nvSpPr>
        <p:spPr>
          <a:xfrm>
            <a:off x="457200" y="1280160"/>
            <a:ext cx="3749039" cy="2926080"/>
          </a:xfrm>
          <a:prstGeom prst="rect">
            <a:avLst/>
          </a:prstGeom>
          <a:noFill/>
        </p:spPr>
        <p:txBody>
          <a:bodyPr wrap="square">
            <a:spAutoFit/>
          </a:bodyPr>
          <a:lstStyle/>
          <a:p>
            <a:pPr>
              <a:spcAft>
                <a:spcPts val="600"/>
              </a:spcAft>
              <a:defRPr sz="1100">
                <a:solidFill>
                  <a:srgbClr val="333333"/>
                </a:solidFill>
                <a:latin typeface="Yu Gothic"/>
              </a:defRPr>
            </a:pPr>
            <a:r>
              <a:t>・「高等教育は人権」という理念に基づく</a:t>
            </a:r>
          </a:p>
          <a:p>
            <a:pPr>
              <a:spcAft>
                <a:spcPts val="600"/>
              </a:spcAft>
              <a:defRPr sz="1100">
                <a:solidFill>
                  <a:srgbClr val="333333"/>
                </a:solidFill>
                <a:latin typeface="Yu Gothic"/>
              </a:defRPr>
            </a:pPr>
            <a:r>
              <a:t>・英国/米国カリキュラム、IBプログラム</a:t>
            </a:r>
          </a:p>
          <a:p>
            <a:pPr>
              <a:spcAft>
                <a:spcPts val="600"/>
              </a:spcAft>
              <a:defRPr sz="1100">
                <a:solidFill>
                  <a:srgbClr val="333333"/>
                </a:solidFill>
                <a:latin typeface="Yu Gothic"/>
              </a:defRPr>
            </a:pPr>
            <a:r>
              <a:t>・8つのキーコンピテンシーの育成</a:t>
            </a:r>
          </a:p>
          <a:p>
            <a:pPr>
              <a:spcAft>
                <a:spcPts val="600"/>
              </a:spcAft>
              <a:defRPr sz="1100">
                <a:solidFill>
                  <a:srgbClr val="333333"/>
                </a:solidFill>
                <a:latin typeface="Yu Gothic"/>
              </a:defRPr>
            </a:pPr>
            <a:r>
              <a:t>・欧州の価値観の醸成を重視</a:t>
            </a:r>
          </a:p>
          <a:p>
            <a:pPr>
              <a:spcAft>
                <a:spcPts val="600"/>
              </a:spcAft>
              <a:defRPr sz="1100">
                <a:solidFill>
                  <a:srgbClr val="333333"/>
                </a:solidFill>
                <a:latin typeface="Yu Gothic"/>
              </a:defRPr>
            </a:pPr>
            <a:r>
              <a:t>・CNED（仏）：欧州最大の遠隔教育機関</a:t>
            </a:r>
          </a:p>
          <a:p>
            <a:pPr>
              <a:spcAft>
                <a:spcPts val="600"/>
              </a:spcAft>
              <a:defRPr sz="1100">
                <a:solidFill>
                  <a:srgbClr val="333333"/>
                </a:solidFill>
                <a:latin typeface="Yu Gothic"/>
              </a:defRPr>
            </a:pPr>
            <a:r>
              <a:t>・学費：年間€630〜€5,900（学校による）</a:t>
            </a:r>
          </a:p>
        </p:txBody>
      </p:sp>
      <p:sp>
        <p:nvSpPr>
          <p:cNvPr id="10" name="Rectangle 9"/>
          <p:cNvSpPr/>
          <p:nvPr/>
        </p:nvSpPr>
        <p:spPr>
          <a:xfrm>
            <a:off x="4754880" y="822960"/>
            <a:ext cx="3931920" cy="36576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841248"/>
            <a:ext cx="3749039" cy="320040"/>
          </a:xfrm>
          <a:prstGeom prst="rect">
            <a:avLst/>
          </a:prstGeom>
          <a:noFill/>
        </p:spPr>
        <p:txBody>
          <a:bodyPr wrap="square">
            <a:spAutoFit/>
          </a:bodyPr>
          <a:lstStyle/>
          <a:p>
            <a:pPr algn="ctr">
              <a:defRPr sz="1300" b="1">
                <a:solidFill>
                  <a:srgbClr val="FFFFFF"/>
                </a:solidFill>
                <a:latin typeface="Yu Gothic"/>
              </a:defRPr>
            </a:pPr>
            <a:r>
              <a:t>大学教育と質保証</a:t>
            </a:r>
          </a:p>
        </p:txBody>
      </p:sp>
      <p:sp>
        <p:nvSpPr>
          <p:cNvPr id="12" name="TextBox 11"/>
          <p:cNvSpPr txBox="1"/>
          <p:nvPr/>
        </p:nvSpPr>
        <p:spPr>
          <a:xfrm>
            <a:off x="4846320" y="1280160"/>
            <a:ext cx="3749039" cy="2926080"/>
          </a:xfrm>
          <a:prstGeom prst="rect">
            <a:avLst/>
          </a:prstGeom>
          <a:noFill/>
        </p:spPr>
        <p:txBody>
          <a:bodyPr wrap="square">
            <a:spAutoFit/>
          </a:bodyPr>
          <a:lstStyle/>
          <a:p>
            <a:pPr>
              <a:spcAft>
                <a:spcPts val="600"/>
              </a:spcAft>
              <a:defRPr sz="1100">
                <a:solidFill>
                  <a:srgbClr val="333333"/>
                </a:solidFill>
                <a:latin typeface="Yu Gothic"/>
              </a:defRPr>
            </a:pPr>
            <a:r>
              <a:t>・Open University（英）：多分野の学位提供</a:t>
            </a:r>
          </a:p>
          <a:p>
            <a:pPr>
              <a:spcAft>
                <a:spcPts val="600"/>
              </a:spcAft>
              <a:defRPr sz="1100">
                <a:solidFill>
                  <a:srgbClr val="333333"/>
                </a:solidFill>
                <a:latin typeface="Yu Gothic"/>
              </a:defRPr>
            </a:pPr>
            <a:r>
              <a:t>・FernUniversität in Hagen（独）</a:t>
            </a:r>
          </a:p>
          <a:p>
            <a:pPr>
              <a:spcAft>
                <a:spcPts val="600"/>
              </a:spcAft>
              <a:defRPr sz="1100">
                <a:solidFill>
                  <a:srgbClr val="333333"/>
                </a:solidFill>
                <a:latin typeface="Yu Gothic"/>
              </a:defRPr>
            </a:pPr>
            <a:r>
              <a:t>・ロンドン大学：オンライン学位プログラム</a:t>
            </a:r>
          </a:p>
          <a:p>
            <a:pPr>
              <a:spcAft>
                <a:spcPts val="600"/>
              </a:spcAft>
              <a:defRPr sz="1100">
                <a:solidFill>
                  <a:srgbClr val="333333"/>
                </a:solidFill>
                <a:latin typeface="Yu Gothic"/>
              </a:defRPr>
            </a:pPr>
            <a:r>
              <a:t>・ESG（欧州質保証基準）が共通フレームワーク</a:t>
            </a:r>
          </a:p>
          <a:p>
            <a:pPr>
              <a:spcAft>
                <a:spcPts val="600"/>
              </a:spcAft>
              <a:defRPr sz="1100">
                <a:solidFill>
                  <a:srgbClr val="333333"/>
                </a:solidFill>
                <a:latin typeface="Yu Gothic"/>
              </a:defRPr>
            </a:pPr>
            <a:r>
              <a:t>・EU/EEA圏の学生は授業料無料〜低額</a:t>
            </a:r>
          </a:p>
          <a:p>
            <a:pPr>
              <a:spcAft>
                <a:spcPts val="600"/>
              </a:spcAft>
              <a:defRPr sz="1100">
                <a:solidFill>
                  <a:srgbClr val="333333"/>
                </a:solidFill>
                <a:latin typeface="Yu Gothic"/>
              </a:defRPr>
            </a:pPr>
            <a:r>
              <a:t>・非EU学生：年間€5,000〜€18,000</a:t>
            </a:r>
          </a:p>
        </p:txBody>
      </p:sp>
      <p:sp>
        <p:nvSpPr>
          <p:cNvPr id="13" name="TextBox 12"/>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日本の通信制教育 ── 柔軟性と多様なニーズへの対応</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822960"/>
            <a:ext cx="3931920" cy="36576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841248"/>
            <a:ext cx="3749039" cy="320040"/>
          </a:xfrm>
          <a:prstGeom prst="rect">
            <a:avLst/>
          </a:prstGeom>
          <a:noFill/>
        </p:spPr>
        <p:txBody>
          <a:bodyPr wrap="square">
            <a:spAutoFit/>
          </a:bodyPr>
          <a:lstStyle/>
          <a:p>
            <a:pPr algn="ctr">
              <a:defRPr sz="1300" b="1">
                <a:solidFill>
                  <a:srgbClr val="FFFFFF"/>
                </a:solidFill>
                <a:latin typeface="Yu Gothic"/>
              </a:defRPr>
            </a:pPr>
            <a:r>
              <a:t>制度の特徴</a:t>
            </a:r>
          </a:p>
        </p:txBody>
      </p:sp>
      <p:sp>
        <p:nvSpPr>
          <p:cNvPr id="9" name="TextBox 8"/>
          <p:cNvSpPr txBox="1"/>
          <p:nvPr/>
        </p:nvSpPr>
        <p:spPr>
          <a:xfrm>
            <a:off x="457200" y="1280160"/>
            <a:ext cx="3749039" cy="2926080"/>
          </a:xfrm>
          <a:prstGeom prst="rect">
            <a:avLst/>
          </a:prstGeom>
          <a:noFill/>
        </p:spPr>
        <p:txBody>
          <a:bodyPr wrap="square">
            <a:spAutoFit/>
          </a:bodyPr>
          <a:lstStyle/>
          <a:p>
            <a:pPr>
              <a:spcAft>
                <a:spcPts val="600"/>
              </a:spcAft>
              <a:defRPr sz="1100">
                <a:solidFill>
                  <a:srgbClr val="333333"/>
                </a:solidFill>
                <a:latin typeface="Yu Gothic"/>
              </a:defRPr>
            </a:pPr>
            <a:r>
              <a:t>・毎日の登校不要・単位制で自分のペース</a:t>
            </a:r>
          </a:p>
          <a:p>
            <a:pPr>
              <a:spcAft>
                <a:spcPts val="600"/>
              </a:spcAft>
              <a:defRPr sz="1100">
                <a:solidFill>
                  <a:srgbClr val="333333"/>
                </a:solidFill>
                <a:latin typeface="Yu Gothic"/>
              </a:defRPr>
            </a:pPr>
            <a:r>
              <a:t>・レポート提出＋スクーリング＋単位認定試験</a:t>
            </a:r>
          </a:p>
          <a:p>
            <a:pPr>
              <a:spcAft>
                <a:spcPts val="600"/>
              </a:spcAft>
              <a:defRPr sz="1100">
                <a:solidFill>
                  <a:srgbClr val="333333"/>
                </a:solidFill>
                <a:latin typeface="Yu Gothic"/>
              </a:defRPr>
            </a:pPr>
            <a:r>
              <a:t>・卒業要件：3年以上在籍、74単位以上</a:t>
            </a:r>
          </a:p>
          <a:p>
            <a:pPr>
              <a:spcAft>
                <a:spcPts val="600"/>
              </a:spcAft>
              <a:defRPr sz="1100">
                <a:solidFill>
                  <a:srgbClr val="333333"/>
                </a:solidFill>
                <a:latin typeface="Yu Gothic"/>
              </a:defRPr>
            </a:pPr>
            <a:r>
              <a:t>・特別活動30単位時間以上</a:t>
            </a:r>
          </a:p>
          <a:p>
            <a:pPr>
              <a:spcAft>
                <a:spcPts val="600"/>
              </a:spcAft>
              <a:defRPr sz="1100">
                <a:solidFill>
                  <a:srgbClr val="333333"/>
                </a:solidFill>
                <a:latin typeface="Yu Gothic"/>
              </a:defRPr>
            </a:pPr>
            <a:r>
              <a:t>・公立：年間3〜5万円程度</a:t>
            </a:r>
          </a:p>
          <a:p>
            <a:pPr>
              <a:spcAft>
                <a:spcPts val="600"/>
              </a:spcAft>
              <a:defRPr sz="1100">
                <a:solidFill>
                  <a:srgbClr val="333333"/>
                </a:solidFill>
                <a:latin typeface="Yu Gothic"/>
              </a:defRPr>
            </a:pPr>
            <a:r>
              <a:t>・私立：年間10〜100万円程度</a:t>
            </a:r>
          </a:p>
        </p:txBody>
      </p:sp>
      <p:sp>
        <p:nvSpPr>
          <p:cNvPr id="10" name="Rectangle 9"/>
          <p:cNvSpPr/>
          <p:nvPr/>
        </p:nvSpPr>
        <p:spPr>
          <a:xfrm>
            <a:off x="4754880" y="822960"/>
            <a:ext cx="3931920" cy="36576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841248"/>
            <a:ext cx="3749039" cy="320040"/>
          </a:xfrm>
          <a:prstGeom prst="rect">
            <a:avLst/>
          </a:prstGeom>
          <a:noFill/>
        </p:spPr>
        <p:txBody>
          <a:bodyPr wrap="square">
            <a:spAutoFit/>
          </a:bodyPr>
          <a:lstStyle/>
          <a:p>
            <a:pPr algn="ctr">
              <a:defRPr sz="1300" b="1">
                <a:solidFill>
                  <a:srgbClr val="FFFFFF"/>
                </a:solidFill>
                <a:latin typeface="Yu Gothic"/>
              </a:defRPr>
            </a:pPr>
            <a:r>
              <a:t>主要校と進路状況</a:t>
            </a:r>
          </a:p>
        </p:txBody>
      </p:sp>
      <p:sp>
        <p:nvSpPr>
          <p:cNvPr id="12" name="TextBox 11"/>
          <p:cNvSpPr txBox="1"/>
          <p:nvPr/>
        </p:nvSpPr>
        <p:spPr>
          <a:xfrm>
            <a:off x="4846320" y="1280160"/>
            <a:ext cx="3749039" cy="2926080"/>
          </a:xfrm>
          <a:prstGeom prst="rect">
            <a:avLst/>
          </a:prstGeom>
          <a:noFill/>
        </p:spPr>
        <p:txBody>
          <a:bodyPr wrap="square">
            <a:spAutoFit/>
          </a:bodyPr>
          <a:lstStyle/>
          <a:p>
            <a:pPr>
              <a:spcAft>
                <a:spcPts val="600"/>
              </a:spcAft>
              <a:defRPr sz="1100">
                <a:solidFill>
                  <a:srgbClr val="333333"/>
                </a:solidFill>
                <a:latin typeface="Yu Gothic"/>
              </a:defRPr>
            </a:pPr>
            <a:r>
              <a:t>・N高等学校：ネットコースで効率学習</a:t>
            </a:r>
          </a:p>
          <a:p>
            <a:pPr>
              <a:spcAft>
                <a:spcPts val="600"/>
              </a:spcAft>
              <a:defRPr sz="1100">
                <a:solidFill>
                  <a:srgbClr val="333333"/>
                </a:solidFill>
                <a:latin typeface="Yu Gothic"/>
              </a:defRPr>
            </a:pPr>
            <a:r>
              <a:t>  入学金1万＋1単位7,200円＋施設費5万</a:t>
            </a:r>
          </a:p>
          <a:p>
            <a:pPr>
              <a:spcAft>
                <a:spcPts val="600"/>
              </a:spcAft>
              <a:defRPr sz="1100">
                <a:solidFill>
                  <a:srgbClr val="333333"/>
                </a:solidFill>
                <a:latin typeface="Yu Gothic"/>
              </a:defRPr>
            </a:pPr>
            <a:r>
              <a:t>・ゼロ高等学院：「座学より行動」を重視</a:t>
            </a:r>
          </a:p>
          <a:p>
            <a:pPr>
              <a:spcAft>
                <a:spcPts val="600"/>
              </a:spcAft>
              <a:defRPr sz="1100">
                <a:solidFill>
                  <a:srgbClr val="333333"/>
                </a:solidFill>
                <a:latin typeface="Yu Gothic"/>
              </a:defRPr>
            </a:pPr>
            <a:r>
              <a:t>  起業家育成・留学・インターンシップ</a:t>
            </a:r>
          </a:p>
          <a:p>
            <a:pPr>
              <a:spcAft>
                <a:spcPts val="600"/>
              </a:spcAft>
              <a:defRPr sz="1100">
                <a:solidFill>
                  <a:srgbClr val="333333"/>
                </a:solidFill>
                <a:latin typeface="Yu Gothic"/>
              </a:defRPr>
            </a:pPr>
            <a:r>
              <a:t>・大学進学率：約27%（2023年度）</a:t>
            </a:r>
          </a:p>
          <a:p>
            <a:pPr>
              <a:spcAft>
                <a:spcPts val="600"/>
              </a:spcAft>
              <a:defRPr sz="1100">
                <a:solidFill>
                  <a:srgbClr val="333333"/>
                </a:solidFill>
                <a:latin typeface="Yu Gothic"/>
              </a:defRPr>
            </a:pPr>
            <a:r>
              <a:t>・専門学校等含む合計進学率：52%超</a:t>
            </a:r>
          </a:p>
          <a:p>
            <a:pPr>
              <a:spcAft>
                <a:spcPts val="600"/>
              </a:spcAft>
              <a:defRPr sz="1100">
                <a:solidFill>
                  <a:srgbClr val="333333"/>
                </a:solidFill>
                <a:latin typeface="Yu Gothic"/>
              </a:defRPr>
            </a:pPr>
            <a:r>
              <a:t>  ※通信制史上最高水準</a:t>
            </a:r>
          </a:p>
        </p:txBody>
      </p:sp>
      <p:sp>
        <p:nvSpPr>
          <p:cNvPr id="13" name="TextBox 12"/>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日米欧 費用比較のポイント</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14400"/>
            <a:ext cx="3200400" cy="18288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05840"/>
            <a:ext cx="3017520" cy="1097280"/>
          </a:xfrm>
          <a:prstGeom prst="rect">
            <a:avLst/>
          </a:prstGeom>
          <a:noFill/>
        </p:spPr>
        <p:txBody>
          <a:bodyPr wrap="square">
            <a:spAutoFit/>
          </a:bodyPr>
          <a:lstStyle/>
          <a:p>
            <a:pPr algn="ctr">
              <a:defRPr sz="4000" b="1">
                <a:solidFill>
                  <a:srgbClr val="C9A84C"/>
                </a:solidFill>
                <a:latin typeface="Yu Gothic"/>
              </a:defRPr>
            </a:pPr>
            <a:r>
              <a:t>38万円/年</a:t>
            </a:r>
          </a:p>
        </p:txBody>
      </p:sp>
      <p:sp>
        <p:nvSpPr>
          <p:cNvPr id="9" name="TextBox 8"/>
          <p:cNvSpPr txBox="1"/>
          <p:nvPr/>
        </p:nvSpPr>
        <p:spPr>
          <a:xfrm>
            <a:off x="548640" y="2011680"/>
            <a:ext cx="3017520" cy="548640"/>
          </a:xfrm>
          <a:prstGeom prst="rect">
            <a:avLst/>
          </a:prstGeom>
          <a:noFill/>
        </p:spPr>
        <p:txBody>
          <a:bodyPr wrap="square">
            <a:spAutoFit/>
          </a:bodyPr>
          <a:lstStyle/>
          <a:p>
            <a:pPr algn="ctr">
              <a:defRPr sz="1400" b="0">
                <a:solidFill>
                  <a:srgbClr val="F5F0E8"/>
                </a:solidFill>
                <a:latin typeface="Yu Gothic"/>
              </a:defRPr>
            </a:pPr>
            <a:r>
              <a:t>ZEN大学 ── 日本初の本格オンライン大学</a:t>
            </a:r>
          </a:p>
        </p:txBody>
      </p:sp>
      <p:sp>
        <p:nvSpPr>
          <p:cNvPr id="10" name="TextBox 9"/>
          <p:cNvSpPr txBox="1"/>
          <p:nvPr/>
        </p:nvSpPr>
        <p:spPr>
          <a:xfrm>
            <a:off x="3931920" y="914400"/>
            <a:ext cx="4754880" cy="3200400"/>
          </a:xfrm>
          <a:prstGeom prst="rect">
            <a:avLst/>
          </a:prstGeom>
          <a:noFill/>
        </p:spPr>
        <p:txBody>
          <a:bodyPr wrap="square">
            <a:spAutoFit/>
          </a:bodyPr>
          <a:lstStyle/>
          <a:p>
            <a:pPr>
              <a:spcAft>
                <a:spcPts val="600"/>
              </a:spcAft>
              <a:defRPr sz="1200">
                <a:solidFill>
                  <a:srgbClr val="333333"/>
                </a:solidFill>
                <a:latin typeface="Yu Gothic"/>
              </a:defRPr>
            </a:pPr>
            <a:r>
              <a:t>【米国】オンライン高校：$1,800〜$20,000+/年</a:t>
            </a:r>
          </a:p>
          <a:p>
            <a:pPr>
              <a:spcAft>
                <a:spcPts val="600"/>
              </a:spcAft>
              <a:defRPr sz="1200">
                <a:solidFill>
                  <a:srgbClr val="333333"/>
                </a:solidFill>
                <a:latin typeface="Yu Gothic"/>
              </a:defRPr>
            </a:pPr>
            <a:r>
              <a:t>　　　 オンライン大学：学士$40,536〜$63,185</a:t>
            </a:r>
          </a:p>
          <a:p>
            <a:pPr>
              <a:spcAft>
                <a:spcPts val="600"/>
              </a:spcAft>
              <a:defRPr sz="1200">
                <a:solidFill>
                  <a:srgbClr val="333333"/>
                </a:solidFill>
                <a:latin typeface="Yu Gothic"/>
              </a:defRPr>
            </a:pPr>
          </a:p>
          <a:p>
            <a:pPr>
              <a:spcAft>
                <a:spcPts val="600"/>
              </a:spcAft>
              <a:defRPr sz="1200">
                <a:solidFill>
                  <a:srgbClr val="333333"/>
                </a:solidFill>
                <a:latin typeface="Yu Gothic"/>
              </a:defRPr>
            </a:pPr>
            <a:r>
              <a:t>【欧州】EU圏：無料〜低額 / 非EU：€5,000〜€18,000/年</a:t>
            </a:r>
          </a:p>
          <a:p>
            <a:pPr>
              <a:spcAft>
                <a:spcPts val="600"/>
              </a:spcAft>
              <a:defRPr sz="1200">
                <a:solidFill>
                  <a:srgbClr val="333333"/>
                </a:solidFill>
                <a:latin typeface="Yu Gothic"/>
              </a:defRPr>
            </a:pPr>
            <a:r>
              <a:t>　　　 Open University等で費用対効果が高い</a:t>
            </a:r>
          </a:p>
          <a:p>
            <a:pPr>
              <a:spcAft>
                <a:spcPts val="600"/>
              </a:spcAft>
              <a:defRPr sz="1200">
                <a:solidFill>
                  <a:srgbClr val="333333"/>
                </a:solidFill>
                <a:latin typeface="Yu Gothic"/>
              </a:defRPr>
            </a:pPr>
          </a:p>
          <a:p>
            <a:pPr>
              <a:spcAft>
                <a:spcPts val="600"/>
              </a:spcAft>
              <a:defRPr sz="1200">
                <a:solidFill>
                  <a:srgbClr val="333333"/>
                </a:solidFill>
                <a:latin typeface="Yu Gothic"/>
              </a:defRPr>
            </a:pPr>
            <a:r>
              <a:t>【日本】公立通信制：年間1.6万〜5万円（就学支援金適用）</a:t>
            </a:r>
          </a:p>
          <a:p>
            <a:pPr>
              <a:spcAft>
                <a:spcPts val="600"/>
              </a:spcAft>
              <a:defRPr sz="1200">
                <a:solidFill>
                  <a:srgbClr val="333333"/>
                </a:solidFill>
                <a:latin typeface="Yu Gothic"/>
              </a:defRPr>
            </a:pPr>
            <a:r>
              <a:t>　　　 私立通信制：年間44万円程度</a:t>
            </a:r>
          </a:p>
          <a:p>
            <a:pPr>
              <a:spcAft>
                <a:spcPts val="600"/>
              </a:spcAft>
              <a:defRPr sz="1200">
                <a:solidFill>
                  <a:srgbClr val="333333"/>
                </a:solidFill>
                <a:latin typeface="Yu Gothic"/>
              </a:defRPr>
            </a:pPr>
            <a:r>
              <a:t>　　　 ZEN大学：年間38万円（2025年4月開学）</a:t>
            </a:r>
          </a:p>
          <a:p>
            <a:pPr>
              <a:spcAft>
                <a:spcPts val="600"/>
              </a:spcAft>
              <a:defRPr sz="1200">
                <a:solidFill>
                  <a:srgbClr val="333333"/>
                </a:solidFill>
                <a:latin typeface="Yu Gothic"/>
              </a:defRPr>
            </a:pPr>
            <a:r>
              <a:t>　　　 　知能情報社会学部・定員3,500名・279科目</a:t>
            </a:r>
          </a:p>
        </p:txBody>
      </p:sp>
      <p:sp>
        <p:nvSpPr>
          <p:cNvPr id="11" name="TextBox 10"/>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1371600"/>
            <a:ext cx="50800" cy="22860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7315200" cy="548640"/>
          </a:xfrm>
          <a:prstGeom prst="rect">
            <a:avLst/>
          </a:prstGeom>
          <a:noFill/>
        </p:spPr>
        <p:txBody>
          <a:bodyPr wrap="square">
            <a:spAutoFit/>
          </a:bodyPr>
          <a:lstStyle/>
          <a:p>
            <a:pPr algn="l">
              <a:defRPr sz="1400" b="0">
                <a:solidFill>
                  <a:srgbClr val="C9A84C"/>
                </a:solidFill>
                <a:latin typeface="Yu Gothic"/>
              </a:defRPr>
            </a:pPr>
            <a:r>
              <a:t>SECTION 04</a:t>
            </a:r>
          </a:p>
        </p:txBody>
      </p:sp>
      <p:sp>
        <p:nvSpPr>
          <p:cNvPr id="5" name="TextBox 4"/>
          <p:cNvSpPr txBox="1"/>
          <p:nvPr/>
        </p:nvSpPr>
        <p:spPr>
          <a:xfrm>
            <a:off x="548640" y="1737360"/>
            <a:ext cx="7772400" cy="1371600"/>
          </a:xfrm>
          <a:prstGeom prst="rect">
            <a:avLst/>
          </a:prstGeom>
          <a:noFill/>
        </p:spPr>
        <p:txBody>
          <a:bodyPr wrap="square">
            <a:spAutoFit/>
          </a:bodyPr>
          <a:lstStyle/>
          <a:p>
            <a:pPr algn="l">
              <a:defRPr sz="2800" b="1">
                <a:solidFill>
                  <a:srgbClr val="F5F0E8"/>
                </a:solidFill>
                <a:latin typeface="Yu Gothic"/>
              </a:defRPr>
            </a:pPr>
            <a:r>
              <a:t>質保証と認定制度の</a:t>
            </a:r>
            <a:br/>
            <a:r>
              <a:t>国際比較</a:t>
            </a:r>
          </a:p>
        </p:txBody>
      </p:sp>
      <p:sp>
        <p:nvSpPr>
          <p:cNvPr id="6" name="TextBox 5"/>
          <p:cNvSpPr txBox="1"/>
          <p:nvPr/>
        </p:nvSpPr>
        <p:spPr>
          <a:xfrm>
            <a:off x="457200" y="4389120"/>
            <a:ext cx="8229600" cy="365760"/>
          </a:xfrm>
          <a:prstGeom prst="rect">
            <a:avLst/>
          </a:prstGeom>
          <a:noFill/>
        </p:spPr>
        <p:txBody>
          <a:bodyPr wrap="square">
            <a:spAutoFit/>
          </a:bodyPr>
          <a:lstStyle/>
          <a:p>
            <a:pPr algn="r">
              <a:defRPr sz="1000" b="0">
                <a:solidFill>
                  <a:srgbClr val="8B7536"/>
                </a:solidFill>
                <a:latin typeface="Yu Gothic"/>
              </a:defRPr>
            </a:pPr>
            <a:r>
              <a:t>Harmonic Insight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質保証・認定制度の日米欧比較</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822960"/>
            <a:ext cx="2651760" cy="32004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822960"/>
            <a:ext cx="2560320" cy="320040"/>
          </a:xfrm>
          <a:prstGeom prst="rect">
            <a:avLst/>
          </a:prstGeom>
          <a:noFill/>
        </p:spPr>
        <p:txBody>
          <a:bodyPr wrap="square">
            <a:spAutoFit/>
          </a:bodyPr>
          <a:lstStyle/>
          <a:p>
            <a:pPr algn="ctr">
              <a:defRPr sz="1200" b="1">
                <a:solidFill>
                  <a:srgbClr val="FFFFFF"/>
                </a:solidFill>
                <a:latin typeface="Yu Gothic"/>
              </a:defRPr>
            </a:pPr>
            <a:r>
              <a:t>アメリカ</a:t>
            </a:r>
          </a:p>
        </p:txBody>
      </p:sp>
      <p:sp>
        <p:nvSpPr>
          <p:cNvPr id="9" name="TextBox 8"/>
          <p:cNvSpPr txBox="1"/>
          <p:nvPr/>
        </p:nvSpPr>
        <p:spPr>
          <a:xfrm>
            <a:off x="41148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地域認定が最も権威が高い</a:t>
            </a:r>
          </a:p>
          <a:p>
            <a:pPr>
              <a:spcAft>
                <a:spcPts val="400"/>
              </a:spcAft>
              <a:defRPr sz="1000">
                <a:solidFill>
                  <a:srgbClr val="333333"/>
                </a:solidFill>
                <a:latin typeface="Yu Gothic"/>
              </a:defRPr>
            </a:pPr>
            <a:r>
              <a:t>CHEA・米国教育省OPEで確認推奨</a:t>
            </a:r>
          </a:p>
          <a:p>
            <a:pPr>
              <a:spcAft>
                <a:spcPts val="400"/>
              </a:spcAft>
              <a:defRPr sz="1000">
                <a:solidFill>
                  <a:srgbClr val="333333"/>
                </a:solidFill>
                <a:latin typeface="Yu Gothic"/>
              </a:defRPr>
            </a:pPr>
            <a:r>
              <a:t>「ディプロマミル」対策として重要</a:t>
            </a:r>
          </a:p>
          <a:p>
            <a:pPr>
              <a:spcAft>
                <a:spcPts val="400"/>
              </a:spcAft>
              <a:defRPr sz="1000">
                <a:solidFill>
                  <a:srgbClr val="333333"/>
                </a:solidFill>
                <a:latin typeface="Yu Gothic"/>
              </a:defRPr>
            </a:pPr>
            <a:r>
              <a:t>Cognia認定：世界90カ国以上で信頼</a:t>
            </a:r>
          </a:p>
          <a:p>
            <a:pPr>
              <a:spcAft>
                <a:spcPts val="400"/>
              </a:spcAft>
              <a:defRPr sz="1000">
                <a:solidFill>
                  <a:srgbClr val="333333"/>
                </a:solidFill>
                <a:latin typeface="Yu Gothic"/>
              </a:defRPr>
            </a:pPr>
            <a:r>
              <a:t>DEAC：オンライン高校認定</a:t>
            </a:r>
          </a:p>
          <a:p>
            <a:pPr>
              <a:spcAft>
                <a:spcPts val="400"/>
              </a:spcAft>
              <a:defRPr sz="1000">
                <a:solidFill>
                  <a:srgbClr val="333333"/>
                </a:solidFill>
                <a:latin typeface="Yu Gothic"/>
              </a:defRPr>
            </a:pPr>
            <a:r>
              <a:t>認定＝単位互換・雇用主評価に直結</a:t>
            </a:r>
          </a:p>
        </p:txBody>
      </p:sp>
      <p:sp>
        <p:nvSpPr>
          <p:cNvPr id="10" name="Rectangle 9"/>
          <p:cNvSpPr/>
          <p:nvPr/>
        </p:nvSpPr>
        <p:spPr>
          <a:xfrm>
            <a:off x="3154680" y="822960"/>
            <a:ext cx="265176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822960"/>
            <a:ext cx="2560320" cy="320040"/>
          </a:xfrm>
          <a:prstGeom prst="rect">
            <a:avLst/>
          </a:prstGeom>
          <a:noFill/>
        </p:spPr>
        <p:txBody>
          <a:bodyPr wrap="square">
            <a:spAutoFit/>
          </a:bodyPr>
          <a:lstStyle/>
          <a:p>
            <a:pPr algn="ctr">
              <a:defRPr sz="1200" b="1">
                <a:solidFill>
                  <a:srgbClr val="FFFFFF"/>
                </a:solidFill>
                <a:latin typeface="Yu Gothic"/>
              </a:defRPr>
            </a:pPr>
            <a:r>
              <a:t>ヨーロッパ</a:t>
            </a:r>
          </a:p>
        </p:txBody>
      </p:sp>
      <p:sp>
        <p:nvSpPr>
          <p:cNvPr id="12" name="TextBox 11"/>
          <p:cNvSpPr txBox="1"/>
          <p:nvPr/>
        </p:nvSpPr>
        <p:spPr>
          <a:xfrm>
            <a:off x="324612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ESG（欧州高等教育質保証基準）</a:t>
            </a:r>
          </a:p>
          <a:p>
            <a:pPr>
              <a:spcAft>
                <a:spcPts val="400"/>
              </a:spcAft>
              <a:defRPr sz="1000">
                <a:solidFill>
                  <a:srgbClr val="333333"/>
                </a:solidFill>
                <a:latin typeface="Yu Gothic"/>
              </a:defRPr>
            </a:pPr>
            <a:r>
              <a:t>提供場所・方法に関わらず適用</a:t>
            </a:r>
          </a:p>
          <a:p>
            <a:pPr>
              <a:spcAft>
                <a:spcPts val="400"/>
              </a:spcAft>
              <a:defRPr sz="1000">
                <a:solidFill>
                  <a:srgbClr val="333333"/>
                </a:solidFill>
                <a:latin typeface="Yu Gothic"/>
              </a:defRPr>
            </a:pPr>
            <a:r>
              <a:t>EUCDL：遠隔教育の品質保証</a:t>
            </a:r>
          </a:p>
          <a:p>
            <a:pPr>
              <a:spcAft>
                <a:spcPts val="400"/>
              </a:spcAft>
              <a:defRPr sz="1000">
                <a:solidFill>
                  <a:srgbClr val="333333"/>
                </a:solidFill>
                <a:latin typeface="Yu Gothic"/>
              </a:defRPr>
            </a:pPr>
            <a:r>
              <a:t>英国DfE：OEAS認定スキーム</a:t>
            </a:r>
          </a:p>
          <a:p>
            <a:pPr>
              <a:spcAft>
                <a:spcPts val="400"/>
              </a:spcAft>
              <a:defRPr sz="1000">
                <a:solidFill>
                  <a:srgbClr val="333333"/>
                </a:solidFill>
                <a:latin typeface="Yu Gothic"/>
              </a:defRPr>
            </a:pPr>
            <a:r>
              <a:t>QAHE：K-12国際基準認定</a:t>
            </a:r>
          </a:p>
          <a:p>
            <a:pPr>
              <a:spcAft>
                <a:spcPts val="400"/>
              </a:spcAft>
              <a:defRPr sz="1000">
                <a:solidFill>
                  <a:srgbClr val="333333"/>
                </a:solidFill>
                <a:latin typeface="Yu Gothic"/>
              </a:defRPr>
            </a:pPr>
            <a:r>
              <a:t>国境を越えた学習・単位認定を促進</a:t>
            </a:r>
          </a:p>
        </p:txBody>
      </p:sp>
      <p:sp>
        <p:nvSpPr>
          <p:cNvPr id="13" name="Rectangle 12"/>
          <p:cNvSpPr/>
          <p:nvPr/>
        </p:nvSpPr>
        <p:spPr>
          <a:xfrm>
            <a:off x="5989320" y="822960"/>
            <a:ext cx="2651760"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0" y="822960"/>
            <a:ext cx="2560320" cy="320040"/>
          </a:xfrm>
          <a:prstGeom prst="rect">
            <a:avLst/>
          </a:prstGeom>
          <a:noFill/>
        </p:spPr>
        <p:txBody>
          <a:bodyPr wrap="square">
            <a:spAutoFit/>
          </a:bodyPr>
          <a:lstStyle/>
          <a:p>
            <a:pPr algn="ctr">
              <a:defRPr sz="1200" b="1">
                <a:solidFill>
                  <a:srgbClr val="FFFFFF"/>
                </a:solidFill>
                <a:latin typeface="Yu Gothic"/>
              </a:defRPr>
            </a:pPr>
            <a:r>
              <a:t>日本</a:t>
            </a:r>
          </a:p>
        </p:txBody>
      </p:sp>
      <p:sp>
        <p:nvSpPr>
          <p:cNvPr id="15" name="TextBox 14"/>
          <p:cNvSpPr txBox="1"/>
          <p:nvPr/>
        </p:nvSpPr>
        <p:spPr>
          <a:xfrm>
            <a:off x="608076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文部科学省の規定に基づく運営</a:t>
            </a:r>
          </a:p>
          <a:p>
            <a:pPr>
              <a:spcAft>
                <a:spcPts val="400"/>
              </a:spcAft>
              <a:defRPr sz="1000">
                <a:solidFill>
                  <a:srgbClr val="333333"/>
                </a:solidFill>
                <a:latin typeface="Yu Gothic"/>
              </a:defRPr>
            </a:pPr>
            <a:r>
              <a:t>学習指導要領・卒業要件の規定</a:t>
            </a:r>
          </a:p>
          <a:p>
            <a:pPr>
              <a:spcAft>
                <a:spcPts val="400"/>
              </a:spcAft>
              <a:defRPr sz="1000">
                <a:solidFill>
                  <a:srgbClr val="333333"/>
                </a:solidFill>
                <a:latin typeface="Yu Gothic"/>
              </a:defRPr>
            </a:pPr>
            <a:r>
              <a:t>文科省認定の社会通信教育</a:t>
            </a:r>
          </a:p>
          <a:p>
            <a:pPr>
              <a:spcAft>
                <a:spcPts val="400"/>
              </a:spcAft>
              <a:defRPr sz="1000">
                <a:solidFill>
                  <a:srgbClr val="333333"/>
                </a:solidFill>
                <a:latin typeface="Yu Gothic"/>
              </a:defRPr>
            </a:pPr>
            <a:r>
              <a:t>オンライン特化の包括的フレームワークは未確立</a:t>
            </a:r>
          </a:p>
          <a:p>
            <a:pPr>
              <a:spcAft>
                <a:spcPts val="400"/>
              </a:spcAft>
              <a:defRPr sz="1000">
                <a:solidFill>
                  <a:srgbClr val="333333"/>
                </a:solidFill>
                <a:latin typeface="Yu Gothic"/>
              </a:defRPr>
            </a:pPr>
            <a:r>
              <a:t>国際的調和の推進が課題</a:t>
            </a:r>
          </a:p>
          <a:p>
            <a:pPr>
              <a:spcAft>
                <a:spcPts val="400"/>
              </a:spcAft>
              <a:defRPr sz="1000">
                <a:solidFill>
                  <a:srgbClr val="333333"/>
                </a:solidFill>
                <a:latin typeface="Yu Gothic"/>
              </a:defRPr>
            </a:pPr>
            <a:r>
              <a:t>ZEN大学等の新規認定が注目</a:t>
            </a:r>
          </a:p>
        </p:txBody>
      </p:sp>
      <p:sp>
        <p:nvSpPr>
          <p:cNvPr id="16" name="TextBox 15"/>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1371600"/>
            <a:ext cx="50800" cy="22860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7315200" cy="548640"/>
          </a:xfrm>
          <a:prstGeom prst="rect">
            <a:avLst/>
          </a:prstGeom>
          <a:noFill/>
        </p:spPr>
        <p:txBody>
          <a:bodyPr wrap="square">
            <a:spAutoFit/>
          </a:bodyPr>
          <a:lstStyle/>
          <a:p>
            <a:pPr algn="l">
              <a:defRPr sz="1400" b="0">
                <a:solidFill>
                  <a:srgbClr val="C9A84C"/>
                </a:solidFill>
                <a:latin typeface="Yu Gothic"/>
              </a:defRPr>
            </a:pPr>
            <a:r>
              <a:t>SECTION 05</a:t>
            </a:r>
          </a:p>
        </p:txBody>
      </p:sp>
      <p:sp>
        <p:nvSpPr>
          <p:cNvPr id="5" name="TextBox 4"/>
          <p:cNvSpPr txBox="1"/>
          <p:nvPr/>
        </p:nvSpPr>
        <p:spPr>
          <a:xfrm>
            <a:off x="548640" y="1737360"/>
            <a:ext cx="7772400" cy="1371600"/>
          </a:xfrm>
          <a:prstGeom prst="rect">
            <a:avLst/>
          </a:prstGeom>
          <a:noFill/>
        </p:spPr>
        <p:txBody>
          <a:bodyPr wrap="square">
            <a:spAutoFit/>
          </a:bodyPr>
          <a:lstStyle/>
          <a:p>
            <a:pPr algn="l">
              <a:defRPr sz="2800" b="1">
                <a:solidFill>
                  <a:srgbClr val="F5F0E8"/>
                </a:solidFill>
                <a:latin typeface="Yu Gothic"/>
              </a:defRPr>
            </a:pPr>
            <a:r>
              <a:t>オンライン学習プラットフォームの</a:t>
            </a:r>
            <a:br/>
            <a:r>
              <a:t>市場分析と連携モデル</a:t>
            </a:r>
          </a:p>
        </p:txBody>
      </p:sp>
      <p:sp>
        <p:nvSpPr>
          <p:cNvPr id="6" name="TextBox 5"/>
          <p:cNvSpPr txBox="1"/>
          <p:nvPr/>
        </p:nvSpPr>
        <p:spPr>
          <a:xfrm>
            <a:off x="457200" y="4389120"/>
            <a:ext cx="8229600" cy="365760"/>
          </a:xfrm>
          <a:prstGeom prst="rect">
            <a:avLst/>
          </a:prstGeom>
          <a:noFill/>
        </p:spPr>
        <p:txBody>
          <a:bodyPr wrap="square">
            <a:spAutoFit/>
          </a:bodyPr>
          <a:lstStyle/>
          <a:p>
            <a:pPr algn="r">
              <a:defRPr sz="1000" b="0">
                <a:solidFill>
                  <a:srgbClr val="8B7536"/>
                </a:solidFill>
                <a:latin typeface="Yu Gothic"/>
              </a:defRPr>
            </a:pPr>
            <a:r>
              <a:t>Harmonic Insight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主要MOOCsプラットフォーム比較</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【Coursera】月額$59〜 / 年額$399〜</a:t>
            </a:r>
          </a:p>
          <a:p>
            <a:pPr>
              <a:spcAft>
                <a:spcPts val="600"/>
              </a:spcAft>
              <a:defRPr sz="1300">
                <a:solidFill>
                  <a:srgbClr val="333333"/>
                </a:solidFill>
                <a:latin typeface="Yu Gothic"/>
              </a:defRPr>
            </a:pPr>
            <a:r>
              <a:t>  9,000+コース、修了証・学位取得可、Google認定証が人気</a:t>
            </a:r>
          </a:p>
          <a:p>
            <a:pPr>
              <a:spcAft>
                <a:spcPts val="600"/>
              </a:spcAft>
              <a:defRPr sz="1300">
                <a:solidFill>
                  <a:srgbClr val="333333"/>
                </a:solidFill>
                <a:latin typeface="Yu Gothic"/>
              </a:defRPr>
            </a:pPr>
            <a:r>
              <a:t>  有名大学・企業との連携が強く、社会的信用度が高い</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【Udemy】コースごとの買い切り（セール頻度高）</a:t>
            </a:r>
          </a:p>
          <a:p>
            <a:pPr>
              <a:spcAft>
                <a:spcPts val="600"/>
              </a:spcAft>
              <a:defRPr sz="1300">
                <a:solidFill>
                  <a:srgbClr val="333333"/>
                </a:solidFill>
                <a:latin typeface="Yu Gothic"/>
              </a:defRPr>
            </a:pPr>
            <a:r>
              <a:t>  20万+コース、幅広い分野で学習可能</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【edX】非営利性が特徴、東大もMIT・ハーバードと連携</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【N高等学校】年額63,000円〜（ネットコース）</a:t>
            </a:r>
          </a:p>
          <a:p>
            <a:pPr>
              <a:spcAft>
                <a:spcPts val="600"/>
              </a:spcAft>
              <a:defRPr sz="1300">
                <a:solidFill>
                  <a:srgbClr val="333333"/>
                </a:solidFill>
                <a:latin typeface="Yu Gothic"/>
              </a:defRPr>
            </a:pPr>
            <a:r>
              <a:t>  ICT活用の効率学習＋ネット上の交流機能</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【オンライン英会話】月額2,000〜13,000円、スキマ時間学習</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連携モデルの検討 ── サイトの独自価値を創出</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822960"/>
            <a:ext cx="3931920" cy="36576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841248"/>
            <a:ext cx="3749039" cy="320040"/>
          </a:xfrm>
          <a:prstGeom prst="rect">
            <a:avLst/>
          </a:prstGeom>
          <a:noFill/>
        </p:spPr>
        <p:txBody>
          <a:bodyPr wrap="square">
            <a:spAutoFit/>
          </a:bodyPr>
          <a:lstStyle/>
          <a:p>
            <a:pPr algn="ctr">
              <a:defRPr sz="1300" b="1">
                <a:solidFill>
                  <a:srgbClr val="FFFFFF"/>
                </a:solidFill>
                <a:latin typeface="Yu Gothic"/>
              </a:defRPr>
            </a:pPr>
            <a:r>
              <a:t>アフィリエイト型</a:t>
            </a:r>
          </a:p>
        </p:txBody>
      </p:sp>
      <p:sp>
        <p:nvSpPr>
          <p:cNvPr id="9" name="TextBox 8"/>
          <p:cNvSpPr txBox="1"/>
          <p:nvPr/>
        </p:nvSpPr>
        <p:spPr>
          <a:xfrm>
            <a:off x="457200" y="1280160"/>
            <a:ext cx="3749039" cy="2926080"/>
          </a:xfrm>
          <a:prstGeom prst="rect">
            <a:avLst/>
          </a:prstGeom>
          <a:noFill/>
        </p:spPr>
        <p:txBody>
          <a:bodyPr wrap="square">
            <a:spAutoFit/>
          </a:bodyPr>
          <a:lstStyle/>
          <a:p>
            <a:pPr>
              <a:spcAft>
                <a:spcPts val="600"/>
              </a:spcAft>
              <a:defRPr sz="1100">
                <a:solidFill>
                  <a:srgbClr val="333333"/>
                </a:solidFill>
                <a:latin typeface="Yu Gothic"/>
              </a:defRPr>
            </a:pPr>
            <a:r>
              <a:t>・記事やレビューからMOOCs・留学エージェントへ送客</a:t>
            </a:r>
          </a:p>
          <a:p>
            <a:pPr>
              <a:spcAft>
                <a:spcPts val="600"/>
              </a:spcAft>
              <a:defRPr sz="1100">
                <a:solidFill>
                  <a:srgbClr val="333333"/>
                </a:solidFill>
                <a:latin typeface="Yu Gothic"/>
              </a:defRPr>
            </a:pPr>
            <a:r>
              <a:t>・導入コストが低い</a:t>
            </a:r>
          </a:p>
          <a:p>
            <a:pPr>
              <a:spcAft>
                <a:spcPts val="600"/>
              </a:spcAft>
              <a:defRPr sz="1100">
                <a:solidFill>
                  <a:srgbClr val="333333"/>
                </a:solidFill>
                <a:latin typeface="Yu Gothic"/>
              </a:defRPr>
            </a:pPr>
            <a:r>
              <a:t>・コンテンツ制作に集中できる</a:t>
            </a:r>
          </a:p>
          <a:p>
            <a:pPr>
              <a:spcAft>
                <a:spcPts val="600"/>
              </a:spcAft>
              <a:defRPr sz="1100">
                <a:solidFill>
                  <a:srgbClr val="333333"/>
                </a:solidFill>
                <a:latin typeface="Yu Gothic"/>
              </a:defRPr>
            </a:pPr>
            <a:r>
              <a:t>・成果報酬型の収益モデル</a:t>
            </a:r>
          </a:p>
          <a:p>
            <a:pPr>
              <a:spcAft>
                <a:spcPts val="600"/>
              </a:spcAft>
              <a:defRPr sz="1100">
                <a:solidFill>
                  <a:srgbClr val="333333"/>
                </a:solidFill>
                <a:latin typeface="Yu Gothic"/>
              </a:defRPr>
            </a:pPr>
            <a:r>
              <a:t>・Coursera、Udemy、留学ジャーナル等</a:t>
            </a:r>
          </a:p>
        </p:txBody>
      </p:sp>
      <p:sp>
        <p:nvSpPr>
          <p:cNvPr id="10" name="Rectangle 9"/>
          <p:cNvSpPr/>
          <p:nvPr/>
        </p:nvSpPr>
        <p:spPr>
          <a:xfrm>
            <a:off x="4754880" y="822960"/>
            <a:ext cx="3931920" cy="36576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841248"/>
            <a:ext cx="3749039" cy="320040"/>
          </a:xfrm>
          <a:prstGeom prst="rect">
            <a:avLst/>
          </a:prstGeom>
          <a:noFill/>
        </p:spPr>
        <p:txBody>
          <a:bodyPr wrap="square">
            <a:spAutoFit/>
          </a:bodyPr>
          <a:lstStyle/>
          <a:p>
            <a:pPr algn="ctr">
              <a:defRPr sz="1300" b="1">
                <a:solidFill>
                  <a:srgbClr val="FFFFFF"/>
                </a:solidFill>
                <a:latin typeface="Yu Gothic"/>
              </a:defRPr>
            </a:pPr>
            <a:r>
              <a:t>キュレーション型（LSCM）</a:t>
            </a:r>
          </a:p>
        </p:txBody>
      </p:sp>
      <p:sp>
        <p:nvSpPr>
          <p:cNvPr id="12" name="TextBox 11"/>
          <p:cNvSpPr txBox="1"/>
          <p:nvPr/>
        </p:nvSpPr>
        <p:spPr>
          <a:xfrm>
            <a:off x="4846320" y="1280160"/>
            <a:ext cx="3749039" cy="2926080"/>
          </a:xfrm>
          <a:prstGeom prst="rect">
            <a:avLst/>
          </a:prstGeom>
          <a:noFill/>
        </p:spPr>
        <p:txBody>
          <a:bodyPr wrap="square">
            <a:spAutoFit/>
          </a:bodyPr>
          <a:lstStyle/>
          <a:p>
            <a:pPr>
              <a:spcAft>
                <a:spcPts val="600"/>
              </a:spcAft>
              <a:defRPr sz="1100">
                <a:solidFill>
                  <a:srgbClr val="333333"/>
                </a:solidFill>
                <a:latin typeface="Yu Gothic"/>
              </a:defRPr>
            </a:pPr>
            <a:r>
              <a:t>・独自の「学習ロードマップ」を設計</a:t>
            </a:r>
          </a:p>
          <a:p>
            <a:pPr>
              <a:spcAft>
                <a:spcPts val="600"/>
              </a:spcAft>
              <a:defRPr sz="1100">
                <a:solidFill>
                  <a:srgbClr val="333333"/>
                </a:solidFill>
                <a:latin typeface="Yu Gothic"/>
              </a:defRPr>
            </a:pPr>
            <a:r>
              <a:t>・特定MOOCs・英会話を推奨</a:t>
            </a:r>
          </a:p>
          <a:p>
            <a:pPr>
              <a:spcAft>
                <a:spcPts val="600"/>
              </a:spcAft>
              <a:defRPr sz="1100">
                <a:solidFill>
                  <a:srgbClr val="333333"/>
                </a:solidFill>
                <a:latin typeface="Yu Gothic"/>
              </a:defRPr>
            </a:pPr>
            <a:r>
              <a:t>・サイトの専門性をアピール</a:t>
            </a:r>
          </a:p>
          <a:p>
            <a:pPr>
              <a:spcAft>
                <a:spcPts val="600"/>
              </a:spcAft>
              <a:defRPr sz="1100">
                <a:solidFill>
                  <a:srgbClr val="333333"/>
                </a:solidFill>
                <a:latin typeface="Yu Gothic"/>
              </a:defRPr>
            </a:pPr>
            <a:r>
              <a:t>・ユーザーの信頼獲得に直結</a:t>
            </a:r>
          </a:p>
          <a:p>
            <a:pPr>
              <a:spcAft>
                <a:spcPts val="600"/>
              </a:spcAft>
              <a:defRPr sz="1100">
                <a:solidFill>
                  <a:srgbClr val="333333"/>
                </a:solidFill>
                <a:latin typeface="Yu Gothic"/>
              </a:defRPr>
            </a:pPr>
            <a:r>
              <a:t>・「興味→キャリア」の学習プロセス全体を最適化</a:t>
            </a:r>
          </a:p>
          <a:p>
            <a:pPr>
              <a:spcAft>
                <a:spcPts val="600"/>
              </a:spcAft>
              <a:defRPr sz="1100">
                <a:solidFill>
                  <a:srgbClr val="333333"/>
                </a:solidFill>
                <a:latin typeface="Yu Gothic"/>
              </a:defRPr>
            </a:pPr>
            <a:r>
              <a:t>  ＝ラーニング・サプライチェーン・マネジメント</a:t>
            </a:r>
          </a:p>
        </p:txBody>
      </p:sp>
      <p:sp>
        <p:nvSpPr>
          <p:cNvPr id="13" name="TextBox 12"/>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1371600"/>
            <a:ext cx="50800" cy="22860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7315200" cy="548640"/>
          </a:xfrm>
          <a:prstGeom prst="rect">
            <a:avLst/>
          </a:prstGeom>
          <a:noFill/>
        </p:spPr>
        <p:txBody>
          <a:bodyPr wrap="square">
            <a:spAutoFit/>
          </a:bodyPr>
          <a:lstStyle/>
          <a:p>
            <a:pPr algn="l">
              <a:defRPr sz="1400" b="0">
                <a:solidFill>
                  <a:srgbClr val="C9A84C"/>
                </a:solidFill>
                <a:latin typeface="Yu Gothic"/>
              </a:defRPr>
            </a:pPr>
            <a:r>
              <a:t>SECTION 06</a:t>
            </a:r>
          </a:p>
        </p:txBody>
      </p:sp>
      <p:sp>
        <p:nvSpPr>
          <p:cNvPr id="5" name="TextBox 4"/>
          <p:cNvSpPr txBox="1"/>
          <p:nvPr/>
        </p:nvSpPr>
        <p:spPr>
          <a:xfrm>
            <a:off x="548640" y="1737360"/>
            <a:ext cx="7772400" cy="1371600"/>
          </a:xfrm>
          <a:prstGeom prst="rect">
            <a:avLst/>
          </a:prstGeom>
          <a:noFill/>
        </p:spPr>
        <p:txBody>
          <a:bodyPr wrap="square">
            <a:spAutoFit/>
          </a:bodyPr>
          <a:lstStyle/>
          <a:p>
            <a:pPr algn="l">
              <a:defRPr sz="2800" b="1">
                <a:solidFill>
                  <a:srgbClr val="F5F0E8"/>
                </a:solidFill>
                <a:latin typeface="Yu Gothic"/>
              </a:defRPr>
            </a:pPr>
            <a:r>
              <a:t>コンテンツ連携戦略と</a:t>
            </a:r>
            <a:br/>
            <a:r>
              <a:t>サイト構造の設計</a:t>
            </a:r>
          </a:p>
        </p:txBody>
      </p:sp>
      <p:sp>
        <p:nvSpPr>
          <p:cNvPr id="6" name="TextBox 5"/>
          <p:cNvSpPr txBox="1"/>
          <p:nvPr/>
        </p:nvSpPr>
        <p:spPr>
          <a:xfrm>
            <a:off x="457200" y="4389120"/>
            <a:ext cx="8229600" cy="365760"/>
          </a:xfrm>
          <a:prstGeom prst="rect">
            <a:avLst/>
          </a:prstGeom>
          <a:noFill/>
        </p:spPr>
        <p:txBody>
          <a:bodyPr wrap="square">
            <a:spAutoFit/>
          </a:bodyPr>
          <a:lstStyle/>
          <a:p>
            <a:pPr algn="r">
              <a:defRPr sz="1000" b="0">
                <a:solidFill>
                  <a:srgbClr val="8B7536"/>
                </a:solidFill>
                <a:latin typeface="Yu Gothic"/>
              </a:defRPr>
            </a:pPr>
            <a:r>
              <a:t>Harmonic Insight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コンセプト：「興味・関心」から「行動・学習」への導線設計</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【ブランドコンセプト例】</a:t>
            </a:r>
          </a:p>
          <a:p>
            <a:pPr>
              <a:spcAft>
                <a:spcPts val="600"/>
              </a:spcAft>
              <a:defRPr sz="1300">
                <a:solidFill>
                  <a:srgbClr val="333333"/>
                </a:solidFill>
                <a:latin typeface="Yu Gothic"/>
              </a:defRPr>
            </a:pPr>
            <a:r>
              <a:t>  「世界の学びを、あなたのキャリアに。」</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【コンテンツ戦略の2本柱】</a:t>
            </a:r>
          </a:p>
          <a:p>
            <a:pPr>
              <a:spcAft>
                <a:spcPts val="600"/>
              </a:spcAft>
              <a:defRPr sz="1300">
                <a:solidFill>
                  <a:srgbClr val="333333"/>
                </a:solidFill>
                <a:latin typeface="Yu Gothic"/>
              </a:defRPr>
            </a:pPr>
            <a:r>
              <a:t>  1. 海外学生の「ライフスタイル」紹介コンテンツ</a:t>
            </a:r>
          </a:p>
          <a:p>
            <a:pPr>
              <a:spcAft>
                <a:spcPts val="600"/>
              </a:spcAft>
              <a:defRPr sz="1300">
                <a:solidFill>
                  <a:srgbClr val="333333"/>
                </a:solidFill>
                <a:latin typeface="Yu Gothic"/>
              </a:defRPr>
            </a:pPr>
            <a:r>
              <a:t>     ・動画コンテンツ（AI音声生成ツールでコスト削減）</a:t>
            </a:r>
          </a:p>
          <a:p>
            <a:pPr>
              <a:spcAft>
                <a:spcPts val="600"/>
              </a:spcAft>
              <a:defRPr sz="1300">
                <a:solidFill>
                  <a:srgbClr val="333333"/>
                </a:solidFill>
                <a:latin typeface="Yu Gothic"/>
              </a:defRPr>
            </a:pPr>
            <a:r>
              <a:t>     ・深掘りインタビュー記事</a:t>
            </a:r>
          </a:p>
          <a:p>
            <a:pPr>
              <a:spcAft>
                <a:spcPts val="600"/>
              </a:spcAft>
              <a:defRPr sz="1300">
                <a:solidFill>
                  <a:srgbClr val="333333"/>
                </a:solidFill>
                <a:latin typeface="Yu Gothic"/>
              </a:defRPr>
            </a:pPr>
            <a:r>
              <a:t>     ・「なぜその大学？」「課外活動の成果は？」</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  2. オンライン学習プラットフォーム活用法</a:t>
            </a:r>
          </a:p>
          <a:p>
            <a:pPr>
              <a:spcAft>
                <a:spcPts val="600"/>
              </a:spcAft>
              <a:defRPr sz="1300">
                <a:solidFill>
                  <a:srgbClr val="333333"/>
                </a:solidFill>
                <a:latin typeface="Yu Gothic"/>
              </a:defRPr>
            </a:pPr>
            <a:r>
              <a:t>     ・Google認定証取得の体験談</a:t>
            </a:r>
          </a:p>
          <a:p>
            <a:pPr>
              <a:spcAft>
                <a:spcPts val="600"/>
              </a:spcAft>
              <a:defRPr sz="1300">
                <a:solidFill>
                  <a:srgbClr val="333333"/>
                </a:solidFill>
                <a:latin typeface="Yu Gothic"/>
              </a:defRPr>
            </a:pPr>
            <a:r>
              <a:t>     ・Coursera / Udemy / edX 比較記事</a:t>
            </a:r>
          </a:p>
          <a:p>
            <a:pPr>
              <a:spcAft>
                <a:spcPts val="600"/>
              </a:spcAft>
              <a:defRPr sz="1300">
                <a:solidFill>
                  <a:srgbClr val="333333"/>
                </a:solidFill>
                <a:latin typeface="Yu Gothic"/>
              </a:defRPr>
            </a:pPr>
            <a:r>
              <a:t>     ・学習コスト・期間・履歴書記載方法の情報提供</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【導線の仕組み】</a:t>
            </a:r>
          </a:p>
          <a:p>
            <a:pPr>
              <a:spcAft>
                <a:spcPts val="600"/>
              </a:spcAft>
              <a:defRPr sz="1300">
                <a:solidFill>
                  <a:srgbClr val="333333"/>
                </a:solidFill>
                <a:latin typeface="Yu Gothic"/>
              </a:defRPr>
            </a:pPr>
            <a:r>
              <a:t>  記事末尾に「このスキルを今すぐ身につけるには？」→ コースへ誘導</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ウェブサイト構造 ── UXを最適化するナビゲーション</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【建設業DXの知見を応用】</a:t>
            </a:r>
          </a:p>
          <a:p>
            <a:pPr>
              <a:spcAft>
                <a:spcPts val="600"/>
              </a:spcAft>
              <a:defRPr sz="1300">
                <a:solidFill>
                  <a:srgbClr val="333333"/>
                </a:solidFill>
                <a:latin typeface="Yu Gothic"/>
              </a:defRPr>
            </a:pPr>
            <a:r>
              <a:t>  ・BIM/CIM → サイトマップ・ワイヤーフレームとして捉える</a:t>
            </a:r>
          </a:p>
          <a:p>
            <a:pPr>
              <a:spcAft>
                <a:spcPts val="600"/>
              </a:spcAft>
              <a:defRPr sz="1300">
                <a:solidFill>
                  <a:srgbClr val="333333"/>
                </a:solidFill>
                <a:latin typeface="Yu Gothic"/>
              </a:defRPr>
            </a:pPr>
            <a:r>
              <a:t>  ・「基本設計」→「実施設計」で手戻りを防止</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【運用体制のポイント】</a:t>
            </a:r>
          </a:p>
          <a:p>
            <a:pPr>
              <a:spcAft>
                <a:spcPts val="600"/>
              </a:spcAft>
              <a:defRPr sz="1300">
                <a:solidFill>
                  <a:srgbClr val="333333"/>
                </a:solidFill>
                <a:latin typeface="Yu Gothic"/>
              </a:defRPr>
            </a:pPr>
            <a:r>
              <a:t>  ・CMS導入で非エンジニアでも更新可能</a:t>
            </a:r>
          </a:p>
          <a:p>
            <a:pPr>
              <a:spcAft>
                <a:spcPts val="600"/>
              </a:spcAft>
              <a:defRPr sz="1300">
                <a:solidFill>
                  <a:srgbClr val="333333"/>
                </a:solidFill>
                <a:latin typeface="Yu Gothic"/>
              </a:defRPr>
            </a:pPr>
            <a:r>
              <a:t>  ・製造業のリーン生産方式を適用</a:t>
            </a:r>
          </a:p>
          <a:p>
            <a:pPr>
              <a:spcAft>
                <a:spcPts val="600"/>
              </a:spcAft>
              <a:defRPr sz="1300">
                <a:solidFill>
                  <a:srgbClr val="333333"/>
                </a:solidFill>
                <a:latin typeface="Yu Gothic"/>
              </a:defRPr>
            </a:pPr>
            <a:r>
              <a:t>  ・「ムダ・ムラ・ムリ」の排除で運用効率化</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【動線分析】</a:t>
            </a:r>
          </a:p>
          <a:p>
            <a:pPr>
              <a:spcAft>
                <a:spcPts val="600"/>
              </a:spcAft>
              <a:defRPr sz="1300">
                <a:solidFill>
                  <a:srgbClr val="333333"/>
                </a:solidFill>
                <a:latin typeface="Yu Gothic"/>
              </a:defRPr>
            </a:pPr>
            <a:r>
              <a:t>  ・ユーザーの行動を定期的に確認</a:t>
            </a:r>
          </a:p>
          <a:p>
            <a:pPr>
              <a:spcAft>
                <a:spcPts val="600"/>
              </a:spcAft>
              <a:defRPr sz="1300">
                <a:solidFill>
                  <a:srgbClr val="333333"/>
                </a:solidFill>
                <a:latin typeface="Yu Gothic"/>
              </a:defRPr>
            </a:pPr>
            <a:r>
              <a:t>  ・設計した導線と実際の乖離を修正</a:t>
            </a:r>
          </a:p>
          <a:p>
            <a:pPr>
              <a:spcAft>
                <a:spcPts val="600"/>
              </a:spcAft>
              <a:defRPr sz="1300">
                <a:solidFill>
                  <a:srgbClr val="333333"/>
                </a:solidFill>
                <a:latin typeface="Yu Gothic"/>
              </a:defRPr>
            </a:pPr>
            <a:r>
              <a:t>  ・ユーザー目線に立った継続改善</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1371600"/>
            <a:ext cx="50800" cy="22860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7315200" cy="548640"/>
          </a:xfrm>
          <a:prstGeom prst="rect">
            <a:avLst/>
          </a:prstGeom>
          <a:noFill/>
        </p:spPr>
        <p:txBody>
          <a:bodyPr wrap="square">
            <a:spAutoFit/>
          </a:bodyPr>
          <a:lstStyle/>
          <a:p>
            <a:pPr algn="l">
              <a:defRPr sz="1400" b="0">
                <a:solidFill>
                  <a:srgbClr val="C9A84C"/>
                </a:solidFill>
                <a:latin typeface="Yu Gothic"/>
              </a:defRPr>
            </a:pPr>
            <a:r>
              <a:t>SECTION 07</a:t>
            </a:r>
          </a:p>
        </p:txBody>
      </p:sp>
      <p:sp>
        <p:nvSpPr>
          <p:cNvPr id="5" name="TextBox 4"/>
          <p:cNvSpPr txBox="1"/>
          <p:nvPr/>
        </p:nvSpPr>
        <p:spPr>
          <a:xfrm>
            <a:off x="548640" y="1737360"/>
            <a:ext cx="7772400" cy="1371600"/>
          </a:xfrm>
          <a:prstGeom prst="rect">
            <a:avLst/>
          </a:prstGeom>
          <a:noFill/>
        </p:spPr>
        <p:txBody>
          <a:bodyPr wrap="square">
            <a:spAutoFit/>
          </a:bodyPr>
          <a:lstStyle/>
          <a:p>
            <a:pPr algn="l">
              <a:defRPr sz="2800" b="1">
                <a:solidFill>
                  <a:srgbClr val="F5F0E8"/>
                </a:solidFill>
                <a:latin typeface="Yu Gothic"/>
              </a:defRPr>
            </a:pPr>
            <a:r>
              <a:t>事業の持続可能性と</a:t>
            </a:r>
            <a:br/>
            <a:r>
              <a:t>収益化戦略</a:t>
            </a:r>
          </a:p>
        </p:txBody>
      </p:sp>
      <p:sp>
        <p:nvSpPr>
          <p:cNvPr id="6" name="TextBox 5"/>
          <p:cNvSpPr txBox="1"/>
          <p:nvPr/>
        </p:nvSpPr>
        <p:spPr>
          <a:xfrm>
            <a:off x="457200" y="4389120"/>
            <a:ext cx="8229600" cy="365760"/>
          </a:xfrm>
          <a:prstGeom prst="rect">
            <a:avLst/>
          </a:prstGeom>
          <a:noFill/>
        </p:spPr>
        <p:txBody>
          <a:bodyPr wrap="square">
            <a:spAutoFit/>
          </a:bodyPr>
          <a:lstStyle/>
          <a:p>
            <a:pPr algn="r">
              <a:defRPr sz="1000" b="0">
                <a:solidFill>
                  <a:srgbClr val="8B7536"/>
                </a:solidFill>
                <a:latin typeface="Yu Gothic"/>
              </a:defRPr>
            </a:pPr>
            <a:r>
              <a:t>Harmonic Insight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3フェーズ収益化ロードマップ</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822960"/>
            <a:ext cx="2651760" cy="32004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822960"/>
            <a:ext cx="2560320" cy="320040"/>
          </a:xfrm>
          <a:prstGeom prst="rect">
            <a:avLst/>
          </a:prstGeom>
          <a:noFill/>
        </p:spPr>
        <p:txBody>
          <a:bodyPr wrap="square">
            <a:spAutoFit/>
          </a:bodyPr>
          <a:lstStyle/>
          <a:p>
            <a:pPr algn="ctr">
              <a:defRPr sz="1200" b="1">
                <a:solidFill>
                  <a:srgbClr val="FFFFFF"/>
                </a:solidFill>
                <a:latin typeface="Yu Gothic"/>
              </a:defRPr>
            </a:pPr>
            <a:r>
              <a:t>Phase 1：スモールスタート</a:t>
            </a:r>
            <a:br/>
            <a:r>
              <a:t>（3〜6ヶ月）</a:t>
            </a:r>
          </a:p>
        </p:txBody>
      </p:sp>
      <p:sp>
        <p:nvSpPr>
          <p:cNvPr id="9" name="TextBox 8"/>
          <p:cNvSpPr txBox="1"/>
          <p:nvPr/>
        </p:nvSpPr>
        <p:spPr>
          <a:xfrm>
            <a:off x="41148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特定地域（例：米国）に絞りコンテンツ制作</a:t>
            </a:r>
          </a:p>
          <a:p>
            <a:pPr>
              <a:spcAft>
                <a:spcPts val="400"/>
              </a:spcAft>
              <a:defRPr sz="1000">
                <a:solidFill>
                  <a:srgbClr val="333333"/>
                </a:solidFill>
                <a:latin typeface="Yu Gothic"/>
              </a:defRPr>
            </a:pPr>
            <a:r>
              <a:t>深掘りインタビュー＋動画</a:t>
            </a:r>
          </a:p>
          <a:p>
            <a:pPr>
              <a:spcAft>
                <a:spcPts val="400"/>
              </a:spcAft>
              <a:defRPr sz="1000">
                <a:solidFill>
                  <a:srgbClr val="333333"/>
                </a:solidFill>
                <a:latin typeface="Yu Gothic"/>
              </a:defRPr>
            </a:pPr>
            <a:r>
              <a:t>CMS導入・AIナレーション活用</a:t>
            </a:r>
          </a:p>
          <a:p>
            <a:pPr>
              <a:spcAft>
                <a:spcPts val="400"/>
              </a:spcAft>
              <a:defRPr sz="1000">
                <a:solidFill>
                  <a:srgbClr val="333333"/>
                </a:solidFill>
                <a:latin typeface="Yu Gothic"/>
              </a:defRPr>
            </a:pPr>
            <a:r>
              <a:t>Google AdSense＋アフィリエイト</a:t>
            </a:r>
          </a:p>
          <a:p>
            <a:pPr>
              <a:spcAft>
                <a:spcPts val="400"/>
              </a:spcAft>
              <a:defRPr sz="1000">
                <a:solidFill>
                  <a:srgbClr val="333333"/>
                </a:solidFill>
                <a:latin typeface="Yu Gothic"/>
              </a:defRPr>
            </a:pPr>
            <a:r>
              <a:t>KPI：アクセス数・滞在時間・読了率</a:t>
            </a:r>
          </a:p>
        </p:txBody>
      </p:sp>
      <p:sp>
        <p:nvSpPr>
          <p:cNvPr id="10" name="Rectangle 9"/>
          <p:cNvSpPr/>
          <p:nvPr/>
        </p:nvSpPr>
        <p:spPr>
          <a:xfrm>
            <a:off x="3154680" y="822960"/>
            <a:ext cx="265176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822960"/>
            <a:ext cx="2560320" cy="320040"/>
          </a:xfrm>
          <a:prstGeom prst="rect">
            <a:avLst/>
          </a:prstGeom>
          <a:noFill/>
        </p:spPr>
        <p:txBody>
          <a:bodyPr wrap="square">
            <a:spAutoFit/>
          </a:bodyPr>
          <a:lstStyle/>
          <a:p>
            <a:pPr algn="ctr">
              <a:defRPr sz="1200" b="1">
                <a:solidFill>
                  <a:srgbClr val="FFFFFF"/>
                </a:solidFill>
                <a:latin typeface="Yu Gothic"/>
              </a:defRPr>
            </a:pPr>
            <a:r>
              <a:t>Phase 2：コンテンツ拡充</a:t>
            </a:r>
            <a:br/>
            <a:r>
              <a:t>（6〜18ヶ月）</a:t>
            </a:r>
          </a:p>
        </p:txBody>
      </p:sp>
      <p:sp>
        <p:nvSpPr>
          <p:cNvPr id="12" name="TextBox 11"/>
          <p:cNvSpPr txBox="1"/>
          <p:nvPr/>
        </p:nvSpPr>
        <p:spPr>
          <a:xfrm>
            <a:off x="324612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英国・アジアへ地域展開</a:t>
            </a:r>
          </a:p>
          <a:p>
            <a:pPr>
              <a:spcAft>
                <a:spcPts val="400"/>
              </a:spcAft>
              <a:defRPr sz="1000">
                <a:solidFill>
                  <a:srgbClr val="333333"/>
                </a:solidFill>
                <a:latin typeface="Yu Gothic"/>
              </a:defRPr>
            </a:pPr>
            <a:r>
              <a:t>学習ロードマップ＋体験談拡充</a:t>
            </a:r>
          </a:p>
          <a:p>
            <a:pPr>
              <a:spcAft>
                <a:spcPts val="400"/>
              </a:spcAft>
              <a:defRPr sz="1000">
                <a:solidFill>
                  <a:srgbClr val="333333"/>
                </a:solidFill>
                <a:latin typeface="Yu Gothic"/>
              </a:defRPr>
            </a:pPr>
            <a:r>
              <a:t>UX最適化・マッチング機能</a:t>
            </a:r>
          </a:p>
          <a:p>
            <a:pPr>
              <a:spcAft>
                <a:spcPts val="400"/>
              </a:spcAft>
              <a:defRPr sz="1000">
                <a:solidFill>
                  <a:srgbClr val="333333"/>
                </a:solidFill>
                <a:latin typeface="Yu Gothic"/>
              </a:defRPr>
            </a:pPr>
            <a:r>
              <a:t>アフィリエイト本格化</a:t>
            </a:r>
          </a:p>
          <a:p>
            <a:pPr>
              <a:spcAft>
                <a:spcPts val="400"/>
              </a:spcAft>
              <a:defRPr sz="1000">
                <a:solidFill>
                  <a:srgbClr val="333333"/>
                </a:solidFill>
                <a:latin typeface="Yu Gothic"/>
              </a:defRPr>
            </a:pPr>
            <a:r>
              <a:t>サブスクリプション検討</a:t>
            </a:r>
          </a:p>
          <a:p>
            <a:pPr>
              <a:spcAft>
                <a:spcPts val="400"/>
              </a:spcAft>
              <a:defRPr sz="1000">
                <a:solidFill>
                  <a:srgbClr val="333333"/>
                </a:solidFill>
                <a:latin typeface="Yu Gothic"/>
              </a:defRPr>
            </a:pPr>
            <a:r>
              <a:t>KPI：CVR・CTR・修了率</a:t>
            </a:r>
          </a:p>
        </p:txBody>
      </p:sp>
      <p:sp>
        <p:nvSpPr>
          <p:cNvPr id="13" name="Rectangle 12"/>
          <p:cNvSpPr/>
          <p:nvPr/>
        </p:nvSpPr>
        <p:spPr>
          <a:xfrm>
            <a:off x="5989320" y="822960"/>
            <a:ext cx="2651760"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0" y="822960"/>
            <a:ext cx="2560320" cy="320040"/>
          </a:xfrm>
          <a:prstGeom prst="rect">
            <a:avLst/>
          </a:prstGeom>
          <a:noFill/>
        </p:spPr>
        <p:txBody>
          <a:bodyPr wrap="square">
            <a:spAutoFit/>
          </a:bodyPr>
          <a:lstStyle/>
          <a:p>
            <a:pPr algn="ctr">
              <a:defRPr sz="1200" b="1">
                <a:solidFill>
                  <a:srgbClr val="FFFFFF"/>
                </a:solidFill>
                <a:latin typeface="Yu Gothic"/>
              </a:defRPr>
            </a:pPr>
            <a:r>
              <a:t>Phase 3：事業多角化</a:t>
            </a:r>
            <a:br/>
            <a:r>
              <a:t>（18ヶ月以降）</a:t>
            </a:r>
          </a:p>
        </p:txBody>
      </p:sp>
      <p:sp>
        <p:nvSpPr>
          <p:cNvPr id="15" name="TextBox 14"/>
          <p:cNvSpPr txBox="1"/>
          <p:nvPr/>
        </p:nvSpPr>
        <p:spPr>
          <a:xfrm>
            <a:off x="608076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B2B DX人材育成サービス</a:t>
            </a:r>
          </a:p>
          <a:p>
            <a:pPr>
              <a:spcAft>
                <a:spcPts val="400"/>
              </a:spcAft>
              <a:defRPr sz="1000">
                <a:solidFill>
                  <a:srgbClr val="333333"/>
                </a:solidFill>
                <a:latin typeface="Yu Gothic"/>
              </a:defRPr>
            </a:pPr>
            <a:r>
              <a:t>グローバル人材育成コンサル</a:t>
            </a:r>
          </a:p>
          <a:p>
            <a:pPr>
              <a:spcAft>
                <a:spcPts val="400"/>
              </a:spcAft>
              <a:defRPr sz="1000">
                <a:solidFill>
                  <a:srgbClr val="333333"/>
                </a:solidFill>
                <a:latin typeface="Yu Gothic"/>
              </a:defRPr>
            </a:pPr>
            <a:r>
              <a:t>LMS・教育PF連携強化</a:t>
            </a:r>
          </a:p>
          <a:p>
            <a:pPr>
              <a:spcAft>
                <a:spcPts val="400"/>
              </a:spcAft>
              <a:defRPr sz="1000">
                <a:solidFill>
                  <a:srgbClr val="333333"/>
                </a:solidFill>
                <a:latin typeface="Yu Gothic"/>
              </a:defRPr>
            </a:pPr>
            <a:r>
              <a:t>複数収益源で安定基盤構築</a:t>
            </a:r>
          </a:p>
          <a:p>
            <a:pPr>
              <a:spcAft>
                <a:spcPts val="400"/>
              </a:spcAft>
              <a:defRPr sz="1000">
                <a:solidFill>
                  <a:srgbClr val="333333"/>
                </a:solidFill>
                <a:latin typeface="Yu Gothic"/>
              </a:defRPr>
            </a:pPr>
            <a:r>
              <a:t>KPI：顧客満足度・スキルアップ度</a:t>
            </a:r>
          </a:p>
        </p:txBody>
      </p:sp>
      <p:sp>
        <p:nvSpPr>
          <p:cNvPr id="16" name="TextBox 15"/>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収益化モデル一覧 ── ハイブリッド型が鍵</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【広告型】Google AdSense等 → 低コスト / アクセス数依存</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【アフィリエイト型】MOOCs・留学エージェントへ送客 → 低コスト / 成約数依存</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【サブスクリプション型】有料会員限定コンテンツ → 中〜高コスト / 安定収益</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【マッチングサービス型】留学エージェント・企業研修紹介 → 中〜高コスト / 安定収益</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【コンテンツ販売型】独自学習ガイド・教材販売 → 中コスト / 販売数依存</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 単一モデルへの依存はリスク。複数モデルの組み合わせで</a:t>
            </a:r>
          </a:p>
          <a:p>
            <a:pPr>
              <a:spcAft>
                <a:spcPts val="600"/>
              </a:spcAft>
              <a:defRPr sz="1300">
                <a:solidFill>
                  <a:srgbClr val="333333"/>
                </a:solidFill>
                <a:latin typeface="Yu Gothic"/>
              </a:defRPr>
            </a:pPr>
            <a:r>
              <a:t>  市場変動・アルゴリズム更新に対する耐性を確保</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1371600"/>
            <a:ext cx="50800" cy="22860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7315200" cy="548640"/>
          </a:xfrm>
          <a:prstGeom prst="rect">
            <a:avLst/>
          </a:prstGeom>
          <a:noFill/>
        </p:spPr>
        <p:txBody>
          <a:bodyPr wrap="square">
            <a:spAutoFit/>
          </a:bodyPr>
          <a:lstStyle/>
          <a:p>
            <a:pPr algn="l">
              <a:defRPr sz="1400" b="0">
                <a:solidFill>
                  <a:srgbClr val="C9A84C"/>
                </a:solidFill>
                <a:latin typeface="Yu Gothic"/>
              </a:defRPr>
            </a:pPr>
            <a:r>
              <a:t>SECTION 08</a:t>
            </a:r>
          </a:p>
        </p:txBody>
      </p:sp>
      <p:sp>
        <p:nvSpPr>
          <p:cNvPr id="5" name="TextBox 4"/>
          <p:cNvSpPr txBox="1"/>
          <p:nvPr/>
        </p:nvSpPr>
        <p:spPr>
          <a:xfrm>
            <a:off x="548640" y="1737360"/>
            <a:ext cx="7772400" cy="1371600"/>
          </a:xfrm>
          <a:prstGeom prst="rect">
            <a:avLst/>
          </a:prstGeom>
          <a:noFill/>
        </p:spPr>
        <p:txBody>
          <a:bodyPr wrap="square">
            <a:spAutoFit/>
          </a:bodyPr>
          <a:lstStyle/>
          <a:p>
            <a:pPr algn="l">
              <a:defRPr sz="2800" b="1">
                <a:solidFill>
                  <a:srgbClr val="F5F0E8"/>
                </a:solidFill>
                <a:latin typeface="Yu Gothic"/>
              </a:defRPr>
            </a:pPr>
            <a:r>
              <a:t>成功事例から学ぶ統合メディアと</a:t>
            </a:r>
            <a:br/>
            <a:r>
              <a:t>日本への提言</a:t>
            </a:r>
          </a:p>
        </p:txBody>
      </p:sp>
      <p:sp>
        <p:nvSpPr>
          <p:cNvPr id="6" name="TextBox 5"/>
          <p:cNvSpPr txBox="1"/>
          <p:nvPr/>
        </p:nvSpPr>
        <p:spPr>
          <a:xfrm>
            <a:off x="457200" y="4389120"/>
            <a:ext cx="8229600" cy="365760"/>
          </a:xfrm>
          <a:prstGeom prst="rect">
            <a:avLst/>
          </a:prstGeom>
          <a:noFill/>
        </p:spPr>
        <p:txBody>
          <a:bodyPr wrap="square">
            <a:spAutoFit/>
          </a:bodyPr>
          <a:lstStyle/>
          <a:p>
            <a:pPr algn="r">
              <a:defRPr sz="1000" b="0">
                <a:solidFill>
                  <a:srgbClr val="8B7536"/>
                </a:solidFill>
                <a:latin typeface="Yu Gothic"/>
              </a:defRPr>
            </a:pPr>
            <a:r>
              <a:t>Harmonic Insight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コンテンツマーケティング成功事例</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【北欧、暮らしの道具店】</a:t>
            </a:r>
          </a:p>
          <a:p>
            <a:pPr>
              <a:spcAft>
                <a:spcPts val="600"/>
              </a:spcAft>
              <a:defRPr sz="1300">
                <a:solidFill>
                  <a:srgbClr val="333333"/>
                </a:solidFill>
                <a:latin typeface="Yu Gothic"/>
              </a:defRPr>
            </a:pPr>
            <a:r>
              <a:t>  ライフスタイルWebマガジンで「世界観」を共有 → ブランド体験を提供</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【有隣堂しか知らない世界】</a:t>
            </a:r>
          </a:p>
          <a:p>
            <a:pPr>
              <a:spcAft>
                <a:spcPts val="600"/>
              </a:spcAft>
              <a:defRPr sz="1300">
                <a:solidFill>
                  <a:srgbClr val="333333"/>
                </a:solidFill>
                <a:latin typeface="Yu Gothic"/>
              </a:defRPr>
            </a:pPr>
            <a:r>
              <a:t>  キャラクター「R.B.ブッコロー」でエンタメ性を掛け合わせ</a:t>
            </a:r>
          </a:p>
          <a:p>
            <a:pPr>
              <a:spcAft>
                <a:spcPts val="600"/>
              </a:spcAft>
              <a:defRPr sz="1300">
                <a:solidFill>
                  <a:srgbClr val="333333"/>
                </a:solidFill>
                <a:latin typeface="Yu Gothic"/>
              </a:defRPr>
            </a:pPr>
            <a:r>
              <a:t>  → 本業に興味がなかった層にもアプローチ</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【となりのカインズさん】</a:t>
            </a:r>
          </a:p>
          <a:p>
            <a:pPr>
              <a:spcAft>
                <a:spcPts val="600"/>
              </a:spcAft>
              <a:defRPr sz="1300">
                <a:solidFill>
                  <a:srgbClr val="333333"/>
                </a:solidFill>
                <a:latin typeface="Yu Gothic"/>
              </a:defRPr>
            </a:pPr>
            <a:r>
              <a:t>  現場の一次情報を発信 → 月間400万PV達成</a:t>
            </a:r>
          </a:p>
          <a:p>
            <a:pPr>
              <a:spcAft>
                <a:spcPts val="600"/>
              </a:spcAft>
              <a:defRPr sz="1300">
                <a:solidFill>
                  <a:srgbClr val="333333"/>
                </a:solidFill>
                <a:latin typeface="Yu Gothic"/>
              </a:defRPr>
            </a:pPr>
            <a:r>
              <a:t>  専門性と信頼性がサイト価値の源泉</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【教訓】ユーザーが求めるのは「共感できる世界観」と</a:t>
            </a:r>
          </a:p>
          <a:p>
            <a:pPr>
              <a:spcAft>
                <a:spcPts val="600"/>
              </a:spcAft>
              <a:defRPr sz="1300">
                <a:solidFill>
                  <a:srgbClr val="333333"/>
                </a:solidFill>
                <a:latin typeface="Yu Gothic"/>
              </a:defRPr>
            </a:pPr>
            <a:r>
              <a:t>  「信頼できるキャラクター」。海外学生の価値観・悩みを</a:t>
            </a:r>
          </a:p>
          <a:p>
            <a:pPr>
              <a:spcAft>
                <a:spcPts val="600"/>
              </a:spcAft>
              <a:defRPr sz="1300">
                <a:solidFill>
                  <a:srgbClr val="333333"/>
                </a:solidFill>
                <a:latin typeface="Yu Gothic"/>
              </a:defRPr>
            </a:pPr>
            <a:r>
              <a:t>  ストーリーとして描くことがエンゲージメントの鍵</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日本のオンライン教育への5つの提言</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1. 質保証と認定の国際的調和の推進</a:t>
            </a:r>
          </a:p>
          <a:p>
            <a:pPr>
              <a:spcAft>
                <a:spcPts val="600"/>
              </a:spcAft>
              <a:defRPr sz="1300">
                <a:solidFill>
                  <a:srgbClr val="333333"/>
                </a:solidFill>
                <a:latin typeface="Yu Gothic"/>
              </a:defRPr>
            </a:pPr>
            <a:r>
              <a:t>   ESGを参考にオンライン教育特化の質保証基準を策定</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2. デジタルデバイド解消への包括的投資</a:t>
            </a:r>
          </a:p>
          <a:p>
            <a:pPr>
              <a:spcAft>
                <a:spcPts val="600"/>
              </a:spcAft>
              <a:defRPr sz="1300">
                <a:solidFill>
                  <a:srgbClr val="333333"/>
                </a:solidFill>
                <a:latin typeface="Yu Gothic"/>
              </a:defRPr>
            </a:pPr>
            <a:r>
              <a:t>   高速インターネット整備・低所得世帯へのデバイス提供</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3. ハイブリッド学習モデルの推進と社会的交流の促進</a:t>
            </a:r>
          </a:p>
          <a:p>
            <a:pPr>
              <a:spcAft>
                <a:spcPts val="600"/>
              </a:spcAft>
              <a:defRPr sz="1300">
                <a:solidFill>
                  <a:srgbClr val="333333"/>
                </a:solidFill>
                <a:latin typeface="Yu Gothic"/>
              </a:defRPr>
            </a:pPr>
            <a:r>
              <a:t>   COIL（国際共同オンライン学習）の導入・異文化理解</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4. 教員育成と専門性向上の体系化</a:t>
            </a:r>
          </a:p>
          <a:p>
            <a:pPr>
              <a:spcAft>
                <a:spcPts val="600"/>
              </a:spcAft>
              <a:defRPr sz="1300">
                <a:solidFill>
                  <a:srgbClr val="333333"/>
                </a:solidFill>
                <a:latin typeface="Yu Gothic"/>
              </a:defRPr>
            </a:pPr>
            <a:r>
              <a:t>   オンライン指導特化の研修プログラム義務化</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5. キャリア・進路支援の強化と実社会との連携深化</a:t>
            </a:r>
          </a:p>
          <a:p>
            <a:pPr>
              <a:spcAft>
                <a:spcPts val="600"/>
              </a:spcAft>
              <a:defRPr sz="1300">
                <a:solidFill>
                  <a:srgbClr val="333333"/>
                </a:solidFill>
                <a:latin typeface="Yu Gothic"/>
              </a:defRPr>
            </a:pPr>
            <a:r>
              <a:t>   総合型選抜対応、PBL、企業インターンシップの拡充</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92700"/>
            <a:ext cx="9144000" cy="50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71600"/>
            <a:ext cx="7315200" cy="1097280"/>
          </a:xfrm>
          <a:prstGeom prst="rect">
            <a:avLst/>
          </a:prstGeom>
          <a:noFill/>
        </p:spPr>
        <p:txBody>
          <a:bodyPr wrap="square">
            <a:spAutoFit/>
          </a:bodyPr>
          <a:lstStyle/>
          <a:p>
            <a:pPr algn="ctr">
              <a:defRPr sz="3600" b="1">
                <a:solidFill>
                  <a:srgbClr val="C9A84C"/>
                </a:solidFill>
                <a:latin typeface="Yu Gothic"/>
              </a:defRPr>
            </a:pPr>
            <a:r>
              <a:t>Thank You</a:t>
            </a:r>
          </a:p>
        </p:txBody>
      </p:sp>
      <p:sp>
        <p:nvSpPr>
          <p:cNvPr id="6" name="TextBox 5"/>
          <p:cNvSpPr txBox="1"/>
          <p:nvPr/>
        </p:nvSpPr>
        <p:spPr>
          <a:xfrm>
            <a:off x="914400" y="2560320"/>
            <a:ext cx="7315200" cy="914400"/>
          </a:xfrm>
          <a:prstGeom prst="rect">
            <a:avLst/>
          </a:prstGeom>
          <a:noFill/>
        </p:spPr>
        <p:txBody>
          <a:bodyPr wrap="square">
            <a:spAutoFit/>
          </a:bodyPr>
          <a:lstStyle/>
          <a:p>
            <a:pPr algn="ctr">
              <a:defRPr sz="1400" b="0">
                <a:solidFill>
                  <a:srgbClr val="F5F0E8"/>
                </a:solidFill>
                <a:latin typeface="Yu Gothic"/>
              </a:defRPr>
            </a:pPr>
            <a:r>
              <a:t>グローバル教育トレンドとオンライン学習の未来</a:t>
            </a:r>
            <a:br/>
            <a:r>
              <a:t>── 海外学習・留学から見る日米欧の教育比較と戦略提言 ──</a:t>
            </a:r>
          </a:p>
        </p:txBody>
      </p:sp>
      <p:sp>
        <p:nvSpPr>
          <p:cNvPr id="7" name="TextBox 6"/>
          <p:cNvSpPr txBox="1"/>
          <p:nvPr/>
        </p:nvSpPr>
        <p:spPr>
          <a:xfrm>
            <a:off x="914400" y="3657600"/>
            <a:ext cx="7315200" cy="457200"/>
          </a:xfrm>
          <a:prstGeom prst="rect">
            <a:avLst/>
          </a:prstGeom>
          <a:noFill/>
        </p:spPr>
        <p:txBody>
          <a:bodyPr wrap="square">
            <a:spAutoFit/>
          </a:bodyPr>
          <a:lstStyle/>
          <a:p>
            <a:pPr algn="ctr">
              <a:defRPr sz="900" b="0">
                <a:solidFill>
                  <a:srgbClr val="666666"/>
                </a:solidFill>
                <a:latin typeface="Yu Gothic"/>
              </a:defRPr>
            </a:pPr>
            <a:r>
              <a:t>出典：「グローバル教育トレンドとオンライン学習を連携させたウェブサイト構築戦略」</a:t>
            </a:r>
            <a:br/>
            <a:r>
              <a:t>「グローバルオンライン教育の現状と日本の立ち位置：高校・大学における比較分析と展望」</a:t>
            </a:r>
          </a:p>
        </p:txBody>
      </p:sp>
      <p:sp>
        <p:nvSpPr>
          <p:cNvPr id="8" name="TextBox 7"/>
          <p:cNvSpPr txBox="1"/>
          <p:nvPr/>
        </p:nvSpPr>
        <p:spPr>
          <a:xfrm>
            <a:off x="457200" y="4389120"/>
            <a:ext cx="8229600" cy="365760"/>
          </a:xfrm>
          <a:prstGeom prst="rect">
            <a:avLst/>
          </a:prstGeom>
          <a:noFill/>
        </p:spPr>
        <p:txBody>
          <a:bodyPr wrap="square">
            <a:spAutoFit/>
          </a:bodyPr>
          <a:lstStyle/>
          <a:p>
            <a:pPr algn="r">
              <a:defRPr sz="1100" b="0">
                <a:solidFill>
                  <a:srgbClr val="8B7536"/>
                </a:solidFill>
                <a:latin typeface="Yu Gothic"/>
              </a:defRPr>
            </a:pPr>
            <a:r>
              <a:t>Harmonic Insight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