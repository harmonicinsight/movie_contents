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N高やゼロ高に興味を持ったけど、学費を見て驚いた。</a:t>
            </a:r>
          </a:p>
          <a:p>
            <a:r>
              <a:t>あるいは、自分に本当に合うのか不安になった。</a:t>
            </a:r>
          </a:p>
          <a:p>
            <a:r>
              <a:t>そんな方に今日は伝えたいことがあります。</a:t>
            </a:r>
          </a:p>
          <a:p>
            <a:r>
              <a:t>実は通信制高校は全国に300校以上あって、</a:t>
            </a:r>
          </a:p>
          <a:p>
            <a:r>
              <a:t>あなたにもっと合う学校がある可能性が高いんです。</a:t>
            </a:r>
          </a:p>
          <a:p/>
          <a:p>
            <a:r>
              <a:t>こんにちは、Harmonic Insightです。</a:t>
            </a:r>
          </a:p>
          <a:p>
            <a:r>
              <a:t>この動画は「通信制高校選び完全ガイド」の前編です。</a:t>
            </a:r>
          </a:p>
          <a:p>
            <a:r>
              <a:t>N高・ゼロ高を本音で分析した上で、</a:t>
            </a:r>
          </a:p>
          <a:p>
            <a:r>
              <a:t>あなたにどんなタイプの通信制が合うのか、4つの診断で特定します。</a:t>
            </a:r>
          </a:p>
          <a:p>
            <a:r>
              <a:t>中編ではタイプ別のおすすめ校、後編では学費攻略と行動プランをお伝えしますので、</a:t>
            </a:r>
          </a:p>
          <a:p>
            <a:r>
              <a:t>ぜひ3本セットでご覧ください。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まず数字を見てみましょう。</a:t>
            </a:r>
          </a:p>
          <a:p>
            <a:r>
              <a:t>通信制高校は全国に300校以上あります。N高とゼロ高だけじゃないんです。</a:t>
            </a:r>
          </a:p>
          <a:p>
            <a:r>
              <a:t>現在26万5千人の高校生が通信制で学んでいて、この10年で1.5倍に増えています。</a:t>
            </a:r>
          </a:p>
          <a:p>
            <a:r>
              <a:t>でも、皆さんこんな不安を感じていませんか？</a:t>
            </a:r>
          </a:p>
          <a:p>
            <a:r>
              <a:t>「通信制って聞くとネガティブなイメージがある」</a:t>
            </a:r>
          </a:p>
          <a:p>
            <a:r>
              <a:t>「N高は有名だけど、本当に自分に合う？」</a:t>
            </a:r>
          </a:p>
          <a:p>
            <a:r>
              <a:t>「学費は？進路は？友達は？」</a:t>
            </a:r>
          </a:p>
          <a:p>
            <a:r>
              <a:t>この動画を最後まで見ていただければ、</a:t>
            </a:r>
          </a:p>
          <a:p>
            <a:r>
              <a:t>すべての不安に対する答えが見つかります。</a:t>
            </a:r>
          </a:p>
          <a:p>
            <a:r>
              <a:t>まずはN高とゼロ高を本音で分析していきましょう。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N高の強みは皆さんご存知の通り、先進的なオンライン学習と豊富な課外活動です。</a:t>
            </a:r>
          </a:p>
          <a:p>
            <a:r>
              <a:t>でも今日は、数字の裏側を読み解いてみましょう。</a:t>
            </a:r>
          </a:p>
          <a:p/>
          <a:p>
            <a:r>
              <a:t>在籍生徒数2万7千人。これ、1学年あたり約9,000人ということです。</a:t>
            </a:r>
          </a:p>
          <a:p>
            <a:r>
              <a:t>担任の先生1人あたり数百人の生徒を見ている計算になります。</a:t>
            </a:r>
          </a:p>
          <a:p>
            <a:r>
              <a:t>つまり、個別に手厚いサポートを期待するのは、構造的に難しい面があるんです。</a:t>
            </a:r>
          </a:p>
          <a:p/>
          <a:p>
            <a:r>
              <a:t>学費はネットコースで月額換算2万から3万円。全日制の私立と比べれば半額以下です。</a:t>
            </a:r>
          </a:p>
          <a:p>
            <a:r>
              <a:t>ただし、サポート校を併用すると追加費用がかかる場合もあります。</a:t>
            </a:r>
          </a:p>
          <a:p/>
          <a:p>
            <a:r>
              <a:t>難関大学の合格実績はありますが、全体の合格率は公開されていません。</a:t>
            </a:r>
          </a:p>
          <a:p>
            <a:r>
              <a:t>合格しているのは自主学習力が高い一部の生徒であることを理解しておきましょう。</a:t>
            </a:r>
          </a:p>
          <a:p/>
          <a:p>
            <a:r>
              <a:t>口コミを多数分析して見えたパターンがあります。</a:t>
            </a:r>
          </a:p>
          <a:p>
            <a:r>
              <a:t>最も多い不満は「自由すぎて不安」というもの。</a:t>
            </a:r>
          </a:p>
          <a:p>
            <a:r>
              <a:t>つまりN高は向き不向きが明確に分かれる学校なんです。</a:t>
            </a:r>
          </a:p>
          <a:p>
            <a:r>
              <a:t>では、自分にはどんな学校が向いているのか？この後の診断で確認しましょう。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次にゼロ高等学院です。</a:t>
            </a:r>
          </a:p>
          <a:p>
            <a:r>
              <a:t>ゼロ高は堀江貴文さんが主宰する学校で、</a:t>
            </a:r>
          </a:p>
          <a:p>
            <a:r>
              <a:t>「偏差値0」つまり座学にとらわれない教育を掲げています。</a:t>
            </a:r>
          </a:p>
          <a:p/>
          <a:p>
            <a:r>
              <a:t>正直に言うと、ゼロ高はかなり人を選ぶ学校です。</a:t>
            </a:r>
          </a:p>
          <a:p>
            <a:r>
              <a:t>やりたいことが明確にあって、自分から動ける人には最高の環境。</a:t>
            </a:r>
          </a:p>
          <a:p>
            <a:r>
              <a:t>でも「まだやりたいことが見つかっていない」人が入ると、</a:t>
            </a:r>
          </a:p>
          <a:p>
            <a:r>
              <a:t>何をすればいいか分からなくなる可能性があります。</a:t>
            </a:r>
          </a:p>
          <a:p/>
          <a:p>
            <a:r>
              <a:t>手厚い学習サポートを期待する方にも向いていません。</a:t>
            </a:r>
          </a:p>
          <a:p>
            <a:r>
              <a:t>ゼロ高は「教えてもらう」場所ではなく「自分で掴み取る」場所だからです。</a:t>
            </a:r>
          </a:p>
          <a:p/>
          <a:p>
            <a:r>
              <a:t>N高もゼロ高も素晴らしい学校ですが、</a:t>
            </a:r>
          </a:p>
          <a:p>
            <a:r>
              <a:t>大事なのは「自分に合うかどうか」なんです。</a:t>
            </a:r>
          </a:p>
          <a:p>
            <a:r>
              <a:t>ここからは、あなたにどんなタイプの学校が合うか、診断していきましょう。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ここで一度動画を止めてください。</a:t>
            </a:r>
          </a:p>
          <a:p>
            <a:r>
              <a:t>あなたに合う通信制高校のタイプを診断します。</a:t>
            </a:r>
          </a:p>
          <a:p/>
          <a:p>
            <a:r>
              <a:t>Aタイプは学習自由度重視。</a:t>
            </a:r>
          </a:p>
          <a:p>
            <a:r>
              <a:t>朝起きるのが苦手な人、部活や習い事を続けたい人、</a:t>
            </a:r>
          </a:p>
          <a:p>
            <a:r>
              <a:t>自分のペースで勉強したい人はこのタイプです。</a:t>
            </a:r>
          </a:p>
          <a:p/>
          <a:p>
            <a:r>
              <a:t>Bタイプは専門性追求。</a:t>
            </a:r>
          </a:p>
          <a:p>
            <a:r>
              <a:t>好きなことに夢中になれる人、将来の夢がある程度決まっている人、</a:t>
            </a:r>
          </a:p>
          <a:p>
            <a:r>
              <a:t>声優やeスポーツ、IT分野などプロを目指したい人です。</a:t>
            </a:r>
          </a:p>
          <a:p/>
          <a:p>
            <a:r>
              <a:t>Cタイプはコミュニティ重視。</a:t>
            </a:r>
          </a:p>
          <a:p>
            <a:r>
              <a:t>友達と一緒に学びたい人、学校行事が好きな人、</a:t>
            </a:r>
          </a:p>
          <a:p>
            <a:r>
              <a:t>先生に気軽に相談できる環境がいい人です。</a:t>
            </a:r>
          </a:p>
          <a:p/>
          <a:p>
            <a:r>
              <a:t>Dタイプはグローバル挑戦。</a:t>
            </a:r>
          </a:p>
          <a:p>
            <a:r>
              <a:t>海外に興味がある人、英語力を伸ばしたい人、</a:t>
            </a:r>
          </a:p>
          <a:p>
            <a:r>
              <a:t>世界で活躍したいと思っている人です。</a:t>
            </a:r>
          </a:p>
          <a:p/>
          <a:p>
            <a:r>
              <a:t>どのタイプに近いか、コメント欄にA・B・C・Dで書いてください！</a:t>
            </a:r>
          </a:p>
          <a:p>
            <a:r>
              <a:t>複数当てはまる人は、一番強いものを選んでくださいね。</a:t>
            </a:r>
          </a:p>
          <a:p>
            <a:r>
              <a:t>次のスライドでさらに詳しく診断します。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もう少し詳しく診断しましょう。4つの質問に答えてください。</a:t>
            </a:r>
          </a:p>
          <a:p/>
          <a:p>
            <a:r>
              <a:t>診断1、学習スタイル。</a:t>
            </a:r>
          </a:p>
          <a:p>
            <a:r>
              <a:t>完全にオンラインで学びたい人はAタイプ。</a:t>
            </a:r>
          </a:p>
          <a:p>
            <a:r>
              <a:t>週に数日は通学したい人はCタイプ。</a:t>
            </a:r>
          </a:p>
          <a:p>
            <a:r>
              <a:t>専門分野の個別指導を受けたい人はBかCです。</a:t>
            </a:r>
          </a:p>
          <a:p/>
          <a:p>
            <a:r>
              <a:t>診断2、生活リズム。</a:t>
            </a:r>
          </a:p>
          <a:p>
            <a:r>
              <a:t>朝が苦手な人はA。部活と両立したい人はAかB。</a:t>
            </a:r>
          </a:p>
          <a:p>
            <a:r>
              <a:t>規則正しく通学したい人はCです。</a:t>
            </a:r>
          </a:p>
          <a:p/>
          <a:p>
            <a:r>
              <a:t>診断3、将来の目標。</a:t>
            </a:r>
          </a:p>
          <a:p>
            <a:r>
              <a:t>大学進学ならAかC、専門職やプロを目指すならB、</a:t>
            </a:r>
          </a:p>
          <a:p>
            <a:r>
              <a:t>起業や海外ならDです。</a:t>
            </a:r>
          </a:p>
          <a:p/>
          <a:p>
            <a:r>
              <a:t>診断4、サポートの好み。</a:t>
            </a:r>
          </a:p>
          <a:p>
            <a:r>
              <a:t>自分でどんどん進められるならAかD、</a:t>
            </a:r>
          </a:p>
          <a:p>
            <a:r>
              <a:t>手厚いケアが欲しいならC、専門的な指導が欲しいならBです。</a:t>
            </a:r>
          </a:p>
          <a:p/>
          <a:p>
            <a:r>
              <a:t>一番多かったアルファベットがあなたのメインタイプです。</a:t>
            </a:r>
          </a:p>
          <a:p>
            <a:r>
              <a:t>タイプが分かったら、中編の動画でおすすめの学校を紹介しますので、</a:t>
            </a:r>
          </a:p>
          <a:p>
            <a:r>
              <a:t>ぜひ続けてご覧ください。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前編のまとめです。</a:t>
            </a:r>
          </a:p>
          <a:p>
            <a:r>
              <a:t>1つ目、N高の最大の落とし穴は「自由すぎて不安になる」こと。</a:t>
            </a:r>
          </a:p>
          <a:p>
            <a:r>
              <a:t>自己管理が得意な人には最高の環境ですが、そうでない人には合わない可能性があります。</a:t>
            </a:r>
          </a:p>
          <a:p/>
          <a:p>
            <a:r>
              <a:t>2つ目、ゼロ高は「やりたいことが明確にある人」向け。</a:t>
            </a:r>
          </a:p>
          <a:p>
            <a:r>
              <a:t>行動力がある人には最高ですが、まだ模索中の人には他の選択肢がおすすめです。</a:t>
            </a:r>
          </a:p>
          <a:p/>
          <a:p>
            <a:r>
              <a:t>3つ目、通信制高校は300校以上あります。</a:t>
            </a:r>
          </a:p>
          <a:p>
            <a:r>
              <a:t>N高やゼロ高だけでなく、あなたに合う学校が必ずあります。</a:t>
            </a:r>
          </a:p>
          <a:p/>
          <a:p>
            <a:r>
              <a:t>さて、あなたのタイプは分かりましたか？</a:t>
            </a:r>
          </a:p>
          <a:p>
            <a:r>
              <a:t>中編では、A・B・C・Dそれぞれのタイプに最適な学校を</a:t>
            </a:r>
          </a:p>
          <a:p>
            <a:r>
              <a:t>具体的に紹介します。</a:t>
            </a:r>
          </a:p>
          <a:p>
            <a:r>
              <a:t>画面に表示されている中編の動画をぜひクリックしてください。</a:t>
            </a:r>
          </a:p>
          <a:p>
            <a:r>
              <a:t>あなたのタイプの学校が見つかるはずです。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914400"/>
            <a:ext cx="914400" cy="822960"/>
          </a:xfrm>
          <a:prstGeom prst="ellipse">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960120"/>
            <a:ext cx="914400" cy="822960"/>
          </a:xfrm>
          <a:prstGeom prst="rect">
            <a:avLst/>
          </a:prstGeom>
          <a:noFill/>
        </p:spPr>
        <p:txBody>
          <a:bodyPr wrap="square"/>
          <a:lstStyle/>
          <a:p>
            <a:pPr algn="ctr">
              <a:defRPr sz="2200" b="0">
                <a:solidFill>
                  <a:srgbClr val="C9A84C"/>
                </a:solidFill>
                <a:latin typeface="Georgia"/>
              </a:defRPr>
            </a:pPr>
            <a:r>
              <a:t>Hi</a:t>
            </a:r>
          </a:p>
        </p:txBody>
      </p:sp>
      <p:sp>
        <p:nvSpPr>
          <p:cNvPr id="6" name="Rectangle 5"/>
          <p:cNvSpPr/>
          <p:nvPr/>
        </p:nvSpPr>
        <p:spPr>
          <a:xfrm>
            <a:off x="91440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303520" y="2057400"/>
            <a:ext cx="292608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8229600" cy="502920"/>
          </a:xfrm>
          <a:prstGeom prst="rect">
            <a:avLst/>
          </a:prstGeom>
          <a:noFill/>
        </p:spPr>
        <p:txBody>
          <a:bodyPr wrap="square"/>
          <a:lstStyle/>
          <a:p>
            <a:pPr algn="ctr">
              <a:defRPr sz="3200" b="0">
                <a:solidFill>
                  <a:srgbClr val="3C2F1E"/>
                </a:solidFill>
                <a:latin typeface="Georgia"/>
              </a:defRPr>
            </a:pPr>
            <a:r>
              <a:t>N高・ゼロ高の本音レビュー</a:t>
            </a:r>
          </a:p>
        </p:txBody>
      </p:sp>
      <p:sp>
        <p:nvSpPr>
          <p:cNvPr id="9" name="TextBox 8"/>
          <p:cNvSpPr txBox="1"/>
          <p:nvPr/>
        </p:nvSpPr>
        <p:spPr>
          <a:xfrm>
            <a:off x="457200" y="2697480"/>
            <a:ext cx="8229600" cy="457200"/>
          </a:xfrm>
          <a:prstGeom prst="rect">
            <a:avLst/>
          </a:prstGeom>
          <a:noFill/>
        </p:spPr>
        <p:txBody>
          <a:bodyPr wrap="square"/>
          <a:lstStyle/>
          <a:p>
            <a:pPr algn="ctr">
              <a:defRPr sz="2400" b="0">
                <a:solidFill>
                  <a:srgbClr val="3C2F1E"/>
                </a:solidFill>
                <a:latin typeface="Georgia"/>
              </a:defRPr>
            </a:pPr>
            <a:r>
              <a:t>＋ あなたに合う通信制はどのタイプ？</a:t>
            </a:r>
          </a:p>
        </p:txBody>
      </p:sp>
      <p:sp>
        <p:nvSpPr>
          <p:cNvPr id="10" name="Rectangle 9"/>
          <p:cNvSpPr/>
          <p:nvPr/>
        </p:nvSpPr>
        <p:spPr>
          <a:xfrm>
            <a:off x="2286000" y="3200400"/>
            <a:ext cx="45720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83280"/>
            <a:ext cx="8229600" cy="365760"/>
          </a:xfrm>
          <a:prstGeom prst="rect">
            <a:avLst/>
          </a:prstGeom>
          <a:noFill/>
        </p:spPr>
        <p:txBody>
          <a:bodyPr wrap="square"/>
          <a:lstStyle/>
          <a:p>
            <a:pPr algn="ctr">
              <a:defRPr sz="1400" b="0">
                <a:solidFill>
                  <a:srgbClr val="8B7536"/>
                </a:solidFill>
                <a:latin typeface="Calibri"/>
              </a:defRPr>
            </a:pPr>
            <a:r>
              <a:t>〜 通信制高校選び完全ガイド【前編】 〜</a:t>
            </a:r>
          </a:p>
        </p:txBody>
      </p:sp>
      <p:sp>
        <p:nvSpPr>
          <p:cNvPr id="12" name="TextBox 11"/>
          <p:cNvSpPr txBox="1"/>
          <p:nvPr/>
        </p:nvSpPr>
        <p:spPr>
          <a:xfrm>
            <a:off x="457200" y="3886200"/>
            <a:ext cx="8229600" cy="274320"/>
          </a:xfrm>
          <a:prstGeom prst="rect">
            <a:avLst/>
          </a:prstGeom>
          <a:noFill/>
        </p:spPr>
        <p:txBody>
          <a:bodyPr wrap="square"/>
          <a:lstStyle/>
          <a:p>
            <a:pPr algn="ctr">
              <a:defRPr sz="1400" b="0">
                <a:solidFill>
                  <a:srgbClr val="3C2F1E"/>
                </a:solidFill>
                <a:latin typeface="Calibri"/>
              </a:defRPr>
            </a:pPr>
            <a:r>
              <a:t>H A R M O N I C</a:t>
            </a:r>
          </a:p>
        </p:txBody>
      </p:sp>
      <p:sp>
        <p:nvSpPr>
          <p:cNvPr id="13" name="TextBox 12"/>
          <p:cNvSpPr txBox="1"/>
          <p:nvPr/>
        </p:nvSpPr>
        <p:spPr>
          <a:xfrm>
            <a:off x="457200" y="4114800"/>
            <a:ext cx="8229600" cy="274320"/>
          </a:xfrm>
          <a:prstGeom prst="rect">
            <a:avLst/>
          </a:prstGeom>
          <a:noFill/>
        </p:spPr>
        <p:txBody>
          <a:bodyPr wrap="square"/>
          <a:lstStyle/>
          <a:p>
            <a:pPr algn="ctr">
              <a:defRPr sz="1400" b="0">
                <a:solidFill>
                  <a:srgbClr val="C9A84C"/>
                </a:solidFill>
                <a:latin typeface="Calibri"/>
              </a:defRPr>
            </a:pPr>
            <a:r>
              <a:t>i n s i g h t</a:t>
            </a:r>
          </a:p>
        </p:txBody>
      </p:sp>
      <p:sp>
        <p:nvSpPr>
          <p:cNvPr id="14" name="TextBox 13"/>
          <p:cNvSpPr txBox="1"/>
          <p:nvPr/>
        </p:nvSpPr>
        <p:spPr>
          <a:xfrm>
            <a:off x="457200" y="4434840"/>
            <a:ext cx="8229600" cy="274320"/>
          </a:xfrm>
          <a:prstGeom prst="rect">
            <a:avLst/>
          </a:prstGeom>
          <a:noFill/>
        </p:spPr>
        <p:txBody>
          <a:bodyPr wrap="square"/>
          <a:lstStyle/>
          <a:p>
            <a:pPr algn="ctr">
              <a:defRPr sz="1000" b="0">
                <a:solidFill>
                  <a:srgbClr val="8B7355"/>
                </a:solidFill>
                <a:latin typeface="Calibri"/>
              </a:defRPr>
            </a:pPr>
            <a:r>
              <a:t>Harmonic Insight 2026年3月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なぜ今「通信制高校」が注目されるのか？</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通信制高校選び完全ガイド【前編】</a:t>
            </a:r>
          </a:p>
        </p:txBody>
      </p:sp>
      <p:sp>
        <p:nvSpPr>
          <p:cNvPr id="6" name="TextBox 5"/>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1</a:t>
            </a:r>
          </a:p>
        </p:txBody>
      </p:sp>
      <p:sp>
        <p:nvSpPr>
          <p:cNvPr id="7" name="Rounded Rectangle 6"/>
          <p:cNvSpPr/>
          <p:nvPr/>
        </p:nvSpPr>
        <p:spPr>
          <a:xfrm>
            <a:off x="457200" y="1005840"/>
            <a:ext cx="3931920" cy="352044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3748440" cy="365760"/>
          </a:xfrm>
          <a:prstGeom prst="rect">
            <a:avLst/>
          </a:prstGeom>
          <a:noFill/>
        </p:spPr>
        <p:txBody>
          <a:bodyPr wrap="square"/>
          <a:lstStyle/>
          <a:p>
            <a:pPr algn="l">
              <a:defRPr sz="1600" b="1">
                <a:solidFill>
                  <a:srgbClr val="8B7536"/>
                </a:solidFill>
                <a:latin typeface="Calibri"/>
              </a:defRPr>
            </a:pPr>
            <a:r>
              <a:t>数字が示す変化</a:t>
            </a:r>
          </a:p>
        </p:txBody>
      </p:sp>
      <p:sp>
        <p:nvSpPr>
          <p:cNvPr id="9" name="TextBox 8"/>
          <p:cNvSpPr txBox="1"/>
          <p:nvPr/>
        </p:nvSpPr>
        <p:spPr>
          <a:xfrm>
            <a:off x="640080" y="1463040"/>
            <a:ext cx="1280160" cy="365760"/>
          </a:xfrm>
          <a:prstGeom prst="rect">
            <a:avLst/>
          </a:prstGeom>
          <a:noFill/>
        </p:spPr>
        <p:txBody>
          <a:bodyPr wrap="square"/>
          <a:lstStyle/>
          <a:p>
            <a:pPr algn="l">
              <a:defRPr sz="1600" b="1">
                <a:solidFill>
                  <a:srgbClr val="2B5C8A"/>
                </a:solidFill>
                <a:latin typeface="Calibri"/>
              </a:defRPr>
            </a:pPr>
            <a:r>
              <a:t>300校以上</a:t>
            </a:r>
          </a:p>
        </p:txBody>
      </p:sp>
      <p:sp>
        <p:nvSpPr>
          <p:cNvPr id="10" name="TextBox 9"/>
          <p:cNvSpPr txBox="1"/>
          <p:nvPr/>
        </p:nvSpPr>
        <p:spPr>
          <a:xfrm>
            <a:off x="1920240" y="1499616"/>
            <a:ext cx="2468880" cy="320040"/>
          </a:xfrm>
          <a:prstGeom prst="rect">
            <a:avLst/>
          </a:prstGeom>
          <a:noFill/>
        </p:spPr>
        <p:txBody>
          <a:bodyPr wrap="square"/>
          <a:lstStyle/>
          <a:p>
            <a:pPr algn="l">
              <a:defRPr sz="1100" b="0">
                <a:solidFill>
                  <a:srgbClr val="333333"/>
                </a:solidFill>
                <a:latin typeface="Calibri"/>
              </a:defRPr>
            </a:pPr>
            <a:r>
              <a:t>全国の通信制高校の数</a:t>
            </a:r>
          </a:p>
        </p:txBody>
      </p:sp>
      <p:sp>
        <p:nvSpPr>
          <p:cNvPr id="11" name="TextBox 10"/>
          <p:cNvSpPr txBox="1"/>
          <p:nvPr/>
        </p:nvSpPr>
        <p:spPr>
          <a:xfrm>
            <a:off x="640080" y="1874520"/>
            <a:ext cx="1280160" cy="365760"/>
          </a:xfrm>
          <a:prstGeom prst="rect">
            <a:avLst/>
          </a:prstGeom>
          <a:noFill/>
        </p:spPr>
        <p:txBody>
          <a:bodyPr wrap="square"/>
          <a:lstStyle/>
          <a:p>
            <a:pPr algn="l">
              <a:defRPr sz="1600" b="1">
                <a:solidFill>
                  <a:srgbClr val="2B5C8A"/>
                </a:solidFill>
                <a:latin typeface="Calibri"/>
              </a:defRPr>
            </a:pPr>
            <a:r>
              <a:t>26.5万人</a:t>
            </a:r>
          </a:p>
        </p:txBody>
      </p:sp>
      <p:sp>
        <p:nvSpPr>
          <p:cNvPr id="12" name="TextBox 11"/>
          <p:cNvSpPr txBox="1"/>
          <p:nvPr/>
        </p:nvSpPr>
        <p:spPr>
          <a:xfrm>
            <a:off x="1920240" y="1911096"/>
            <a:ext cx="2468880" cy="320040"/>
          </a:xfrm>
          <a:prstGeom prst="rect">
            <a:avLst/>
          </a:prstGeom>
          <a:noFill/>
        </p:spPr>
        <p:txBody>
          <a:bodyPr wrap="square"/>
          <a:lstStyle/>
          <a:p>
            <a:pPr algn="l">
              <a:defRPr sz="1100" b="0">
                <a:solidFill>
                  <a:srgbClr val="333333"/>
                </a:solidFill>
                <a:latin typeface="Calibri"/>
              </a:defRPr>
            </a:pPr>
            <a:r>
              <a:t>通信制で学ぶ高校生（2024年）</a:t>
            </a:r>
          </a:p>
        </p:txBody>
      </p:sp>
      <p:sp>
        <p:nvSpPr>
          <p:cNvPr id="13" name="TextBox 12"/>
          <p:cNvSpPr txBox="1"/>
          <p:nvPr/>
        </p:nvSpPr>
        <p:spPr>
          <a:xfrm>
            <a:off x="640080" y="2286000"/>
            <a:ext cx="1280160" cy="365760"/>
          </a:xfrm>
          <a:prstGeom prst="rect">
            <a:avLst/>
          </a:prstGeom>
          <a:noFill/>
        </p:spPr>
        <p:txBody>
          <a:bodyPr wrap="square"/>
          <a:lstStyle/>
          <a:p>
            <a:pPr algn="l">
              <a:defRPr sz="1600" b="1">
                <a:solidFill>
                  <a:srgbClr val="2B5C8A"/>
                </a:solidFill>
                <a:latin typeface="Calibri"/>
              </a:defRPr>
            </a:pPr>
            <a:r>
              <a:t>6.6%</a:t>
            </a:r>
          </a:p>
        </p:txBody>
      </p:sp>
      <p:sp>
        <p:nvSpPr>
          <p:cNvPr id="14" name="TextBox 13"/>
          <p:cNvSpPr txBox="1"/>
          <p:nvPr/>
        </p:nvSpPr>
        <p:spPr>
          <a:xfrm>
            <a:off x="1920240" y="2322576"/>
            <a:ext cx="2468880" cy="320040"/>
          </a:xfrm>
          <a:prstGeom prst="rect">
            <a:avLst/>
          </a:prstGeom>
          <a:noFill/>
        </p:spPr>
        <p:txBody>
          <a:bodyPr wrap="square"/>
          <a:lstStyle/>
          <a:p>
            <a:pPr algn="l">
              <a:defRPr sz="1100" b="0">
                <a:solidFill>
                  <a:srgbClr val="333333"/>
                </a:solidFill>
                <a:latin typeface="Calibri"/>
              </a:defRPr>
            </a:pPr>
            <a:r>
              <a:t>高校生全体に占める割合</a:t>
            </a:r>
          </a:p>
        </p:txBody>
      </p:sp>
      <p:sp>
        <p:nvSpPr>
          <p:cNvPr id="15" name="TextBox 14"/>
          <p:cNvSpPr txBox="1"/>
          <p:nvPr/>
        </p:nvSpPr>
        <p:spPr>
          <a:xfrm>
            <a:off x="640080" y="2697480"/>
            <a:ext cx="1280160" cy="365760"/>
          </a:xfrm>
          <a:prstGeom prst="rect">
            <a:avLst/>
          </a:prstGeom>
          <a:noFill/>
        </p:spPr>
        <p:txBody>
          <a:bodyPr wrap="square"/>
          <a:lstStyle/>
          <a:p>
            <a:pPr algn="l">
              <a:defRPr sz="1600" b="1">
                <a:solidFill>
                  <a:srgbClr val="2B5C8A"/>
                </a:solidFill>
                <a:latin typeface="Calibri"/>
              </a:defRPr>
            </a:pPr>
            <a:r>
              <a:t>10年で1.5倍</a:t>
            </a:r>
          </a:p>
        </p:txBody>
      </p:sp>
      <p:sp>
        <p:nvSpPr>
          <p:cNvPr id="16" name="TextBox 15"/>
          <p:cNvSpPr txBox="1"/>
          <p:nvPr/>
        </p:nvSpPr>
        <p:spPr>
          <a:xfrm>
            <a:off x="1920240" y="2734056"/>
            <a:ext cx="2468880" cy="320040"/>
          </a:xfrm>
          <a:prstGeom prst="rect">
            <a:avLst/>
          </a:prstGeom>
          <a:noFill/>
        </p:spPr>
        <p:txBody>
          <a:bodyPr wrap="square"/>
          <a:lstStyle/>
          <a:p>
            <a:pPr algn="l">
              <a:defRPr sz="1100" b="0">
                <a:solidFill>
                  <a:srgbClr val="333333"/>
                </a:solidFill>
                <a:latin typeface="Calibri"/>
              </a:defRPr>
            </a:pPr>
            <a:r>
              <a:t>通信制の生徒数増加率</a:t>
            </a:r>
          </a:p>
        </p:txBody>
      </p:sp>
      <p:sp>
        <p:nvSpPr>
          <p:cNvPr id="17" name="Rounded Rectangle 16"/>
          <p:cNvSpPr/>
          <p:nvPr/>
        </p:nvSpPr>
        <p:spPr>
          <a:xfrm>
            <a:off x="4572000" y="1005840"/>
            <a:ext cx="4114800" cy="3520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1051560"/>
            <a:ext cx="3931920" cy="365760"/>
          </a:xfrm>
          <a:prstGeom prst="rect">
            <a:avLst/>
          </a:prstGeom>
          <a:noFill/>
        </p:spPr>
        <p:txBody>
          <a:bodyPr wrap="square"/>
          <a:lstStyle/>
          <a:p>
            <a:pPr algn="l">
              <a:defRPr sz="1600" b="1">
                <a:solidFill>
                  <a:srgbClr val="C46B2B"/>
                </a:solidFill>
                <a:latin typeface="Calibri"/>
              </a:defRPr>
            </a:pPr>
            <a:r>
              <a:t>でも、こんな不安ありませんか？</a:t>
            </a:r>
          </a:p>
        </p:txBody>
      </p:sp>
      <p:sp>
        <p:nvSpPr>
          <p:cNvPr id="19" name="TextBox 18"/>
          <p:cNvSpPr txBox="1"/>
          <p:nvPr/>
        </p:nvSpPr>
        <p:spPr>
          <a:xfrm>
            <a:off x="4754880" y="1463040"/>
            <a:ext cx="3748440" cy="365760"/>
          </a:xfrm>
          <a:prstGeom prst="rect">
            <a:avLst/>
          </a:prstGeom>
          <a:noFill/>
        </p:spPr>
        <p:txBody>
          <a:bodyPr wrap="square"/>
          <a:lstStyle/>
          <a:p>
            <a:pPr algn="l">
              <a:defRPr sz="1200" b="0">
                <a:solidFill>
                  <a:srgbClr val="333333"/>
                </a:solidFill>
                <a:latin typeface="Calibri"/>
              </a:defRPr>
            </a:pPr>
            <a:r>
              <a:t>  「通信制」って聞くとネガティブなイメージ…</a:t>
            </a:r>
          </a:p>
        </p:txBody>
      </p:sp>
      <p:sp>
        <p:nvSpPr>
          <p:cNvPr id="20" name="TextBox 19"/>
          <p:cNvSpPr txBox="1"/>
          <p:nvPr/>
        </p:nvSpPr>
        <p:spPr>
          <a:xfrm>
            <a:off x="4754880" y="1828800"/>
            <a:ext cx="3748440" cy="365760"/>
          </a:xfrm>
          <a:prstGeom prst="rect">
            <a:avLst/>
          </a:prstGeom>
          <a:noFill/>
        </p:spPr>
        <p:txBody>
          <a:bodyPr wrap="square"/>
          <a:lstStyle/>
          <a:p>
            <a:pPr algn="l">
              <a:defRPr sz="1200" b="0">
                <a:solidFill>
                  <a:srgbClr val="333333"/>
                </a:solidFill>
                <a:latin typeface="Calibri"/>
              </a:defRPr>
            </a:pPr>
            <a:r>
              <a:t>  N高やゼロ高は有名だけど、自分に合う？</a:t>
            </a:r>
          </a:p>
        </p:txBody>
      </p:sp>
      <p:sp>
        <p:nvSpPr>
          <p:cNvPr id="21" name="TextBox 20"/>
          <p:cNvSpPr txBox="1"/>
          <p:nvPr/>
        </p:nvSpPr>
        <p:spPr>
          <a:xfrm>
            <a:off x="4754880" y="2194560"/>
            <a:ext cx="3748440" cy="365760"/>
          </a:xfrm>
          <a:prstGeom prst="rect">
            <a:avLst/>
          </a:prstGeom>
          <a:noFill/>
        </p:spPr>
        <p:txBody>
          <a:bodyPr wrap="square"/>
          <a:lstStyle/>
          <a:p>
            <a:pPr algn="l">
              <a:defRPr sz="1200" b="0">
                <a:solidFill>
                  <a:srgbClr val="333333"/>
                </a:solidFill>
                <a:latin typeface="Calibri"/>
              </a:defRPr>
            </a:pPr>
            <a:r>
              <a:t>  学費は全日制と比べてどうなの？</a:t>
            </a:r>
          </a:p>
        </p:txBody>
      </p:sp>
      <p:sp>
        <p:nvSpPr>
          <p:cNvPr id="22" name="TextBox 21"/>
          <p:cNvSpPr txBox="1"/>
          <p:nvPr/>
        </p:nvSpPr>
        <p:spPr>
          <a:xfrm>
            <a:off x="4754880" y="2560320"/>
            <a:ext cx="3748440" cy="365760"/>
          </a:xfrm>
          <a:prstGeom prst="rect">
            <a:avLst/>
          </a:prstGeom>
          <a:noFill/>
        </p:spPr>
        <p:txBody>
          <a:bodyPr wrap="square"/>
          <a:lstStyle/>
          <a:p>
            <a:pPr algn="l">
              <a:defRPr sz="1200" b="0">
                <a:solidFill>
                  <a:srgbClr val="333333"/>
                </a:solidFill>
                <a:latin typeface="Calibri"/>
              </a:defRPr>
            </a:pPr>
            <a:r>
              <a:t>  卒業後の進路は大丈夫？</a:t>
            </a:r>
          </a:p>
        </p:txBody>
      </p:sp>
      <p:sp>
        <p:nvSpPr>
          <p:cNvPr id="23" name="TextBox 22"/>
          <p:cNvSpPr txBox="1"/>
          <p:nvPr/>
        </p:nvSpPr>
        <p:spPr>
          <a:xfrm>
            <a:off x="4754880" y="2926080"/>
            <a:ext cx="3748440" cy="365760"/>
          </a:xfrm>
          <a:prstGeom prst="rect">
            <a:avLst/>
          </a:prstGeom>
          <a:noFill/>
        </p:spPr>
        <p:txBody>
          <a:bodyPr wrap="square"/>
          <a:lstStyle/>
          <a:p>
            <a:pPr algn="l">
              <a:defRPr sz="1200" b="0">
                <a:solidFill>
                  <a:srgbClr val="333333"/>
                </a:solidFill>
                <a:latin typeface="Calibri"/>
              </a:defRPr>
            </a:pPr>
            <a:r>
              <a:t>  友達はできるの？</a:t>
            </a:r>
          </a:p>
        </p:txBody>
      </p:sp>
      <p:sp>
        <p:nvSpPr>
          <p:cNvPr id="24" name="Rounded Rectangle 23"/>
          <p:cNvSpPr/>
          <p:nvPr/>
        </p:nvSpPr>
        <p:spPr>
          <a:xfrm>
            <a:off x="1828800" y="3749040"/>
            <a:ext cx="5486400" cy="457200"/>
          </a:xfrm>
          <a:prstGeom prst="round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0" y="3749040"/>
            <a:ext cx="5486400" cy="457200"/>
          </a:xfrm>
          <a:prstGeom prst="rect">
            <a:avLst/>
          </a:prstGeom>
          <a:noFill/>
        </p:spPr>
        <p:txBody>
          <a:bodyPr wrap="square"/>
          <a:lstStyle/>
          <a:p>
            <a:pPr algn="ctr">
              <a:defRPr sz="1300" b="1">
                <a:solidFill>
                  <a:srgbClr val="FFFFFF"/>
                </a:solidFill>
                <a:latin typeface="Calibri"/>
              </a:defRPr>
            </a:pPr>
            <a:r>
              <a:t>この動画を見れば、すべての不安に答えが見つかります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N高等学校・S高等学校グループ【本音分析】</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数字の裏側を読み解く</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通信制高校選び完全ガイド【前編】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2</a:t>
            </a:r>
          </a:p>
        </p:txBody>
      </p:sp>
      <p:sp>
        <p:nvSpPr>
          <p:cNvPr id="8" name="Rounded Rectangle 7"/>
          <p:cNvSpPr/>
          <p:nvPr/>
        </p:nvSpPr>
        <p:spPr>
          <a:xfrm>
            <a:off x="457200" y="1005840"/>
            <a:ext cx="3931920" cy="12801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3748440" cy="320040"/>
          </a:xfrm>
          <a:prstGeom prst="rect">
            <a:avLst/>
          </a:prstGeom>
          <a:noFill/>
        </p:spPr>
        <p:txBody>
          <a:bodyPr wrap="square"/>
          <a:lstStyle/>
          <a:p>
            <a:pPr algn="l">
              <a:defRPr sz="1400" b="1">
                <a:solidFill>
                  <a:srgbClr val="3A7D5E"/>
                </a:solidFill>
                <a:latin typeface="Calibri"/>
              </a:defRPr>
            </a:pPr>
            <a:r>
              <a:t>強み</a:t>
            </a:r>
          </a:p>
        </p:txBody>
      </p:sp>
      <p:sp>
        <p:nvSpPr>
          <p:cNvPr id="10" name="TextBox 9"/>
          <p:cNvSpPr txBox="1"/>
          <p:nvPr/>
        </p:nvSpPr>
        <p:spPr>
          <a:xfrm>
            <a:off x="640080" y="1371600"/>
            <a:ext cx="3657600" cy="274320"/>
          </a:xfrm>
          <a:prstGeom prst="rect">
            <a:avLst/>
          </a:prstGeom>
          <a:noFill/>
        </p:spPr>
        <p:txBody>
          <a:bodyPr wrap="square"/>
          <a:lstStyle/>
          <a:p>
            <a:pPr algn="l">
              <a:defRPr sz="1100" b="0">
                <a:solidFill>
                  <a:srgbClr val="333333"/>
                </a:solidFill>
                <a:latin typeface="Calibri"/>
              </a:defRPr>
            </a:pPr>
            <a:r>
              <a:t>  先進的オンライン学習 + 豊富な課外活動</a:t>
            </a:r>
          </a:p>
        </p:txBody>
      </p:sp>
      <p:sp>
        <p:nvSpPr>
          <p:cNvPr id="11" name="TextBox 10"/>
          <p:cNvSpPr txBox="1"/>
          <p:nvPr/>
        </p:nvSpPr>
        <p:spPr>
          <a:xfrm>
            <a:off x="640080" y="1645920"/>
            <a:ext cx="3657600" cy="274320"/>
          </a:xfrm>
          <a:prstGeom prst="rect">
            <a:avLst/>
          </a:prstGeom>
          <a:noFill/>
        </p:spPr>
        <p:txBody>
          <a:bodyPr wrap="square"/>
          <a:lstStyle/>
          <a:p>
            <a:pPr algn="l">
              <a:defRPr sz="1100" b="0">
                <a:solidFill>
                  <a:srgbClr val="333333"/>
                </a:solidFill>
                <a:latin typeface="Calibri"/>
              </a:defRPr>
            </a:pPr>
            <a:r>
              <a:t>  プログラミング・起業の実践カリキュラム</a:t>
            </a:r>
          </a:p>
        </p:txBody>
      </p:sp>
      <p:sp>
        <p:nvSpPr>
          <p:cNvPr id="12" name="TextBox 11"/>
          <p:cNvSpPr txBox="1"/>
          <p:nvPr/>
        </p:nvSpPr>
        <p:spPr>
          <a:xfrm>
            <a:off x="640080" y="1920240"/>
            <a:ext cx="3657600" cy="274320"/>
          </a:xfrm>
          <a:prstGeom prst="rect">
            <a:avLst/>
          </a:prstGeom>
          <a:noFill/>
        </p:spPr>
        <p:txBody>
          <a:bodyPr wrap="square"/>
          <a:lstStyle/>
          <a:p>
            <a:pPr algn="l">
              <a:defRPr sz="1100" b="0">
                <a:solidFill>
                  <a:srgbClr val="333333"/>
                </a:solidFill>
                <a:latin typeface="Calibri"/>
              </a:defRPr>
            </a:pPr>
            <a:r>
              <a:t>  全国どこからでも入学可能</a:t>
            </a:r>
          </a:p>
        </p:txBody>
      </p:sp>
      <p:sp>
        <p:nvSpPr>
          <p:cNvPr id="13" name="Rounded Rectangle 12"/>
          <p:cNvSpPr/>
          <p:nvPr/>
        </p:nvSpPr>
        <p:spPr>
          <a:xfrm>
            <a:off x="4663440" y="1005840"/>
            <a:ext cx="3931920" cy="128016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051560"/>
            <a:ext cx="3748440" cy="320040"/>
          </a:xfrm>
          <a:prstGeom prst="rect">
            <a:avLst/>
          </a:prstGeom>
          <a:noFill/>
        </p:spPr>
        <p:txBody>
          <a:bodyPr wrap="square"/>
          <a:lstStyle/>
          <a:p>
            <a:pPr algn="l">
              <a:defRPr sz="1400" b="1">
                <a:solidFill>
                  <a:srgbClr val="C62828"/>
                </a:solidFill>
                <a:latin typeface="Calibri"/>
              </a:defRPr>
            </a:pPr>
            <a:r>
              <a:t>注意点</a:t>
            </a:r>
          </a:p>
        </p:txBody>
      </p:sp>
      <p:sp>
        <p:nvSpPr>
          <p:cNvPr id="15" name="TextBox 14"/>
          <p:cNvSpPr txBox="1"/>
          <p:nvPr/>
        </p:nvSpPr>
        <p:spPr>
          <a:xfrm>
            <a:off x="4846320" y="1371600"/>
            <a:ext cx="3657600" cy="274320"/>
          </a:xfrm>
          <a:prstGeom prst="rect">
            <a:avLst/>
          </a:prstGeom>
          <a:noFill/>
        </p:spPr>
        <p:txBody>
          <a:bodyPr wrap="square"/>
          <a:lstStyle/>
          <a:p>
            <a:pPr algn="l">
              <a:defRPr sz="1100" b="0">
                <a:solidFill>
                  <a:srgbClr val="333333"/>
                </a:solidFill>
                <a:latin typeface="Calibri"/>
              </a:defRPr>
            </a:pPr>
            <a:r>
              <a:t>  自己管理能力が必須（ネットコース）</a:t>
            </a:r>
          </a:p>
        </p:txBody>
      </p:sp>
      <p:sp>
        <p:nvSpPr>
          <p:cNvPr id="16" name="TextBox 15"/>
          <p:cNvSpPr txBox="1"/>
          <p:nvPr/>
        </p:nvSpPr>
        <p:spPr>
          <a:xfrm>
            <a:off x="4846320" y="1645920"/>
            <a:ext cx="3657600" cy="274320"/>
          </a:xfrm>
          <a:prstGeom prst="rect">
            <a:avLst/>
          </a:prstGeom>
          <a:noFill/>
        </p:spPr>
        <p:txBody>
          <a:bodyPr wrap="square"/>
          <a:lstStyle/>
          <a:p>
            <a:pPr algn="l">
              <a:defRPr sz="1100" b="0">
                <a:solidFill>
                  <a:srgbClr val="333333"/>
                </a:solidFill>
                <a:latin typeface="Calibri"/>
              </a:defRPr>
            </a:pPr>
            <a:r>
              <a:t>  対面サポートが限定的になりがち</a:t>
            </a:r>
          </a:p>
        </p:txBody>
      </p:sp>
      <p:sp>
        <p:nvSpPr>
          <p:cNvPr id="17" name="TextBox 16"/>
          <p:cNvSpPr txBox="1"/>
          <p:nvPr/>
        </p:nvSpPr>
        <p:spPr>
          <a:xfrm>
            <a:off x="4846320" y="1920240"/>
            <a:ext cx="3657600" cy="274320"/>
          </a:xfrm>
          <a:prstGeom prst="rect">
            <a:avLst/>
          </a:prstGeom>
          <a:noFill/>
        </p:spPr>
        <p:txBody>
          <a:bodyPr wrap="square"/>
          <a:lstStyle/>
          <a:p>
            <a:pPr algn="l">
              <a:defRPr sz="1100" b="0">
                <a:solidFill>
                  <a:srgbClr val="333333"/>
                </a:solidFill>
                <a:latin typeface="Calibri"/>
              </a:defRPr>
            </a:pPr>
            <a:r>
              <a:t>  生徒数が多く個別対応に限界あり</a:t>
            </a:r>
          </a:p>
        </p:txBody>
      </p:sp>
      <p:sp>
        <p:nvSpPr>
          <p:cNvPr id="18" name="Rounded Rectangle 17"/>
          <p:cNvSpPr/>
          <p:nvPr/>
        </p:nvSpPr>
        <p:spPr>
          <a:xfrm>
            <a:off x="457200" y="2468880"/>
            <a:ext cx="822960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468880"/>
            <a:ext cx="8229600" cy="320040"/>
          </a:xfrm>
          <a:prstGeom prst="rect">
            <a:avLst/>
          </a:prstGeom>
          <a:noFill/>
        </p:spPr>
        <p:txBody>
          <a:bodyPr wrap="square"/>
          <a:lstStyle/>
          <a:p>
            <a:pPr algn="l">
              <a:defRPr sz="1400" b="1">
                <a:solidFill>
                  <a:srgbClr val="8B7536"/>
                </a:solidFill>
                <a:latin typeface="Calibri"/>
              </a:defRPr>
            </a:pPr>
            <a:r>
              <a:t>数字の裏側を読み解く</a:t>
            </a:r>
          </a:p>
        </p:txBody>
      </p:sp>
      <p:sp>
        <p:nvSpPr>
          <p:cNvPr id="20" name="Rounded Rectangle 19"/>
          <p:cNvSpPr/>
          <p:nvPr/>
        </p:nvSpPr>
        <p:spPr>
          <a:xfrm>
            <a:off x="548640" y="2834640"/>
            <a:ext cx="1920240" cy="164592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834640"/>
            <a:ext cx="1920240" cy="45720"/>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926080"/>
            <a:ext cx="1828800" cy="457200"/>
          </a:xfrm>
          <a:prstGeom prst="rect">
            <a:avLst/>
          </a:prstGeom>
          <a:noFill/>
        </p:spPr>
        <p:txBody>
          <a:bodyPr wrap="square"/>
          <a:lstStyle/>
          <a:p>
            <a:pPr algn="ctr">
              <a:defRPr sz="1100" b="1">
                <a:solidFill>
                  <a:srgbClr val="2B5C8A"/>
                </a:solidFill>
                <a:latin typeface="Calibri"/>
              </a:defRPr>
            </a:pPr>
            <a:r>
              <a:t>在籍2.7万人</a:t>
            </a:r>
          </a:p>
        </p:txBody>
      </p:sp>
      <p:sp>
        <p:nvSpPr>
          <p:cNvPr id="23" name="TextBox 22"/>
          <p:cNvSpPr txBox="1"/>
          <p:nvPr/>
        </p:nvSpPr>
        <p:spPr>
          <a:xfrm>
            <a:off x="594360" y="3429000"/>
            <a:ext cx="1828800" cy="960120"/>
          </a:xfrm>
          <a:prstGeom prst="rect">
            <a:avLst/>
          </a:prstGeom>
          <a:noFill/>
        </p:spPr>
        <p:txBody>
          <a:bodyPr wrap="square"/>
          <a:lstStyle/>
          <a:p>
            <a:pPr algn="ctr">
              <a:defRPr sz="900" b="0">
                <a:solidFill>
                  <a:srgbClr val="333333"/>
                </a:solidFill>
                <a:latin typeface="Calibri"/>
              </a:defRPr>
            </a:pPr>
            <a:r>
              <a:t>1学年あたり約9,000人</a:t>
            </a:r>
            <a:br/>
            <a:r>
              <a:t>担任1人あたりの生徒数は</a:t>
            </a:r>
            <a:br/>
            <a:r>
              <a:t>数百人規模になる計算</a:t>
            </a:r>
          </a:p>
        </p:txBody>
      </p:sp>
      <p:sp>
        <p:nvSpPr>
          <p:cNvPr id="24" name="Rounded Rectangle 23"/>
          <p:cNvSpPr/>
          <p:nvPr/>
        </p:nvSpPr>
        <p:spPr>
          <a:xfrm>
            <a:off x="2606040" y="2834640"/>
            <a:ext cx="1920240" cy="164592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06040" y="2834640"/>
            <a:ext cx="1920240" cy="45720"/>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51760" y="2926080"/>
            <a:ext cx="1828800" cy="457200"/>
          </a:xfrm>
          <a:prstGeom prst="rect">
            <a:avLst/>
          </a:prstGeom>
          <a:noFill/>
        </p:spPr>
        <p:txBody>
          <a:bodyPr wrap="square"/>
          <a:lstStyle/>
          <a:p>
            <a:pPr algn="ctr">
              <a:defRPr sz="1100" b="1">
                <a:solidFill>
                  <a:srgbClr val="3A7D5E"/>
                </a:solidFill>
                <a:latin typeface="Calibri"/>
              </a:defRPr>
            </a:pPr>
            <a:r>
              <a:t>ネットコース</a:t>
            </a:r>
            <a:br/>
            <a:r>
              <a:t>年25〜38万円</a:t>
            </a:r>
          </a:p>
        </p:txBody>
      </p:sp>
      <p:sp>
        <p:nvSpPr>
          <p:cNvPr id="27" name="TextBox 26"/>
          <p:cNvSpPr txBox="1"/>
          <p:nvPr/>
        </p:nvSpPr>
        <p:spPr>
          <a:xfrm>
            <a:off x="2651760" y="3429000"/>
            <a:ext cx="1828800" cy="960120"/>
          </a:xfrm>
          <a:prstGeom prst="rect">
            <a:avLst/>
          </a:prstGeom>
          <a:noFill/>
        </p:spPr>
        <p:txBody>
          <a:bodyPr wrap="square"/>
          <a:lstStyle/>
          <a:p>
            <a:pPr algn="ctr">
              <a:defRPr sz="900" b="0">
                <a:solidFill>
                  <a:srgbClr val="333333"/>
                </a:solidFill>
                <a:latin typeface="Calibri"/>
              </a:defRPr>
            </a:pPr>
            <a:r>
              <a:t>月額換算で約2〜3万円</a:t>
            </a:r>
            <a:br/>
            <a:r>
              <a:t>全日制私立の半額以下</a:t>
            </a:r>
            <a:br/>
            <a:r>
              <a:t>ただしサポート校併用で+α</a:t>
            </a:r>
          </a:p>
        </p:txBody>
      </p:sp>
      <p:sp>
        <p:nvSpPr>
          <p:cNvPr id="28" name="Rounded Rectangle 27"/>
          <p:cNvSpPr/>
          <p:nvPr/>
        </p:nvSpPr>
        <p:spPr>
          <a:xfrm>
            <a:off x="4663440" y="2834640"/>
            <a:ext cx="1920240" cy="164592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63440" y="2834640"/>
            <a:ext cx="1920240" cy="45720"/>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60" y="2926080"/>
            <a:ext cx="1828800" cy="457200"/>
          </a:xfrm>
          <a:prstGeom prst="rect">
            <a:avLst/>
          </a:prstGeom>
          <a:noFill/>
        </p:spPr>
        <p:txBody>
          <a:bodyPr wrap="square"/>
          <a:lstStyle/>
          <a:p>
            <a:pPr algn="ctr">
              <a:defRPr sz="1100" b="1">
                <a:solidFill>
                  <a:srgbClr val="C46B2B"/>
                </a:solidFill>
                <a:latin typeface="Calibri"/>
              </a:defRPr>
            </a:pPr>
            <a:r>
              <a:t>難関大合格実績</a:t>
            </a:r>
            <a:br/>
            <a:r>
              <a:t>あり</a:t>
            </a:r>
          </a:p>
        </p:txBody>
      </p:sp>
      <p:sp>
        <p:nvSpPr>
          <p:cNvPr id="31" name="TextBox 30"/>
          <p:cNvSpPr txBox="1"/>
          <p:nvPr/>
        </p:nvSpPr>
        <p:spPr>
          <a:xfrm>
            <a:off x="4709160" y="3429000"/>
            <a:ext cx="1828800" cy="960120"/>
          </a:xfrm>
          <a:prstGeom prst="rect">
            <a:avLst/>
          </a:prstGeom>
          <a:noFill/>
        </p:spPr>
        <p:txBody>
          <a:bodyPr wrap="square"/>
          <a:lstStyle/>
          <a:p>
            <a:pPr algn="ctr">
              <a:defRPr sz="900" b="0">
                <a:solidFill>
                  <a:srgbClr val="333333"/>
                </a:solidFill>
                <a:latin typeface="Calibri"/>
              </a:defRPr>
            </a:pPr>
            <a:r>
              <a:t>東大・早慶の実績はあるが</a:t>
            </a:r>
            <a:br/>
            <a:r>
              <a:t>全体の合格率は非公開</a:t>
            </a:r>
            <a:br/>
            <a:r>
              <a:t>自主学習力が鍵</a:t>
            </a:r>
          </a:p>
        </p:txBody>
      </p:sp>
      <p:sp>
        <p:nvSpPr>
          <p:cNvPr id="32" name="Rounded Rectangle 31"/>
          <p:cNvSpPr/>
          <p:nvPr/>
        </p:nvSpPr>
        <p:spPr>
          <a:xfrm>
            <a:off x="6720840" y="2834640"/>
            <a:ext cx="1920240" cy="164592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20840" y="2834640"/>
            <a:ext cx="1920240" cy="45720"/>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0" y="2926080"/>
            <a:ext cx="1828800" cy="457200"/>
          </a:xfrm>
          <a:prstGeom prst="rect">
            <a:avLst/>
          </a:prstGeom>
          <a:noFill/>
        </p:spPr>
        <p:txBody>
          <a:bodyPr wrap="square"/>
          <a:lstStyle/>
          <a:p>
            <a:pPr algn="ctr">
              <a:defRPr sz="1100" b="1">
                <a:solidFill>
                  <a:srgbClr val="6B4C9A"/>
                </a:solidFill>
                <a:latin typeface="Calibri"/>
              </a:defRPr>
            </a:pPr>
            <a:r>
              <a:t>口コミ分析で</a:t>
            </a:r>
            <a:br/>
            <a:r>
              <a:t>見えたパターン</a:t>
            </a:r>
          </a:p>
        </p:txBody>
      </p:sp>
      <p:sp>
        <p:nvSpPr>
          <p:cNvPr id="35" name="TextBox 34"/>
          <p:cNvSpPr txBox="1"/>
          <p:nvPr/>
        </p:nvSpPr>
        <p:spPr>
          <a:xfrm>
            <a:off x="6766560" y="3429000"/>
            <a:ext cx="1828800" cy="960120"/>
          </a:xfrm>
          <a:prstGeom prst="rect">
            <a:avLst/>
          </a:prstGeom>
          <a:noFill/>
        </p:spPr>
        <p:txBody>
          <a:bodyPr wrap="square"/>
          <a:lstStyle/>
          <a:p>
            <a:pPr algn="ctr">
              <a:defRPr sz="900" b="0">
                <a:solidFill>
                  <a:srgbClr val="333333"/>
                </a:solidFill>
                <a:latin typeface="Calibri"/>
              </a:defRPr>
            </a:pPr>
            <a:r>
              <a:t>「自由すぎて不安」が</a:t>
            </a:r>
            <a:br/>
            <a:r>
              <a:t>最多の不満ポイント</a:t>
            </a:r>
            <a:br/>
            <a:r>
              <a:t>向き不向きが明確に分かれる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ゼロ高等学院【本音分析】</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堀江氏の教育論 × 体験型学習の実態</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通信制高校選び完全ガイド【前編】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3</a:t>
            </a:r>
          </a:p>
        </p:txBody>
      </p:sp>
      <p:sp>
        <p:nvSpPr>
          <p:cNvPr id="8" name="Rounded Rectangle 7"/>
          <p:cNvSpPr/>
          <p:nvPr/>
        </p:nvSpPr>
        <p:spPr>
          <a:xfrm>
            <a:off x="457200" y="1005840"/>
            <a:ext cx="5120640" cy="1280160"/>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4937760" cy="320040"/>
          </a:xfrm>
          <a:prstGeom prst="rect">
            <a:avLst/>
          </a:prstGeom>
          <a:noFill/>
        </p:spPr>
        <p:txBody>
          <a:bodyPr wrap="square"/>
          <a:lstStyle/>
          <a:p>
            <a:pPr algn="l">
              <a:defRPr sz="1400" b="1">
                <a:solidFill>
                  <a:srgbClr val="8B7536"/>
                </a:solidFill>
                <a:latin typeface="Calibri"/>
              </a:defRPr>
            </a:pPr>
            <a:r>
              <a:t>ゼロ高のコンセプト</a:t>
            </a:r>
          </a:p>
        </p:txBody>
      </p:sp>
      <p:sp>
        <p:nvSpPr>
          <p:cNvPr id="10" name="TextBox 9"/>
          <p:cNvSpPr txBox="1"/>
          <p:nvPr/>
        </p:nvSpPr>
        <p:spPr>
          <a:xfrm>
            <a:off x="640080" y="1371600"/>
            <a:ext cx="4846320" cy="274320"/>
          </a:xfrm>
          <a:prstGeom prst="rect">
            <a:avLst/>
          </a:prstGeom>
          <a:noFill/>
        </p:spPr>
        <p:txBody>
          <a:bodyPr wrap="square"/>
          <a:lstStyle/>
          <a:p>
            <a:pPr algn="l">
              <a:defRPr sz="1100" b="0">
                <a:solidFill>
                  <a:srgbClr val="333333"/>
                </a:solidFill>
                <a:latin typeface="Calibri"/>
              </a:defRPr>
            </a:pPr>
            <a:r>
              <a:t>  「偏差値0」= 座学にとらわれない教育理念</a:t>
            </a:r>
          </a:p>
        </p:txBody>
      </p:sp>
      <p:sp>
        <p:nvSpPr>
          <p:cNvPr id="11" name="TextBox 10"/>
          <p:cNvSpPr txBox="1"/>
          <p:nvPr/>
        </p:nvSpPr>
        <p:spPr>
          <a:xfrm>
            <a:off x="640080" y="1645920"/>
            <a:ext cx="4846320" cy="274320"/>
          </a:xfrm>
          <a:prstGeom prst="rect">
            <a:avLst/>
          </a:prstGeom>
          <a:noFill/>
        </p:spPr>
        <p:txBody>
          <a:bodyPr wrap="square"/>
          <a:lstStyle/>
          <a:p>
            <a:pPr algn="l">
              <a:defRPr sz="1100" b="0">
                <a:solidFill>
                  <a:srgbClr val="333333"/>
                </a:solidFill>
                <a:latin typeface="Calibri"/>
              </a:defRPr>
            </a:pPr>
            <a:r>
              <a:t>  起業体験・地方創生プロジェクト等の実践中心</a:t>
            </a:r>
          </a:p>
        </p:txBody>
      </p:sp>
      <p:sp>
        <p:nvSpPr>
          <p:cNvPr id="12" name="TextBox 11"/>
          <p:cNvSpPr txBox="1"/>
          <p:nvPr/>
        </p:nvSpPr>
        <p:spPr>
          <a:xfrm>
            <a:off x="640080" y="1920240"/>
            <a:ext cx="4846320" cy="274320"/>
          </a:xfrm>
          <a:prstGeom prst="rect">
            <a:avLst/>
          </a:prstGeom>
          <a:noFill/>
        </p:spPr>
        <p:txBody>
          <a:bodyPr wrap="square"/>
          <a:lstStyle/>
          <a:p>
            <a:pPr algn="l">
              <a:defRPr sz="1100" b="0">
                <a:solidFill>
                  <a:srgbClr val="333333"/>
                </a:solidFill>
                <a:latin typeface="Calibri"/>
              </a:defRPr>
            </a:pPr>
            <a:r>
              <a:t>  堀江貴文氏が主宰、少人数制で密度の濃い体験</a:t>
            </a:r>
          </a:p>
        </p:txBody>
      </p:sp>
      <p:sp>
        <p:nvSpPr>
          <p:cNvPr id="13" name="Rounded Rectangle 12"/>
          <p:cNvSpPr/>
          <p:nvPr/>
        </p:nvSpPr>
        <p:spPr>
          <a:xfrm>
            <a:off x="457200" y="2468880"/>
            <a:ext cx="3931920" cy="21031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514600"/>
            <a:ext cx="3748440" cy="274320"/>
          </a:xfrm>
          <a:prstGeom prst="rect">
            <a:avLst/>
          </a:prstGeom>
          <a:noFill/>
        </p:spPr>
        <p:txBody>
          <a:bodyPr wrap="square"/>
          <a:lstStyle/>
          <a:p>
            <a:pPr algn="l">
              <a:defRPr sz="1300" b="1">
                <a:solidFill>
                  <a:srgbClr val="3A7D5E"/>
                </a:solidFill>
                <a:latin typeface="Calibri"/>
              </a:defRPr>
            </a:pPr>
            <a:r>
              <a:t>こんな人に向いている</a:t>
            </a:r>
          </a:p>
        </p:txBody>
      </p:sp>
      <p:sp>
        <p:nvSpPr>
          <p:cNvPr id="15" name="TextBox 14"/>
          <p:cNvSpPr txBox="1"/>
          <p:nvPr/>
        </p:nvSpPr>
        <p:spPr>
          <a:xfrm>
            <a:off x="640080" y="2834640"/>
            <a:ext cx="3657600" cy="274320"/>
          </a:xfrm>
          <a:prstGeom prst="rect">
            <a:avLst/>
          </a:prstGeom>
          <a:noFill/>
        </p:spPr>
        <p:txBody>
          <a:bodyPr wrap="square"/>
          <a:lstStyle/>
          <a:p>
            <a:pPr algn="l">
              <a:defRPr sz="1000" b="0">
                <a:solidFill>
                  <a:srgbClr val="333333"/>
                </a:solidFill>
                <a:latin typeface="Calibri"/>
              </a:defRPr>
            </a:pPr>
            <a:r>
              <a:t>  やりたいことが明確にある</a:t>
            </a:r>
          </a:p>
        </p:txBody>
      </p:sp>
      <p:sp>
        <p:nvSpPr>
          <p:cNvPr id="16" name="TextBox 15"/>
          <p:cNvSpPr txBox="1"/>
          <p:nvPr/>
        </p:nvSpPr>
        <p:spPr>
          <a:xfrm>
            <a:off x="640080" y="3108960"/>
            <a:ext cx="3657600" cy="274320"/>
          </a:xfrm>
          <a:prstGeom prst="rect">
            <a:avLst/>
          </a:prstGeom>
          <a:noFill/>
        </p:spPr>
        <p:txBody>
          <a:bodyPr wrap="square"/>
          <a:lstStyle/>
          <a:p>
            <a:pPr algn="l">
              <a:defRPr sz="1000" b="0">
                <a:solidFill>
                  <a:srgbClr val="333333"/>
                </a:solidFill>
                <a:latin typeface="Calibri"/>
              </a:defRPr>
            </a:pPr>
            <a:r>
              <a:t>  行動力・チャレンジ精神がある</a:t>
            </a:r>
          </a:p>
        </p:txBody>
      </p:sp>
      <p:sp>
        <p:nvSpPr>
          <p:cNvPr id="17" name="TextBox 16"/>
          <p:cNvSpPr txBox="1"/>
          <p:nvPr/>
        </p:nvSpPr>
        <p:spPr>
          <a:xfrm>
            <a:off x="640080" y="3383280"/>
            <a:ext cx="3657600" cy="274320"/>
          </a:xfrm>
          <a:prstGeom prst="rect">
            <a:avLst/>
          </a:prstGeom>
          <a:noFill/>
        </p:spPr>
        <p:txBody>
          <a:bodyPr wrap="square"/>
          <a:lstStyle/>
          <a:p>
            <a:pPr algn="l">
              <a:defRPr sz="1000" b="0">
                <a:solidFill>
                  <a:srgbClr val="333333"/>
                </a:solidFill>
                <a:latin typeface="Calibri"/>
              </a:defRPr>
            </a:pPr>
            <a:r>
              <a:t>  起業やフリーランスに興味がある</a:t>
            </a:r>
          </a:p>
        </p:txBody>
      </p:sp>
      <p:sp>
        <p:nvSpPr>
          <p:cNvPr id="18" name="TextBox 17"/>
          <p:cNvSpPr txBox="1"/>
          <p:nvPr/>
        </p:nvSpPr>
        <p:spPr>
          <a:xfrm>
            <a:off x="640080" y="3657600"/>
            <a:ext cx="3657600" cy="274320"/>
          </a:xfrm>
          <a:prstGeom prst="rect">
            <a:avLst/>
          </a:prstGeom>
          <a:noFill/>
        </p:spPr>
        <p:txBody>
          <a:bodyPr wrap="square"/>
          <a:lstStyle/>
          <a:p>
            <a:pPr algn="l">
              <a:defRPr sz="1000" b="0">
                <a:solidFill>
                  <a:srgbClr val="333333"/>
                </a:solidFill>
                <a:latin typeface="Calibri"/>
              </a:defRPr>
            </a:pPr>
            <a:r>
              <a:t>  「とにかくやってみる」タイプ</a:t>
            </a:r>
          </a:p>
        </p:txBody>
      </p:sp>
      <p:sp>
        <p:nvSpPr>
          <p:cNvPr id="19" name="Rounded Rectangle 18"/>
          <p:cNvSpPr/>
          <p:nvPr/>
        </p:nvSpPr>
        <p:spPr>
          <a:xfrm>
            <a:off x="4572000" y="2468880"/>
            <a:ext cx="4114800" cy="2103120"/>
          </a:xfrm>
          <a:prstGeom prst="round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2514600"/>
            <a:ext cx="3931920" cy="274320"/>
          </a:xfrm>
          <a:prstGeom prst="rect">
            <a:avLst/>
          </a:prstGeom>
          <a:noFill/>
        </p:spPr>
        <p:txBody>
          <a:bodyPr wrap="square"/>
          <a:lstStyle/>
          <a:p>
            <a:pPr algn="l">
              <a:defRPr sz="1300" b="1">
                <a:solidFill>
                  <a:srgbClr val="C62828"/>
                </a:solidFill>
                <a:latin typeface="Calibri"/>
              </a:defRPr>
            </a:pPr>
            <a:r>
              <a:t>こんな人には合わないかも</a:t>
            </a:r>
          </a:p>
        </p:txBody>
      </p:sp>
      <p:sp>
        <p:nvSpPr>
          <p:cNvPr id="21" name="TextBox 20"/>
          <p:cNvSpPr txBox="1"/>
          <p:nvPr/>
        </p:nvSpPr>
        <p:spPr>
          <a:xfrm>
            <a:off x="4754880" y="2834640"/>
            <a:ext cx="3840480" cy="274320"/>
          </a:xfrm>
          <a:prstGeom prst="rect">
            <a:avLst/>
          </a:prstGeom>
          <a:noFill/>
        </p:spPr>
        <p:txBody>
          <a:bodyPr wrap="square"/>
          <a:lstStyle/>
          <a:p>
            <a:pPr algn="l">
              <a:defRPr sz="1000" b="0">
                <a:solidFill>
                  <a:srgbClr val="333333"/>
                </a:solidFill>
                <a:latin typeface="Calibri"/>
              </a:defRPr>
            </a:pPr>
            <a:r>
              <a:t>  手厚い学習サポートを求める方</a:t>
            </a:r>
          </a:p>
        </p:txBody>
      </p:sp>
      <p:sp>
        <p:nvSpPr>
          <p:cNvPr id="22" name="TextBox 21"/>
          <p:cNvSpPr txBox="1"/>
          <p:nvPr/>
        </p:nvSpPr>
        <p:spPr>
          <a:xfrm>
            <a:off x="4754880" y="3108960"/>
            <a:ext cx="3840480" cy="274320"/>
          </a:xfrm>
          <a:prstGeom prst="rect">
            <a:avLst/>
          </a:prstGeom>
          <a:noFill/>
        </p:spPr>
        <p:txBody>
          <a:bodyPr wrap="square"/>
          <a:lstStyle/>
          <a:p>
            <a:pPr algn="l">
              <a:defRPr sz="1000" b="0">
                <a:solidFill>
                  <a:srgbClr val="333333"/>
                </a:solidFill>
                <a:latin typeface="Calibri"/>
              </a:defRPr>
            </a:pPr>
            <a:r>
              <a:t>  大学受験を最優先にしたい方</a:t>
            </a:r>
          </a:p>
        </p:txBody>
      </p:sp>
      <p:sp>
        <p:nvSpPr>
          <p:cNvPr id="23" name="TextBox 22"/>
          <p:cNvSpPr txBox="1"/>
          <p:nvPr/>
        </p:nvSpPr>
        <p:spPr>
          <a:xfrm>
            <a:off x="4754880" y="3383280"/>
            <a:ext cx="3840480" cy="274320"/>
          </a:xfrm>
          <a:prstGeom prst="rect">
            <a:avLst/>
          </a:prstGeom>
          <a:noFill/>
        </p:spPr>
        <p:txBody>
          <a:bodyPr wrap="square"/>
          <a:lstStyle/>
          <a:p>
            <a:pPr algn="l">
              <a:defRPr sz="1000" b="0">
                <a:solidFill>
                  <a:srgbClr val="333333"/>
                </a:solidFill>
                <a:latin typeface="Calibri"/>
              </a:defRPr>
            </a:pPr>
            <a:r>
              <a:t>  安定した通学スタイルを望む方</a:t>
            </a:r>
          </a:p>
        </p:txBody>
      </p:sp>
      <p:sp>
        <p:nvSpPr>
          <p:cNvPr id="24" name="TextBox 23"/>
          <p:cNvSpPr txBox="1"/>
          <p:nvPr/>
        </p:nvSpPr>
        <p:spPr>
          <a:xfrm>
            <a:off x="4754880" y="3657600"/>
            <a:ext cx="3840480" cy="274320"/>
          </a:xfrm>
          <a:prstGeom prst="rect">
            <a:avLst/>
          </a:prstGeom>
          <a:noFill/>
        </p:spPr>
        <p:txBody>
          <a:bodyPr wrap="square"/>
          <a:lstStyle/>
          <a:p>
            <a:pPr algn="l">
              <a:defRPr sz="1000" b="0">
                <a:solidFill>
                  <a:srgbClr val="333333"/>
                </a:solidFill>
                <a:latin typeface="Calibri"/>
              </a:defRPr>
            </a:pPr>
            <a:r>
              <a:t>  まだやりたいことが見つかっていない方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あなたはどのタイプ？ 通信制高校適性診断</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一度動画を止めて、A〜Dどれに近いか考えてみてください</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通信制高校選び完全ガイド【前編】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4</a:t>
            </a:r>
          </a:p>
        </p:txBody>
      </p:sp>
      <p:sp>
        <p:nvSpPr>
          <p:cNvPr id="8" name="Rounded Rectangle 7"/>
          <p:cNvSpPr/>
          <p:nvPr/>
        </p:nvSpPr>
        <p:spPr>
          <a:xfrm>
            <a:off x="45720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92024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 y="1234440"/>
            <a:ext cx="548640" cy="548640"/>
          </a:xfrm>
          <a:prstGeom prst="ellipse">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1325880"/>
            <a:ext cx="548640" cy="365760"/>
          </a:xfrm>
          <a:prstGeom prst="rect">
            <a:avLst/>
          </a:prstGeom>
          <a:noFill/>
        </p:spPr>
        <p:txBody>
          <a:bodyPr wrap="square"/>
          <a:lstStyle/>
          <a:p>
            <a:pPr algn="ctr">
              <a:defRPr sz="2200" b="1">
                <a:solidFill>
                  <a:srgbClr val="FFFFFF"/>
                </a:solidFill>
                <a:latin typeface="Georgia"/>
              </a:defRPr>
            </a:pPr>
            <a:r>
              <a:t>A</a:t>
            </a:r>
          </a:p>
        </p:txBody>
      </p:sp>
      <p:sp>
        <p:nvSpPr>
          <p:cNvPr id="12" name="TextBox 11"/>
          <p:cNvSpPr txBox="1"/>
          <p:nvPr/>
        </p:nvSpPr>
        <p:spPr>
          <a:xfrm>
            <a:off x="502920" y="1874520"/>
            <a:ext cx="1828800" cy="457200"/>
          </a:xfrm>
          <a:prstGeom prst="rect">
            <a:avLst/>
          </a:prstGeom>
          <a:noFill/>
        </p:spPr>
        <p:txBody>
          <a:bodyPr wrap="square"/>
          <a:lstStyle/>
          <a:p>
            <a:pPr algn="ctr">
              <a:defRPr sz="1300" b="1">
                <a:solidFill>
                  <a:srgbClr val="333333"/>
                </a:solidFill>
                <a:latin typeface="Calibri"/>
              </a:defRPr>
            </a:pPr>
            <a:r>
              <a:t>学習自由度</a:t>
            </a:r>
            <a:br/>
            <a:r>
              <a:t>重視タイプ</a:t>
            </a:r>
          </a:p>
        </p:txBody>
      </p:sp>
      <p:sp>
        <p:nvSpPr>
          <p:cNvPr id="13" name="TextBox 12"/>
          <p:cNvSpPr txBox="1"/>
          <p:nvPr/>
        </p:nvSpPr>
        <p:spPr>
          <a:xfrm>
            <a:off x="502920" y="2468880"/>
            <a:ext cx="1828800" cy="1554480"/>
          </a:xfrm>
          <a:prstGeom prst="rect">
            <a:avLst/>
          </a:prstGeom>
          <a:noFill/>
        </p:spPr>
        <p:txBody>
          <a:bodyPr wrap="square"/>
          <a:lstStyle/>
          <a:p>
            <a:pPr algn="l">
              <a:defRPr sz="1000" b="0">
                <a:solidFill>
                  <a:srgbClr val="666666"/>
                </a:solidFill>
                <a:latin typeface="Calibri"/>
              </a:defRPr>
            </a:pPr>
            <a:r>
              <a:t>朝起きるのが苦手</a:t>
            </a:r>
            <a:br/>
            <a:r>
              <a:t>部活や習い事を続けたい</a:t>
            </a:r>
            <a:br/>
            <a:r>
              <a:t>自分のペースで勉強したい</a:t>
            </a:r>
          </a:p>
        </p:txBody>
      </p:sp>
      <p:sp>
        <p:nvSpPr>
          <p:cNvPr id="14" name="Rounded Rectangle 13"/>
          <p:cNvSpPr/>
          <p:nvPr/>
        </p:nvSpPr>
        <p:spPr>
          <a:xfrm>
            <a:off x="256032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0" y="1097280"/>
            <a:ext cx="192024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46120" y="1234440"/>
            <a:ext cx="548640" cy="548640"/>
          </a:xfrm>
          <a:prstGeom prst="ellipse">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6120" y="1325880"/>
            <a:ext cx="548640" cy="365760"/>
          </a:xfrm>
          <a:prstGeom prst="rect">
            <a:avLst/>
          </a:prstGeom>
          <a:noFill/>
        </p:spPr>
        <p:txBody>
          <a:bodyPr wrap="square"/>
          <a:lstStyle/>
          <a:p>
            <a:pPr algn="ctr">
              <a:defRPr sz="2200" b="1">
                <a:solidFill>
                  <a:srgbClr val="FFFFFF"/>
                </a:solidFill>
                <a:latin typeface="Georgia"/>
              </a:defRPr>
            </a:pPr>
            <a:r>
              <a:t>B</a:t>
            </a:r>
          </a:p>
        </p:txBody>
      </p:sp>
      <p:sp>
        <p:nvSpPr>
          <p:cNvPr id="18" name="TextBox 17"/>
          <p:cNvSpPr txBox="1"/>
          <p:nvPr/>
        </p:nvSpPr>
        <p:spPr>
          <a:xfrm>
            <a:off x="2606040" y="1874520"/>
            <a:ext cx="1828800" cy="457200"/>
          </a:xfrm>
          <a:prstGeom prst="rect">
            <a:avLst/>
          </a:prstGeom>
          <a:noFill/>
        </p:spPr>
        <p:txBody>
          <a:bodyPr wrap="square"/>
          <a:lstStyle/>
          <a:p>
            <a:pPr algn="ctr">
              <a:defRPr sz="1300" b="1">
                <a:solidFill>
                  <a:srgbClr val="333333"/>
                </a:solidFill>
                <a:latin typeface="Calibri"/>
              </a:defRPr>
            </a:pPr>
            <a:r>
              <a:t>専門性</a:t>
            </a:r>
            <a:br/>
            <a:r>
              <a:t>追求タイプ</a:t>
            </a:r>
          </a:p>
        </p:txBody>
      </p:sp>
      <p:sp>
        <p:nvSpPr>
          <p:cNvPr id="19" name="TextBox 18"/>
          <p:cNvSpPr txBox="1"/>
          <p:nvPr/>
        </p:nvSpPr>
        <p:spPr>
          <a:xfrm>
            <a:off x="2606040" y="2468880"/>
            <a:ext cx="1828800" cy="1554480"/>
          </a:xfrm>
          <a:prstGeom prst="rect">
            <a:avLst/>
          </a:prstGeom>
          <a:noFill/>
        </p:spPr>
        <p:txBody>
          <a:bodyPr wrap="square"/>
          <a:lstStyle/>
          <a:p>
            <a:pPr algn="l">
              <a:defRPr sz="1000" b="0">
                <a:solidFill>
                  <a:srgbClr val="666666"/>
                </a:solidFill>
                <a:latin typeface="Calibri"/>
              </a:defRPr>
            </a:pPr>
            <a:r>
              <a:t>好きなことに夢中になれる</a:t>
            </a:r>
            <a:br/>
            <a:r>
              <a:t>将来の夢がある程度決まっている</a:t>
            </a:r>
            <a:br/>
            <a:r>
              <a:t>プロを目指したい分野がある</a:t>
            </a:r>
          </a:p>
        </p:txBody>
      </p:sp>
      <p:sp>
        <p:nvSpPr>
          <p:cNvPr id="20" name="Rounded Rectangle 19"/>
          <p:cNvSpPr/>
          <p:nvPr/>
        </p:nvSpPr>
        <p:spPr>
          <a:xfrm>
            <a:off x="466344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0" y="1097280"/>
            <a:ext cx="192024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349240" y="1234440"/>
            <a:ext cx="548640" cy="548640"/>
          </a:xfrm>
          <a:prstGeom prst="ellipse">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1325880"/>
            <a:ext cx="548640" cy="365760"/>
          </a:xfrm>
          <a:prstGeom prst="rect">
            <a:avLst/>
          </a:prstGeom>
          <a:noFill/>
        </p:spPr>
        <p:txBody>
          <a:bodyPr wrap="square"/>
          <a:lstStyle/>
          <a:p>
            <a:pPr algn="ctr">
              <a:defRPr sz="2200" b="1">
                <a:solidFill>
                  <a:srgbClr val="FFFFFF"/>
                </a:solidFill>
                <a:latin typeface="Georgia"/>
              </a:defRPr>
            </a:pPr>
            <a:r>
              <a:t>C</a:t>
            </a:r>
          </a:p>
        </p:txBody>
      </p:sp>
      <p:sp>
        <p:nvSpPr>
          <p:cNvPr id="24" name="TextBox 23"/>
          <p:cNvSpPr txBox="1"/>
          <p:nvPr/>
        </p:nvSpPr>
        <p:spPr>
          <a:xfrm>
            <a:off x="4709160" y="1874520"/>
            <a:ext cx="1828800" cy="457200"/>
          </a:xfrm>
          <a:prstGeom prst="rect">
            <a:avLst/>
          </a:prstGeom>
          <a:noFill/>
        </p:spPr>
        <p:txBody>
          <a:bodyPr wrap="square"/>
          <a:lstStyle/>
          <a:p>
            <a:pPr algn="ctr">
              <a:defRPr sz="1300" b="1">
                <a:solidFill>
                  <a:srgbClr val="333333"/>
                </a:solidFill>
                <a:latin typeface="Calibri"/>
              </a:defRPr>
            </a:pPr>
            <a:r>
              <a:t>コミュニティ</a:t>
            </a:r>
            <a:br/>
            <a:r>
              <a:t>重視タイプ</a:t>
            </a:r>
          </a:p>
        </p:txBody>
      </p:sp>
      <p:sp>
        <p:nvSpPr>
          <p:cNvPr id="25" name="TextBox 24"/>
          <p:cNvSpPr txBox="1"/>
          <p:nvPr/>
        </p:nvSpPr>
        <p:spPr>
          <a:xfrm>
            <a:off x="4709160" y="2468880"/>
            <a:ext cx="1828800" cy="1554480"/>
          </a:xfrm>
          <a:prstGeom prst="rect">
            <a:avLst/>
          </a:prstGeom>
          <a:noFill/>
        </p:spPr>
        <p:txBody>
          <a:bodyPr wrap="square"/>
          <a:lstStyle/>
          <a:p>
            <a:pPr algn="l">
              <a:defRPr sz="1000" b="0">
                <a:solidFill>
                  <a:srgbClr val="666666"/>
                </a:solidFill>
                <a:latin typeface="Calibri"/>
              </a:defRPr>
            </a:pPr>
            <a:r>
              <a:t>友達と一緒に学びたい</a:t>
            </a:r>
            <a:br/>
            <a:r>
              <a:t>学校行事が好き</a:t>
            </a:r>
            <a:br/>
            <a:r>
              <a:t>先生に相談しやすい環境がいい</a:t>
            </a:r>
          </a:p>
        </p:txBody>
      </p:sp>
      <p:sp>
        <p:nvSpPr>
          <p:cNvPr id="26" name="Rounded Rectangle 25"/>
          <p:cNvSpPr/>
          <p:nvPr/>
        </p:nvSpPr>
        <p:spPr>
          <a:xfrm>
            <a:off x="676656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66560" y="1097280"/>
            <a:ext cx="192024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52360" y="1234440"/>
            <a:ext cx="548640" cy="548640"/>
          </a:xfrm>
          <a:prstGeom prst="ellipse">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1325880"/>
            <a:ext cx="548640" cy="365760"/>
          </a:xfrm>
          <a:prstGeom prst="rect">
            <a:avLst/>
          </a:prstGeom>
          <a:noFill/>
        </p:spPr>
        <p:txBody>
          <a:bodyPr wrap="square"/>
          <a:lstStyle/>
          <a:p>
            <a:pPr algn="ctr">
              <a:defRPr sz="2200" b="1">
                <a:solidFill>
                  <a:srgbClr val="FFFFFF"/>
                </a:solidFill>
                <a:latin typeface="Georgia"/>
              </a:defRPr>
            </a:pPr>
            <a:r>
              <a:t>D</a:t>
            </a:r>
          </a:p>
        </p:txBody>
      </p:sp>
      <p:sp>
        <p:nvSpPr>
          <p:cNvPr id="30" name="TextBox 29"/>
          <p:cNvSpPr txBox="1"/>
          <p:nvPr/>
        </p:nvSpPr>
        <p:spPr>
          <a:xfrm>
            <a:off x="6812280" y="1874520"/>
            <a:ext cx="1828800" cy="457200"/>
          </a:xfrm>
          <a:prstGeom prst="rect">
            <a:avLst/>
          </a:prstGeom>
          <a:noFill/>
        </p:spPr>
        <p:txBody>
          <a:bodyPr wrap="square"/>
          <a:lstStyle/>
          <a:p>
            <a:pPr algn="ctr">
              <a:defRPr sz="1300" b="1">
                <a:solidFill>
                  <a:srgbClr val="333333"/>
                </a:solidFill>
                <a:latin typeface="Calibri"/>
              </a:defRPr>
            </a:pPr>
            <a:r>
              <a:t>グローバル</a:t>
            </a:r>
            <a:br/>
            <a:r>
              <a:t>挑戦タイプ</a:t>
            </a:r>
          </a:p>
        </p:txBody>
      </p:sp>
      <p:sp>
        <p:nvSpPr>
          <p:cNvPr id="31" name="TextBox 30"/>
          <p:cNvSpPr txBox="1"/>
          <p:nvPr/>
        </p:nvSpPr>
        <p:spPr>
          <a:xfrm>
            <a:off x="6812280" y="2468880"/>
            <a:ext cx="1828800" cy="1554480"/>
          </a:xfrm>
          <a:prstGeom prst="rect">
            <a:avLst/>
          </a:prstGeom>
          <a:noFill/>
        </p:spPr>
        <p:txBody>
          <a:bodyPr wrap="square"/>
          <a:lstStyle/>
          <a:p>
            <a:pPr algn="l">
              <a:defRPr sz="1000" b="0">
                <a:solidFill>
                  <a:srgbClr val="666666"/>
                </a:solidFill>
                <a:latin typeface="Calibri"/>
              </a:defRPr>
            </a:pPr>
            <a:r>
              <a:t>海外に興味がある</a:t>
            </a:r>
            <a:br/>
            <a:r>
              <a:t>英語力を伸ばしたい</a:t>
            </a:r>
            <a:br/>
            <a:r>
              <a:t>世界で活躍したい</a:t>
            </a:r>
          </a:p>
        </p:txBody>
      </p:sp>
      <p:sp>
        <p:nvSpPr>
          <p:cNvPr id="32" name="Rounded Rectangle 31"/>
          <p:cNvSpPr/>
          <p:nvPr/>
        </p:nvSpPr>
        <p:spPr>
          <a:xfrm>
            <a:off x="1371600" y="4389120"/>
            <a:ext cx="6400800" cy="365760"/>
          </a:xfrm>
          <a:prstGeom prst="roundRect">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4389120"/>
            <a:ext cx="6400800" cy="365760"/>
          </a:xfrm>
          <a:prstGeom prst="rect">
            <a:avLst/>
          </a:prstGeom>
          <a:noFill/>
        </p:spPr>
        <p:txBody>
          <a:bodyPr wrap="square"/>
          <a:lstStyle/>
          <a:p>
            <a:pPr algn="ctr">
              <a:defRPr sz="1300" b="1">
                <a:solidFill>
                  <a:srgbClr val="FFFFFF"/>
                </a:solidFill>
                <a:latin typeface="Calibri"/>
              </a:defRPr>
            </a:pPr>
            <a:r>
              <a:t>コメント欄にあなたのタイプ（A〜D）を書いてください！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502920"/>
          </a:xfrm>
          <a:prstGeom prst="rect">
            <a:avLst/>
          </a:prstGeom>
          <a:noFill/>
        </p:spPr>
        <p:txBody>
          <a:bodyPr wrap="square"/>
          <a:lstStyle/>
          <a:p>
            <a:pPr algn="l">
              <a:defRPr sz="2200" b="1">
                <a:solidFill>
                  <a:srgbClr val="333333"/>
                </a:solidFill>
                <a:latin typeface="Calibri"/>
              </a:defRPr>
            </a:pPr>
            <a:r>
              <a:t>4つの診断でタイプを確定しよう</a:t>
            </a:r>
          </a:p>
        </p:txBody>
      </p:sp>
      <p:sp>
        <p:nvSpPr>
          <p:cNvPr id="3" name="Rectangle 2"/>
          <p:cNvSpPr/>
          <p:nvPr/>
        </p:nvSpPr>
        <p:spPr>
          <a:xfrm>
            <a:off x="457200" y="68580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868680"/>
            <a:ext cx="8229600" cy="320040"/>
          </a:xfrm>
          <a:prstGeom prst="rect">
            <a:avLst/>
          </a:prstGeom>
          <a:noFill/>
        </p:spPr>
        <p:txBody>
          <a:bodyPr wrap="square"/>
          <a:lstStyle/>
          <a:p>
            <a:pPr algn="l">
              <a:defRPr sz="1300" b="1">
                <a:solidFill>
                  <a:srgbClr val="8B7536"/>
                </a:solidFill>
                <a:latin typeface="Calibri"/>
              </a:defRPr>
            </a:pPr>
            <a:r>
              <a:t>迷った人はこの診断で絞り込めます</a:t>
            </a:r>
          </a:p>
        </p:txBody>
      </p:sp>
      <p:sp>
        <p:nvSpPr>
          <p:cNvPr id="5" name="Rectangle 4"/>
          <p:cNvSpPr/>
          <p:nvPr/>
        </p:nvSpPr>
        <p:spPr>
          <a:xfrm>
            <a:off x="0" y="4800600"/>
            <a:ext cx="9144000" cy="342900"/>
          </a:xfrm>
          <a:prstGeom prst="rect">
            <a:avLst/>
          </a:prstGeom>
          <a:solidFill>
            <a:srgbClr val="3C2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800600"/>
            <a:ext cx="6400800" cy="342900"/>
          </a:xfrm>
          <a:prstGeom prst="rect">
            <a:avLst/>
          </a:prstGeom>
          <a:noFill/>
        </p:spPr>
        <p:txBody>
          <a:bodyPr wrap="square"/>
          <a:lstStyle/>
          <a:p>
            <a:pPr algn="l">
              <a:defRPr sz="800" b="0">
                <a:solidFill>
                  <a:srgbClr val="FFFFFF"/>
                </a:solidFill>
                <a:latin typeface="Calibri"/>
              </a:defRPr>
            </a:pPr>
            <a:r>
              <a:t>H A R M O N I C   i n s i g h t  |  通信制高校選び完全ガイド【前編】</a:t>
            </a:r>
          </a:p>
        </p:txBody>
      </p:sp>
      <p:sp>
        <p:nvSpPr>
          <p:cNvPr id="7" name="TextBox 6"/>
          <p:cNvSpPr txBox="1"/>
          <p:nvPr/>
        </p:nvSpPr>
        <p:spPr>
          <a:xfrm>
            <a:off x="8229600" y="4800600"/>
            <a:ext cx="731520" cy="342900"/>
          </a:xfrm>
          <a:prstGeom prst="rect">
            <a:avLst/>
          </a:prstGeom>
          <a:noFill/>
        </p:spPr>
        <p:txBody>
          <a:bodyPr wrap="square"/>
          <a:lstStyle/>
          <a:p>
            <a:pPr algn="ctr">
              <a:defRPr sz="800" b="0">
                <a:solidFill>
                  <a:srgbClr val="FFFFFF"/>
                </a:solidFill>
                <a:latin typeface="Calibri"/>
              </a:defRPr>
            </a:pPr>
            <a:r>
              <a:t>5</a:t>
            </a:r>
          </a:p>
        </p:txBody>
      </p:sp>
      <p:sp>
        <p:nvSpPr>
          <p:cNvPr id="8" name="Rounded Rectangle 7"/>
          <p:cNvSpPr/>
          <p:nvPr/>
        </p:nvSpPr>
        <p:spPr>
          <a:xfrm>
            <a:off x="45720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920240" cy="54864"/>
          </a:xfrm>
          <a:prstGeom prst="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4360" y="1234440"/>
            <a:ext cx="822960" cy="32004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234440"/>
            <a:ext cx="822960" cy="320040"/>
          </a:xfrm>
          <a:prstGeom prst="rect">
            <a:avLst/>
          </a:prstGeom>
          <a:noFill/>
        </p:spPr>
        <p:txBody>
          <a:bodyPr wrap="square"/>
          <a:lstStyle/>
          <a:p>
            <a:pPr algn="ctr">
              <a:defRPr sz="1100" b="1">
                <a:solidFill>
                  <a:srgbClr val="FFFFFF"/>
                </a:solidFill>
                <a:latin typeface="Calibri"/>
              </a:defRPr>
            </a:pPr>
            <a:r>
              <a:t>診断1</a:t>
            </a:r>
          </a:p>
        </p:txBody>
      </p:sp>
      <p:sp>
        <p:nvSpPr>
          <p:cNvPr id="12" name="TextBox 11"/>
          <p:cNvSpPr txBox="1"/>
          <p:nvPr/>
        </p:nvSpPr>
        <p:spPr>
          <a:xfrm>
            <a:off x="502920" y="1645920"/>
            <a:ext cx="1828800" cy="365760"/>
          </a:xfrm>
          <a:prstGeom prst="rect">
            <a:avLst/>
          </a:prstGeom>
          <a:noFill/>
        </p:spPr>
        <p:txBody>
          <a:bodyPr wrap="square"/>
          <a:lstStyle/>
          <a:p>
            <a:pPr algn="ctr">
              <a:defRPr sz="1500" b="1">
                <a:solidFill>
                  <a:srgbClr val="333333"/>
                </a:solidFill>
                <a:latin typeface="Calibri"/>
              </a:defRPr>
            </a:pPr>
            <a:r>
              <a:t>学習スタイル</a:t>
            </a:r>
          </a:p>
        </p:txBody>
      </p:sp>
      <p:sp>
        <p:nvSpPr>
          <p:cNvPr id="13" name="Rectangle 12"/>
          <p:cNvSpPr/>
          <p:nvPr/>
        </p:nvSpPr>
        <p:spPr>
          <a:xfrm>
            <a:off x="731520" y="2057400"/>
            <a:ext cx="137160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48840"/>
            <a:ext cx="1737360" cy="1828800"/>
          </a:xfrm>
          <a:prstGeom prst="rect">
            <a:avLst/>
          </a:prstGeom>
          <a:noFill/>
        </p:spPr>
        <p:txBody>
          <a:bodyPr wrap="square"/>
          <a:lstStyle/>
          <a:p>
            <a:pPr algn="l">
              <a:defRPr sz="1100" b="0">
                <a:solidFill>
                  <a:srgbClr val="333333"/>
                </a:solidFill>
                <a:latin typeface="Calibri"/>
              </a:defRPr>
            </a:pPr>
            <a:r>
              <a:t>オンライン完結派？→A</a:t>
            </a:r>
            <a:br/>
            <a:r>
              <a:t>週数日通学派？→C</a:t>
            </a:r>
            <a:br/>
            <a:r>
              <a:t>個別指導派？→B/C</a:t>
            </a:r>
          </a:p>
        </p:txBody>
      </p:sp>
      <p:sp>
        <p:nvSpPr>
          <p:cNvPr id="15" name="Rounded Rectangle 14"/>
          <p:cNvSpPr/>
          <p:nvPr/>
        </p:nvSpPr>
        <p:spPr>
          <a:xfrm>
            <a:off x="256032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60320" y="1097280"/>
            <a:ext cx="1920240" cy="54864"/>
          </a:xfrm>
          <a:prstGeom prst="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697480" y="1234440"/>
            <a:ext cx="822960" cy="320040"/>
          </a:xfrm>
          <a:prstGeom prst="roundRect">
            <a:avLst/>
          </a:prstGeom>
          <a:solidFill>
            <a:srgbClr val="3A7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97480" y="1234440"/>
            <a:ext cx="822960" cy="320040"/>
          </a:xfrm>
          <a:prstGeom prst="rect">
            <a:avLst/>
          </a:prstGeom>
          <a:noFill/>
        </p:spPr>
        <p:txBody>
          <a:bodyPr wrap="square"/>
          <a:lstStyle/>
          <a:p>
            <a:pPr algn="ctr">
              <a:defRPr sz="1100" b="1">
                <a:solidFill>
                  <a:srgbClr val="FFFFFF"/>
                </a:solidFill>
                <a:latin typeface="Calibri"/>
              </a:defRPr>
            </a:pPr>
            <a:r>
              <a:t>診断2</a:t>
            </a:r>
          </a:p>
        </p:txBody>
      </p:sp>
      <p:sp>
        <p:nvSpPr>
          <p:cNvPr id="19" name="TextBox 18"/>
          <p:cNvSpPr txBox="1"/>
          <p:nvPr/>
        </p:nvSpPr>
        <p:spPr>
          <a:xfrm>
            <a:off x="2606040" y="1645920"/>
            <a:ext cx="1828800" cy="365760"/>
          </a:xfrm>
          <a:prstGeom prst="rect">
            <a:avLst/>
          </a:prstGeom>
          <a:noFill/>
        </p:spPr>
        <p:txBody>
          <a:bodyPr wrap="square"/>
          <a:lstStyle/>
          <a:p>
            <a:pPr algn="ctr">
              <a:defRPr sz="1500" b="1">
                <a:solidFill>
                  <a:srgbClr val="333333"/>
                </a:solidFill>
                <a:latin typeface="Calibri"/>
              </a:defRPr>
            </a:pPr>
            <a:r>
              <a:t>生活リズム</a:t>
            </a:r>
          </a:p>
        </p:txBody>
      </p:sp>
      <p:sp>
        <p:nvSpPr>
          <p:cNvPr id="20" name="Rectangle 19"/>
          <p:cNvSpPr/>
          <p:nvPr/>
        </p:nvSpPr>
        <p:spPr>
          <a:xfrm>
            <a:off x="2834640" y="2057400"/>
            <a:ext cx="137160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2148840"/>
            <a:ext cx="1737360" cy="1828800"/>
          </a:xfrm>
          <a:prstGeom prst="rect">
            <a:avLst/>
          </a:prstGeom>
          <a:noFill/>
        </p:spPr>
        <p:txBody>
          <a:bodyPr wrap="square"/>
          <a:lstStyle/>
          <a:p>
            <a:pPr algn="l">
              <a:defRPr sz="1100" b="0">
                <a:solidFill>
                  <a:srgbClr val="333333"/>
                </a:solidFill>
                <a:latin typeface="Calibri"/>
              </a:defRPr>
            </a:pPr>
            <a:r>
              <a:t>朝が苦手→A</a:t>
            </a:r>
            <a:br/>
            <a:r>
              <a:t>部活と両立→A/B</a:t>
            </a:r>
            <a:br/>
            <a:r>
              <a:t>規則正しく通学→C</a:t>
            </a:r>
          </a:p>
        </p:txBody>
      </p:sp>
      <p:sp>
        <p:nvSpPr>
          <p:cNvPr id="22" name="Rounded Rectangle 21"/>
          <p:cNvSpPr/>
          <p:nvPr/>
        </p:nvSpPr>
        <p:spPr>
          <a:xfrm>
            <a:off x="466344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63440" y="1097280"/>
            <a:ext cx="1920240" cy="54864"/>
          </a:xfrm>
          <a:prstGeom prst="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00600" y="1234440"/>
            <a:ext cx="822960" cy="320040"/>
          </a:xfrm>
          <a:prstGeom prst="roundRect">
            <a:avLst/>
          </a:prstGeom>
          <a:solidFill>
            <a:srgbClr val="C46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1234440"/>
            <a:ext cx="822960" cy="320040"/>
          </a:xfrm>
          <a:prstGeom prst="rect">
            <a:avLst/>
          </a:prstGeom>
          <a:noFill/>
        </p:spPr>
        <p:txBody>
          <a:bodyPr wrap="square"/>
          <a:lstStyle/>
          <a:p>
            <a:pPr algn="ctr">
              <a:defRPr sz="1100" b="1">
                <a:solidFill>
                  <a:srgbClr val="FFFFFF"/>
                </a:solidFill>
                <a:latin typeface="Calibri"/>
              </a:defRPr>
            </a:pPr>
            <a:r>
              <a:t>診断3</a:t>
            </a:r>
          </a:p>
        </p:txBody>
      </p:sp>
      <p:sp>
        <p:nvSpPr>
          <p:cNvPr id="26" name="TextBox 25"/>
          <p:cNvSpPr txBox="1"/>
          <p:nvPr/>
        </p:nvSpPr>
        <p:spPr>
          <a:xfrm>
            <a:off x="4709160" y="1645920"/>
            <a:ext cx="1828800" cy="365760"/>
          </a:xfrm>
          <a:prstGeom prst="rect">
            <a:avLst/>
          </a:prstGeom>
          <a:noFill/>
        </p:spPr>
        <p:txBody>
          <a:bodyPr wrap="square"/>
          <a:lstStyle/>
          <a:p>
            <a:pPr algn="ctr">
              <a:defRPr sz="1500" b="1">
                <a:solidFill>
                  <a:srgbClr val="333333"/>
                </a:solidFill>
                <a:latin typeface="Calibri"/>
              </a:defRPr>
            </a:pPr>
            <a:r>
              <a:t>将来の目標</a:t>
            </a:r>
          </a:p>
        </p:txBody>
      </p:sp>
      <p:sp>
        <p:nvSpPr>
          <p:cNvPr id="27" name="Rectangle 26"/>
          <p:cNvSpPr/>
          <p:nvPr/>
        </p:nvSpPr>
        <p:spPr>
          <a:xfrm>
            <a:off x="4937760" y="2057400"/>
            <a:ext cx="137160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2148840"/>
            <a:ext cx="1737360" cy="1828800"/>
          </a:xfrm>
          <a:prstGeom prst="rect">
            <a:avLst/>
          </a:prstGeom>
          <a:noFill/>
        </p:spPr>
        <p:txBody>
          <a:bodyPr wrap="square"/>
          <a:lstStyle/>
          <a:p>
            <a:pPr algn="l">
              <a:defRPr sz="1100" b="0">
                <a:solidFill>
                  <a:srgbClr val="333333"/>
                </a:solidFill>
                <a:latin typeface="Calibri"/>
              </a:defRPr>
            </a:pPr>
            <a:r>
              <a:t>大学進学→A/C</a:t>
            </a:r>
            <a:br/>
            <a:r>
              <a:t>専門職・プロ→B</a:t>
            </a:r>
            <a:br/>
            <a:r>
              <a:t>起業→D</a:t>
            </a:r>
            <a:br/>
            <a:r>
              <a:t>海外→D</a:t>
            </a:r>
          </a:p>
        </p:txBody>
      </p:sp>
      <p:sp>
        <p:nvSpPr>
          <p:cNvPr id="29" name="Rounded Rectangle 28"/>
          <p:cNvSpPr/>
          <p:nvPr/>
        </p:nvSpPr>
        <p:spPr>
          <a:xfrm>
            <a:off x="6766560" y="1097280"/>
            <a:ext cx="192024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766560" y="1097280"/>
            <a:ext cx="1920240" cy="54864"/>
          </a:xfrm>
          <a:prstGeom prst="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903720" y="1234440"/>
            <a:ext cx="822960" cy="320040"/>
          </a:xfrm>
          <a:prstGeom prst="roundRect">
            <a:avLst/>
          </a:prstGeom>
          <a:solidFill>
            <a:srgbClr val="6B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3720" y="1234440"/>
            <a:ext cx="822960" cy="320040"/>
          </a:xfrm>
          <a:prstGeom prst="rect">
            <a:avLst/>
          </a:prstGeom>
          <a:noFill/>
        </p:spPr>
        <p:txBody>
          <a:bodyPr wrap="square"/>
          <a:lstStyle/>
          <a:p>
            <a:pPr algn="ctr">
              <a:defRPr sz="1100" b="1">
                <a:solidFill>
                  <a:srgbClr val="FFFFFF"/>
                </a:solidFill>
                <a:latin typeface="Calibri"/>
              </a:defRPr>
            </a:pPr>
            <a:r>
              <a:t>診断4</a:t>
            </a:r>
          </a:p>
        </p:txBody>
      </p:sp>
      <p:sp>
        <p:nvSpPr>
          <p:cNvPr id="33" name="TextBox 32"/>
          <p:cNvSpPr txBox="1"/>
          <p:nvPr/>
        </p:nvSpPr>
        <p:spPr>
          <a:xfrm>
            <a:off x="6812280" y="1645920"/>
            <a:ext cx="1828800" cy="365760"/>
          </a:xfrm>
          <a:prstGeom prst="rect">
            <a:avLst/>
          </a:prstGeom>
          <a:noFill/>
        </p:spPr>
        <p:txBody>
          <a:bodyPr wrap="square"/>
          <a:lstStyle/>
          <a:p>
            <a:pPr algn="ctr">
              <a:defRPr sz="1500" b="1">
                <a:solidFill>
                  <a:srgbClr val="333333"/>
                </a:solidFill>
                <a:latin typeface="Calibri"/>
              </a:defRPr>
            </a:pPr>
            <a:r>
              <a:t>サポート</a:t>
            </a:r>
          </a:p>
        </p:txBody>
      </p:sp>
      <p:sp>
        <p:nvSpPr>
          <p:cNvPr id="34" name="Rectangle 33"/>
          <p:cNvSpPr/>
          <p:nvPr/>
        </p:nvSpPr>
        <p:spPr>
          <a:xfrm>
            <a:off x="7040880" y="2057400"/>
            <a:ext cx="1371600" cy="9144"/>
          </a:xfrm>
          <a:prstGeom prst="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0" y="2148840"/>
            <a:ext cx="1737360" cy="1828800"/>
          </a:xfrm>
          <a:prstGeom prst="rect">
            <a:avLst/>
          </a:prstGeom>
          <a:noFill/>
        </p:spPr>
        <p:txBody>
          <a:bodyPr wrap="square"/>
          <a:lstStyle/>
          <a:p>
            <a:pPr algn="l">
              <a:defRPr sz="1100" b="0">
                <a:solidFill>
                  <a:srgbClr val="333333"/>
                </a:solidFill>
                <a:latin typeface="Calibri"/>
              </a:defRPr>
            </a:pPr>
            <a:r>
              <a:t>自分でできる→A/D</a:t>
            </a:r>
            <a:br/>
            <a:r>
              <a:t>手厚いケア→C</a:t>
            </a:r>
            <a:br/>
            <a:r>
              <a:t>専門指導→B</a:t>
            </a:r>
          </a:p>
        </p:txBody>
      </p:sp>
      <p:sp>
        <p:nvSpPr>
          <p:cNvPr id="36" name="TextBox 35"/>
          <p:cNvSpPr txBox="1"/>
          <p:nvPr/>
        </p:nvSpPr>
        <p:spPr>
          <a:xfrm>
            <a:off x="457200" y="4389120"/>
            <a:ext cx="8229600" cy="274320"/>
          </a:xfrm>
          <a:prstGeom prst="rect">
            <a:avLst/>
          </a:prstGeom>
          <a:noFill/>
        </p:spPr>
        <p:txBody>
          <a:bodyPr wrap="square"/>
          <a:lstStyle/>
          <a:p>
            <a:pPr algn="ctr">
              <a:defRPr sz="1100" b="1">
                <a:solidFill>
                  <a:srgbClr val="8B7536"/>
                </a:solidFill>
                <a:latin typeface="Calibri"/>
              </a:defRPr>
            </a:pPr>
            <a:r>
              <a:t>→ 一番多かったアルファベットがあなたのタイプです！中編でおすすめ校を紹介します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88636"/>
            <a:ext cx="91440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411480"/>
          </a:xfrm>
          <a:prstGeom prst="rect">
            <a:avLst/>
          </a:prstGeom>
          <a:noFill/>
        </p:spPr>
        <p:txBody>
          <a:bodyPr wrap="square"/>
          <a:lstStyle/>
          <a:p>
            <a:pPr algn="ctr">
              <a:defRPr sz="2200" b="1">
                <a:solidFill>
                  <a:srgbClr val="3C2F1E"/>
                </a:solidFill>
                <a:latin typeface="Calibri"/>
              </a:defRPr>
            </a:pPr>
            <a:r>
              <a:t>今日のまとめ</a:t>
            </a:r>
          </a:p>
        </p:txBody>
      </p:sp>
      <p:sp>
        <p:nvSpPr>
          <p:cNvPr id="5" name="Oval 4"/>
          <p:cNvSpPr/>
          <p:nvPr/>
        </p:nvSpPr>
        <p:spPr>
          <a:xfrm>
            <a:off x="1828800" y="73152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758952"/>
            <a:ext cx="320040" cy="274320"/>
          </a:xfrm>
          <a:prstGeom prst="rect">
            <a:avLst/>
          </a:prstGeom>
          <a:noFill/>
        </p:spPr>
        <p:txBody>
          <a:bodyPr wrap="square"/>
          <a:lstStyle/>
          <a:p>
            <a:pPr algn="ctr">
              <a:defRPr sz="1200" b="1">
                <a:solidFill>
                  <a:srgbClr val="FFFFFF"/>
                </a:solidFill>
                <a:latin typeface="Calibri"/>
              </a:defRPr>
            </a:pPr>
            <a:r>
              <a:t>1</a:t>
            </a:r>
          </a:p>
        </p:txBody>
      </p:sp>
      <p:sp>
        <p:nvSpPr>
          <p:cNvPr id="7" name="TextBox 6"/>
          <p:cNvSpPr txBox="1"/>
          <p:nvPr/>
        </p:nvSpPr>
        <p:spPr>
          <a:xfrm>
            <a:off x="2286000" y="731520"/>
            <a:ext cx="5486400" cy="320040"/>
          </a:xfrm>
          <a:prstGeom prst="rect">
            <a:avLst/>
          </a:prstGeom>
          <a:noFill/>
        </p:spPr>
        <p:txBody>
          <a:bodyPr wrap="square"/>
          <a:lstStyle/>
          <a:p>
            <a:pPr algn="l">
              <a:defRPr sz="1300" b="0">
                <a:solidFill>
                  <a:srgbClr val="333333"/>
                </a:solidFill>
                <a:latin typeface="Calibri"/>
              </a:defRPr>
            </a:pPr>
            <a:r>
              <a:t>N高は「自由すぎて不安」が最大の落とし穴</a:t>
            </a:r>
          </a:p>
        </p:txBody>
      </p:sp>
      <p:sp>
        <p:nvSpPr>
          <p:cNvPr id="8" name="Oval 7"/>
          <p:cNvSpPr/>
          <p:nvPr/>
        </p:nvSpPr>
        <p:spPr>
          <a:xfrm>
            <a:off x="1828800" y="109728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1124712"/>
            <a:ext cx="320040" cy="274320"/>
          </a:xfrm>
          <a:prstGeom prst="rect">
            <a:avLst/>
          </a:prstGeom>
          <a:noFill/>
        </p:spPr>
        <p:txBody>
          <a:bodyPr wrap="square"/>
          <a:lstStyle/>
          <a:p>
            <a:pPr algn="ctr">
              <a:defRPr sz="1200" b="1">
                <a:solidFill>
                  <a:srgbClr val="FFFFFF"/>
                </a:solidFill>
                <a:latin typeface="Calibri"/>
              </a:defRPr>
            </a:pPr>
            <a:r>
              <a:t>2</a:t>
            </a:r>
          </a:p>
        </p:txBody>
      </p:sp>
      <p:sp>
        <p:nvSpPr>
          <p:cNvPr id="10" name="TextBox 9"/>
          <p:cNvSpPr txBox="1"/>
          <p:nvPr/>
        </p:nvSpPr>
        <p:spPr>
          <a:xfrm>
            <a:off x="2286000" y="1097280"/>
            <a:ext cx="5486400" cy="320040"/>
          </a:xfrm>
          <a:prstGeom prst="rect">
            <a:avLst/>
          </a:prstGeom>
          <a:noFill/>
        </p:spPr>
        <p:txBody>
          <a:bodyPr wrap="square"/>
          <a:lstStyle/>
          <a:p>
            <a:pPr algn="l">
              <a:defRPr sz="1300" b="0">
                <a:solidFill>
                  <a:srgbClr val="333333"/>
                </a:solidFill>
                <a:latin typeface="Calibri"/>
              </a:defRPr>
            </a:pPr>
            <a:r>
              <a:t>ゼロ高は「やりたいことが明確な人」向け</a:t>
            </a:r>
          </a:p>
        </p:txBody>
      </p:sp>
      <p:sp>
        <p:nvSpPr>
          <p:cNvPr id="11" name="Oval 10"/>
          <p:cNvSpPr/>
          <p:nvPr/>
        </p:nvSpPr>
        <p:spPr>
          <a:xfrm>
            <a:off x="1828800" y="1463040"/>
            <a:ext cx="320040" cy="320040"/>
          </a:xfrm>
          <a:prstGeom prst="ellipse">
            <a:avLst/>
          </a:prstGeom>
          <a:solidFill>
            <a:srgbClr val="8B7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490472"/>
            <a:ext cx="320040" cy="274320"/>
          </a:xfrm>
          <a:prstGeom prst="rect">
            <a:avLst/>
          </a:prstGeom>
          <a:noFill/>
        </p:spPr>
        <p:txBody>
          <a:bodyPr wrap="square"/>
          <a:lstStyle/>
          <a:p>
            <a:pPr algn="ctr">
              <a:defRPr sz="1200" b="1">
                <a:solidFill>
                  <a:srgbClr val="FFFFFF"/>
                </a:solidFill>
                <a:latin typeface="Calibri"/>
              </a:defRPr>
            </a:pPr>
            <a:r>
              <a:t>3</a:t>
            </a:r>
          </a:p>
        </p:txBody>
      </p:sp>
      <p:sp>
        <p:nvSpPr>
          <p:cNvPr id="13" name="TextBox 12"/>
          <p:cNvSpPr txBox="1"/>
          <p:nvPr/>
        </p:nvSpPr>
        <p:spPr>
          <a:xfrm>
            <a:off x="2286000" y="1463040"/>
            <a:ext cx="5486400" cy="320040"/>
          </a:xfrm>
          <a:prstGeom prst="rect">
            <a:avLst/>
          </a:prstGeom>
          <a:noFill/>
        </p:spPr>
        <p:txBody>
          <a:bodyPr wrap="square"/>
          <a:lstStyle/>
          <a:p>
            <a:pPr algn="l">
              <a:defRPr sz="1300" b="0">
                <a:solidFill>
                  <a:srgbClr val="333333"/>
                </a:solidFill>
                <a:latin typeface="Calibri"/>
              </a:defRPr>
            </a:pPr>
            <a:r>
              <a:t>通信制は300校以上、あなたに合う学校が必ずある</a:t>
            </a:r>
          </a:p>
        </p:txBody>
      </p:sp>
      <p:sp>
        <p:nvSpPr>
          <p:cNvPr id="14" name="Rectangle 13"/>
          <p:cNvSpPr/>
          <p:nvPr/>
        </p:nvSpPr>
        <p:spPr>
          <a:xfrm>
            <a:off x="914400" y="2011680"/>
            <a:ext cx="7315200" cy="914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71600" y="2194560"/>
            <a:ext cx="6400800" cy="914400"/>
          </a:xfrm>
          <a:prstGeom prst="roundRect">
            <a:avLst/>
          </a:prstGeom>
          <a:solidFill>
            <a:srgbClr val="2B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2240280"/>
            <a:ext cx="6217920" cy="320040"/>
          </a:xfrm>
          <a:prstGeom prst="rect">
            <a:avLst/>
          </a:prstGeom>
          <a:noFill/>
        </p:spPr>
        <p:txBody>
          <a:bodyPr wrap="square"/>
          <a:lstStyle/>
          <a:p>
            <a:pPr algn="ctr">
              <a:defRPr sz="1400" b="1">
                <a:solidFill>
                  <a:srgbClr val="FFFFFF"/>
                </a:solidFill>
                <a:latin typeface="Calibri"/>
              </a:defRPr>
            </a:pPr>
            <a:r>
              <a:t>次に見るべき動画 &gt;&gt;&gt;  【中編】タイプ別おすすめ通信制高校</a:t>
            </a:r>
          </a:p>
        </p:txBody>
      </p:sp>
      <p:sp>
        <p:nvSpPr>
          <p:cNvPr id="17" name="TextBox 16"/>
          <p:cNvSpPr txBox="1"/>
          <p:nvPr/>
        </p:nvSpPr>
        <p:spPr>
          <a:xfrm>
            <a:off x="1463040" y="2560320"/>
            <a:ext cx="6217920" cy="457200"/>
          </a:xfrm>
          <a:prstGeom prst="rect">
            <a:avLst/>
          </a:prstGeom>
          <a:noFill/>
        </p:spPr>
        <p:txBody>
          <a:bodyPr wrap="square"/>
          <a:lstStyle/>
          <a:p>
            <a:pPr algn="ctr">
              <a:defRPr sz="1100" b="0">
                <a:solidFill>
                  <a:srgbClr val="CCDDFF"/>
                </a:solidFill>
                <a:latin typeface="Calibri"/>
              </a:defRPr>
            </a:pPr>
            <a:r>
              <a:t>あなたのタイプに最適な学校を具体的に紹介します</a:t>
            </a:r>
          </a:p>
        </p:txBody>
      </p:sp>
      <p:sp>
        <p:nvSpPr>
          <p:cNvPr id="18" name="TextBox 17"/>
          <p:cNvSpPr txBox="1"/>
          <p:nvPr/>
        </p:nvSpPr>
        <p:spPr>
          <a:xfrm>
            <a:off x="457200" y="4571040"/>
            <a:ext cx="8229600" cy="228600"/>
          </a:xfrm>
          <a:prstGeom prst="rect">
            <a:avLst/>
          </a:prstGeom>
          <a:noFill/>
        </p:spPr>
        <p:txBody>
          <a:bodyPr wrap="square"/>
          <a:lstStyle/>
          <a:p>
            <a:pPr algn="ctr">
              <a:defRPr sz="1000" b="0">
                <a:solidFill>
                  <a:srgbClr val="3C2F1E"/>
                </a:solidFill>
                <a:latin typeface="Calibri"/>
              </a:defRPr>
            </a:pPr>
            <a:r>
              <a:t>H A R M O N I C   i n s i g h 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