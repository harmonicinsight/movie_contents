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皆さん、こんにちは。Harmonic Insightへようこそ。</a:t>
            </a:r>
          </a:p>
          <a:p>
            <a:r>
              <a:t>今日は「N高・ゼロ高を超える！通信制高校選び完全ガイド」というテーマでお話しします。</a:t>
            </a:r>
          </a:p>
          <a:p>
            <a:r>
              <a:t>N高やゼロ高の名前は聞いたことがあるけど、実際どうなの？他にどんな選択肢があるの？</a:t>
            </a:r>
          </a:p>
          <a:p>
            <a:r>
              <a:t>そんな疑問に答えながら、あなたにぴったりの通信制高校を見つけるためのヒントをお伝えします。</a:t>
            </a:r>
          </a:p>
          <a:p>
            <a:r>
              <a:t>保護者の方も、生徒の皆さんも、ぜひ最後までご覧ください。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今日お話しする内容は大きく7つです。</a:t>
            </a:r>
          </a:p>
          <a:p>
            <a:r>
              <a:t>まず、N高やゼロ高に感じたワクワクを自分の学校選びの軸に変える方法。</a:t>
            </a:r>
          </a:p>
          <a:p>
            <a:r>
              <a:t>次に、N高・ゼロ高を客観的に見つめ直します。メリットだけでなくデメリットも正直にお伝えします。</a:t>
            </a:r>
          </a:p>
          <a:p>
            <a:r>
              <a:t>そして、あなたのタイプ別に最適な通信制高校をガイドします。</a:t>
            </a:r>
          </a:p>
          <a:p>
            <a:r>
              <a:t>学費や支援制度の話、学校選びの実践的なテクニック、</a:t>
            </a:r>
          </a:p>
          <a:p>
            <a:r>
              <a:t>実際に通信制高校で成功した先輩たちのストーリー、</a:t>
            </a:r>
          </a:p>
          <a:p>
            <a:r>
              <a:t>最後に、今すぐ始められる行動プランをお伝えします。</a:t>
            </a:r>
          </a:p>
          <a:p>
            <a:r>
              <a:t>盛りだくさんですが、一つ一つ分かりやすくお話ししていきますね。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では、なぜ今「通信制高校」がこれほど注目されているのでしょうか。</a:t>
            </a:r>
          </a:p>
          <a:p>
            <a:r>
              <a:t>N高等学校の登場が通信制高校の常識を大きく変えました。</a:t>
            </a:r>
          </a:p>
          <a:p>
            <a:r>
              <a:t>現在、年間20万人以上の高校生が通信制で学んでいます。</a:t>
            </a:r>
          </a:p>
          <a:p>
            <a:r>
              <a:t>偏差値だけでは測れない力が社会で求められるようになり、</a:t>
            </a:r>
          </a:p>
          <a:p>
            <a:r>
              <a:t>多様な学び方が認められる時代になっています。</a:t>
            </a:r>
          </a:p>
          <a:p>
            <a:r>
              <a:t>大事なのは「好きを伸ばせる学校がある」「自分のペースで学べる環境がある」ということ。</a:t>
            </a:r>
          </a:p>
          <a:p>
            <a:r>
              <a:t>全日制だけが正解ではないんです。</a:t>
            </a:r>
          </a:p>
          <a:p>
            <a:r>
              <a:t>N高やゼロ高が切り拓いた道の先に、実はもっとたくさんの選択肢があります。</a:t>
            </a:r>
          </a:p>
          <a:p>
            <a:r>
              <a:t>今日はその選択肢を一緒に見ていきましょう。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さて、前作「N高・ゼロ高って実際どうなの？」を読んで「ワクワクした」という方、</a:t>
            </a:r>
          </a:p>
          <a:p>
            <a:r>
              <a:t>そのワクワクの正体を一緒に探りましょう。</a:t>
            </a:r>
          </a:p>
          <a:p>
            <a:r>
              <a:t>大きく4つのタイプに分けられます。</a:t>
            </a:r>
          </a:p>
          <a:p>
            <a:r>
              <a:t>Aタイプは「自分のペースで学びたい」学習自由度重視タイプ。</a:t>
            </a:r>
          </a:p>
          <a:p>
            <a:r>
              <a:t>Bタイプは「好きなことを深めたい」専門性追求タイプ。</a:t>
            </a:r>
          </a:p>
          <a:p>
            <a:r>
              <a:t>Cタイプは「新しい仲間と出会いたい」コミュニティ重視タイプ。</a:t>
            </a:r>
          </a:p>
          <a:p>
            <a:r>
              <a:t>Dタイプは「世界を広げたい」グローバル挑戦タイプ。</a:t>
            </a:r>
          </a:p>
          <a:p>
            <a:r>
              <a:t>皆さんはどのタイプに近いですか？</a:t>
            </a:r>
          </a:p>
          <a:p>
            <a:r>
              <a:t>この後、タイプ別におすすめの学校を紹介していきますので、楽しみにしてください。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まず、N高等学校・S高等学校グループを客観的に見ていきましょう。</a:t>
            </a:r>
          </a:p>
          <a:p>
            <a:r>
              <a:t>メリットとしては、先進的なオンライン学習システム、豊富な課外活動や部活動、</a:t>
            </a:r>
          </a:p>
          <a:p>
            <a:r>
              <a:t>プログラミングや起業体験など実践的なカリキュラムが挙げられます。</a:t>
            </a:r>
          </a:p>
          <a:p>
            <a:r>
              <a:t>全国どこからでも入学できるのも大きな魅力です。</a:t>
            </a:r>
          </a:p>
          <a:p>
            <a:r>
              <a:t>一方、デメリットや注意点もあります。</a:t>
            </a:r>
          </a:p>
          <a:p>
            <a:r>
              <a:t>自己管理能力が求められること、ネットコースでは対面サポートが限定的なこと、</a:t>
            </a:r>
          </a:p>
          <a:p>
            <a:r>
              <a:t>生徒数が多いため個別対応に限界がある場合もあります。</a:t>
            </a:r>
          </a:p>
          <a:p>
            <a:r>
              <a:t>学費はネットコースで年間約25万から38万円、通学コースだと70万から120万円程度です。</a:t>
            </a:r>
          </a:p>
          <a:p>
            <a:r>
              <a:t>在籍生徒数は約2万7千人。大学進学実績も東大や早慶への合格者がいます。</a:t>
            </a:r>
          </a:p>
          <a:p>
            <a:r>
              <a:t>N高は素晴らしい学校ですが、万人にとってベストとは限りません。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次にゼロ高等学院です。</a:t>
            </a:r>
          </a:p>
          <a:p>
            <a:r>
              <a:t>ゼロ高は堀江貴文さんが主宰する学校で、「偏差値0」を掲げています。</a:t>
            </a:r>
          </a:p>
          <a:p>
            <a:r>
              <a:t>これは座学にとらわれず、実体験から学ぶという教育理念を表しています。</a:t>
            </a:r>
          </a:p>
          <a:p>
            <a:r>
              <a:t>イベント企画、起業体験、地方創生プロジェクトなど、実践的な活動が中心です。</a:t>
            </a:r>
          </a:p>
          <a:p>
            <a:r>
              <a:t>少人数制なので、密度の濃い体験ができるのが魅力です。</a:t>
            </a:r>
          </a:p>
          <a:p>
            <a:r>
              <a:t>向いているのは、やりたいことが明確にあって行動力がある人。</a:t>
            </a:r>
          </a:p>
          <a:p>
            <a:r>
              <a:t>起業やフリーランスに興味がある人にもぴったりです。</a:t>
            </a:r>
          </a:p>
          <a:p>
            <a:r>
              <a:t>一方、手厚い学習サポートを求める方や、大学受験を最優先にしたい方には、</a:t>
            </a:r>
          </a:p>
          <a:p>
            <a:r>
              <a:t>他の選択肢のほうが合うかもしれません。</a:t>
            </a:r>
          </a:p>
          <a:p>
            <a:r>
              <a:t>ゼロ高も素晴らしい学校ですが、自分に合うかどうかが大切です。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ここからはタイプ別のおすすめ学校を紹介していきます。</a:t>
            </a:r>
          </a:p>
          <a:p>
            <a:r>
              <a:t>まずはBタイプ、「好きなことを深めたい」専門性追求タイプの方へ。</a:t>
            </a:r>
          </a:p>
          <a:p>
            <a:r>
              <a:t>ヒューマンキャンパス高等学校は、声優、eスポーツ、美容、マンガなど40以上の専門分野を学べます。</a:t>
            </a:r>
          </a:p>
          <a:p>
            <a:r>
              <a:t>高校の学習と並行して、プロの講師から実践的なスキルを身につけられるのが特徴です。</a:t>
            </a:r>
          </a:p>
          <a:p>
            <a:r>
              <a:t>AOIKE高等学校は、パティシエや調理師を目指す方に特化した学校です。</a:t>
            </a:r>
          </a:p>
          <a:p>
            <a:r>
              <a:t>製菓・調理の専門知識を高校時代から学べます。</a:t>
            </a:r>
          </a:p>
          <a:p>
            <a:r>
              <a:t>IT・プログラミング特化校では、最先端の技術を若いうちから習得できます。</a:t>
            </a:r>
          </a:p>
          <a:p>
            <a:r>
              <a:t>これらの学校の魅力は、在学中から実践的なスキルが身につくこと。</a:t>
            </a:r>
          </a:p>
          <a:p>
            <a:r>
              <a:t>卒業後の就職やデビューのサポートも充実しています。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Dタイプ、グローバル・挑戦志向の方におすすめの学校です。</a:t>
            </a:r>
          </a:p>
          <a:p>
            <a:r>
              <a:t>NIC International College in Japanは37年の実績を誇る学校で、</a:t>
            </a:r>
          </a:p>
          <a:p>
            <a:r>
              <a:t>独自の「転換教育」で英語力と思考力を徹底的に強化します。</a:t>
            </a:r>
          </a:p>
          <a:p>
            <a:r>
              <a:t>欧米のトップ大学への進学実績が豊富で、</a:t>
            </a:r>
          </a:p>
          <a:p>
            <a:r>
              <a:t>日本にいながら海外大学への準備が完結するのが大きな魅力です。</a:t>
            </a:r>
          </a:p>
          <a:p>
            <a:r>
              <a:t>AIE国際高等学校は、国際バカロレア認定校として世界基準の教育を提供しています。</a:t>
            </a:r>
          </a:p>
          <a:p>
            <a:r>
              <a:t>バイリンガル環境で英語力を自然に身につけられ、</a:t>
            </a:r>
          </a:p>
          <a:p>
            <a:r>
              <a:t>少人数制できめ細かい指導が受けられます。</a:t>
            </a:r>
          </a:p>
          <a:p>
            <a:r>
              <a:t>海外大学進学は決して「遠い夢」ではありません。</a:t>
            </a:r>
          </a:p>
          <a:p>
            <a:r>
              <a:t>通信制高校から世界へ羽ばたく道は、確かに存在しているんです。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続いて、AタイプとCタイプの方におすすめの学校です。</a:t>
            </a:r>
          </a:p>
          <a:p>
            <a:r>
              <a:t>Aタイプ、学習自由度を重視する方には、</a:t>
            </a:r>
          </a:p>
          <a:p>
            <a:r>
              <a:t>ルネサンス高等学校グループがおすすめです。スマホで学べる新しいスタイルで、</a:t>
            </a:r>
          </a:p>
          <a:p>
            <a:r>
              <a:t>スクーリングは年4日程度。部活や習い事、仕事との両立がしやすい学校です。</a:t>
            </a:r>
          </a:p>
          <a:p>
            <a:r>
              <a:t>広域通信制高校も、完全オンライン対応で自宅学習中心の方にぴったりです。</a:t>
            </a:r>
          </a:p>
          <a:p>
            <a:r>
              <a:t>Cタイプ、仲間との交流を大切にしたい方には、</a:t>
            </a:r>
          </a:p>
          <a:p>
            <a:r>
              <a:t>クラーク記念国際高等学校は全国にキャンパスがあり、週5日通学も可能です。</a:t>
            </a:r>
          </a:p>
          <a:p>
            <a:r>
              <a:t>第一学院高等学校は一人ひとりに寄り添った教育が特徴。</a:t>
            </a:r>
          </a:p>
          <a:p>
            <a:r>
              <a:t>おおぞら高等学院は手厚いメンタルケアが魅力です。</a:t>
            </a:r>
          </a:p>
          <a:p>
            <a:r>
              <a:t>学費を抑えたい方には公立の通信制高校という選択肢もあります。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次に、多くの方が気になる学費の話です。</a:t>
            </a:r>
          </a:p>
          <a:p>
            <a:r>
              <a:t>通信制高校の学費は、学校のタイプによって大きく異なります。</a:t>
            </a:r>
          </a:p>
          <a:p>
            <a:r>
              <a:t>公立の通信制なら年間3万から5万円程度と非常にリーズナブルです。</a:t>
            </a:r>
          </a:p>
          <a:p>
            <a:r>
              <a:t>私立のネット型は年間30万から50万円、通学型は70万から120万円が目安です。</a:t>
            </a:r>
          </a:p>
          <a:p>
            <a:r>
              <a:t>ただし、学費を大幅に軽減できる支援制度がたくさんあります。</a:t>
            </a:r>
          </a:p>
          <a:p>
            <a:r>
              <a:t>まず、高等学校等就学支援金。年収約910万円未満の世帯が対象で、</a:t>
            </a:r>
          </a:p>
          <a:p>
            <a:r>
              <a:t>私立の場合は最大で年間39万6千円が支給されます。</a:t>
            </a:r>
          </a:p>
          <a:p>
            <a:r>
              <a:t>さらに、都道府県独自の助成金もあります。お住まいの自治体のHPで必ず確認してください。</a:t>
            </a:r>
          </a:p>
          <a:p>
            <a:r>
              <a:t>学校独自の奨学金や特待生制度、学び直し支援金などもあります。</a:t>
            </a:r>
          </a:p>
          <a:p>
            <a:r>
              <a:t>知らないと損する制度ばかりなので、しっかりチェックしましょう。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学校選びで後悔しないための実践的なステップをお伝えします。</a:t>
            </a:r>
          </a:p>
          <a:p>
            <a:r>
              <a:t>ステップ1は情報収集。学校の公式サイトを丁寧に読み解き、パンフレットを取り寄せましょう。</a:t>
            </a:r>
          </a:p>
          <a:p>
            <a:r>
              <a:t>SNSや口コミサイトの情報は参考程度にとどめてください。</a:t>
            </a:r>
          </a:p>
          <a:p>
            <a:r>
              <a:t>ステップ2は体験と比較。必ずオープンキャンパスに参加して、雰囲気を肌で感じてください。</a:t>
            </a:r>
          </a:p>
          <a:p>
            <a:r>
              <a:t>個別相談で先生に本音の質問をすることも大切です。</a:t>
            </a:r>
          </a:p>
          <a:p>
            <a:r>
              <a:t>最低3校以上は比較検討することをおすすめします。</a:t>
            </a:r>
          </a:p>
          <a:p>
            <a:r>
              <a:t>ステップ3は家族での対話。費用のこと、通学のこと、将来のこと、</a:t>
            </a:r>
          </a:p>
          <a:p>
            <a:r>
              <a:t>親子で本音を共有し、一緒に考えることが大切です。</a:t>
            </a:r>
          </a:p>
          <a:p>
            <a:r>
              <a:t>最終的に「自分で決めた」という実感を持てることが、入学後のモチベーションにつながります。</a:t>
            </a:r>
          </a:p>
          <a:p>
            <a:r>
              <a:t>ネットの「ランキング」だけで決めず、必ず自分の目で確かめましょう。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ここで、実際に通信制高校を選んだ先輩たちのストーリーをご紹介します。</a:t>
            </a:r>
          </a:p>
          <a:p>
            <a:r>
              <a:t>まず、不登校から再起した先輩。通信制高校で心身を立て直し、</a:t>
            </a:r>
          </a:p>
          <a:p>
            <a:r>
              <a:t>個別サポートの中で新たな興味を発見して、今は社会で活躍しています。</a:t>
            </a:r>
          </a:p>
          <a:p>
            <a:r>
              <a:t>次に、好きなことをプロレベルまで極めた先輩。</a:t>
            </a:r>
          </a:p>
          <a:p>
            <a:r>
              <a:t>eスポーツや動画編集のスキルを在学中に磨き、フリーランスとして活躍しています。</a:t>
            </a:r>
          </a:p>
          <a:p>
            <a:r>
              <a:t>通信制から難関大学に合格した先輩もいます。</a:t>
            </a:r>
          </a:p>
          <a:p>
            <a:r>
              <a:t>自分のペースで学習できる環境を活かして、戦略的に受験勉強に取り組みました。</a:t>
            </a:r>
          </a:p>
          <a:p>
            <a:r>
              <a:t>起業やフリーランスの道を選んだ先輩は、高校在学中にビジネスを立ち上げて成功しています。</a:t>
            </a:r>
          </a:p>
          <a:p>
            <a:r>
              <a:t>「やり直し」や「回り道」もポジティブな選択肢です。</a:t>
            </a:r>
          </a:p>
          <a:p>
            <a:r>
              <a:t>あなたの未来は、あなた自身が創るものです。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最後に、今すぐ始められる行動プランをお伝えします。</a:t>
            </a:r>
          </a:p>
          <a:p>
            <a:r>
              <a:t>まず今日やること。気になる学校を3つリストアップして、公式サイトとパンフレットをチェックしましょう。</a:t>
            </a:r>
          </a:p>
          <a:p>
            <a:r>
              <a:t>今週中には、オープンキャンパスや説明会に申し込みましょう。</a:t>
            </a:r>
          </a:p>
          <a:p>
            <a:r>
              <a:t>支援制度も調べてみてください。お住まいの自治体のホームページも忘れずにチェック。</a:t>
            </a:r>
          </a:p>
          <a:p>
            <a:r>
              <a:t>今月中には実際にオープンキャンパスに足を運んで、雰囲気を肌で感じてください。</a:t>
            </a:r>
          </a:p>
          <a:p>
            <a:r>
              <a:t>個別相談で先生に直接質問することも大切です。</a:t>
            </a:r>
          </a:p>
          <a:p>
            <a:r>
              <a:t>来月までには親子で話し合って、比較表を作り、志望校を絞り込んでいきましょう。</a:t>
            </a:r>
          </a:p>
          <a:p>
            <a:r>
              <a:t>大切なのは「完璧な選択」をすることではなく、「自分で選ぶ」ということです。</a:t>
            </a:r>
          </a:p>
          <a:p>
            <a:r>
              <a:t>今日がその第一歩。ぜひ行動に移してみてください。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今日のまとめです。</a:t>
            </a:r>
          </a:p>
          <a:p>
            <a:r>
              <a:t>1つ目、N高やゼロ高だけが通信制高校ではありません。もっとたくさんの選択肢があります。</a:t>
            </a:r>
          </a:p>
          <a:p>
            <a:r>
              <a:t>2つ目、あなたのタイプに合った学校が必ずあります。自分を知ることが学校選びの第一歩です。</a:t>
            </a:r>
          </a:p>
          <a:p>
            <a:r>
              <a:t>3つ目、学費の不安は支援制度で解消できます。知らないと損する制度がたくさんあるので、しっかり調べましょう。</a:t>
            </a:r>
          </a:p>
          <a:p>
            <a:r>
              <a:t>4つ目、自分の目で見て、自分で決めることが大切です。ネットの情報だけで決めないでください。</a:t>
            </a:r>
          </a:p>
          <a:p>
            <a:r>
              <a:t>5つ目、「回り道」も立派な選択肢です。人と違う道を選ぶ勇気を持ってください。</a:t>
            </a:r>
          </a:p>
          <a:p>
            <a:r>
              <a:t>今日の動画が皆さんの学校選びの参考になれば嬉しいです。</a:t>
            </a:r>
          </a:p>
          <a:p>
            <a:r>
              <a:t>チャンネル登録と高評価をお願いします。</a:t>
            </a:r>
          </a:p>
          <a:p>
            <a:r>
              <a:t>コメント欄で、あなたの気になる通信制高校があれば教えてください。</a:t>
            </a:r>
          </a:p>
          <a:p>
            <a:r>
              <a:t>それでは、また次の動画でお会いしましょう。ありがとうございました。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88636"/>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914400"/>
            <a:ext cx="914400" cy="822960"/>
          </a:xfrm>
          <a:prstGeom prst="ellipse">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960120"/>
            <a:ext cx="914400" cy="822960"/>
          </a:xfrm>
          <a:prstGeom prst="rect">
            <a:avLst/>
          </a:prstGeom>
          <a:noFill/>
        </p:spPr>
        <p:txBody>
          <a:bodyPr wrap="square"/>
          <a:lstStyle/>
          <a:p>
            <a:pPr algn="ctr">
              <a:defRPr sz="2200" b="0">
                <a:solidFill>
                  <a:srgbClr val="C9A84C"/>
                </a:solidFill>
                <a:latin typeface="Georgia"/>
              </a:defRPr>
            </a:pPr>
            <a:r>
              <a:t>Hi</a:t>
            </a:r>
          </a:p>
        </p:txBody>
      </p:sp>
      <p:sp>
        <p:nvSpPr>
          <p:cNvPr id="6" name="Rectangle 5"/>
          <p:cNvSpPr/>
          <p:nvPr/>
        </p:nvSpPr>
        <p:spPr>
          <a:xfrm>
            <a:off x="914400" y="2057400"/>
            <a:ext cx="292608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0" y="2057400"/>
            <a:ext cx="292608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8229600" cy="502920"/>
          </a:xfrm>
          <a:prstGeom prst="rect">
            <a:avLst/>
          </a:prstGeom>
          <a:noFill/>
        </p:spPr>
        <p:txBody>
          <a:bodyPr wrap="square"/>
          <a:lstStyle/>
          <a:p>
            <a:pPr algn="ctr">
              <a:defRPr sz="3600" b="0">
                <a:solidFill>
                  <a:srgbClr val="3C2F1E"/>
                </a:solidFill>
                <a:latin typeface="Georgia"/>
              </a:defRPr>
            </a:pPr>
            <a:r>
              <a:t>N高・ゼロ高を超える！</a:t>
            </a:r>
          </a:p>
        </p:txBody>
      </p:sp>
      <p:sp>
        <p:nvSpPr>
          <p:cNvPr id="9" name="TextBox 8"/>
          <p:cNvSpPr txBox="1"/>
          <p:nvPr/>
        </p:nvSpPr>
        <p:spPr>
          <a:xfrm>
            <a:off x="457200" y="2697480"/>
            <a:ext cx="8229600" cy="457200"/>
          </a:xfrm>
          <a:prstGeom prst="rect">
            <a:avLst/>
          </a:prstGeom>
          <a:noFill/>
        </p:spPr>
        <p:txBody>
          <a:bodyPr wrap="square"/>
          <a:lstStyle/>
          <a:p>
            <a:pPr algn="ctr">
              <a:defRPr sz="2800" b="0">
                <a:solidFill>
                  <a:srgbClr val="3C2F1E"/>
                </a:solidFill>
                <a:latin typeface="Georgia"/>
              </a:defRPr>
            </a:pPr>
            <a:r>
              <a:t>通信制高校選び 完全ガイド</a:t>
            </a:r>
          </a:p>
        </p:txBody>
      </p:sp>
      <p:sp>
        <p:nvSpPr>
          <p:cNvPr id="10" name="Rectangle 9"/>
          <p:cNvSpPr/>
          <p:nvPr/>
        </p:nvSpPr>
        <p:spPr>
          <a:xfrm>
            <a:off x="2286000" y="3200400"/>
            <a:ext cx="457200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383280"/>
            <a:ext cx="8229600" cy="365760"/>
          </a:xfrm>
          <a:prstGeom prst="rect">
            <a:avLst/>
          </a:prstGeom>
          <a:noFill/>
        </p:spPr>
        <p:txBody>
          <a:bodyPr wrap="square"/>
          <a:lstStyle/>
          <a:p>
            <a:pPr algn="ctr">
              <a:defRPr sz="1600" b="0">
                <a:solidFill>
                  <a:srgbClr val="8B7536"/>
                </a:solidFill>
                <a:latin typeface="Calibri"/>
              </a:defRPr>
            </a:pPr>
            <a:r>
              <a:t>〜 新たな選択肢としての通信制高校 〜</a:t>
            </a:r>
          </a:p>
        </p:txBody>
      </p:sp>
      <p:sp>
        <p:nvSpPr>
          <p:cNvPr id="12" name="TextBox 11"/>
          <p:cNvSpPr txBox="1"/>
          <p:nvPr/>
        </p:nvSpPr>
        <p:spPr>
          <a:xfrm>
            <a:off x="457200" y="3886200"/>
            <a:ext cx="8229600" cy="274320"/>
          </a:xfrm>
          <a:prstGeom prst="rect">
            <a:avLst/>
          </a:prstGeom>
          <a:noFill/>
        </p:spPr>
        <p:txBody>
          <a:bodyPr wrap="square"/>
          <a:lstStyle/>
          <a:p>
            <a:pPr algn="ctr">
              <a:defRPr sz="1400" b="0">
                <a:solidFill>
                  <a:srgbClr val="3C2F1E"/>
                </a:solidFill>
                <a:latin typeface="Calibri"/>
              </a:defRPr>
            </a:pPr>
            <a:r>
              <a:t>H A R M O N I C</a:t>
            </a:r>
          </a:p>
        </p:txBody>
      </p:sp>
      <p:sp>
        <p:nvSpPr>
          <p:cNvPr id="13" name="TextBox 12"/>
          <p:cNvSpPr txBox="1"/>
          <p:nvPr/>
        </p:nvSpPr>
        <p:spPr>
          <a:xfrm>
            <a:off x="457200" y="4114800"/>
            <a:ext cx="8229600" cy="274320"/>
          </a:xfrm>
          <a:prstGeom prst="rect">
            <a:avLst/>
          </a:prstGeom>
          <a:noFill/>
        </p:spPr>
        <p:txBody>
          <a:bodyPr wrap="square"/>
          <a:lstStyle/>
          <a:p>
            <a:pPr algn="ctr">
              <a:defRPr sz="1400" b="0">
                <a:solidFill>
                  <a:srgbClr val="C9A84C"/>
                </a:solidFill>
                <a:latin typeface="Calibri"/>
              </a:defRPr>
            </a:pPr>
            <a:r>
              <a:t>i n s i g h t</a:t>
            </a:r>
          </a:p>
        </p:txBody>
      </p:sp>
      <p:sp>
        <p:nvSpPr>
          <p:cNvPr id="14" name="TextBox 13"/>
          <p:cNvSpPr txBox="1"/>
          <p:nvPr/>
        </p:nvSpPr>
        <p:spPr>
          <a:xfrm>
            <a:off x="457200" y="4434840"/>
            <a:ext cx="8229600" cy="274320"/>
          </a:xfrm>
          <a:prstGeom prst="rect">
            <a:avLst/>
          </a:prstGeom>
          <a:noFill/>
        </p:spPr>
        <p:txBody>
          <a:bodyPr wrap="square"/>
          <a:lstStyle/>
          <a:p>
            <a:pPr algn="ctr">
              <a:defRPr sz="1000" b="0">
                <a:solidFill>
                  <a:srgbClr val="8B7355"/>
                </a:solidFill>
                <a:latin typeface="Calibri"/>
              </a:defRPr>
            </a:pPr>
            <a:r>
              <a:t>Harmonic Insight 2026年3月12日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今日の動画の内容</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6" name="TextBox 5"/>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1</a:t>
            </a:r>
          </a:p>
        </p:txBody>
      </p:sp>
      <p:sp>
        <p:nvSpPr>
          <p:cNvPr id="7" name="Oval 6"/>
          <p:cNvSpPr/>
          <p:nvPr/>
        </p:nvSpPr>
        <p:spPr>
          <a:xfrm>
            <a:off x="457200" y="1005840"/>
            <a:ext cx="365760" cy="365760"/>
          </a:xfrm>
          <a:prstGeom prst="ellipse">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365760" cy="274320"/>
          </a:xfrm>
          <a:prstGeom prst="rect">
            <a:avLst/>
          </a:prstGeom>
          <a:noFill/>
        </p:spPr>
        <p:txBody>
          <a:bodyPr wrap="square"/>
          <a:lstStyle/>
          <a:p>
            <a:pPr algn="ctr">
              <a:defRPr sz="1600" b="1">
                <a:solidFill>
                  <a:srgbClr val="FFFFFF"/>
                </a:solidFill>
                <a:latin typeface="Calibri"/>
              </a:defRPr>
            </a:pPr>
            <a:r>
              <a:t>1</a:t>
            </a:r>
          </a:p>
        </p:txBody>
      </p:sp>
      <p:sp>
        <p:nvSpPr>
          <p:cNvPr id="9" name="TextBox 8"/>
          <p:cNvSpPr txBox="1"/>
          <p:nvPr/>
        </p:nvSpPr>
        <p:spPr>
          <a:xfrm>
            <a:off x="914400" y="1005840"/>
            <a:ext cx="7315200" cy="411480"/>
          </a:xfrm>
          <a:prstGeom prst="rect">
            <a:avLst/>
          </a:prstGeom>
          <a:noFill/>
        </p:spPr>
        <p:txBody>
          <a:bodyPr wrap="square"/>
          <a:lstStyle/>
          <a:p>
            <a:pPr algn="l">
              <a:defRPr sz="1400" b="0">
                <a:solidFill>
                  <a:srgbClr val="333333"/>
                </a:solidFill>
                <a:latin typeface="Calibri"/>
              </a:defRPr>
            </a:pPr>
            <a:r>
              <a:t>N高・ゼロ高で感じたワクワクを  「私の選択軸」に変える</a:t>
            </a:r>
          </a:p>
        </p:txBody>
      </p:sp>
      <p:sp>
        <p:nvSpPr>
          <p:cNvPr id="10" name="Rectangle 9"/>
          <p:cNvSpPr/>
          <p:nvPr/>
        </p:nvSpPr>
        <p:spPr>
          <a:xfrm>
            <a:off x="914400" y="1408176"/>
            <a:ext cx="7772400" cy="4572"/>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 y="1499616"/>
            <a:ext cx="365760" cy="36576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45336"/>
            <a:ext cx="365760" cy="274320"/>
          </a:xfrm>
          <a:prstGeom prst="rect">
            <a:avLst/>
          </a:prstGeom>
          <a:noFill/>
        </p:spPr>
        <p:txBody>
          <a:bodyPr wrap="square"/>
          <a:lstStyle/>
          <a:p>
            <a:pPr algn="ctr">
              <a:defRPr sz="1600" b="1">
                <a:solidFill>
                  <a:srgbClr val="FFFFFF"/>
                </a:solidFill>
                <a:latin typeface="Calibri"/>
              </a:defRPr>
            </a:pPr>
            <a:r>
              <a:t>2</a:t>
            </a:r>
          </a:p>
        </p:txBody>
      </p:sp>
      <p:sp>
        <p:nvSpPr>
          <p:cNvPr id="13" name="TextBox 12"/>
          <p:cNvSpPr txBox="1"/>
          <p:nvPr/>
        </p:nvSpPr>
        <p:spPr>
          <a:xfrm>
            <a:off x="914400" y="1499616"/>
            <a:ext cx="7315200" cy="411480"/>
          </a:xfrm>
          <a:prstGeom prst="rect">
            <a:avLst/>
          </a:prstGeom>
          <a:noFill/>
        </p:spPr>
        <p:txBody>
          <a:bodyPr wrap="square"/>
          <a:lstStyle/>
          <a:p>
            <a:pPr algn="l">
              <a:defRPr sz="1400" b="0">
                <a:solidFill>
                  <a:srgbClr val="333333"/>
                </a:solidFill>
                <a:latin typeface="Calibri"/>
              </a:defRPr>
            </a:pPr>
            <a:r>
              <a:t>N高・ゼロ高を  客観的に見つめ直す</a:t>
            </a:r>
          </a:p>
        </p:txBody>
      </p:sp>
      <p:sp>
        <p:nvSpPr>
          <p:cNvPr id="14" name="Rectangle 13"/>
          <p:cNvSpPr/>
          <p:nvPr/>
        </p:nvSpPr>
        <p:spPr>
          <a:xfrm>
            <a:off x="914400" y="1901952"/>
            <a:ext cx="7772400" cy="4572"/>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 y="1993392"/>
            <a:ext cx="365760" cy="365760"/>
          </a:xfrm>
          <a:prstGeom prst="ellipse">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039112"/>
            <a:ext cx="365760" cy="274320"/>
          </a:xfrm>
          <a:prstGeom prst="rect">
            <a:avLst/>
          </a:prstGeom>
          <a:noFill/>
        </p:spPr>
        <p:txBody>
          <a:bodyPr wrap="square"/>
          <a:lstStyle/>
          <a:p>
            <a:pPr algn="ctr">
              <a:defRPr sz="1600" b="1">
                <a:solidFill>
                  <a:srgbClr val="FFFFFF"/>
                </a:solidFill>
                <a:latin typeface="Calibri"/>
              </a:defRPr>
            </a:pPr>
            <a:r>
              <a:t>3</a:t>
            </a:r>
          </a:p>
        </p:txBody>
      </p:sp>
      <p:sp>
        <p:nvSpPr>
          <p:cNvPr id="17" name="TextBox 16"/>
          <p:cNvSpPr txBox="1"/>
          <p:nvPr/>
        </p:nvSpPr>
        <p:spPr>
          <a:xfrm>
            <a:off x="914400" y="1993392"/>
            <a:ext cx="7315200" cy="411480"/>
          </a:xfrm>
          <a:prstGeom prst="rect">
            <a:avLst/>
          </a:prstGeom>
          <a:noFill/>
        </p:spPr>
        <p:txBody>
          <a:bodyPr wrap="square"/>
          <a:lstStyle/>
          <a:p>
            <a:pPr algn="l">
              <a:defRPr sz="1400" b="0">
                <a:solidFill>
                  <a:srgbClr val="333333"/>
                </a:solidFill>
                <a:latin typeface="Calibri"/>
              </a:defRPr>
            </a:pPr>
            <a:r>
              <a:t>タイプ別  最適校ガイド</a:t>
            </a:r>
          </a:p>
        </p:txBody>
      </p:sp>
      <p:sp>
        <p:nvSpPr>
          <p:cNvPr id="18" name="Rectangle 17"/>
          <p:cNvSpPr/>
          <p:nvPr/>
        </p:nvSpPr>
        <p:spPr>
          <a:xfrm>
            <a:off x="914400" y="2395728"/>
            <a:ext cx="7772400" cy="4572"/>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7200" y="2487168"/>
            <a:ext cx="365760" cy="365760"/>
          </a:xfrm>
          <a:prstGeom prst="ellipse">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532888"/>
            <a:ext cx="365760" cy="274320"/>
          </a:xfrm>
          <a:prstGeom prst="rect">
            <a:avLst/>
          </a:prstGeom>
          <a:noFill/>
        </p:spPr>
        <p:txBody>
          <a:bodyPr wrap="square"/>
          <a:lstStyle/>
          <a:p>
            <a:pPr algn="ctr">
              <a:defRPr sz="1600" b="1">
                <a:solidFill>
                  <a:srgbClr val="FFFFFF"/>
                </a:solidFill>
                <a:latin typeface="Calibri"/>
              </a:defRPr>
            </a:pPr>
            <a:r>
              <a:t>4</a:t>
            </a:r>
          </a:p>
        </p:txBody>
      </p:sp>
      <p:sp>
        <p:nvSpPr>
          <p:cNvPr id="21" name="TextBox 20"/>
          <p:cNvSpPr txBox="1"/>
          <p:nvPr/>
        </p:nvSpPr>
        <p:spPr>
          <a:xfrm>
            <a:off x="914400" y="2487168"/>
            <a:ext cx="7315200" cy="411480"/>
          </a:xfrm>
          <a:prstGeom prst="rect">
            <a:avLst/>
          </a:prstGeom>
          <a:noFill/>
        </p:spPr>
        <p:txBody>
          <a:bodyPr wrap="square"/>
          <a:lstStyle/>
          <a:p>
            <a:pPr algn="l">
              <a:defRPr sz="1400" b="0">
                <a:solidFill>
                  <a:srgbClr val="333333"/>
                </a:solidFill>
                <a:latin typeface="Calibri"/>
              </a:defRPr>
            </a:pPr>
            <a:r>
              <a:t>学費と支援制度  完全攻略</a:t>
            </a:r>
          </a:p>
        </p:txBody>
      </p:sp>
      <p:sp>
        <p:nvSpPr>
          <p:cNvPr id="22" name="Rectangle 21"/>
          <p:cNvSpPr/>
          <p:nvPr/>
        </p:nvSpPr>
        <p:spPr>
          <a:xfrm>
            <a:off x="914400" y="2889504"/>
            <a:ext cx="7772400" cy="4572"/>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7200" y="2980944"/>
            <a:ext cx="365760" cy="365760"/>
          </a:xfrm>
          <a:prstGeom prst="ellipse">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026664"/>
            <a:ext cx="365760" cy="274320"/>
          </a:xfrm>
          <a:prstGeom prst="rect">
            <a:avLst/>
          </a:prstGeom>
          <a:noFill/>
        </p:spPr>
        <p:txBody>
          <a:bodyPr wrap="square"/>
          <a:lstStyle/>
          <a:p>
            <a:pPr algn="ctr">
              <a:defRPr sz="1600" b="1">
                <a:solidFill>
                  <a:srgbClr val="FFFFFF"/>
                </a:solidFill>
                <a:latin typeface="Calibri"/>
              </a:defRPr>
            </a:pPr>
            <a:r>
              <a:t>5</a:t>
            </a:r>
          </a:p>
        </p:txBody>
      </p:sp>
      <p:sp>
        <p:nvSpPr>
          <p:cNvPr id="25" name="TextBox 24"/>
          <p:cNvSpPr txBox="1"/>
          <p:nvPr/>
        </p:nvSpPr>
        <p:spPr>
          <a:xfrm>
            <a:off x="914400" y="2980944"/>
            <a:ext cx="7315200" cy="411480"/>
          </a:xfrm>
          <a:prstGeom prst="rect">
            <a:avLst/>
          </a:prstGeom>
          <a:noFill/>
        </p:spPr>
        <p:txBody>
          <a:bodyPr wrap="square"/>
          <a:lstStyle/>
          <a:p>
            <a:pPr algn="l">
              <a:defRPr sz="1400" b="0">
                <a:solidFill>
                  <a:srgbClr val="333333"/>
                </a:solidFill>
                <a:latin typeface="Calibri"/>
              </a:defRPr>
            </a:pPr>
            <a:r>
              <a:t>納得の学校選び  実践術</a:t>
            </a:r>
          </a:p>
        </p:txBody>
      </p:sp>
      <p:sp>
        <p:nvSpPr>
          <p:cNvPr id="26" name="Rectangle 25"/>
          <p:cNvSpPr/>
          <p:nvPr/>
        </p:nvSpPr>
        <p:spPr>
          <a:xfrm>
            <a:off x="914400" y="3383280"/>
            <a:ext cx="7772400" cy="4572"/>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7200" y="3474720"/>
            <a:ext cx="365760" cy="365760"/>
          </a:xfrm>
          <a:prstGeom prst="ellipse">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520440"/>
            <a:ext cx="365760" cy="274320"/>
          </a:xfrm>
          <a:prstGeom prst="rect">
            <a:avLst/>
          </a:prstGeom>
          <a:noFill/>
        </p:spPr>
        <p:txBody>
          <a:bodyPr wrap="square"/>
          <a:lstStyle/>
          <a:p>
            <a:pPr algn="ctr">
              <a:defRPr sz="1600" b="1">
                <a:solidFill>
                  <a:srgbClr val="FFFFFF"/>
                </a:solidFill>
                <a:latin typeface="Calibri"/>
              </a:defRPr>
            </a:pPr>
            <a:r>
              <a:t>6</a:t>
            </a:r>
          </a:p>
        </p:txBody>
      </p:sp>
      <p:sp>
        <p:nvSpPr>
          <p:cNvPr id="29" name="TextBox 28"/>
          <p:cNvSpPr txBox="1"/>
          <p:nvPr/>
        </p:nvSpPr>
        <p:spPr>
          <a:xfrm>
            <a:off x="914400" y="3474720"/>
            <a:ext cx="7315200" cy="411480"/>
          </a:xfrm>
          <a:prstGeom prst="rect">
            <a:avLst/>
          </a:prstGeom>
          <a:noFill/>
        </p:spPr>
        <p:txBody>
          <a:bodyPr wrap="square"/>
          <a:lstStyle/>
          <a:p>
            <a:pPr algn="l">
              <a:defRPr sz="1400" b="0">
                <a:solidFill>
                  <a:srgbClr val="333333"/>
                </a:solidFill>
                <a:latin typeface="Calibri"/>
              </a:defRPr>
            </a:pPr>
            <a:r>
              <a:t>先輩たちの選択と  その後の人生</a:t>
            </a:r>
          </a:p>
        </p:txBody>
      </p:sp>
      <p:sp>
        <p:nvSpPr>
          <p:cNvPr id="30" name="Rectangle 29"/>
          <p:cNvSpPr/>
          <p:nvPr/>
        </p:nvSpPr>
        <p:spPr>
          <a:xfrm>
            <a:off x="914400" y="3877056"/>
            <a:ext cx="7772400" cy="4572"/>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7200" y="3968496"/>
            <a:ext cx="365760" cy="365760"/>
          </a:xfrm>
          <a:prstGeom prst="ellipse">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014216"/>
            <a:ext cx="365760" cy="274320"/>
          </a:xfrm>
          <a:prstGeom prst="rect">
            <a:avLst/>
          </a:prstGeom>
          <a:noFill/>
        </p:spPr>
        <p:txBody>
          <a:bodyPr wrap="square"/>
          <a:lstStyle/>
          <a:p>
            <a:pPr algn="ctr">
              <a:defRPr sz="1600" b="1">
                <a:solidFill>
                  <a:srgbClr val="FFFFFF"/>
                </a:solidFill>
                <a:latin typeface="Calibri"/>
              </a:defRPr>
            </a:pPr>
            <a:r>
              <a:t>7</a:t>
            </a:r>
          </a:p>
        </p:txBody>
      </p:sp>
      <p:sp>
        <p:nvSpPr>
          <p:cNvPr id="33" name="TextBox 32"/>
          <p:cNvSpPr txBox="1"/>
          <p:nvPr/>
        </p:nvSpPr>
        <p:spPr>
          <a:xfrm>
            <a:off x="914400" y="3968496"/>
            <a:ext cx="7315200" cy="411480"/>
          </a:xfrm>
          <a:prstGeom prst="rect">
            <a:avLst/>
          </a:prstGeom>
          <a:noFill/>
        </p:spPr>
        <p:txBody>
          <a:bodyPr wrap="square"/>
          <a:lstStyle/>
          <a:p>
            <a:pPr algn="l">
              <a:defRPr sz="1400" b="0">
                <a:solidFill>
                  <a:srgbClr val="333333"/>
                </a:solidFill>
                <a:latin typeface="Calibri"/>
              </a:defRPr>
            </a:pPr>
            <a:r>
              <a:t>今すぐ始める  行動プラン</a:t>
            </a:r>
          </a:p>
        </p:txBody>
      </p:sp>
      <p:sp>
        <p:nvSpPr>
          <p:cNvPr id="34" name="Rectangle 33"/>
          <p:cNvSpPr/>
          <p:nvPr/>
        </p:nvSpPr>
        <p:spPr>
          <a:xfrm>
            <a:off x="914400" y="4370832"/>
            <a:ext cx="7772400" cy="4572"/>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なぜ今「通信制高校」が注目されるのか？</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6" name="TextBox 5"/>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2</a:t>
            </a:r>
          </a:p>
        </p:txBody>
      </p:sp>
      <p:sp>
        <p:nvSpPr>
          <p:cNvPr id="7" name="Rounded Rectangle 6"/>
          <p:cNvSpPr/>
          <p:nvPr/>
        </p:nvSpPr>
        <p:spPr>
          <a:xfrm>
            <a:off x="457200" y="1005840"/>
            <a:ext cx="3931920" cy="352044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3748440" cy="365760"/>
          </a:xfrm>
          <a:prstGeom prst="rect">
            <a:avLst/>
          </a:prstGeom>
          <a:noFill/>
        </p:spPr>
        <p:txBody>
          <a:bodyPr wrap="square"/>
          <a:lstStyle/>
          <a:p>
            <a:pPr algn="l">
              <a:defRPr sz="1600" b="1">
                <a:solidFill>
                  <a:srgbClr val="8B7536"/>
                </a:solidFill>
                <a:latin typeface="Calibri"/>
              </a:defRPr>
            </a:pPr>
            <a:r>
              <a:t>時代の変化</a:t>
            </a:r>
          </a:p>
        </p:txBody>
      </p:sp>
      <p:sp>
        <p:nvSpPr>
          <p:cNvPr id="9" name="TextBox 8"/>
          <p:cNvSpPr txBox="1"/>
          <p:nvPr/>
        </p:nvSpPr>
        <p:spPr>
          <a:xfrm>
            <a:off x="640080" y="1463040"/>
            <a:ext cx="3657600" cy="365760"/>
          </a:xfrm>
          <a:prstGeom prst="rect">
            <a:avLst/>
          </a:prstGeom>
          <a:noFill/>
        </p:spPr>
        <p:txBody>
          <a:bodyPr wrap="square"/>
          <a:lstStyle/>
          <a:p>
            <a:pPr algn="l">
              <a:defRPr sz="1200" b="0">
                <a:solidFill>
                  <a:srgbClr val="333333"/>
                </a:solidFill>
                <a:latin typeface="Calibri"/>
              </a:defRPr>
            </a:pPr>
            <a:r>
              <a:t>  N高が通信制の常識を変えた</a:t>
            </a:r>
          </a:p>
        </p:txBody>
      </p:sp>
      <p:sp>
        <p:nvSpPr>
          <p:cNvPr id="10" name="TextBox 9"/>
          <p:cNvSpPr txBox="1"/>
          <p:nvPr/>
        </p:nvSpPr>
        <p:spPr>
          <a:xfrm>
            <a:off x="640080" y="1828800"/>
            <a:ext cx="3657600" cy="365760"/>
          </a:xfrm>
          <a:prstGeom prst="rect">
            <a:avLst/>
          </a:prstGeom>
          <a:noFill/>
        </p:spPr>
        <p:txBody>
          <a:bodyPr wrap="square"/>
          <a:lstStyle/>
          <a:p>
            <a:pPr algn="l">
              <a:defRPr sz="1200" b="0">
                <a:solidFill>
                  <a:srgbClr val="333333"/>
                </a:solidFill>
                <a:latin typeface="Calibri"/>
              </a:defRPr>
            </a:pPr>
            <a:r>
              <a:t>  年間20万人以上が通信制で学ぶ時代</a:t>
            </a:r>
          </a:p>
        </p:txBody>
      </p:sp>
      <p:sp>
        <p:nvSpPr>
          <p:cNvPr id="11" name="TextBox 10"/>
          <p:cNvSpPr txBox="1"/>
          <p:nvPr/>
        </p:nvSpPr>
        <p:spPr>
          <a:xfrm>
            <a:off x="640080" y="2194560"/>
            <a:ext cx="3657600" cy="365760"/>
          </a:xfrm>
          <a:prstGeom prst="rect">
            <a:avLst/>
          </a:prstGeom>
          <a:noFill/>
        </p:spPr>
        <p:txBody>
          <a:bodyPr wrap="square"/>
          <a:lstStyle/>
          <a:p>
            <a:pPr algn="l">
              <a:defRPr sz="1200" b="0">
                <a:solidFill>
                  <a:srgbClr val="333333"/>
                </a:solidFill>
                <a:latin typeface="Calibri"/>
              </a:defRPr>
            </a:pPr>
            <a:r>
              <a:t>  偏差値だけでは測れない力が求められる</a:t>
            </a:r>
          </a:p>
        </p:txBody>
      </p:sp>
      <p:sp>
        <p:nvSpPr>
          <p:cNvPr id="12" name="TextBox 11"/>
          <p:cNvSpPr txBox="1"/>
          <p:nvPr/>
        </p:nvSpPr>
        <p:spPr>
          <a:xfrm>
            <a:off x="640080" y="2560320"/>
            <a:ext cx="3657600" cy="365760"/>
          </a:xfrm>
          <a:prstGeom prst="rect">
            <a:avLst/>
          </a:prstGeom>
          <a:noFill/>
        </p:spPr>
        <p:txBody>
          <a:bodyPr wrap="square"/>
          <a:lstStyle/>
          <a:p>
            <a:pPr algn="l">
              <a:defRPr sz="1200" b="0">
                <a:solidFill>
                  <a:srgbClr val="333333"/>
                </a:solidFill>
                <a:latin typeface="Calibri"/>
              </a:defRPr>
            </a:pPr>
            <a:r>
              <a:t>  多様な学び方が社会に認められ始めた</a:t>
            </a:r>
          </a:p>
        </p:txBody>
      </p:sp>
      <p:sp>
        <p:nvSpPr>
          <p:cNvPr id="13" name="TextBox 12"/>
          <p:cNvSpPr txBox="1"/>
          <p:nvPr/>
        </p:nvSpPr>
        <p:spPr>
          <a:xfrm>
            <a:off x="640080" y="2926080"/>
            <a:ext cx="3657600" cy="365760"/>
          </a:xfrm>
          <a:prstGeom prst="rect">
            <a:avLst/>
          </a:prstGeom>
          <a:noFill/>
        </p:spPr>
        <p:txBody>
          <a:bodyPr wrap="square"/>
          <a:lstStyle/>
          <a:p>
            <a:pPr algn="l">
              <a:defRPr sz="1200" b="0">
                <a:solidFill>
                  <a:srgbClr val="333333"/>
                </a:solidFill>
                <a:latin typeface="Calibri"/>
              </a:defRPr>
            </a:pPr>
            <a:r>
              <a:t>  テクノロジーがオンライン学習を進化させた</a:t>
            </a:r>
          </a:p>
        </p:txBody>
      </p:sp>
      <p:sp>
        <p:nvSpPr>
          <p:cNvPr id="14" name="Rounded Rectangle 13"/>
          <p:cNvSpPr/>
          <p:nvPr/>
        </p:nvSpPr>
        <p:spPr>
          <a:xfrm>
            <a:off x="4572000" y="1005840"/>
            <a:ext cx="4114800" cy="3520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051560"/>
            <a:ext cx="3931920" cy="365760"/>
          </a:xfrm>
          <a:prstGeom prst="rect">
            <a:avLst/>
          </a:prstGeom>
          <a:noFill/>
        </p:spPr>
        <p:txBody>
          <a:bodyPr wrap="square"/>
          <a:lstStyle/>
          <a:p>
            <a:pPr algn="l">
              <a:defRPr sz="1600" b="1">
                <a:solidFill>
                  <a:srgbClr val="2B5C8A"/>
                </a:solidFill>
                <a:latin typeface="Calibri"/>
              </a:defRPr>
            </a:pPr>
            <a:r>
              <a:t>あなたへのメッセージ</a:t>
            </a:r>
          </a:p>
        </p:txBody>
      </p:sp>
      <p:sp>
        <p:nvSpPr>
          <p:cNvPr id="16" name="TextBox 15"/>
          <p:cNvSpPr txBox="1"/>
          <p:nvPr/>
        </p:nvSpPr>
        <p:spPr>
          <a:xfrm>
            <a:off x="4754880" y="1463040"/>
            <a:ext cx="3748440" cy="411480"/>
          </a:xfrm>
          <a:prstGeom prst="rect">
            <a:avLst/>
          </a:prstGeom>
          <a:noFill/>
        </p:spPr>
        <p:txBody>
          <a:bodyPr wrap="square"/>
          <a:lstStyle/>
          <a:p>
            <a:pPr algn="l">
              <a:defRPr sz="1300" b="1">
                <a:solidFill>
                  <a:srgbClr val="333333"/>
                </a:solidFill>
                <a:latin typeface="Calibri"/>
              </a:defRPr>
            </a:pPr>
            <a:r>
              <a:t>  「好き」を伸ばす学校がある</a:t>
            </a:r>
          </a:p>
        </p:txBody>
      </p:sp>
      <p:sp>
        <p:nvSpPr>
          <p:cNvPr id="17" name="TextBox 16"/>
          <p:cNvSpPr txBox="1"/>
          <p:nvPr/>
        </p:nvSpPr>
        <p:spPr>
          <a:xfrm>
            <a:off x="4754880" y="1920240"/>
            <a:ext cx="3748440" cy="411480"/>
          </a:xfrm>
          <a:prstGeom prst="rect">
            <a:avLst/>
          </a:prstGeom>
          <a:noFill/>
        </p:spPr>
        <p:txBody>
          <a:bodyPr wrap="square"/>
          <a:lstStyle/>
          <a:p>
            <a:pPr algn="l">
              <a:defRPr sz="1300" b="1">
                <a:solidFill>
                  <a:srgbClr val="333333"/>
                </a:solidFill>
                <a:latin typeface="Calibri"/>
              </a:defRPr>
            </a:pPr>
            <a:r>
              <a:t>  自分のペースで学べる環境がある</a:t>
            </a:r>
          </a:p>
        </p:txBody>
      </p:sp>
      <p:sp>
        <p:nvSpPr>
          <p:cNvPr id="18" name="TextBox 17"/>
          <p:cNvSpPr txBox="1"/>
          <p:nvPr/>
        </p:nvSpPr>
        <p:spPr>
          <a:xfrm>
            <a:off x="4754880" y="2377440"/>
            <a:ext cx="3748440" cy="411480"/>
          </a:xfrm>
          <a:prstGeom prst="rect">
            <a:avLst/>
          </a:prstGeom>
          <a:noFill/>
        </p:spPr>
        <p:txBody>
          <a:bodyPr wrap="square"/>
          <a:lstStyle/>
          <a:p>
            <a:pPr algn="l">
              <a:defRPr sz="1300" b="1">
                <a:solidFill>
                  <a:srgbClr val="C46B2B"/>
                </a:solidFill>
                <a:latin typeface="Calibri"/>
              </a:defRPr>
            </a:pPr>
            <a:r>
              <a:t>  全日制だけが正解じゃない</a:t>
            </a:r>
          </a:p>
        </p:txBody>
      </p:sp>
      <p:sp>
        <p:nvSpPr>
          <p:cNvPr id="19" name="TextBox 18"/>
          <p:cNvSpPr txBox="1"/>
          <p:nvPr/>
        </p:nvSpPr>
        <p:spPr>
          <a:xfrm>
            <a:off x="4754880" y="2834640"/>
            <a:ext cx="3748440" cy="411480"/>
          </a:xfrm>
          <a:prstGeom prst="rect">
            <a:avLst/>
          </a:prstGeom>
          <a:noFill/>
        </p:spPr>
        <p:txBody>
          <a:bodyPr wrap="square"/>
          <a:lstStyle/>
          <a:p>
            <a:pPr algn="l">
              <a:defRPr sz="1300" b="1">
                <a:solidFill>
                  <a:srgbClr val="333333"/>
                </a:solidFill>
                <a:latin typeface="Calibri"/>
              </a:defRPr>
            </a:pPr>
            <a:r>
              <a:t>  選択肢を知ることが未来を変える</a:t>
            </a:r>
          </a:p>
        </p:txBody>
      </p:sp>
      <p:sp>
        <p:nvSpPr>
          <p:cNvPr id="20" name="Rounded Rectangle 19"/>
          <p:cNvSpPr/>
          <p:nvPr/>
        </p:nvSpPr>
        <p:spPr>
          <a:xfrm>
            <a:off x="1828800" y="3749040"/>
            <a:ext cx="5486400" cy="457200"/>
          </a:xfrm>
          <a:prstGeom prst="round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0" y="3749040"/>
            <a:ext cx="5486400" cy="457200"/>
          </a:xfrm>
          <a:prstGeom prst="rect">
            <a:avLst/>
          </a:prstGeom>
          <a:noFill/>
        </p:spPr>
        <p:txBody>
          <a:bodyPr wrap="square"/>
          <a:lstStyle/>
          <a:p>
            <a:pPr algn="ctr">
              <a:defRPr sz="1300" b="1">
                <a:solidFill>
                  <a:srgbClr val="FFFFFF"/>
                </a:solidFill>
                <a:latin typeface="Calibri"/>
              </a:defRPr>
            </a:pPr>
            <a:r>
              <a:t>N高・ゼロ高が切り拓いた道の先に、もっと多くの選択肢がある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あなたの「ワクワク」の正体は？</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4つのタイプで自分を知ろう</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3</a:t>
            </a:r>
          </a:p>
        </p:txBody>
      </p:sp>
      <p:sp>
        <p:nvSpPr>
          <p:cNvPr id="8" name="Rounded Rectangle 7"/>
          <p:cNvSpPr/>
          <p:nvPr/>
        </p:nvSpPr>
        <p:spPr>
          <a:xfrm>
            <a:off x="457200" y="1188720"/>
            <a:ext cx="19202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188720"/>
            <a:ext cx="192024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7280" y="1371600"/>
            <a:ext cx="640080" cy="640080"/>
          </a:xfrm>
          <a:prstGeom prst="ellipse">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463040"/>
            <a:ext cx="640080" cy="457200"/>
          </a:xfrm>
          <a:prstGeom prst="rect">
            <a:avLst/>
          </a:prstGeom>
          <a:noFill/>
        </p:spPr>
        <p:txBody>
          <a:bodyPr wrap="square"/>
          <a:lstStyle/>
          <a:p>
            <a:pPr algn="ctr">
              <a:defRPr sz="2400" b="1">
                <a:solidFill>
                  <a:srgbClr val="FFFFFF"/>
                </a:solidFill>
                <a:latin typeface="Georgia"/>
              </a:defRPr>
            </a:pPr>
            <a:r>
              <a:t>A</a:t>
            </a:r>
          </a:p>
        </p:txBody>
      </p:sp>
      <p:sp>
        <p:nvSpPr>
          <p:cNvPr id="12" name="TextBox 11"/>
          <p:cNvSpPr txBox="1"/>
          <p:nvPr/>
        </p:nvSpPr>
        <p:spPr>
          <a:xfrm>
            <a:off x="502920" y="2103120"/>
            <a:ext cx="1828800" cy="548640"/>
          </a:xfrm>
          <a:prstGeom prst="rect">
            <a:avLst/>
          </a:prstGeom>
          <a:noFill/>
        </p:spPr>
        <p:txBody>
          <a:bodyPr wrap="square"/>
          <a:lstStyle/>
          <a:p>
            <a:pPr algn="ctr">
              <a:defRPr sz="1400" b="1">
                <a:solidFill>
                  <a:srgbClr val="333333"/>
                </a:solidFill>
                <a:latin typeface="Calibri"/>
              </a:defRPr>
            </a:pPr>
            <a:r>
              <a:t>学習自由度</a:t>
            </a:r>
            <a:br/>
            <a:r>
              <a:t>重視タイプ</a:t>
            </a:r>
          </a:p>
        </p:txBody>
      </p:sp>
      <p:sp>
        <p:nvSpPr>
          <p:cNvPr id="13" name="TextBox 12"/>
          <p:cNvSpPr txBox="1"/>
          <p:nvPr/>
        </p:nvSpPr>
        <p:spPr>
          <a:xfrm>
            <a:off x="502920" y="2743200"/>
            <a:ext cx="1828800" cy="640080"/>
          </a:xfrm>
          <a:prstGeom prst="rect">
            <a:avLst/>
          </a:prstGeom>
          <a:noFill/>
        </p:spPr>
        <p:txBody>
          <a:bodyPr wrap="square"/>
          <a:lstStyle/>
          <a:p>
            <a:pPr algn="ctr">
              <a:defRPr sz="1100" b="0">
                <a:solidFill>
                  <a:srgbClr val="666666"/>
                </a:solidFill>
                <a:latin typeface="Calibri"/>
              </a:defRPr>
            </a:pPr>
            <a:r>
              <a:t>自分のペースで</a:t>
            </a:r>
            <a:br/>
            <a:r>
              <a:t>学びたい</a:t>
            </a:r>
          </a:p>
        </p:txBody>
      </p:sp>
      <p:sp>
        <p:nvSpPr>
          <p:cNvPr id="14" name="Rounded Rectangle 13"/>
          <p:cNvSpPr/>
          <p:nvPr/>
        </p:nvSpPr>
        <p:spPr>
          <a:xfrm>
            <a:off x="2560320" y="1188720"/>
            <a:ext cx="19202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0" y="1188720"/>
            <a:ext cx="1920240" cy="54864"/>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00400" y="1371600"/>
            <a:ext cx="640080" cy="640080"/>
          </a:xfrm>
          <a:prstGeom prst="ellipse">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1463040"/>
            <a:ext cx="640080" cy="457200"/>
          </a:xfrm>
          <a:prstGeom prst="rect">
            <a:avLst/>
          </a:prstGeom>
          <a:noFill/>
        </p:spPr>
        <p:txBody>
          <a:bodyPr wrap="square"/>
          <a:lstStyle/>
          <a:p>
            <a:pPr algn="ctr">
              <a:defRPr sz="2400" b="1">
                <a:solidFill>
                  <a:srgbClr val="FFFFFF"/>
                </a:solidFill>
                <a:latin typeface="Georgia"/>
              </a:defRPr>
            </a:pPr>
            <a:r>
              <a:t>B</a:t>
            </a:r>
          </a:p>
        </p:txBody>
      </p:sp>
      <p:sp>
        <p:nvSpPr>
          <p:cNvPr id="18" name="TextBox 17"/>
          <p:cNvSpPr txBox="1"/>
          <p:nvPr/>
        </p:nvSpPr>
        <p:spPr>
          <a:xfrm>
            <a:off x="2606040" y="2103120"/>
            <a:ext cx="1828800" cy="548640"/>
          </a:xfrm>
          <a:prstGeom prst="rect">
            <a:avLst/>
          </a:prstGeom>
          <a:noFill/>
        </p:spPr>
        <p:txBody>
          <a:bodyPr wrap="square"/>
          <a:lstStyle/>
          <a:p>
            <a:pPr algn="ctr">
              <a:defRPr sz="1400" b="1">
                <a:solidFill>
                  <a:srgbClr val="333333"/>
                </a:solidFill>
                <a:latin typeface="Calibri"/>
              </a:defRPr>
            </a:pPr>
            <a:r>
              <a:t>専門性</a:t>
            </a:r>
            <a:br/>
            <a:r>
              <a:t>追求タイプ</a:t>
            </a:r>
          </a:p>
        </p:txBody>
      </p:sp>
      <p:sp>
        <p:nvSpPr>
          <p:cNvPr id="19" name="TextBox 18"/>
          <p:cNvSpPr txBox="1"/>
          <p:nvPr/>
        </p:nvSpPr>
        <p:spPr>
          <a:xfrm>
            <a:off x="2606040" y="2743200"/>
            <a:ext cx="1828800" cy="640080"/>
          </a:xfrm>
          <a:prstGeom prst="rect">
            <a:avLst/>
          </a:prstGeom>
          <a:noFill/>
        </p:spPr>
        <p:txBody>
          <a:bodyPr wrap="square"/>
          <a:lstStyle/>
          <a:p>
            <a:pPr algn="ctr">
              <a:defRPr sz="1100" b="0">
                <a:solidFill>
                  <a:srgbClr val="666666"/>
                </a:solidFill>
                <a:latin typeface="Calibri"/>
              </a:defRPr>
            </a:pPr>
            <a:r>
              <a:t>好きなことを</a:t>
            </a:r>
            <a:br/>
            <a:r>
              <a:t>深めたい</a:t>
            </a:r>
          </a:p>
        </p:txBody>
      </p:sp>
      <p:sp>
        <p:nvSpPr>
          <p:cNvPr id="20" name="Rounded Rectangle 19"/>
          <p:cNvSpPr/>
          <p:nvPr/>
        </p:nvSpPr>
        <p:spPr>
          <a:xfrm>
            <a:off x="4663440" y="1188720"/>
            <a:ext cx="19202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3440" y="1188720"/>
            <a:ext cx="192024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303520" y="1371600"/>
            <a:ext cx="640080" cy="640080"/>
          </a:xfrm>
          <a:prstGeom prst="ellipse">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0" y="1463040"/>
            <a:ext cx="640080" cy="457200"/>
          </a:xfrm>
          <a:prstGeom prst="rect">
            <a:avLst/>
          </a:prstGeom>
          <a:noFill/>
        </p:spPr>
        <p:txBody>
          <a:bodyPr wrap="square"/>
          <a:lstStyle/>
          <a:p>
            <a:pPr algn="ctr">
              <a:defRPr sz="2400" b="1">
                <a:solidFill>
                  <a:srgbClr val="FFFFFF"/>
                </a:solidFill>
                <a:latin typeface="Georgia"/>
              </a:defRPr>
            </a:pPr>
            <a:r>
              <a:t>C</a:t>
            </a:r>
          </a:p>
        </p:txBody>
      </p:sp>
      <p:sp>
        <p:nvSpPr>
          <p:cNvPr id="24" name="TextBox 23"/>
          <p:cNvSpPr txBox="1"/>
          <p:nvPr/>
        </p:nvSpPr>
        <p:spPr>
          <a:xfrm>
            <a:off x="4709160" y="2103120"/>
            <a:ext cx="1828800" cy="548640"/>
          </a:xfrm>
          <a:prstGeom prst="rect">
            <a:avLst/>
          </a:prstGeom>
          <a:noFill/>
        </p:spPr>
        <p:txBody>
          <a:bodyPr wrap="square"/>
          <a:lstStyle/>
          <a:p>
            <a:pPr algn="ctr">
              <a:defRPr sz="1400" b="1">
                <a:solidFill>
                  <a:srgbClr val="333333"/>
                </a:solidFill>
                <a:latin typeface="Calibri"/>
              </a:defRPr>
            </a:pPr>
            <a:r>
              <a:t>コミュニティ</a:t>
            </a:r>
            <a:br/>
            <a:r>
              <a:t>重視タイプ</a:t>
            </a:r>
          </a:p>
        </p:txBody>
      </p:sp>
      <p:sp>
        <p:nvSpPr>
          <p:cNvPr id="25" name="TextBox 24"/>
          <p:cNvSpPr txBox="1"/>
          <p:nvPr/>
        </p:nvSpPr>
        <p:spPr>
          <a:xfrm>
            <a:off x="4709160" y="2743200"/>
            <a:ext cx="1828800" cy="640080"/>
          </a:xfrm>
          <a:prstGeom prst="rect">
            <a:avLst/>
          </a:prstGeom>
          <a:noFill/>
        </p:spPr>
        <p:txBody>
          <a:bodyPr wrap="square"/>
          <a:lstStyle/>
          <a:p>
            <a:pPr algn="ctr">
              <a:defRPr sz="1100" b="0">
                <a:solidFill>
                  <a:srgbClr val="666666"/>
                </a:solidFill>
                <a:latin typeface="Calibri"/>
              </a:defRPr>
            </a:pPr>
            <a:r>
              <a:t>新しい仲間と</a:t>
            </a:r>
            <a:br/>
            <a:r>
              <a:t>出会いたい</a:t>
            </a:r>
          </a:p>
        </p:txBody>
      </p:sp>
      <p:sp>
        <p:nvSpPr>
          <p:cNvPr id="26" name="Rounded Rectangle 25"/>
          <p:cNvSpPr/>
          <p:nvPr/>
        </p:nvSpPr>
        <p:spPr>
          <a:xfrm>
            <a:off x="6766560" y="1188720"/>
            <a:ext cx="19202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766560" y="1188720"/>
            <a:ext cx="1920240" cy="54864"/>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06640" y="1371600"/>
            <a:ext cx="640080" cy="640080"/>
          </a:xfrm>
          <a:prstGeom prst="ellipse">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1463040"/>
            <a:ext cx="640080" cy="457200"/>
          </a:xfrm>
          <a:prstGeom prst="rect">
            <a:avLst/>
          </a:prstGeom>
          <a:noFill/>
        </p:spPr>
        <p:txBody>
          <a:bodyPr wrap="square"/>
          <a:lstStyle/>
          <a:p>
            <a:pPr algn="ctr">
              <a:defRPr sz="2400" b="1">
                <a:solidFill>
                  <a:srgbClr val="FFFFFF"/>
                </a:solidFill>
                <a:latin typeface="Georgia"/>
              </a:defRPr>
            </a:pPr>
            <a:r>
              <a:t>D</a:t>
            </a:r>
          </a:p>
        </p:txBody>
      </p:sp>
      <p:sp>
        <p:nvSpPr>
          <p:cNvPr id="30" name="TextBox 29"/>
          <p:cNvSpPr txBox="1"/>
          <p:nvPr/>
        </p:nvSpPr>
        <p:spPr>
          <a:xfrm>
            <a:off x="6812280" y="2103120"/>
            <a:ext cx="1828800" cy="548640"/>
          </a:xfrm>
          <a:prstGeom prst="rect">
            <a:avLst/>
          </a:prstGeom>
          <a:noFill/>
        </p:spPr>
        <p:txBody>
          <a:bodyPr wrap="square"/>
          <a:lstStyle/>
          <a:p>
            <a:pPr algn="ctr">
              <a:defRPr sz="1400" b="1">
                <a:solidFill>
                  <a:srgbClr val="333333"/>
                </a:solidFill>
                <a:latin typeface="Calibri"/>
              </a:defRPr>
            </a:pPr>
            <a:r>
              <a:t>グローバル</a:t>
            </a:r>
            <a:br/>
            <a:r>
              <a:t>挑戦タイプ</a:t>
            </a:r>
          </a:p>
        </p:txBody>
      </p:sp>
      <p:sp>
        <p:nvSpPr>
          <p:cNvPr id="31" name="TextBox 30"/>
          <p:cNvSpPr txBox="1"/>
          <p:nvPr/>
        </p:nvSpPr>
        <p:spPr>
          <a:xfrm>
            <a:off x="6812280" y="2743200"/>
            <a:ext cx="1828800" cy="640080"/>
          </a:xfrm>
          <a:prstGeom prst="rect">
            <a:avLst/>
          </a:prstGeom>
          <a:noFill/>
        </p:spPr>
        <p:txBody>
          <a:bodyPr wrap="square"/>
          <a:lstStyle/>
          <a:p>
            <a:pPr algn="ctr">
              <a:defRPr sz="1100" b="0">
                <a:solidFill>
                  <a:srgbClr val="666666"/>
                </a:solidFill>
                <a:latin typeface="Calibri"/>
              </a:defRPr>
            </a:pPr>
            <a:r>
              <a:t>世界を</a:t>
            </a:r>
            <a:br/>
            <a:r>
              <a:t>広げたい</a:t>
            </a:r>
          </a:p>
        </p:txBody>
      </p:sp>
      <p:sp>
        <p:nvSpPr>
          <p:cNvPr id="32" name="TextBox 31"/>
          <p:cNvSpPr txBox="1"/>
          <p:nvPr/>
        </p:nvSpPr>
        <p:spPr>
          <a:xfrm>
            <a:off x="457200" y="4160520"/>
            <a:ext cx="8229600" cy="365760"/>
          </a:xfrm>
          <a:prstGeom prst="rect">
            <a:avLst/>
          </a:prstGeom>
          <a:noFill/>
        </p:spPr>
        <p:txBody>
          <a:bodyPr wrap="square"/>
          <a:lstStyle/>
          <a:p>
            <a:pPr algn="ctr">
              <a:defRPr sz="1200" b="1">
                <a:solidFill>
                  <a:srgbClr val="8B7536"/>
                </a:solidFill>
                <a:latin typeface="Calibri"/>
              </a:defRPr>
            </a:pPr>
            <a:r>
              <a:t>→ あなたはどのタイプ？タイプに合った学校を後ほどご紹介します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N高等学校・S高等学校グループ</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その「革新性」と「現実」</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4</a:t>
            </a:r>
          </a:p>
        </p:txBody>
      </p:sp>
      <p:sp>
        <p:nvSpPr>
          <p:cNvPr id="8" name="Rounded Rectangle 7"/>
          <p:cNvSpPr/>
          <p:nvPr/>
        </p:nvSpPr>
        <p:spPr>
          <a:xfrm>
            <a:off x="457200" y="1005840"/>
            <a:ext cx="3931920" cy="16459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3748440" cy="365760"/>
          </a:xfrm>
          <a:prstGeom prst="rect">
            <a:avLst/>
          </a:prstGeom>
          <a:noFill/>
        </p:spPr>
        <p:txBody>
          <a:bodyPr wrap="square"/>
          <a:lstStyle/>
          <a:p>
            <a:pPr algn="l">
              <a:defRPr sz="1400" b="1">
                <a:solidFill>
                  <a:srgbClr val="3A7D5E"/>
                </a:solidFill>
                <a:latin typeface="Calibri"/>
              </a:defRPr>
            </a:pPr>
            <a:r>
              <a:t>メリット（強み）</a:t>
            </a:r>
          </a:p>
        </p:txBody>
      </p:sp>
      <p:sp>
        <p:nvSpPr>
          <p:cNvPr id="10" name="TextBox 9"/>
          <p:cNvSpPr txBox="1"/>
          <p:nvPr/>
        </p:nvSpPr>
        <p:spPr>
          <a:xfrm>
            <a:off x="640080" y="1417320"/>
            <a:ext cx="3657600" cy="274320"/>
          </a:xfrm>
          <a:prstGeom prst="rect">
            <a:avLst/>
          </a:prstGeom>
          <a:noFill/>
        </p:spPr>
        <p:txBody>
          <a:bodyPr wrap="square"/>
          <a:lstStyle/>
          <a:p>
            <a:pPr algn="l">
              <a:defRPr sz="1100" b="0">
                <a:solidFill>
                  <a:srgbClr val="333333"/>
                </a:solidFill>
                <a:latin typeface="Calibri"/>
              </a:defRPr>
            </a:pPr>
            <a:r>
              <a:t>  先進的なオンライン学習システム</a:t>
            </a:r>
          </a:p>
        </p:txBody>
      </p:sp>
      <p:sp>
        <p:nvSpPr>
          <p:cNvPr id="11" name="TextBox 10"/>
          <p:cNvSpPr txBox="1"/>
          <p:nvPr/>
        </p:nvSpPr>
        <p:spPr>
          <a:xfrm>
            <a:off x="640080" y="1691640"/>
            <a:ext cx="3657600" cy="274320"/>
          </a:xfrm>
          <a:prstGeom prst="rect">
            <a:avLst/>
          </a:prstGeom>
          <a:noFill/>
        </p:spPr>
        <p:txBody>
          <a:bodyPr wrap="square"/>
          <a:lstStyle/>
          <a:p>
            <a:pPr algn="l">
              <a:defRPr sz="1100" b="0">
                <a:solidFill>
                  <a:srgbClr val="333333"/>
                </a:solidFill>
                <a:latin typeface="Calibri"/>
              </a:defRPr>
            </a:pPr>
            <a:r>
              <a:t>  豊富な課外活動・部活動</a:t>
            </a:r>
          </a:p>
        </p:txBody>
      </p:sp>
      <p:sp>
        <p:nvSpPr>
          <p:cNvPr id="12" name="TextBox 11"/>
          <p:cNvSpPr txBox="1"/>
          <p:nvPr/>
        </p:nvSpPr>
        <p:spPr>
          <a:xfrm>
            <a:off x="640080" y="1965960"/>
            <a:ext cx="3657600" cy="274320"/>
          </a:xfrm>
          <a:prstGeom prst="rect">
            <a:avLst/>
          </a:prstGeom>
          <a:noFill/>
        </p:spPr>
        <p:txBody>
          <a:bodyPr wrap="square"/>
          <a:lstStyle/>
          <a:p>
            <a:pPr algn="l">
              <a:defRPr sz="1100" b="0">
                <a:solidFill>
                  <a:srgbClr val="333333"/>
                </a:solidFill>
                <a:latin typeface="Calibri"/>
              </a:defRPr>
            </a:pPr>
            <a:r>
              <a:t>  プログラミング・起業など実践カリキュラム</a:t>
            </a:r>
          </a:p>
        </p:txBody>
      </p:sp>
      <p:sp>
        <p:nvSpPr>
          <p:cNvPr id="13" name="TextBox 12"/>
          <p:cNvSpPr txBox="1"/>
          <p:nvPr/>
        </p:nvSpPr>
        <p:spPr>
          <a:xfrm>
            <a:off x="640080" y="2240280"/>
            <a:ext cx="3657600" cy="274320"/>
          </a:xfrm>
          <a:prstGeom prst="rect">
            <a:avLst/>
          </a:prstGeom>
          <a:noFill/>
        </p:spPr>
        <p:txBody>
          <a:bodyPr wrap="square"/>
          <a:lstStyle/>
          <a:p>
            <a:pPr algn="l">
              <a:defRPr sz="1100" b="0">
                <a:solidFill>
                  <a:srgbClr val="333333"/>
                </a:solidFill>
                <a:latin typeface="Calibri"/>
              </a:defRPr>
            </a:pPr>
            <a:r>
              <a:t>  全国どこからでも入学可能</a:t>
            </a:r>
          </a:p>
        </p:txBody>
      </p:sp>
      <p:sp>
        <p:nvSpPr>
          <p:cNvPr id="14" name="Rounded Rectangle 13"/>
          <p:cNvSpPr/>
          <p:nvPr/>
        </p:nvSpPr>
        <p:spPr>
          <a:xfrm>
            <a:off x="4663440" y="1005840"/>
            <a:ext cx="3931920" cy="16459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051560"/>
            <a:ext cx="3748440" cy="365760"/>
          </a:xfrm>
          <a:prstGeom prst="rect">
            <a:avLst/>
          </a:prstGeom>
          <a:noFill/>
        </p:spPr>
        <p:txBody>
          <a:bodyPr wrap="square"/>
          <a:lstStyle/>
          <a:p>
            <a:pPr algn="l">
              <a:defRPr sz="1400" b="1">
                <a:solidFill>
                  <a:srgbClr val="C62828"/>
                </a:solidFill>
                <a:latin typeface="Calibri"/>
              </a:defRPr>
            </a:pPr>
            <a:r>
              <a:t>デメリット（注意点）</a:t>
            </a:r>
          </a:p>
        </p:txBody>
      </p:sp>
      <p:sp>
        <p:nvSpPr>
          <p:cNvPr id="16" name="TextBox 15"/>
          <p:cNvSpPr txBox="1"/>
          <p:nvPr/>
        </p:nvSpPr>
        <p:spPr>
          <a:xfrm>
            <a:off x="4846320" y="1417320"/>
            <a:ext cx="3657600" cy="274320"/>
          </a:xfrm>
          <a:prstGeom prst="rect">
            <a:avLst/>
          </a:prstGeom>
          <a:noFill/>
        </p:spPr>
        <p:txBody>
          <a:bodyPr wrap="square"/>
          <a:lstStyle/>
          <a:p>
            <a:pPr algn="l">
              <a:defRPr sz="1100" b="0">
                <a:solidFill>
                  <a:srgbClr val="333333"/>
                </a:solidFill>
                <a:latin typeface="Calibri"/>
              </a:defRPr>
            </a:pPr>
            <a:r>
              <a:t>  自己管理能力が求められる</a:t>
            </a:r>
          </a:p>
        </p:txBody>
      </p:sp>
      <p:sp>
        <p:nvSpPr>
          <p:cNvPr id="17" name="TextBox 16"/>
          <p:cNvSpPr txBox="1"/>
          <p:nvPr/>
        </p:nvSpPr>
        <p:spPr>
          <a:xfrm>
            <a:off x="4846320" y="1691640"/>
            <a:ext cx="3657600" cy="274320"/>
          </a:xfrm>
          <a:prstGeom prst="rect">
            <a:avLst/>
          </a:prstGeom>
          <a:noFill/>
        </p:spPr>
        <p:txBody>
          <a:bodyPr wrap="square"/>
          <a:lstStyle/>
          <a:p>
            <a:pPr algn="l">
              <a:defRPr sz="1100" b="0">
                <a:solidFill>
                  <a:srgbClr val="333333"/>
                </a:solidFill>
                <a:latin typeface="Calibri"/>
              </a:defRPr>
            </a:pPr>
            <a:r>
              <a:t>  対面サポートが限定的（ネットコース）</a:t>
            </a:r>
          </a:p>
        </p:txBody>
      </p:sp>
      <p:sp>
        <p:nvSpPr>
          <p:cNvPr id="18" name="TextBox 17"/>
          <p:cNvSpPr txBox="1"/>
          <p:nvPr/>
        </p:nvSpPr>
        <p:spPr>
          <a:xfrm>
            <a:off x="4846320" y="1965960"/>
            <a:ext cx="3657600" cy="274320"/>
          </a:xfrm>
          <a:prstGeom prst="rect">
            <a:avLst/>
          </a:prstGeom>
          <a:noFill/>
        </p:spPr>
        <p:txBody>
          <a:bodyPr wrap="square"/>
          <a:lstStyle/>
          <a:p>
            <a:pPr algn="l">
              <a:defRPr sz="1100" b="0">
                <a:solidFill>
                  <a:srgbClr val="333333"/>
                </a:solidFill>
                <a:latin typeface="Calibri"/>
              </a:defRPr>
            </a:pPr>
            <a:r>
              <a:t>  学費はコースにより大きく異なる</a:t>
            </a:r>
          </a:p>
        </p:txBody>
      </p:sp>
      <p:sp>
        <p:nvSpPr>
          <p:cNvPr id="19" name="TextBox 18"/>
          <p:cNvSpPr txBox="1"/>
          <p:nvPr/>
        </p:nvSpPr>
        <p:spPr>
          <a:xfrm>
            <a:off x="4846320" y="2240280"/>
            <a:ext cx="3657600" cy="274320"/>
          </a:xfrm>
          <a:prstGeom prst="rect">
            <a:avLst/>
          </a:prstGeom>
          <a:noFill/>
        </p:spPr>
        <p:txBody>
          <a:bodyPr wrap="square"/>
          <a:lstStyle/>
          <a:p>
            <a:pPr algn="l">
              <a:defRPr sz="1100" b="0">
                <a:solidFill>
                  <a:srgbClr val="333333"/>
                </a:solidFill>
                <a:latin typeface="Calibri"/>
              </a:defRPr>
            </a:pPr>
            <a:r>
              <a:t>  生徒数が多く個別対応に限界がある場合も</a:t>
            </a:r>
          </a:p>
        </p:txBody>
      </p:sp>
      <p:sp>
        <p:nvSpPr>
          <p:cNvPr id="20" name="Rounded Rectangle 19"/>
          <p:cNvSpPr/>
          <p:nvPr/>
        </p:nvSpPr>
        <p:spPr>
          <a:xfrm>
            <a:off x="457200" y="2834640"/>
            <a:ext cx="82296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880360"/>
            <a:ext cx="8229600" cy="320040"/>
          </a:xfrm>
          <a:prstGeom prst="rect">
            <a:avLst/>
          </a:prstGeom>
          <a:noFill/>
        </p:spPr>
        <p:txBody>
          <a:bodyPr wrap="square"/>
          <a:lstStyle/>
          <a:p>
            <a:pPr algn="l">
              <a:defRPr sz="1400" b="1">
                <a:solidFill>
                  <a:srgbClr val="8B7536"/>
                </a:solidFill>
                <a:latin typeface="Calibri"/>
              </a:defRPr>
            </a:pPr>
            <a:r>
              <a:t>数字で見るN高・S高</a:t>
            </a:r>
          </a:p>
        </p:txBody>
      </p:sp>
      <p:sp>
        <p:nvSpPr>
          <p:cNvPr id="22" name="TextBox 21"/>
          <p:cNvSpPr txBox="1"/>
          <p:nvPr/>
        </p:nvSpPr>
        <p:spPr>
          <a:xfrm>
            <a:off x="548640" y="3200400"/>
            <a:ext cx="1828800" cy="274320"/>
          </a:xfrm>
          <a:prstGeom prst="rect">
            <a:avLst/>
          </a:prstGeom>
          <a:noFill/>
        </p:spPr>
        <p:txBody>
          <a:bodyPr wrap="square"/>
          <a:lstStyle/>
          <a:p>
            <a:pPr algn="ctr">
              <a:defRPr sz="1000" b="1">
                <a:solidFill>
                  <a:srgbClr val="8B7536"/>
                </a:solidFill>
                <a:latin typeface="Calibri"/>
              </a:defRPr>
            </a:pPr>
            <a:r>
              <a:t>ネットコース学費</a:t>
            </a:r>
          </a:p>
        </p:txBody>
      </p:sp>
      <p:sp>
        <p:nvSpPr>
          <p:cNvPr id="23" name="TextBox 22"/>
          <p:cNvSpPr txBox="1"/>
          <p:nvPr/>
        </p:nvSpPr>
        <p:spPr>
          <a:xfrm>
            <a:off x="548640" y="3474720"/>
            <a:ext cx="1828800" cy="548640"/>
          </a:xfrm>
          <a:prstGeom prst="rect">
            <a:avLst/>
          </a:prstGeom>
          <a:noFill/>
        </p:spPr>
        <p:txBody>
          <a:bodyPr wrap="square"/>
          <a:lstStyle/>
          <a:p>
            <a:pPr algn="ctr">
              <a:defRPr sz="1000" b="0">
                <a:solidFill>
                  <a:srgbClr val="333333"/>
                </a:solidFill>
                <a:latin typeface="Calibri"/>
              </a:defRPr>
            </a:pPr>
            <a:r>
              <a:t>年間約25〜38万円</a:t>
            </a:r>
            <a:br/>
            <a:r>
              <a:t>（就学支援金適用前）</a:t>
            </a:r>
          </a:p>
        </p:txBody>
      </p:sp>
      <p:sp>
        <p:nvSpPr>
          <p:cNvPr id="24" name="TextBox 23"/>
          <p:cNvSpPr txBox="1"/>
          <p:nvPr/>
        </p:nvSpPr>
        <p:spPr>
          <a:xfrm>
            <a:off x="2606040" y="3200400"/>
            <a:ext cx="1828800" cy="274320"/>
          </a:xfrm>
          <a:prstGeom prst="rect">
            <a:avLst/>
          </a:prstGeom>
          <a:noFill/>
        </p:spPr>
        <p:txBody>
          <a:bodyPr wrap="square"/>
          <a:lstStyle/>
          <a:p>
            <a:pPr algn="ctr">
              <a:defRPr sz="1000" b="1">
                <a:solidFill>
                  <a:srgbClr val="8B7536"/>
                </a:solidFill>
                <a:latin typeface="Calibri"/>
              </a:defRPr>
            </a:pPr>
            <a:r>
              <a:t>通学コース学費</a:t>
            </a:r>
          </a:p>
        </p:txBody>
      </p:sp>
      <p:sp>
        <p:nvSpPr>
          <p:cNvPr id="25" name="TextBox 24"/>
          <p:cNvSpPr txBox="1"/>
          <p:nvPr/>
        </p:nvSpPr>
        <p:spPr>
          <a:xfrm>
            <a:off x="2606040" y="3474720"/>
            <a:ext cx="1828800" cy="548640"/>
          </a:xfrm>
          <a:prstGeom prst="rect">
            <a:avLst/>
          </a:prstGeom>
          <a:noFill/>
        </p:spPr>
        <p:txBody>
          <a:bodyPr wrap="square"/>
          <a:lstStyle/>
          <a:p>
            <a:pPr algn="ctr">
              <a:defRPr sz="1000" b="0">
                <a:solidFill>
                  <a:srgbClr val="333333"/>
                </a:solidFill>
                <a:latin typeface="Calibri"/>
              </a:defRPr>
            </a:pPr>
            <a:r>
              <a:t>年間約70〜120万円</a:t>
            </a:r>
          </a:p>
        </p:txBody>
      </p:sp>
      <p:sp>
        <p:nvSpPr>
          <p:cNvPr id="26" name="TextBox 25"/>
          <p:cNvSpPr txBox="1"/>
          <p:nvPr/>
        </p:nvSpPr>
        <p:spPr>
          <a:xfrm>
            <a:off x="4663440" y="3200400"/>
            <a:ext cx="1828800" cy="274320"/>
          </a:xfrm>
          <a:prstGeom prst="rect">
            <a:avLst/>
          </a:prstGeom>
          <a:noFill/>
        </p:spPr>
        <p:txBody>
          <a:bodyPr wrap="square"/>
          <a:lstStyle/>
          <a:p>
            <a:pPr algn="ctr">
              <a:defRPr sz="1000" b="1">
                <a:solidFill>
                  <a:srgbClr val="8B7536"/>
                </a:solidFill>
                <a:latin typeface="Calibri"/>
              </a:defRPr>
            </a:pPr>
            <a:r>
              <a:t>在籍生徒数</a:t>
            </a:r>
          </a:p>
        </p:txBody>
      </p:sp>
      <p:sp>
        <p:nvSpPr>
          <p:cNvPr id="27" name="TextBox 26"/>
          <p:cNvSpPr txBox="1"/>
          <p:nvPr/>
        </p:nvSpPr>
        <p:spPr>
          <a:xfrm>
            <a:off x="4663440" y="3474720"/>
            <a:ext cx="1828800" cy="548640"/>
          </a:xfrm>
          <a:prstGeom prst="rect">
            <a:avLst/>
          </a:prstGeom>
          <a:noFill/>
        </p:spPr>
        <p:txBody>
          <a:bodyPr wrap="square"/>
          <a:lstStyle/>
          <a:p>
            <a:pPr algn="ctr">
              <a:defRPr sz="1000" b="0">
                <a:solidFill>
                  <a:srgbClr val="333333"/>
                </a:solidFill>
                <a:latin typeface="Calibri"/>
              </a:defRPr>
            </a:pPr>
            <a:r>
              <a:t>約2万7千人</a:t>
            </a:r>
            <a:br/>
            <a:r>
              <a:t>（2024年時点）</a:t>
            </a:r>
          </a:p>
        </p:txBody>
      </p:sp>
      <p:sp>
        <p:nvSpPr>
          <p:cNvPr id="28" name="TextBox 27"/>
          <p:cNvSpPr txBox="1"/>
          <p:nvPr/>
        </p:nvSpPr>
        <p:spPr>
          <a:xfrm>
            <a:off x="6720840" y="3200400"/>
            <a:ext cx="1828800" cy="274320"/>
          </a:xfrm>
          <a:prstGeom prst="rect">
            <a:avLst/>
          </a:prstGeom>
          <a:noFill/>
        </p:spPr>
        <p:txBody>
          <a:bodyPr wrap="square"/>
          <a:lstStyle/>
          <a:p>
            <a:pPr algn="ctr">
              <a:defRPr sz="1000" b="1">
                <a:solidFill>
                  <a:srgbClr val="8B7536"/>
                </a:solidFill>
                <a:latin typeface="Calibri"/>
              </a:defRPr>
            </a:pPr>
            <a:r>
              <a:t>大学進学実績</a:t>
            </a:r>
          </a:p>
        </p:txBody>
      </p:sp>
      <p:sp>
        <p:nvSpPr>
          <p:cNvPr id="29" name="TextBox 28"/>
          <p:cNvSpPr txBox="1"/>
          <p:nvPr/>
        </p:nvSpPr>
        <p:spPr>
          <a:xfrm>
            <a:off x="6720840" y="3474720"/>
            <a:ext cx="1828800" cy="548640"/>
          </a:xfrm>
          <a:prstGeom prst="rect">
            <a:avLst/>
          </a:prstGeom>
          <a:noFill/>
        </p:spPr>
        <p:txBody>
          <a:bodyPr wrap="square"/>
          <a:lstStyle/>
          <a:p>
            <a:pPr algn="ctr">
              <a:defRPr sz="1000" b="0">
                <a:solidFill>
                  <a:srgbClr val="333333"/>
                </a:solidFill>
                <a:latin typeface="Calibri"/>
              </a:defRPr>
            </a:pPr>
            <a:r>
              <a:t>東大・京大・早慶</a:t>
            </a:r>
            <a:br/>
            <a:r>
              <a:t>など実績あり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ゼロ高等学院</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堀江氏の「教育論」と体験型学習の真相</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5</a:t>
            </a:r>
          </a:p>
        </p:txBody>
      </p:sp>
      <p:sp>
        <p:nvSpPr>
          <p:cNvPr id="8" name="Rounded Rectangle 7"/>
          <p:cNvSpPr/>
          <p:nvPr/>
        </p:nvSpPr>
        <p:spPr>
          <a:xfrm>
            <a:off x="457200" y="1005840"/>
            <a:ext cx="5120640" cy="155448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4937760" cy="320040"/>
          </a:xfrm>
          <a:prstGeom prst="rect">
            <a:avLst/>
          </a:prstGeom>
          <a:noFill/>
        </p:spPr>
        <p:txBody>
          <a:bodyPr wrap="square"/>
          <a:lstStyle/>
          <a:p>
            <a:pPr algn="l">
              <a:defRPr sz="1400" b="1">
                <a:solidFill>
                  <a:srgbClr val="8B7536"/>
                </a:solidFill>
                <a:latin typeface="Calibri"/>
              </a:defRPr>
            </a:pPr>
            <a:r>
              <a:t>ゼロ高の特徴</a:t>
            </a:r>
          </a:p>
        </p:txBody>
      </p:sp>
      <p:sp>
        <p:nvSpPr>
          <p:cNvPr id="10" name="TextBox 9"/>
          <p:cNvSpPr txBox="1"/>
          <p:nvPr/>
        </p:nvSpPr>
        <p:spPr>
          <a:xfrm>
            <a:off x="640080" y="1371600"/>
            <a:ext cx="4846320" cy="274320"/>
          </a:xfrm>
          <a:prstGeom prst="rect">
            <a:avLst/>
          </a:prstGeom>
          <a:noFill/>
        </p:spPr>
        <p:txBody>
          <a:bodyPr wrap="square"/>
          <a:lstStyle/>
          <a:p>
            <a:pPr algn="l">
              <a:defRPr sz="1100" b="0">
                <a:solidFill>
                  <a:srgbClr val="333333"/>
                </a:solidFill>
                <a:latin typeface="Calibri"/>
              </a:defRPr>
            </a:pPr>
            <a:r>
              <a:t>  「偏差値0」= 座学にとらわれない独自の教育理念</a:t>
            </a:r>
          </a:p>
        </p:txBody>
      </p:sp>
      <p:sp>
        <p:nvSpPr>
          <p:cNvPr id="11" name="TextBox 10"/>
          <p:cNvSpPr txBox="1"/>
          <p:nvPr/>
        </p:nvSpPr>
        <p:spPr>
          <a:xfrm>
            <a:off x="640080" y="1645920"/>
            <a:ext cx="4846320" cy="274320"/>
          </a:xfrm>
          <a:prstGeom prst="rect">
            <a:avLst/>
          </a:prstGeom>
          <a:noFill/>
        </p:spPr>
        <p:txBody>
          <a:bodyPr wrap="square"/>
          <a:lstStyle/>
          <a:p>
            <a:pPr algn="l">
              <a:defRPr sz="1100" b="0">
                <a:solidFill>
                  <a:srgbClr val="333333"/>
                </a:solidFill>
                <a:latin typeface="Calibri"/>
              </a:defRPr>
            </a:pPr>
            <a:r>
              <a:t>  イベント企画・起業体験・地方創生プロジェクトなど実践中心</a:t>
            </a:r>
          </a:p>
        </p:txBody>
      </p:sp>
      <p:sp>
        <p:nvSpPr>
          <p:cNvPr id="12" name="TextBox 11"/>
          <p:cNvSpPr txBox="1"/>
          <p:nvPr/>
        </p:nvSpPr>
        <p:spPr>
          <a:xfrm>
            <a:off x="640080" y="1920240"/>
            <a:ext cx="4846320" cy="274320"/>
          </a:xfrm>
          <a:prstGeom prst="rect">
            <a:avLst/>
          </a:prstGeom>
          <a:noFill/>
        </p:spPr>
        <p:txBody>
          <a:bodyPr wrap="square"/>
          <a:lstStyle/>
          <a:p>
            <a:pPr algn="l">
              <a:defRPr sz="1100" b="0">
                <a:solidFill>
                  <a:srgbClr val="333333"/>
                </a:solidFill>
                <a:latin typeface="Calibri"/>
              </a:defRPr>
            </a:pPr>
            <a:r>
              <a:t>  堀江貴文氏が主宰、行動力と挑戦マインドを重視</a:t>
            </a:r>
          </a:p>
        </p:txBody>
      </p:sp>
      <p:sp>
        <p:nvSpPr>
          <p:cNvPr id="13" name="TextBox 12"/>
          <p:cNvSpPr txBox="1"/>
          <p:nvPr/>
        </p:nvSpPr>
        <p:spPr>
          <a:xfrm>
            <a:off x="640080" y="2194560"/>
            <a:ext cx="4846320" cy="274320"/>
          </a:xfrm>
          <a:prstGeom prst="rect">
            <a:avLst/>
          </a:prstGeom>
          <a:noFill/>
        </p:spPr>
        <p:txBody>
          <a:bodyPr wrap="square"/>
          <a:lstStyle/>
          <a:p>
            <a:pPr algn="l">
              <a:defRPr sz="1100" b="0">
                <a:solidFill>
                  <a:srgbClr val="333333"/>
                </a:solidFill>
                <a:latin typeface="Calibri"/>
              </a:defRPr>
            </a:pPr>
            <a:r>
              <a:t>  少人数制で密度の濃い体験が可能</a:t>
            </a:r>
          </a:p>
        </p:txBody>
      </p:sp>
      <p:sp>
        <p:nvSpPr>
          <p:cNvPr id="14" name="Rounded Rectangle 13"/>
          <p:cNvSpPr/>
          <p:nvPr/>
        </p:nvSpPr>
        <p:spPr>
          <a:xfrm>
            <a:off x="457200" y="2697480"/>
            <a:ext cx="3931920" cy="17373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743200"/>
            <a:ext cx="3748440" cy="274320"/>
          </a:xfrm>
          <a:prstGeom prst="rect">
            <a:avLst/>
          </a:prstGeom>
          <a:noFill/>
        </p:spPr>
        <p:txBody>
          <a:bodyPr wrap="square"/>
          <a:lstStyle/>
          <a:p>
            <a:pPr algn="l">
              <a:defRPr sz="1300" b="1">
                <a:solidFill>
                  <a:srgbClr val="3A7D5E"/>
                </a:solidFill>
                <a:latin typeface="Calibri"/>
              </a:defRPr>
            </a:pPr>
            <a:r>
              <a:t>向いている人</a:t>
            </a:r>
          </a:p>
        </p:txBody>
      </p:sp>
      <p:sp>
        <p:nvSpPr>
          <p:cNvPr id="16" name="TextBox 15"/>
          <p:cNvSpPr txBox="1"/>
          <p:nvPr/>
        </p:nvSpPr>
        <p:spPr>
          <a:xfrm>
            <a:off x="640080" y="3017520"/>
            <a:ext cx="3657600" cy="274320"/>
          </a:xfrm>
          <a:prstGeom prst="rect">
            <a:avLst/>
          </a:prstGeom>
          <a:noFill/>
        </p:spPr>
        <p:txBody>
          <a:bodyPr wrap="square"/>
          <a:lstStyle/>
          <a:p>
            <a:pPr algn="l">
              <a:defRPr sz="1000" b="0">
                <a:solidFill>
                  <a:srgbClr val="333333"/>
                </a:solidFill>
                <a:latin typeface="Calibri"/>
              </a:defRPr>
            </a:pPr>
            <a:r>
              <a:t>  自分でやりたいことが明確にある</a:t>
            </a:r>
          </a:p>
        </p:txBody>
      </p:sp>
      <p:sp>
        <p:nvSpPr>
          <p:cNvPr id="17" name="TextBox 16"/>
          <p:cNvSpPr txBox="1"/>
          <p:nvPr/>
        </p:nvSpPr>
        <p:spPr>
          <a:xfrm>
            <a:off x="640080" y="3291840"/>
            <a:ext cx="3657600" cy="274320"/>
          </a:xfrm>
          <a:prstGeom prst="rect">
            <a:avLst/>
          </a:prstGeom>
          <a:noFill/>
        </p:spPr>
        <p:txBody>
          <a:bodyPr wrap="square"/>
          <a:lstStyle/>
          <a:p>
            <a:pPr algn="l">
              <a:defRPr sz="1000" b="0">
                <a:solidFill>
                  <a:srgbClr val="333333"/>
                </a:solidFill>
                <a:latin typeface="Calibri"/>
              </a:defRPr>
            </a:pPr>
            <a:r>
              <a:t>  行動力・チャレンジ精神がある</a:t>
            </a:r>
          </a:p>
        </p:txBody>
      </p:sp>
      <p:sp>
        <p:nvSpPr>
          <p:cNvPr id="18" name="TextBox 17"/>
          <p:cNvSpPr txBox="1"/>
          <p:nvPr/>
        </p:nvSpPr>
        <p:spPr>
          <a:xfrm>
            <a:off x="640080" y="3566160"/>
            <a:ext cx="3657600" cy="274320"/>
          </a:xfrm>
          <a:prstGeom prst="rect">
            <a:avLst/>
          </a:prstGeom>
          <a:noFill/>
        </p:spPr>
        <p:txBody>
          <a:bodyPr wrap="square"/>
          <a:lstStyle/>
          <a:p>
            <a:pPr algn="l">
              <a:defRPr sz="1000" b="0">
                <a:solidFill>
                  <a:srgbClr val="333333"/>
                </a:solidFill>
                <a:latin typeface="Calibri"/>
              </a:defRPr>
            </a:pPr>
            <a:r>
              <a:t>  起業やフリーランスに興味がある</a:t>
            </a:r>
          </a:p>
        </p:txBody>
      </p:sp>
      <p:sp>
        <p:nvSpPr>
          <p:cNvPr id="19" name="Rounded Rectangle 18"/>
          <p:cNvSpPr/>
          <p:nvPr/>
        </p:nvSpPr>
        <p:spPr>
          <a:xfrm>
            <a:off x="4572000" y="2697480"/>
            <a:ext cx="4114800" cy="173736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2743200"/>
            <a:ext cx="3931920" cy="274320"/>
          </a:xfrm>
          <a:prstGeom prst="rect">
            <a:avLst/>
          </a:prstGeom>
          <a:noFill/>
        </p:spPr>
        <p:txBody>
          <a:bodyPr wrap="square"/>
          <a:lstStyle/>
          <a:p>
            <a:pPr algn="l">
              <a:defRPr sz="1300" b="1">
                <a:solidFill>
                  <a:srgbClr val="C62828"/>
                </a:solidFill>
                <a:latin typeface="Calibri"/>
              </a:defRPr>
            </a:pPr>
            <a:r>
              <a:t>向いていない人</a:t>
            </a:r>
          </a:p>
        </p:txBody>
      </p:sp>
      <p:sp>
        <p:nvSpPr>
          <p:cNvPr id="21" name="TextBox 20"/>
          <p:cNvSpPr txBox="1"/>
          <p:nvPr/>
        </p:nvSpPr>
        <p:spPr>
          <a:xfrm>
            <a:off x="4754880" y="3017520"/>
            <a:ext cx="3840480" cy="274320"/>
          </a:xfrm>
          <a:prstGeom prst="rect">
            <a:avLst/>
          </a:prstGeom>
          <a:noFill/>
        </p:spPr>
        <p:txBody>
          <a:bodyPr wrap="square"/>
          <a:lstStyle/>
          <a:p>
            <a:pPr algn="l">
              <a:defRPr sz="1000" b="0">
                <a:solidFill>
                  <a:srgbClr val="333333"/>
                </a:solidFill>
                <a:latin typeface="Calibri"/>
              </a:defRPr>
            </a:pPr>
            <a:r>
              <a:t>  手厚い学習サポートを求める方</a:t>
            </a:r>
          </a:p>
        </p:txBody>
      </p:sp>
      <p:sp>
        <p:nvSpPr>
          <p:cNvPr id="22" name="TextBox 21"/>
          <p:cNvSpPr txBox="1"/>
          <p:nvPr/>
        </p:nvSpPr>
        <p:spPr>
          <a:xfrm>
            <a:off x="4754880" y="3291840"/>
            <a:ext cx="3840480" cy="274320"/>
          </a:xfrm>
          <a:prstGeom prst="rect">
            <a:avLst/>
          </a:prstGeom>
          <a:noFill/>
        </p:spPr>
        <p:txBody>
          <a:bodyPr wrap="square"/>
          <a:lstStyle/>
          <a:p>
            <a:pPr algn="l">
              <a:defRPr sz="1000" b="0">
                <a:solidFill>
                  <a:srgbClr val="333333"/>
                </a:solidFill>
                <a:latin typeface="Calibri"/>
              </a:defRPr>
            </a:pPr>
            <a:r>
              <a:t>  大学受験を最優先にしたい方</a:t>
            </a:r>
          </a:p>
        </p:txBody>
      </p:sp>
      <p:sp>
        <p:nvSpPr>
          <p:cNvPr id="23" name="TextBox 22"/>
          <p:cNvSpPr txBox="1"/>
          <p:nvPr/>
        </p:nvSpPr>
        <p:spPr>
          <a:xfrm>
            <a:off x="4754880" y="3566160"/>
            <a:ext cx="3840480" cy="274320"/>
          </a:xfrm>
          <a:prstGeom prst="rect">
            <a:avLst/>
          </a:prstGeom>
          <a:noFill/>
        </p:spPr>
        <p:txBody>
          <a:bodyPr wrap="square"/>
          <a:lstStyle/>
          <a:p>
            <a:pPr algn="l">
              <a:defRPr sz="1000" b="0">
                <a:solidFill>
                  <a:srgbClr val="333333"/>
                </a:solidFill>
                <a:latin typeface="Calibri"/>
              </a:defRPr>
            </a:pPr>
            <a:r>
              <a:t>  安定した通学スタイルを望む方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【Bタイプ】「好き」を仕事に！専門特化校</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専門性追求タイプ向け</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6</a:t>
            </a:r>
          </a:p>
        </p:txBody>
      </p:sp>
      <p:sp>
        <p:nvSpPr>
          <p:cNvPr id="8" name="Rounded Rectangle 7"/>
          <p:cNvSpPr/>
          <p:nvPr/>
        </p:nvSpPr>
        <p:spPr>
          <a:xfrm>
            <a:off x="457200" y="1097280"/>
            <a:ext cx="265176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2651760" cy="54864"/>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234440"/>
            <a:ext cx="1097280" cy="36576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234440"/>
            <a:ext cx="1097280" cy="365760"/>
          </a:xfrm>
          <a:prstGeom prst="rect">
            <a:avLst/>
          </a:prstGeom>
          <a:noFill/>
        </p:spPr>
        <p:txBody>
          <a:bodyPr wrap="square"/>
          <a:lstStyle/>
          <a:p>
            <a:pPr algn="ctr">
              <a:defRPr sz="900" b="1">
                <a:solidFill>
                  <a:srgbClr val="FFFFFF"/>
                </a:solidFill>
                <a:latin typeface="Calibri"/>
              </a:defRPr>
            </a:pPr>
            <a:r>
              <a:t>40以上の</a:t>
            </a:r>
            <a:br/>
            <a:r>
              <a:t>専門分野</a:t>
            </a:r>
          </a:p>
        </p:txBody>
      </p:sp>
      <p:sp>
        <p:nvSpPr>
          <p:cNvPr id="12" name="TextBox 11"/>
          <p:cNvSpPr txBox="1"/>
          <p:nvPr/>
        </p:nvSpPr>
        <p:spPr>
          <a:xfrm>
            <a:off x="548640" y="1691640"/>
            <a:ext cx="2468880" cy="548640"/>
          </a:xfrm>
          <a:prstGeom prst="rect">
            <a:avLst/>
          </a:prstGeom>
          <a:noFill/>
        </p:spPr>
        <p:txBody>
          <a:bodyPr wrap="square"/>
          <a:lstStyle/>
          <a:p>
            <a:pPr algn="l">
              <a:defRPr sz="1400" b="1">
                <a:solidFill>
                  <a:srgbClr val="333333"/>
                </a:solidFill>
                <a:latin typeface="Calibri"/>
              </a:defRPr>
            </a:pPr>
            <a:r>
              <a:t>ヒューマンキャンパス</a:t>
            </a:r>
            <a:br/>
            <a:r>
              <a:t>高等学校</a:t>
            </a:r>
          </a:p>
        </p:txBody>
      </p:sp>
      <p:sp>
        <p:nvSpPr>
          <p:cNvPr id="13" name="TextBox 12"/>
          <p:cNvSpPr txBox="1"/>
          <p:nvPr/>
        </p:nvSpPr>
        <p:spPr>
          <a:xfrm>
            <a:off x="548640" y="2286000"/>
            <a:ext cx="2468880" cy="822960"/>
          </a:xfrm>
          <a:prstGeom prst="rect">
            <a:avLst/>
          </a:prstGeom>
          <a:noFill/>
        </p:spPr>
        <p:txBody>
          <a:bodyPr wrap="square"/>
          <a:lstStyle/>
          <a:p>
            <a:pPr algn="l">
              <a:defRPr sz="1100" b="0">
                <a:solidFill>
                  <a:srgbClr val="666666"/>
                </a:solidFill>
                <a:latin typeface="Calibri"/>
              </a:defRPr>
            </a:pPr>
            <a:r>
              <a:t>声優・eスポーツ・美容</a:t>
            </a:r>
            <a:br/>
            <a:r>
              <a:t>マンガなど40分野</a:t>
            </a:r>
          </a:p>
        </p:txBody>
      </p:sp>
      <p:sp>
        <p:nvSpPr>
          <p:cNvPr id="14" name="Rounded Rectangle 13"/>
          <p:cNvSpPr/>
          <p:nvPr/>
        </p:nvSpPr>
        <p:spPr>
          <a:xfrm>
            <a:off x="3291840" y="1097280"/>
            <a:ext cx="265176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097280"/>
            <a:ext cx="265176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83280" y="1234440"/>
            <a:ext cx="1097280" cy="365760"/>
          </a:xfrm>
          <a:prstGeom prst="round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234440"/>
            <a:ext cx="1097280" cy="365760"/>
          </a:xfrm>
          <a:prstGeom prst="rect">
            <a:avLst/>
          </a:prstGeom>
          <a:noFill/>
        </p:spPr>
        <p:txBody>
          <a:bodyPr wrap="square"/>
          <a:lstStyle/>
          <a:p>
            <a:pPr algn="ctr">
              <a:defRPr sz="900" b="1">
                <a:solidFill>
                  <a:srgbClr val="FFFFFF"/>
                </a:solidFill>
                <a:latin typeface="Calibri"/>
              </a:defRPr>
            </a:pPr>
            <a:r>
              <a:t>製菓・調理</a:t>
            </a:r>
            <a:br/>
            <a:r>
              <a:t>特化</a:t>
            </a:r>
          </a:p>
        </p:txBody>
      </p:sp>
      <p:sp>
        <p:nvSpPr>
          <p:cNvPr id="18" name="TextBox 17"/>
          <p:cNvSpPr txBox="1"/>
          <p:nvPr/>
        </p:nvSpPr>
        <p:spPr>
          <a:xfrm>
            <a:off x="3383280" y="1691640"/>
            <a:ext cx="2468880" cy="548640"/>
          </a:xfrm>
          <a:prstGeom prst="rect">
            <a:avLst/>
          </a:prstGeom>
          <a:noFill/>
        </p:spPr>
        <p:txBody>
          <a:bodyPr wrap="square"/>
          <a:lstStyle/>
          <a:p>
            <a:pPr algn="l">
              <a:defRPr sz="1400" b="1">
                <a:solidFill>
                  <a:srgbClr val="333333"/>
                </a:solidFill>
                <a:latin typeface="Calibri"/>
              </a:defRPr>
            </a:pPr>
            <a:r>
              <a:t>AOIKE高等学校</a:t>
            </a:r>
          </a:p>
        </p:txBody>
      </p:sp>
      <p:sp>
        <p:nvSpPr>
          <p:cNvPr id="19" name="TextBox 18"/>
          <p:cNvSpPr txBox="1"/>
          <p:nvPr/>
        </p:nvSpPr>
        <p:spPr>
          <a:xfrm>
            <a:off x="3383280" y="2286000"/>
            <a:ext cx="2468880" cy="822960"/>
          </a:xfrm>
          <a:prstGeom prst="rect">
            <a:avLst/>
          </a:prstGeom>
          <a:noFill/>
        </p:spPr>
        <p:txBody>
          <a:bodyPr wrap="square"/>
          <a:lstStyle/>
          <a:p>
            <a:pPr algn="l">
              <a:defRPr sz="1100" b="0">
                <a:solidFill>
                  <a:srgbClr val="666666"/>
                </a:solidFill>
                <a:latin typeface="Calibri"/>
              </a:defRPr>
            </a:pPr>
            <a:r>
              <a:t>パティシエ・調理師の</a:t>
            </a:r>
            <a:br/>
            <a:r>
              <a:t>夢を育む専門校</a:t>
            </a:r>
          </a:p>
        </p:txBody>
      </p:sp>
      <p:sp>
        <p:nvSpPr>
          <p:cNvPr id="20" name="Rounded Rectangle 19"/>
          <p:cNvSpPr/>
          <p:nvPr/>
        </p:nvSpPr>
        <p:spPr>
          <a:xfrm>
            <a:off x="6126480" y="1097280"/>
            <a:ext cx="265176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097280"/>
            <a:ext cx="265176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17920" y="1234440"/>
            <a:ext cx="1097280" cy="36576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1234440"/>
            <a:ext cx="1097280" cy="365760"/>
          </a:xfrm>
          <a:prstGeom prst="rect">
            <a:avLst/>
          </a:prstGeom>
          <a:noFill/>
        </p:spPr>
        <p:txBody>
          <a:bodyPr wrap="square"/>
          <a:lstStyle/>
          <a:p>
            <a:pPr algn="ctr">
              <a:defRPr sz="900" b="1">
                <a:solidFill>
                  <a:srgbClr val="FFFFFF"/>
                </a:solidFill>
                <a:latin typeface="Calibri"/>
              </a:defRPr>
            </a:pPr>
            <a:r>
              <a:t>テック系</a:t>
            </a:r>
            <a:br/>
            <a:r>
              <a:t>スキル</a:t>
            </a:r>
          </a:p>
        </p:txBody>
      </p:sp>
      <p:sp>
        <p:nvSpPr>
          <p:cNvPr id="24" name="TextBox 23"/>
          <p:cNvSpPr txBox="1"/>
          <p:nvPr/>
        </p:nvSpPr>
        <p:spPr>
          <a:xfrm>
            <a:off x="6217920" y="1691640"/>
            <a:ext cx="2468880" cy="548640"/>
          </a:xfrm>
          <a:prstGeom prst="rect">
            <a:avLst/>
          </a:prstGeom>
          <a:noFill/>
        </p:spPr>
        <p:txBody>
          <a:bodyPr wrap="square"/>
          <a:lstStyle/>
          <a:p>
            <a:pPr algn="l">
              <a:defRPr sz="1400" b="1">
                <a:solidFill>
                  <a:srgbClr val="333333"/>
                </a:solidFill>
                <a:latin typeface="Calibri"/>
              </a:defRPr>
            </a:pPr>
            <a:r>
              <a:t>IT・プログラミング</a:t>
            </a:r>
            <a:br/>
            <a:r>
              <a:t>特化校</a:t>
            </a:r>
          </a:p>
        </p:txBody>
      </p:sp>
      <p:sp>
        <p:nvSpPr>
          <p:cNvPr id="25" name="TextBox 24"/>
          <p:cNvSpPr txBox="1"/>
          <p:nvPr/>
        </p:nvSpPr>
        <p:spPr>
          <a:xfrm>
            <a:off x="6217920" y="2286000"/>
            <a:ext cx="2468880" cy="822960"/>
          </a:xfrm>
          <a:prstGeom prst="rect">
            <a:avLst/>
          </a:prstGeom>
          <a:noFill/>
        </p:spPr>
        <p:txBody>
          <a:bodyPr wrap="square"/>
          <a:lstStyle/>
          <a:p>
            <a:pPr algn="l">
              <a:defRPr sz="1100" b="0">
                <a:solidFill>
                  <a:srgbClr val="666666"/>
                </a:solidFill>
                <a:latin typeface="Calibri"/>
              </a:defRPr>
            </a:pPr>
            <a:r>
              <a:t>最先端のIT技術を</a:t>
            </a:r>
            <a:br/>
            <a:r>
              <a:t>高校から学べる</a:t>
            </a:r>
          </a:p>
        </p:txBody>
      </p:sp>
      <p:sp>
        <p:nvSpPr>
          <p:cNvPr id="26" name="Rounded Rectangle 25"/>
          <p:cNvSpPr/>
          <p:nvPr/>
        </p:nvSpPr>
        <p:spPr>
          <a:xfrm>
            <a:off x="457200" y="3840480"/>
            <a:ext cx="8229600" cy="54864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886200"/>
            <a:ext cx="8046720" cy="457200"/>
          </a:xfrm>
          <a:prstGeom prst="rect">
            <a:avLst/>
          </a:prstGeom>
          <a:noFill/>
        </p:spPr>
        <p:txBody>
          <a:bodyPr wrap="square"/>
          <a:lstStyle/>
          <a:p>
            <a:pPr algn="l">
              <a:defRPr sz="1200" b="1">
                <a:solidFill>
                  <a:srgbClr val="8B7536"/>
                </a:solidFill>
                <a:latin typeface="Calibri"/>
              </a:defRPr>
            </a:pPr>
            <a:r>
              <a:t>ポイント：在学中から実践的なスキルが身につく！卒業後の就職・デビューサポートも充実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【Dタイプ】世界へ羽ばたく！海外大学進学の道</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グローバル・挑戦志向タイプ向け</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7</a:t>
            </a:r>
          </a:p>
        </p:txBody>
      </p:sp>
      <p:sp>
        <p:nvSpPr>
          <p:cNvPr id="8" name="Rounded Rectangle 7"/>
          <p:cNvSpPr/>
          <p:nvPr/>
        </p:nvSpPr>
        <p:spPr>
          <a:xfrm>
            <a:off x="457200" y="1005840"/>
            <a:ext cx="393192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05840"/>
            <a:ext cx="3931920" cy="54864"/>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97280"/>
            <a:ext cx="3748440" cy="365760"/>
          </a:xfrm>
          <a:prstGeom prst="rect">
            <a:avLst/>
          </a:prstGeom>
          <a:noFill/>
        </p:spPr>
        <p:txBody>
          <a:bodyPr wrap="square"/>
          <a:lstStyle/>
          <a:p>
            <a:pPr algn="l">
              <a:defRPr sz="1500" b="1">
                <a:solidFill>
                  <a:srgbClr val="333333"/>
                </a:solidFill>
                <a:latin typeface="Calibri"/>
              </a:defRPr>
            </a:pPr>
            <a:r>
              <a:t>NIC International College in Japan</a:t>
            </a:r>
          </a:p>
        </p:txBody>
      </p:sp>
      <p:sp>
        <p:nvSpPr>
          <p:cNvPr id="11" name="TextBox 10"/>
          <p:cNvSpPr txBox="1"/>
          <p:nvPr/>
        </p:nvSpPr>
        <p:spPr>
          <a:xfrm>
            <a:off x="548640" y="1463040"/>
            <a:ext cx="3748440" cy="274320"/>
          </a:xfrm>
          <a:prstGeom prst="rect">
            <a:avLst/>
          </a:prstGeom>
          <a:noFill/>
        </p:spPr>
        <p:txBody>
          <a:bodyPr wrap="square"/>
          <a:lstStyle/>
          <a:p>
            <a:pPr algn="l">
              <a:defRPr sz="1200" b="1">
                <a:solidFill>
                  <a:srgbClr val="6B4C9A"/>
                </a:solidFill>
                <a:latin typeface="Calibri"/>
              </a:defRPr>
            </a:pPr>
            <a:r>
              <a:t>37年の実績が証明する「転換教育 」</a:t>
            </a:r>
          </a:p>
        </p:txBody>
      </p:sp>
      <p:sp>
        <p:nvSpPr>
          <p:cNvPr id="12" name="TextBox 11"/>
          <p:cNvSpPr txBox="1"/>
          <p:nvPr/>
        </p:nvSpPr>
        <p:spPr>
          <a:xfrm>
            <a:off x="640080" y="1828800"/>
            <a:ext cx="3657600" cy="274320"/>
          </a:xfrm>
          <a:prstGeom prst="rect">
            <a:avLst/>
          </a:prstGeom>
          <a:noFill/>
        </p:spPr>
        <p:txBody>
          <a:bodyPr wrap="square"/>
          <a:lstStyle/>
          <a:p>
            <a:pPr algn="l">
              <a:defRPr sz="1000" b="0">
                <a:solidFill>
                  <a:srgbClr val="333333"/>
                </a:solidFill>
                <a:latin typeface="Calibri"/>
              </a:defRPr>
            </a:pPr>
            <a:r>
              <a:t>  独自の「転換教育」で英語力と思考力を徹底強化</a:t>
            </a:r>
          </a:p>
        </p:txBody>
      </p:sp>
      <p:sp>
        <p:nvSpPr>
          <p:cNvPr id="13" name="TextBox 12"/>
          <p:cNvSpPr txBox="1"/>
          <p:nvPr/>
        </p:nvSpPr>
        <p:spPr>
          <a:xfrm>
            <a:off x="640080" y="2103120"/>
            <a:ext cx="3657600" cy="274320"/>
          </a:xfrm>
          <a:prstGeom prst="rect">
            <a:avLst/>
          </a:prstGeom>
          <a:noFill/>
        </p:spPr>
        <p:txBody>
          <a:bodyPr wrap="square"/>
          <a:lstStyle/>
          <a:p>
            <a:pPr algn="l">
              <a:defRPr sz="1000" b="0">
                <a:solidFill>
                  <a:srgbClr val="333333"/>
                </a:solidFill>
                <a:latin typeface="Calibri"/>
              </a:defRPr>
            </a:pPr>
            <a:r>
              <a:t>  欧米トップ大学への進学実績が豊富</a:t>
            </a:r>
          </a:p>
        </p:txBody>
      </p:sp>
      <p:sp>
        <p:nvSpPr>
          <p:cNvPr id="14" name="TextBox 13"/>
          <p:cNvSpPr txBox="1"/>
          <p:nvPr/>
        </p:nvSpPr>
        <p:spPr>
          <a:xfrm>
            <a:off x="640080" y="2377440"/>
            <a:ext cx="3657600" cy="274320"/>
          </a:xfrm>
          <a:prstGeom prst="rect">
            <a:avLst/>
          </a:prstGeom>
          <a:noFill/>
        </p:spPr>
        <p:txBody>
          <a:bodyPr wrap="square"/>
          <a:lstStyle/>
          <a:p>
            <a:pPr algn="l">
              <a:defRPr sz="1000" b="0">
                <a:solidFill>
                  <a:srgbClr val="333333"/>
                </a:solidFill>
                <a:latin typeface="Calibri"/>
              </a:defRPr>
            </a:pPr>
            <a:r>
              <a:t>  日本にいながら海外大学準備が完結</a:t>
            </a:r>
          </a:p>
        </p:txBody>
      </p:sp>
      <p:sp>
        <p:nvSpPr>
          <p:cNvPr id="15" name="TextBox 14"/>
          <p:cNvSpPr txBox="1"/>
          <p:nvPr/>
        </p:nvSpPr>
        <p:spPr>
          <a:xfrm>
            <a:off x="640080" y="2651760"/>
            <a:ext cx="3657600" cy="274320"/>
          </a:xfrm>
          <a:prstGeom prst="rect">
            <a:avLst/>
          </a:prstGeom>
          <a:noFill/>
        </p:spPr>
        <p:txBody>
          <a:bodyPr wrap="square"/>
          <a:lstStyle/>
          <a:p>
            <a:pPr algn="l">
              <a:defRPr sz="1000" b="0">
                <a:solidFill>
                  <a:srgbClr val="333333"/>
                </a:solidFill>
                <a:latin typeface="Calibri"/>
              </a:defRPr>
            </a:pPr>
            <a:r>
              <a:t>  帰国後のキャリアサポートも万全</a:t>
            </a:r>
          </a:p>
        </p:txBody>
      </p:sp>
      <p:sp>
        <p:nvSpPr>
          <p:cNvPr id="16" name="Rounded Rectangle 15"/>
          <p:cNvSpPr/>
          <p:nvPr/>
        </p:nvSpPr>
        <p:spPr>
          <a:xfrm>
            <a:off x="4572000" y="1005840"/>
            <a:ext cx="411480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1005840"/>
            <a:ext cx="411480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1097280"/>
            <a:ext cx="3931920" cy="365760"/>
          </a:xfrm>
          <a:prstGeom prst="rect">
            <a:avLst/>
          </a:prstGeom>
          <a:noFill/>
        </p:spPr>
        <p:txBody>
          <a:bodyPr wrap="square"/>
          <a:lstStyle/>
          <a:p>
            <a:pPr algn="l">
              <a:defRPr sz="1500" b="1">
                <a:solidFill>
                  <a:srgbClr val="333333"/>
                </a:solidFill>
                <a:latin typeface="Calibri"/>
              </a:defRPr>
            </a:pPr>
            <a:r>
              <a:t>AIE国際高等学校</a:t>
            </a:r>
          </a:p>
        </p:txBody>
      </p:sp>
      <p:sp>
        <p:nvSpPr>
          <p:cNvPr id="19" name="TextBox 18"/>
          <p:cNvSpPr txBox="1"/>
          <p:nvPr/>
        </p:nvSpPr>
        <p:spPr>
          <a:xfrm>
            <a:off x="4663440" y="1463040"/>
            <a:ext cx="3931920" cy="274320"/>
          </a:xfrm>
          <a:prstGeom prst="rect">
            <a:avLst/>
          </a:prstGeom>
          <a:noFill/>
        </p:spPr>
        <p:txBody>
          <a:bodyPr wrap="square"/>
          <a:lstStyle/>
          <a:p>
            <a:pPr algn="l">
              <a:defRPr sz="1200" b="1">
                <a:solidFill>
                  <a:srgbClr val="2B5C8A"/>
                </a:solidFill>
                <a:latin typeface="Calibri"/>
              </a:defRPr>
            </a:pPr>
            <a:r>
              <a:t>国際バカロレア（IB）教育</a:t>
            </a:r>
          </a:p>
        </p:txBody>
      </p:sp>
      <p:sp>
        <p:nvSpPr>
          <p:cNvPr id="20" name="TextBox 19"/>
          <p:cNvSpPr txBox="1"/>
          <p:nvPr/>
        </p:nvSpPr>
        <p:spPr>
          <a:xfrm>
            <a:off x="4754880" y="1828800"/>
            <a:ext cx="3840480" cy="274320"/>
          </a:xfrm>
          <a:prstGeom prst="rect">
            <a:avLst/>
          </a:prstGeom>
          <a:noFill/>
        </p:spPr>
        <p:txBody>
          <a:bodyPr wrap="square"/>
          <a:lstStyle/>
          <a:p>
            <a:pPr algn="l">
              <a:defRPr sz="1000" b="0">
                <a:solidFill>
                  <a:srgbClr val="333333"/>
                </a:solidFill>
                <a:latin typeface="Calibri"/>
              </a:defRPr>
            </a:pPr>
            <a:r>
              <a:t>  国際バカロレア認定で世界基準の教育</a:t>
            </a:r>
          </a:p>
        </p:txBody>
      </p:sp>
      <p:sp>
        <p:nvSpPr>
          <p:cNvPr id="21" name="TextBox 20"/>
          <p:cNvSpPr txBox="1"/>
          <p:nvPr/>
        </p:nvSpPr>
        <p:spPr>
          <a:xfrm>
            <a:off x="4754880" y="2103120"/>
            <a:ext cx="3840480" cy="274320"/>
          </a:xfrm>
          <a:prstGeom prst="rect">
            <a:avLst/>
          </a:prstGeom>
          <a:noFill/>
        </p:spPr>
        <p:txBody>
          <a:bodyPr wrap="square"/>
          <a:lstStyle/>
          <a:p>
            <a:pPr algn="l">
              <a:defRPr sz="1000" b="0">
                <a:solidFill>
                  <a:srgbClr val="333333"/>
                </a:solidFill>
                <a:latin typeface="Calibri"/>
              </a:defRPr>
            </a:pPr>
            <a:r>
              <a:t>  バイリンガル環境で英語力を自然に習得</a:t>
            </a:r>
          </a:p>
        </p:txBody>
      </p:sp>
      <p:sp>
        <p:nvSpPr>
          <p:cNvPr id="22" name="TextBox 21"/>
          <p:cNvSpPr txBox="1"/>
          <p:nvPr/>
        </p:nvSpPr>
        <p:spPr>
          <a:xfrm>
            <a:off x="4754880" y="2377440"/>
            <a:ext cx="3840480" cy="274320"/>
          </a:xfrm>
          <a:prstGeom prst="rect">
            <a:avLst/>
          </a:prstGeom>
          <a:noFill/>
        </p:spPr>
        <p:txBody>
          <a:bodyPr wrap="square"/>
          <a:lstStyle/>
          <a:p>
            <a:pPr algn="l">
              <a:defRPr sz="1000" b="0">
                <a:solidFill>
                  <a:srgbClr val="333333"/>
                </a:solidFill>
                <a:latin typeface="Calibri"/>
              </a:defRPr>
            </a:pPr>
            <a:r>
              <a:t>  海外大学への出願準備を手厚くサポート</a:t>
            </a:r>
          </a:p>
        </p:txBody>
      </p:sp>
      <p:sp>
        <p:nvSpPr>
          <p:cNvPr id="23" name="TextBox 22"/>
          <p:cNvSpPr txBox="1"/>
          <p:nvPr/>
        </p:nvSpPr>
        <p:spPr>
          <a:xfrm>
            <a:off x="4754880" y="2651760"/>
            <a:ext cx="3840480" cy="274320"/>
          </a:xfrm>
          <a:prstGeom prst="rect">
            <a:avLst/>
          </a:prstGeom>
          <a:noFill/>
        </p:spPr>
        <p:txBody>
          <a:bodyPr wrap="square"/>
          <a:lstStyle/>
          <a:p>
            <a:pPr algn="l">
              <a:defRPr sz="1000" b="0">
                <a:solidFill>
                  <a:srgbClr val="333333"/>
                </a:solidFill>
                <a:latin typeface="Calibri"/>
              </a:defRPr>
            </a:pPr>
            <a:r>
              <a:t>  少人数制のきめ細かい指導</a:t>
            </a:r>
          </a:p>
        </p:txBody>
      </p:sp>
      <p:sp>
        <p:nvSpPr>
          <p:cNvPr id="24" name="Rounded Rectangle 23"/>
          <p:cNvSpPr/>
          <p:nvPr/>
        </p:nvSpPr>
        <p:spPr>
          <a:xfrm>
            <a:off x="457200" y="4023360"/>
            <a:ext cx="8229600" cy="45720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69080"/>
            <a:ext cx="8046720" cy="365760"/>
          </a:xfrm>
          <a:prstGeom prst="rect">
            <a:avLst/>
          </a:prstGeom>
          <a:noFill/>
        </p:spPr>
        <p:txBody>
          <a:bodyPr wrap="square"/>
          <a:lstStyle/>
          <a:p>
            <a:pPr algn="l">
              <a:defRPr sz="1200" b="1">
                <a:solidFill>
                  <a:srgbClr val="8B7536"/>
                </a:solidFill>
                <a:latin typeface="Calibri"/>
              </a:defRPr>
            </a:pPr>
            <a:r>
              <a:t>海外大学進学は「遠い夢」ではない。通信制高校から世界へ羽ばたく道がある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【A・Cタイプ】自分のペースで ＆ 仲間と成長</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学習自由度重視 × コミュニティ重視</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8</a:t>
            </a:r>
          </a:p>
        </p:txBody>
      </p:sp>
      <p:sp>
        <p:nvSpPr>
          <p:cNvPr id="8" name="Rounded Rectangle 7"/>
          <p:cNvSpPr/>
          <p:nvPr/>
        </p:nvSpPr>
        <p:spPr>
          <a:xfrm>
            <a:off x="457200" y="1005840"/>
            <a:ext cx="4023360" cy="3520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05840"/>
            <a:ext cx="402336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97280"/>
            <a:ext cx="3840480" cy="320040"/>
          </a:xfrm>
          <a:prstGeom prst="rect">
            <a:avLst/>
          </a:prstGeom>
          <a:noFill/>
        </p:spPr>
        <p:txBody>
          <a:bodyPr wrap="square"/>
          <a:lstStyle/>
          <a:p>
            <a:pPr algn="l">
              <a:defRPr sz="1400" b="1">
                <a:solidFill>
                  <a:srgbClr val="2B5C8A"/>
                </a:solidFill>
                <a:latin typeface="Calibri"/>
              </a:defRPr>
            </a:pPr>
            <a:r>
              <a:t>Aタイプ：学習自由度重視</a:t>
            </a:r>
          </a:p>
        </p:txBody>
      </p:sp>
      <p:sp>
        <p:nvSpPr>
          <p:cNvPr id="11" name="TextBox 10"/>
          <p:cNvSpPr txBox="1"/>
          <p:nvPr/>
        </p:nvSpPr>
        <p:spPr>
          <a:xfrm>
            <a:off x="548640" y="1463040"/>
            <a:ext cx="3840480" cy="274320"/>
          </a:xfrm>
          <a:prstGeom prst="rect">
            <a:avLst/>
          </a:prstGeom>
          <a:noFill/>
        </p:spPr>
        <p:txBody>
          <a:bodyPr wrap="square"/>
          <a:lstStyle/>
          <a:p>
            <a:pPr algn="l">
              <a:defRPr sz="1200" b="1">
                <a:solidFill>
                  <a:srgbClr val="333333"/>
                </a:solidFill>
                <a:latin typeface="Calibri"/>
              </a:defRPr>
            </a:pPr>
            <a:r>
              <a:t>ルネサンス高等学校グループ</a:t>
            </a:r>
          </a:p>
        </p:txBody>
      </p:sp>
      <p:sp>
        <p:nvSpPr>
          <p:cNvPr id="12" name="TextBox 11"/>
          <p:cNvSpPr txBox="1"/>
          <p:nvPr/>
        </p:nvSpPr>
        <p:spPr>
          <a:xfrm>
            <a:off x="640080" y="1737360"/>
            <a:ext cx="3748440" cy="365760"/>
          </a:xfrm>
          <a:prstGeom prst="rect">
            <a:avLst/>
          </a:prstGeom>
          <a:noFill/>
        </p:spPr>
        <p:txBody>
          <a:bodyPr wrap="square"/>
          <a:lstStyle/>
          <a:p>
            <a:pPr algn="l">
              <a:defRPr sz="1000" b="0">
                <a:solidFill>
                  <a:srgbClr val="666666"/>
                </a:solidFill>
                <a:latin typeface="Calibri"/>
              </a:defRPr>
            </a:pPr>
            <a:r>
              <a:t>スマホで学べる新スタイル。スクーリングは年4日程度</a:t>
            </a:r>
          </a:p>
        </p:txBody>
      </p:sp>
      <p:sp>
        <p:nvSpPr>
          <p:cNvPr id="13" name="TextBox 12"/>
          <p:cNvSpPr txBox="1"/>
          <p:nvPr/>
        </p:nvSpPr>
        <p:spPr>
          <a:xfrm>
            <a:off x="548640" y="2194560"/>
            <a:ext cx="3840480" cy="274320"/>
          </a:xfrm>
          <a:prstGeom prst="rect">
            <a:avLst/>
          </a:prstGeom>
          <a:noFill/>
        </p:spPr>
        <p:txBody>
          <a:bodyPr wrap="square"/>
          <a:lstStyle/>
          <a:p>
            <a:pPr algn="l">
              <a:defRPr sz="1200" b="1">
                <a:solidFill>
                  <a:srgbClr val="333333"/>
                </a:solidFill>
                <a:latin typeface="Calibri"/>
              </a:defRPr>
            </a:pPr>
            <a:r>
              <a:t>広域通信制高校</a:t>
            </a:r>
          </a:p>
        </p:txBody>
      </p:sp>
      <p:sp>
        <p:nvSpPr>
          <p:cNvPr id="14" name="TextBox 13"/>
          <p:cNvSpPr txBox="1"/>
          <p:nvPr/>
        </p:nvSpPr>
        <p:spPr>
          <a:xfrm>
            <a:off x="640080" y="2468880"/>
            <a:ext cx="3748440" cy="365760"/>
          </a:xfrm>
          <a:prstGeom prst="rect">
            <a:avLst/>
          </a:prstGeom>
          <a:noFill/>
        </p:spPr>
        <p:txBody>
          <a:bodyPr wrap="square"/>
          <a:lstStyle/>
          <a:p>
            <a:pPr algn="l">
              <a:defRPr sz="1000" b="0">
                <a:solidFill>
                  <a:srgbClr val="666666"/>
                </a:solidFill>
                <a:latin typeface="Calibri"/>
              </a:defRPr>
            </a:pPr>
            <a:r>
              <a:t>完全オンライン対応。自宅学習中心で時間を有効活用</a:t>
            </a:r>
          </a:p>
        </p:txBody>
      </p:sp>
      <p:sp>
        <p:nvSpPr>
          <p:cNvPr id="15" name="TextBox 14"/>
          <p:cNvSpPr txBox="1"/>
          <p:nvPr/>
        </p:nvSpPr>
        <p:spPr>
          <a:xfrm>
            <a:off x="548640" y="3108960"/>
            <a:ext cx="3840480" cy="640080"/>
          </a:xfrm>
          <a:prstGeom prst="rect">
            <a:avLst/>
          </a:prstGeom>
          <a:noFill/>
        </p:spPr>
        <p:txBody>
          <a:bodyPr wrap="square"/>
          <a:lstStyle/>
          <a:p>
            <a:pPr algn="l">
              <a:defRPr sz="1000" b="1">
                <a:solidFill>
                  <a:srgbClr val="2B5C8A"/>
                </a:solidFill>
                <a:latin typeface="Calibri"/>
              </a:defRPr>
            </a:pPr>
            <a:r>
              <a:t>→ 部活・習い事・仕事と両立したい方に</a:t>
            </a:r>
            <a:br/>
            <a:r>
              <a:t>→ 自律的に学習を進められる方に最適</a:t>
            </a:r>
          </a:p>
        </p:txBody>
      </p:sp>
      <p:sp>
        <p:nvSpPr>
          <p:cNvPr id="16" name="Rounded Rectangle 15"/>
          <p:cNvSpPr/>
          <p:nvPr/>
        </p:nvSpPr>
        <p:spPr>
          <a:xfrm>
            <a:off x="4663440" y="1005840"/>
            <a:ext cx="4023360" cy="3520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63440" y="1005840"/>
            <a:ext cx="402336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1097280"/>
            <a:ext cx="3840480" cy="320040"/>
          </a:xfrm>
          <a:prstGeom prst="rect">
            <a:avLst/>
          </a:prstGeom>
          <a:noFill/>
        </p:spPr>
        <p:txBody>
          <a:bodyPr wrap="square"/>
          <a:lstStyle/>
          <a:p>
            <a:pPr algn="l">
              <a:defRPr sz="1400" b="1">
                <a:solidFill>
                  <a:srgbClr val="C46B2B"/>
                </a:solidFill>
                <a:latin typeface="Calibri"/>
              </a:defRPr>
            </a:pPr>
            <a:r>
              <a:t>Cタイプ：コミュニティ重視</a:t>
            </a:r>
          </a:p>
        </p:txBody>
      </p:sp>
      <p:sp>
        <p:nvSpPr>
          <p:cNvPr id="19" name="TextBox 18"/>
          <p:cNvSpPr txBox="1"/>
          <p:nvPr/>
        </p:nvSpPr>
        <p:spPr>
          <a:xfrm>
            <a:off x="4754880" y="1463040"/>
            <a:ext cx="3840480" cy="274320"/>
          </a:xfrm>
          <a:prstGeom prst="rect">
            <a:avLst/>
          </a:prstGeom>
          <a:noFill/>
        </p:spPr>
        <p:txBody>
          <a:bodyPr wrap="square"/>
          <a:lstStyle/>
          <a:p>
            <a:pPr algn="l">
              <a:defRPr sz="1200" b="1">
                <a:solidFill>
                  <a:srgbClr val="333333"/>
                </a:solidFill>
                <a:latin typeface="Calibri"/>
              </a:defRPr>
            </a:pPr>
            <a:r>
              <a:t>クラーク記念国際高等学校</a:t>
            </a:r>
          </a:p>
        </p:txBody>
      </p:sp>
      <p:sp>
        <p:nvSpPr>
          <p:cNvPr id="20" name="TextBox 19"/>
          <p:cNvSpPr txBox="1"/>
          <p:nvPr/>
        </p:nvSpPr>
        <p:spPr>
          <a:xfrm>
            <a:off x="4846320" y="1737360"/>
            <a:ext cx="3748440" cy="274320"/>
          </a:xfrm>
          <a:prstGeom prst="rect">
            <a:avLst/>
          </a:prstGeom>
          <a:noFill/>
        </p:spPr>
        <p:txBody>
          <a:bodyPr wrap="square"/>
          <a:lstStyle/>
          <a:p>
            <a:pPr algn="l">
              <a:defRPr sz="900" b="0">
                <a:solidFill>
                  <a:srgbClr val="666666"/>
                </a:solidFill>
                <a:latin typeface="Calibri"/>
              </a:defRPr>
            </a:pPr>
            <a:r>
              <a:t>全国展開・多様なコース。週5日通学も可能</a:t>
            </a:r>
          </a:p>
        </p:txBody>
      </p:sp>
      <p:sp>
        <p:nvSpPr>
          <p:cNvPr id="21" name="TextBox 20"/>
          <p:cNvSpPr txBox="1"/>
          <p:nvPr/>
        </p:nvSpPr>
        <p:spPr>
          <a:xfrm>
            <a:off x="4754880" y="2057400"/>
            <a:ext cx="3840480" cy="274320"/>
          </a:xfrm>
          <a:prstGeom prst="rect">
            <a:avLst/>
          </a:prstGeom>
          <a:noFill/>
        </p:spPr>
        <p:txBody>
          <a:bodyPr wrap="square"/>
          <a:lstStyle/>
          <a:p>
            <a:pPr algn="l">
              <a:defRPr sz="1200" b="1">
                <a:solidFill>
                  <a:srgbClr val="333333"/>
                </a:solidFill>
                <a:latin typeface="Calibri"/>
              </a:defRPr>
            </a:pPr>
            <a:r>
              <a:t>第一学院高等学校</a:t>
            </a:r>
          </a:p>
        </p:txBody>
      </p:sp>
      <p:sp>
        <p:nvSpPr>
          <p:cNvPr id="22" name="TextBox 21"/>
          <p:cNvSpPr txBox="1"/>
          <p:nvPr/>
        </p:nvSpPr>
        <p:spPr>
          <a:xfrm>
            <a:off x="4846320" y="2331720"/>
            <a:ext cx="3748440" cy="274320"/>
          </a:xfrm>
          <a:prstGeom prst="rect">
            <a:avLst/>
          </a:prstGeom>
          <a:noFill/>
        </p:spPr>
        <p:txBody>
          <a:bodyPr wrap="square"/>
          <a:lstStyle/>
          <a:p>
            <a:pPr algn="l">
              <a:defRPr sz="900" b="0">
                <a:solidFill>
                  <a:srgbClr val="666666"/>
                </a:solidFill>
                <a:latin typeface="Calibri"/>
              </a:defRPr>
            </a:pPr>
            <a:r>
              <a:t>一人ひとりに寄り添う教育と豊富なキャンパスライフ</a:t>
            </a:r>
          </a:p>
        </p:txBody>
      </p:sp>
      <p:sp>
        <p:nvSpPr>
          <p:cNvPr id="23" name="TextBox 22"/>
          <p:cNvSpPr txBox="1"/>
          <p:nvPr/>
        </p:nvSpPr>
        <p:spPr>
          <a:xfrm>
            <a:off x="4754880" y="2651760"/>
            <a:ext cx="3840480" cy="274320"/>
          </a:xfrm>
          <a:prstGeom prst="rect">
            <a:avLst/>
          </a:prstGeom>
          <a:noFill/>
        </p:spPr>
        <p:txBody>
          <a:bodyPr wrap="square"/>
          <a:lstStyle/>
          <a:p>
            <a:pPr algn="l">
              <a:defRPr sz="1200" b="1">
                <a:solidFill>
                  <a:srgbClr val="333333"/>
                </a:solidFill>
                <a:latin typeface="Calibri"/>
              </a:defRPr>
            </a:pPr>
            <a:r>
              <a:t>おおぞら高等学院</a:t>
            </a:r>
          </a:p>
        </p:txBody>
      </p:sp>
      <p:sp>
        <p:nvSpPr>
          <p:cNvPr id="24" name="TextBox 23"/>
          <p:cNvSpPr txBox="1"/>
          <p:nvPr/>
        </p:nvSpPr>
        <p:spPr>
          <a:xfrm>
            <a:off x="4846320" y="2926080"/>
            <a:ext cx="3748440" cy="274320"/>
          </a:xfrm>
          <a:prstGeom prst="rect">
            <a:avLst/>
          </a:prstGeom>
          <a:noFill/>
        </p:spPr>
        <p:txBody>
          <a:bodyPr wrap="square"/>
          <a:lstStyle/>
          <a:p>
            <a:pPr algn="l">
              <a:defRPr sz="900" b="0">
                <a:solidFill>
                  <a:srgbClr val="666666"/>
                </a:solidFill>
                <a:latin typeface="Calibri"/>
              </a:defRPr>
            </a:pPr>
            <a:r>
              <a:t>手厚いメンタルケアと進路サポート</a:t>
            </a:r>
          </a:p>
        </p:txBody>
      </p:sp>
      <p:sp>
        <p:nvSpPr>
          <p:cNvPr id="25" name="TextBox 24"/>
          <p:cNvSpPr txBox="1"/>
          <p:nvPr/>
        </p:nvSpPr>
        <p:spPr>
          <a:xfrm>
            <a:off x="4754880" y="3246120"/>
            <a:ext cx="3840480" cy="274320"/>
          </a:xfrm>
          <a:prstGeom prst="rect">
            <a:avLst/>
          </a:prstGeom>
          <a:noFill/>
        </p:spPr>
        <p:txBody>
          <a:bodyPr wrap="square"/>
          <a:lstStyle/>
          <a:p>
            <a:pPr algn="l">
              <a:defRPr sz="1200" b="1">
                <a:solidFill>
                  <a:srgbClr val="333333"/>
                </a:solidFill>
                <a:latin typeface="Calibri"/>
              </a:defRPr>
            </a:pPr>
            <a:r>
              <a:t>公立通信制高校</a:t>
            </a:r>
          </a:p>
        </p:txBody>
      </p:sp>
      <p:sp>
        <p:nvSpPr>
          <p:cNvPr id="26" name="TextBox 25"/>
          <p:cNvSpPr txBox="1"/>
          <p:nvPr/>
        </p:nvSpPr>
        <p:spPr>
          <a:xfrm>
            <a:off x="4846320" y="3520440"/>
            <a:ext cx="3748440" cy="274320"/>
          </a:xfrm>
          <a:prstGeom prst="rect">
            <a:avLst/>
          </a:prstGeom>
          <a:noFill/>
        </p:spPr>
        <p:txBody>
          <a:bodyPr wrap="square"/>
          <a:lstStyle/>
          <a:p>
            <a:pPr algn="l">
              <a:defRPr sz="900" b="0">
                <a:solidFill>
                  <a:srgbClr val="666666"/>
                </a:solidFill>
                <a:latin typeface="Calibri"/>
              </a:defRPr>
            </a:pPr>
            <a:r>
              <a:t>学費を抑えたい方に。通学圏内で探せる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「お金の不安」を超える！学費と支援制度</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知らないと損する支援制度を完全攻略</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9</a:t>
            </a:r>
          </a:p>
        </p:txBody>
      </p:sp>
      <p:sp>
        <p:nvSpPr>
          <p:cNvPr id="8" name="Rounded Rectangle 7"/>
          <p:cNvSpPr/>
          <p:nvPr/>
        </p:nvSpPr>
        <p:spPr>
          <a:xfrm>
            <a:off x="457200" y="1005840"/>
            <a:ext cx="8229600" cy="1554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05840"/>
            <a:ext cx="8229600" cy="320040"/>
          </a:xfrm>
          <a:prstGeom prst="rect">
            <a:avLst/>
          </a:prstGeom>
          <a:noFill/>
        </p:spPr>
        <p:txBody>
          <a:bodyPr wrap="square"/>
          <a:lstStyle/>
          <a:p>
            <a:pPr algn="l">
              <a:defRPr sz="1400" b="1">
                <a:solidFill>
                  <a:srgbClr val="8B7536"/>
                </a:solidFill>
                <a:latin typeface="Calibri"/>
              </a:defRPr>
            </a:pPr>
            <a:r>
              <a:t>通信制高校の学費目安（年間）</a:t>
            </a:r>
          </a:p>
        </p:txBody>
      </p:sp>
      <p:sp>
        <p:nvSpPr>
          <p:cNvPr id="10" name="Rectangle 9"/>
          <p:cNvSpPr/>
          <p:nvPr/>
        </p:nvSpPr>
        <p:spPr>
          <a:xfrm>
            <a:off x="457200" y="1326564"/>
            <a:ext cx="2057400" cy="27432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326564"/>
            <a:ext cx="2057400" cy="274320"/>
          </a:xfrm>
          <a:prstGeom prst="rect">
            <a:avLst/>
          </a:prstGeom>
          <a:noFill/>
        </p:spPr>
        <p:txBody>
          <a:bodyPr wrap="square"/>
          <a:lstStyle/>
          <a:p>
            <a:pPr algn="ctr">
              <a:defRPr sz="1000" b="1">
                <a:solidFill>
                  <a:srgbClr val="FFFFFF"/>
                </a:solidFill>
                <a:latin typeface="Calibri"/>
              </a:defRPr>
            </a:pPr>
            <a:r>
              <a:t>学校タイプ</a:t>
            </a:r>
          </a:p>
        </p:txBody>
      </p:sp>
      <p:sp>
        <p:nvSpPr>
          <p:cNvPr id="12" name="Rectangle 11"/>
          <p:cNvSpPr/>
          <p:nvPr/>
        </p:nvSpPr>
        <p:spPr>
          <a:xfrm>
            <a:off x="2514600" y="1326564"/>
            <a:ext cx="2057400" cy="27432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4600" y="1326564"/>
            <a:ext cx="2057400" cy="274320"/>
          </a:xfrm>
          <a:prstGeom prst="rect">
            <a:avLst/>
          </a:prstGeom>
          <a:noFill/>
        </p:spPr>
        <p:txBody>
          <a:bodyPr wrap="square"/>
          <a:lstStyle/>
          <a:p>
            <a:pPr algn="ctr">
              <a:defRPr sz="1000" b="1">
                <a:solidFill>
                  <a:srgbClr val="FFFFFF"/>
                </a:solidFill>
                <a:latin typeface="Calibri"/>
              </a:defRPr>
            </a:pPr>
            <a:r>
              <a:t>授業料</a:t>
            </a:r>
          </a:p>
        </p:txBody>
      </p:sp>
      <p:sp>
        <p:nvSpPr>
          <p:cNvPr id="14" name="Rectangle 13"/>
          <p:cNvSpPr/>
          <p:nvPr/>
        </p:nvSpPr>
        <p:spPr>
          <a:xfrm>
            <a:off x="4572000" y="1326564"/>
            <a:ext cx="2057400" cy="27432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326564"/>
            <a:ext cx="2057400" cy="274320"/>
          </a:xfrm>
          <a:prstGeom prst="rect">
            <a:avLst/>
          </a:prstGeom>
          <a:noFill/>
        </p:spPr>
        <p:txBody>
          <a:bodyPr wrap="square"/>
          <a:lstStyle/>
          <a:p>
            <a:pPr algn="ctr">
              <a:defRPr sz="1000" b="1">
                <a:solidFill>
                  <a:srgbClr val="FFFFFF"/>
                </a:solidFill>
                <a:latin typeface="Calibri"/>
              </a:defRPr>
            </a:pPr>
            <a:r>
              <a:t>その他費用</a:t>
            </a:r>
          </a:p>
        </p:txBody>
      </p:sp>
      <p:sp>
        <p:nvSpPr>
          <p:cNvPr id="16" name="Rectangle 15"/>
          <p:cNvSpPr/>
          <p:nvPr/>
        </p:nvSpPr>
        <p:spPr>
          <a:xfrm>
            <a:off x="6629400" y="1326564"/>
            <a:ext cx="2057400" cy="274320"/>
          </a:xfrm>
          <a:prstGeom prst="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326564"/>
            <a:ext cx="2057400" cy="274320"/>
          </a:xfrm>
          <a:prstGeom prst="rect">
            <a:avLst/>
          </a:prstGeom>
          <a:noFill/>
        </p:spPr>
        <p:txBody>
          <a:bodyPr wrap="square"/>
          <a:lstStyle/>
          <a:p>
            <a:pPr algn="ctr">
              <a:defRPr sz="1000" b="1">
                <a:solidFill>
                  <a:srgbClr val="FFFFFF"/>
                </a:solidFill>
                <a:latin typeface="Calibri"/>
              </a:defRPr>
            </a:pPr>
            <a:r>
              <a:t>年間合計目安</a:t>
            </a:r>
          </a:p>
        </p:txBody>
      </p:sp>
      <p:sp>
        <p:nvSpPr>
          <p:cNvPr id="18" name="Rectangle 17"/>
          <p:cNvSpPr/>
          <p:nvPr/>
        </p:nvSpPr>
        <p:spPr>
          <a:xfrm>
            <a:off x="457200" y="1600884"/>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600884"/>
            <a:ext cx="2057400" cy="274320"/>
          </a:xfrm>
          <a:prstGeom prst="rect">
            <a:avLst/>
          </a:prstGeom>
          <a:noFill/>
        </p:spPr>
        <p:txBody>
          <a:bodyPr wrap="square"/>
          <a:lstStyle/>
          <a:p>
            <a:pPr algn="ctr">
              <a:defRPr sz="1000" b="0">
                <a:solidFill>
                  <a:srgbClr val="333333"/>
                </a:solidFill>
                <a:latin typeface="Calibri"/>
              </a:defRPr>
            </a:pPr>
            <a:r>
              <a:t>公立通信制</a:t>
            </a:r>
          </a:p>
        </p:txBody>
      </p:sp>
      <p:sp>
        <p:nvSpPr>
          <p:cNvPr id="20" name="Rectangle 19"/>
          <p:cNvSpPr/>
          <p:nvPr/>
        </p:nvSpPr>
        <p:spPr>
          <a:xfrm>
            <a:off x="2514600" y="1600884"/>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4600" y="1600884"/>
            <a:ext cx="2057400" cy="274320"/>
          </a:xfrm>
          <a:prstGeom prst="rect">
            <a:avLst/>
          </a:prstGeom>
          <a:noFill/>
        </p:spPr>
        <p:txBody>
          <a:bodyPr wrap="square"/>
          <a:lstStyle/>
          <a:p>
            <a:pPr algn="ctr">
              <a:defRPr sz="1000" b="0">
                <a:solidFill>
                  <a:srgbClr val="333333"/>
                </a:solidFill>
                <a:latin typeface="Calibri"/>
              </a:defRPr>
            </a:pPr>
            <a:r>
              <a:t>約1〜3万円</a:t>
            </a:r>
          </a:p>
        </p:txBody>
      </p:sp>
      <p:sp>
        <p:nvSpPr>
          <p:cNvPr id="22" name="Rectangle 21"/>
          <p:cNvSpPr/>
          <p:nvPr/>
        </p:nvSpPr>
        <p:spPr>
          <a:xfrm>
            <a:off x="4572000" y="1600884"/>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1600884"/>
            <a:ext cx="2057400" cy="274320"/>
          </a:xfrm>
          <a:prstGeom prst="rect">
            <a:avLst/>
          </a:prstGeom>
          <a:noFill/>
        </p:spPr>
        <p:txBody>
          <a:bodyPr wrap="square"/>
          <a:lstStyle/>
          <a:p>
            <a:pPr algn="ctr">
              <a:defRPr sz="1000" b="0">
                <a:solidFill>
                  <a:srgbClr val="333333"/>
                </a:solidFill>
                <a:latin typeface="Calibri"/>
              </a:defRPr>
            </a:pPr>
            <a:r>
              <a:t>教材費等</a:t>
            </a:r>
          </a:p>
        </p:txBody>
      </p:sp>
      <p:sp>
        <p:nvSpPr>
          <p:cNvPr id="24" name="Rectangle 23"/>
          <p:cNvSpPr/>
          <p:nvPr/>
        </p:nvSpPr>
        <p:spPr>
          <a:xfrm>
            <a:off x="6629400" y="1600884"/>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1600884"/>
            <a:ext cx="2057400" cy="274320"/>
          </a:xfrm>
          <a:prstGeom prst="rect">
            <a:avLst/>
          </a:prstGeom>
          <a:noFill/>
        </p:spPr>
        <p:txBody>
          <a:bodyPr wrap="square"/>
          <a:lstStyle/>
          <a:p>
            <a:pPr algn="ctr">
              <a:defRPr sz="1000" b="0">
                <a:solidFill>
                  <a:srgbClr val="333333"/>
                </a:solidFill>
                <a:latin typeface="Calibri"/>
              </a:defRPr>
            </a:pPr>
            <a:r>
              <a:t>約3〜5万円</a:t>
            </a:r>
          </a:p>
        </p:txBody>
      </p:sp>
      <p:sp>
        <p:nvSpPr>
          <p:cNvPr id="26" name="Rectangle 25"/>
          <p:cNvSpPr/>
          <p:nvPr/>
        </p:nvSpPr>
        <p:spPr>
          <a:xfrm>
            <a:off x="457200" y="1875204"/>
            <a:ext cx="2057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875204"/>
            <a:ext cx="2057400" cy="274320"/>
          </a:xfrm>
          <a:prstGeom prst="rect">
            <a:avLst/>
          </a:prstGeom>
          <a:noFill/>
        </p:spPr>
        <p:txBody>
          <a:bodyPr wrap="square"/>
          <a:lstStyle/>
          <a:p>
            <a:pPr algn="ctr">
              <a:defRPr sz="1000" b="0">
                <a:solidFill>
                  <a:srgbClr val="333333"/>
                </a:solidFill>
                <a:latin typeface="Calibri"/>
              </a:defRPr>
            </a:pPr>
            <a:r>
              <a:t>私立（ネット型）</a:t>
            </a:r>
          </a:p>
        </p:txBody>
      </p:sp>
      <p:sp>
        <p:nvSpPr>
          <p:cNvPr id="28" name="Rectangle 27"/>
          <p:cNvSpPr/>
          <p:nvPr/>
        </p:nvSpPr>
        <p:spPr>
          <a:xfrm>
            <a:off x="2514600" y="1875204"/>
            <a:ext cx="2057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14600" y="1875204"/>
            <a:ext cx="2057400" cy="274320"/>
          </a:xfrm>
          <a:prstGeom prst="rect">
            <a:avLst/>
          </a:prstGeom>
          <a:noFill/>
        </p:spPr>
        <p:txBody>
          <a:bodyPr wrap="square"/>
          <a:lstStyle/>
          <a:p>
            <a:pPr algn="ctr">
              <a:defRPr sz="1000" b="0">
                <a:solidFill>
                  <a:srgbClr val="333333"/>
                </a:solidFill>
                <a:latin typeface="Calibri"/>
              </a:defRPr>
            </a:pPr>
            <a:r>
              <a:t>約25〜40万円</a:t>
            </a:r>
          </a:p>
        </p:txBody>
      </p:sp>
      <p:sp>
        <p:nvSpPr>
          <p:cNvPr id="30" name="Rectangle 29"/>
          <p:cNvSpPr/>
          <p:nvPr/>
        </p:nvSpPr>
        <p:spPr>
          <a:xfrm>
            <a:off x="4572000" y="1875204"/>
            <a:ext cx="2057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1875204"/>
            <a:ext cx="2057400" cy="274320"/>
          </a:xfrm>
          <a:prstGeom prst="rect">
            <a:avLst/>
          </a:prstGeom>
          <a:noFill/>
        </p:spPr>
        <p:txBody>
          <a:bodyPr wrap="square"/>
          <a:lstStyle/>
          <a:p>
            <a:pPr algn="ctr">
              <a:defRPr sz="1000" b="0">
                <a:solidFill>
                  <a:srgbClr val="333333"/>
                </a:solidFill>
                <a:latin typeface="Calibri"/>
              </a:defRPr>
            </a:pPr>
            <a:r>
              <a:t>施設費等</a:t>
            </a:r>
          </a:p>
        </p:txBody>
      </p:sp>
      <p:sp>
        <p:nvSpPr>
          <p:cNvPr id="32" name="Rectangle 31"/>
          <p:cNvSpPr/>
          <p:nvPr/>
        </p:nvSpPr>
        <p:spPr>
          <a:xfrm>
            <a:off x="6629400" y="1875204"/>
            <a:ext cx="2057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1875204"/>
            <a:ext cx="2057400" cy="274320"/>
          </a:xfrm>
          <a:prstGeom prst="rect">
            <a:avLst/>
          </a:prstGeom>
          <a:noFill/>
        </p:spPr>
        <p:txBody>
          <a:bodyPr wrap="square"/>
          <a:lstStyle/>
          <a:p>
            <a:pPr algn="ctr">
              <a:defRPr sz="1000" b="0">
                <a:solidFill>
                  <a:srgbClr val="333333"/>
                </a:solidFill>
                <a:latin typeface="Calibri"/>
              </a:defRPr>
            </a:pPr>
            <a:r>
              <a:t>約30〜50万円</a:t>
            </a:r>
          </a:p>
        </p:txBody>
      </p:sp>
      <p:sp>
        <p:nvSpPr>
          <p:cNvPr id="34" name="Rectangle 33"/>
          <p:cNvSpPr/>
          <p:nvPr/>
        </p:nvSpPr>
        <p:spPr>
          <a:xfrm>
            <a:off x="457200" y="2149524"/>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2149524"/>
            <a:ext cx="2057400" cy="274320"/>
          </a:xfrm>
          <a:prstGeom prst="rect">
            <a:avLst/>
          </a:prstGeom>
          <a:noFill/>
        </p:spPr>
        <p:txBody>
          <a:bodyPr wrap="square"/>
          <a:lstStyle/>
          <a:p>
            <a:pPr algn="ctr">
              <a:defRPr sz="1000" b="0">
                <a:solidFill>
                  <a:srgbClr val="333333"/>
                </a:solidFill>
                <a:latin typeface="Calibri"/>
              </a:defRPr>
            </a:pPr>
            <a:r>
              <a:t>私立（通学型）</a:t>
            </a:r>
          </a:p>
        </p:txBody>
      </p:sp>
      <p:sp>
        <p:nvSpPr>
          <p:cNvPr id="36" name="Rectangle 35"/>
          <p:cNvSpPr/>
          <p:nvPr/>
        </p:nvSpPr>
        <p:spPr>
          <a:xfrm>
            <a:off x="2514600" y="2149524"/>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4600" y="2149524"/>
            <a:ext cx="2057400" cy="274320"/>
          </a:xfrm>
          <a:prstGeom prst="rect">
            <a:avLst/>
          </a:prstGeom>
          <a:noFill/>
        </p:spPr>
        <p:txBody>
          <a:bodyPr wrap="square"/>
          <a:lstStyle/>
          <a:p>
            <a:pPr algn="ctr">
              <a:defRPr sz="1000" b="0">
                <a:solidFill>
                  <a:srgbClr val="333333"/>
                </a:solidFill>
                <a:latin typeface="Calibri"/>
              </a:defRPr>
            </a:pPr>
            <a:r>
              <a:t>約50〜80万円</a:t>
            </a:r>
          </a:p>
        </p:txBody>
      </p:sp>
      <p:sp>
        <p:nvSpPr>
          <p:cNvPr id="38" name="Rectangle 37"/>
          <p:cNvSpPr/>
          <p:nvPr/>
        </p:nvSpPr>
        <p:spPr>
          <a:xfrm>
            <a:off x="4572000" y="2149524"/>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0" y="2149524"/>
            <a:ext cx="2057400" cy="274320"/>
          </a:xfrm>
          <a:prstGeom prst="rect">
            <a:avLst/>
          </a:prstGeom>
          <a:noFill/>
        </p:spPr>
        <p:txBody>
          <a:bodyPr wrap="square"/>
          <a:lstStyle/>
          <a:p>
            <a:pPr algn="ctr">
              <a:defRPr sz="1000" b="0">
                <a:solidFill>
                  <a:srgbClr val="333333"/>
                </a:solidFill>
                <a:latin typeface="Calibri"/>
              </a:defRPr>
            </a:pPr>
            <a:r>
              <a:t>施設+活動費</a:t>
            </a:r>
          </a:p>
        </p:txBody>
      </p:sp>
      <p:sp>
        <p:nvSpPr>
          <p:cNvPr id="40" name="Rectangle 39"/>
          <p:cNvSpPr/>
          <p:nvPr/>
        </p:nvSpPr>
        <p:spPr>
          <a:xfrm>
            <a:off x="6629400" y="2149524"/>
            <a:ext cx="2057400" cy="27432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9400" y="2149524"/>
            <a:ext cx="2057400" cy="274320"/>
          </a:xfrm>
          <a:prstGeom prst="rect">
            <a:avLst/>
          </a:prstGeom>
          <a:noFill/>
        </p:spPr>
        <p:txBody>
          <a:bodyPr wrap="square"/>
          <a:lstStyle/>
          <a:p>
            <a:pPr algn="ctr">
              <a:defRPr sz="1000" b="0">
                <a:solidFill>
                  <a:srgbClr val="333333"/>
                </a:solidFill>
                <a:latin typeface="Calibri"/>
              </a:defRPr>
            </a:pPr>
            <a:r>
              <a:t>約70〜120万円</a:t>
            </a:r>
          </a:p>
        </p:txBody>
      </p:sp>
      <p:sp>
        <p:nvSpPr>
          <p:cNvPr id="42" name="Rounded Rectangle 41"/>
          <p:cNvSpPr/>
          <p:nvPr/>
        </p:nvSpPr>
        <p:spPr>
          <a:xfrm>
            <a:off x="457200" y="2743200"/>
            <a:ext cx="822960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2743200"/>
            <a:ext cx="8229600" cy="320040"/>
          </a:xfrm>
          <a:prstGeom prst="rect">
            <a:avLst/>
          </a:prstGeom>
          <a:noFill/>
        </p:spPr>
        <p:txBody>
          <a:bodyPr wrap="square"/>
          <a:lstStyle/>
          <a:p>
            <a:pPr algn="l">
              <a:defRPr sz="1400" b="1">
                <a:solidFill>
                  <a:srgbClr val="3A7D5E"/>
                </a:solidFill>
                <a:latin typeface="Calibri"/>
              </a:defRPr>
            </a:pPr>
            <a:r>
              <a:t>活用すべき支援制度</a:t>
            </a:r>
          </a:p>
        </p:txBody>
      </p:sp>
      <p:sp>
        <p:nvSpPr>
          <p:cNvPr id="44" name="TextBox 43"/>
          <p:cNvSpPr txBox="1"/>
          <p:nvPr/>
        </p:nvSpPr>
        <p:spPr>
          <a:xfrm>
            <a:off x="640080" y="3063240"/>
            <a:ext cx="2651760" cy="274320"/>
          </a:xfrm>
          <a:prstGeom prst="rect">
            <a:avLst/>
          </a:prstGeom>
          <a:noFill/>
        </p:spPr>
        <p:txBody>
          <a:bodyPr wrap="square"/>
          <a:lstStyle/>
          <a:p>
            <a:pPr algn="l">
              <a:defRPr sz="1000" b="1">
                <a:solidFill>
                  <a:srgbClr val="333333"/>
                </a:solidFill>
                <a:latin typeface="Calibri"/>
              </a:defRPr>
            </a:pPr>
            <a:r>
              <a:t>高等学校等就学支援金</a:t>
            </a:r>
          </a:p>
        </p:txBody>
      </p:sp>
      <p:sp>
        <p:nvSpPr>
          <p:cNvPr id="45" name="TextBox 44"/>
          <p:cNvSpPr txBox="1"/>
          <p:nvPr/>
        </p:nvSpPr>
        <p:spPr>
          <a:xfrm>
            <a:off x="3383280" y="3063240"/>
            <a:ext cx="5212080" cy="274320"/>
          </a:xfrm>
          <a:prstGeom prst="rect">
            <a:avLst/>
          </a:prstGeom>
          <a:noFill/>
        </p:spPr>
        <p:txBody>
          <a:bodyPr wrap="square"/>
          <a:lstStyle/>
          <a:p>
            <a:pPr algn="l">
              <a:defRPr sz="900" b="0">
                <a:solidFill>
                  <a:srgbClr val="666666"/>
                </a:solidFill>
                <a:latin typeface="Calibri"/>
              </a:defRPr>
            </a:pPr>
            <a:r>
              <a:t>年収約910万円未満の世帯が対象。私立は最大39.6万円/年</a:t>
            </a:r>
          </a:p>
        </p:txBody>
      </p:sp>
      <p:sp>
        <p:nvSpPr>
          <p:cNvPr id="46" name="TextBox 45"/>
          <p:cNvSpPr txBox="1"/>
          <p:nvPr/>
        </p:nvSpPr>
        <p:spPr>
          <a:xfrm>
            <a:off x="640080" y="3383280"/>
            <a:ext cx="2651760" cy="274320"/>
          </a:xfrm>
          <a:prstGeom prst="rect">
            <a:avLst/>
          </a:prstGeom>
          <a:noFill/>
        </p:spPr>
        <p:txBody>
          <a:bodyPr wrap="square"/>
          <a:lstStyle/>
          <a:p>
            <a:pPr algn="l">
              <a:defRPr sz="1000" b="1">
                <a:solidFill>
                  <a:srgbClr val="333333"/>
                </a:solidFill>
                <a:latin typeface="Calibri"/>
              </a:defRPr>
            </a:pPr>
            <a:r>
              <a:t>都道府県独自の助成金</a:t>
            </a:r>
          </a:p>
        </p:txBody>
      </p:sp>
      <p:sp>
        <p:nvSpPr>
          <p:cNvPr id="47" name="TextBox 46"/>
          <p:cNvSpPr txBox="1"/>
          <p:nvPr/>
        </p:nvSpPr>
        <p:spPr>
          <a:xfrm>
            <a:off x="3383280" y="3383280"/>
            <a:ext cx="5212080" cy="274320"/>
          </a:xfrm>
          <a:prstGeom prst="rect">
            <a:avLst/>
          </a:prstGeom>
          <a:noFill/>
        </p:spPr>
        <p:txBody>
          <a:bodyPr wrap="square"/>
          <a:lstStyle/>
          <a:p>
            <a:pPr algn="l">
              <a:defRPr sz="900" b="0">
                <a:solidFill>
                  <a:srgbClr val="666666"/>
                </a:solidFill>
                <a:latin typeface="Calibri"/>
              </a:defRPr>
            </a:pPr>
            <a:r>
              <a:t>お住まいの自治体で追加支援あり。要確認！</a:t>
            </a:r>
          </a:p>
        </p:txBody>
      </p:sp>
      <p:sp>
        <p:nvSpPr>
          <p:cNvPr id="48" name="TextBox 47"/>
          <p:cNvSpPr txBox="1"/>
          <p:nvPr/>
        </p:nvSpPr>
        <p:spPr>
          <a:xfrm>
            <a:off x="640080" y="3703320"/>
            <a:ext cx="2651760" cy="274320"/>
          </a:xfrm>
          <a:prstGeom prst="rect">
            <a:avLst/>
          </a:prstGeom>
          <a:noFill/>
        </p:spPr>
        <p:txBody>
          <a:bodyPr wrap="square"/>
          <a:lstStyle/>
          <a:p>
            <a:pPr algn="l">
              <a:defRPr sz="1000" b="1">
                <a:solidFill>
                  <a:srgbClr val="333333"/>
                </a:solidFill>
                <a:latin typeface="Calibri"/>
              </a:defRPr>
            </a:pPr>
            <a:r>
              <a:t>学校独自の奨学金・特待生制度</a:t>
            </a:r>
          </a:p>
        </p:txBody>
      </p:sp>
      <p:sp>
        <p:nvSpPr>
          <p:cNvPr id="49" name="TextBox 48"/>
          <p:cNvSpPr txBox="1"/>
          <p:nvPr/>
        </p:nvSpPr>
        <p:spPr>
          <a:xfrm>
            <a:off x="3383280" y="3703320"/>
            <a:ext cx="5212080" cy="274320"/>
          </a:xfrm>
          <a:prstGeom prst="rect">
            <a:avLst/>
          </a:prstGeom>
          <a:noFill/>
        </p:spPr>
        <p:txBody>
          <a:bodyPr wrap="square"/>
          <a:lstStyle/>
          <a:p>
            <a:pPr algn="l">
              <a:defRPr sz="900" b="0">
                <a:solidFill>
                  <a:srgbClr val="666666"/>
                </a:solidFill>
                <a:latin typeface="Calibri"/>
              </a:defRPr>
            </a:pPr>
            <a:r>
              <a:t>成績優秀者や特技のある生徒向けの減免制度</a:t>
            </a:r>
          </a:p>
        </p:txBody>
      </p:sp>
      <p:sp>
        <p:nvSpPr>
          <p:cNvPr id="50" name="TextBox 49"/>
          <p:cNvSpPr txBox="1"/>
          <p:nvPr/>
        </p:nvSpPr>
        <p:spPr>
          <a:xfrm>
            <a:off x="640080" y="4023360"/>
            <a:ext cx="2651760" cy="274320"/>
          </a:xfrm>
          <a:prstGeom prst="rect">
            <a:avLst/>
          </a:prstGeom>
          <a:noFill/>
        </p:spPr>
        <p:txBody>
          <a:bodyPr wrap="square"/>
          <a:lstStyle/>
          <a:p>
            <a:pPr algn="l">
              <a:defRPr sz="1000" b="1">
                <a:solidFill>
                  <a:srgbClr val="333333"/>
                </a:solidFill>
                <a:latin typeface="Calibri"/>
              </a:defRPr>
            </a:pPr>
            <a:r>
              <a:t>学び直し支援金</a:t>
            </a:r>
          </a:p>
        </p:txBody>
      </p:sp>
      <p:sp>
        <p:nvSpPr>
          <p:cNvPr id="51" name="TextBox 50"/>
          <p:cNvSpPr txBox="1"/>
          <p:nvPr/>
        </p:nvSpPr>
        <p:spPr>
          <a:xfrm>
            <a:off x="3383280" y="4023360"/>
            <a:ext cx="5212080" cy="274320"/>
          </a:xfrm>
          <a:prstGeom prst="rect">
            <a:avLst/>
          </a:prstGeom>
          <a:noFill/>
        </p:spPr>
        <p:txBody>
          <a:bodyPr wrap="square"/>
          <a:lstStyle/>
          <a:p>
            <a:pPr algn="l">
              <a:defRPr sz="900" b="0">
                <a:solidFill>
                  <a:srgbClr val="666666"/>
                </a:solidFill>
                <a:latin typeface="Calibri"/>
              </a:defRPr>
            </a:pPr>
            <a:r>
              <a:t>再入学者向けの国の支援制度</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後悔しない！学校選び実践術</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ネット情報を鵜呑みにしない賢い選び方</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10</a:t>
            </a:r>
          </a:p>
        </p:txBody>
      </p:sp>
      <p:sp>
        <p:nvSpPr>
          <p:cNvPr id="8" name="Rounded Rectangle 7"/>
          <p:cNvSpPr/>
          <p:nvPr/>
        </p:nvSpPr>
        <p:spPr>
          <a:xfrm>
            <a:off x="457200" y="1005840"/>
            <a:ext cx="265176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097280"/>
            <a:ext cx="914400" cy="32004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097280"/>
            <a:ext cx="914400" cy="320040"/>
          </a:xfrm>
          <a:prstGeom prst="rect">
            <a:avLst/>
          </a:prstGeom>
          <a:noFill/>
        </p:spPr>
        <p:txBody>
          <a:bodyPr wrap="square"/>
          <a:lstStyle/>
          <a:p>
            <a:pPr algn="ctr">
              <a:defRPr sz="1100" b="1">
                <a:solidFill>
                  <a:srgbClr val="FFFFFF"/>
                </a:solidFill>
                <a:latin typeface="Calibri"/>
              </a:defRPr>
            </a:pPr>
            <a:r>
              <a:t>STEP 1</a:t>
            </a:r>
          </a:p>
        </p:txBody>
      </p:sp>
      <p:sp>
        <p:nvSpPr>
          <p:cNvPr id="11" name="TextBox 10"/>
          <p:cNvSpPr txBox="1"/>
          <p:nvPr/>
        </p:nvSpPr>
        <p:spPr>
          <a:xfrm>
            <a:off x="548640" y="1508760"/>
            <a:ext cx="2468880" cy="411480"/>
          </a:xfrm>
          <a:prstGeom prst="rect">
            <a:avLst/>
          </a:prstGeom>
          <a:noFill/>
        </p:spPr>
        <p:txBody>
          <a:bodyPr wrap="square"/>
          <a:lstStyle/>
          <a:p>
            <a:pPr algn="ctr">
              <a:defRPr sz="1800" b="1">
                <a:solidFill>
                  <a:srgbClr val="333333"/>
                </a:solidFill>
                <a:latin typeface="Calibri"/>
              </a:defRPr>
            </a:pPr>
            <a:r>
              <a:t>情報収集</a:t>
            </a:r>
          </a:p>
        </p:txBody>
      </p:sp>
      <p:sp>
        <p:nvSpPr>
          <p:cNvPr id="12" name="Rectangle 11"/>
          <p:cNvSpPr/>
          <p:nvPr/>
        </p:nvSpPr>
        <p:spPr>
          <a:xfrm>
            <a:off x="914400" y="192024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57400"/>
            <a:ext cx="2377440" cy="365760"/>
          </a:xfrm>
          <a:prstGeom prst="rect">
            <a:avLst/>
          </a:prstGeom>
          <a:noFill/>
        </p:spPr>
        <p:txBody>
          <a:bodyPr wrap="square"/>
          <a:lstStyle/>
          <a:p>
            <a:pPr algn="l">
              <a:defRPr sz="1100" b="0">
                <a:solidFill>
                  <a:srgbClr val="333333"/>
                </a:solidFill>
                <a:latin typeface="Calibri"/>
              </a:defRPr>
            </a:pPr>
            <a:r>
              <a:t>  学校公式サイトを読み解く</a:t>
            </a:r>
          </a:p>
        </p:txBody>
      </p:sp>
      <p:sp>
        <p:nvSpPr>
          <p:cNvPr id="14" name="TextBox 13"/>
          <p:cNvSpPr txBox="1"/>
          <p:nvPr/>
        </p:nvSpPr>
        <p:spPr>
          <a:xfrm>
            <a:off x="594360" y="2423160"/>
            <a:ext cx="2377440" cy="365760"/>
          </a:xfrm>
          <a:prstGeom prst="rect">
            <a:avLst/>
          </a:prstGeom>
          <a:noFill/>
        </p:spPr>
        <p:txBody>
          <a:bodyPr wrap="square"/>
          <a:lstStyle/>
          <a:p>
            <a:pPr algn="l">
              <a:defRPr sz="1100" b="0">
                <a:solidFill>
                  <a:srgbClr val="333333"/>
                </a:solidFill>
                <a:latin typeface="Calibri"/>
              </a:defRPr>
            </a:pPr>
            <a:r>
              <a:t>  パンフレットを取り寄せる</a:t>
            </a:r>
          </a:p>
        </p:txBody>
      </p:sp>
      <p:sp>
        <p:nvSpPr>
          <p:cNvPr id="15" name="TextBox 14"/>
          <p:cNvSpPr txBox="1"/>
          <p:nvPr/>
        </p:nvSpPr>
        <p:spPr>
          <a:xfrm>
            <a:off x="594360" y="2788920"/>
            <a:ext cx="2377440" cy="365760"/>
          </a:xfrm>
          <a:prstGeom prst="rect">
            <a:avLst/>
          </a:prstGeom>
          <a:noFill/>
        </p:spPr>
        <p:txBody>
          <a:bodyPr wrap="square"/>
          <a:lstStyle/>
          <a:p>
            <a:pPr algn="l">
              <a:defRPr sz="1100" b="0">
                <a:solidFill>
                  <a:srgbClr val="333333"/>
                </a:solidFill>
                <a:latin typeface="Calibri"/>
              </a:defRPr>
            </a:pPr>
            <a:r>
              <a:t>  SNS・口コミは参考程度に</a:t>
            </a:r>
          </a:p>
        </p:txBody>
      </p:sp>
      <p:sp>
        <p:nvSpPr>
          <p:cNvPr id="16" name="Rounded Rectangle 15"/>
          <p:cNvSpPr/>
          <p:nvPr/>
        </p:nvSpPr>
        <p:spPr>
          <a:xfrm>
            <a:off x="3291840" y="1005840"/>
            <a:ext cx="265176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83280" y="1097280"/>
            <a:ext cx="914400" cy="32004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1097280"/>
            <a:ext cx="914400" cy="320040"/>
          </a:xfrm>
          <a:prstGeom prst="rect">
            <a:avLst/>
          </a:prstGeom>
          <a:noFill/>
        </p:spPr>
        <p:txBody>
          <a:bodyPr wrap="square"/>
          <a:lstStyle/>
          <a:p>
            <a:pPr algn="ctr">
              <a:defRPr sz="1100" b="1">
                <a:solidFill>
                  <a:srgbClr val="FFFFFF"/>
                </a:solidFill>
                <a:latin typeface="Calibri"/>
              </a:defRPr>
            </a:pPr>
            <a:r>
              <a:t>STEP 2</a:t>
            </a:r>
          </a:p>
        </p:txBody>
      </p:sp>
      <p:sp>
        <p:nvSpPr>
          <p:cNvPr id="19" name="TextBox 18"/>
          <p:cNvSpPr txBox="1"/>
          <p:nvPr/>
        </p:nvSpPr>
        <p:spPr>
          <a:xfrm>
            <a:off x="3383280" y="1508760"/>
            <a:ext cx="2468880" cy="411480"/>
          </a:xfrm>
          <a:prstGeom prst="rect">
            <a:avLst/>
          </a:prstGeom>
          <a:noFill/>
        </p:spPr>
        <p:txBody>
          <a:bodyPr wrap="square"/>
          <a:lstStyle/>
          <a:p>
            <a:pPr algn="ctr">
              <a:defRPr sz="1800" b="1">
                <a:solidFill>
                  <a:srgbClr val="333333"/>
                </a:solidFill>
                <a:latin typeface="Calibri"/>
              </a:defRPr>
            </a:pPr>
            <a:r>
              <a:t>体験・比較</a:t>
            </a:r>
          </a:p>
        </p:txBody>
      </p:sp>
      <p:sp>
        <p:nvSpPr>
          <p:cNvPr id="20" name="Rectangle 19"/>
          <p:cNvSpPr/>
          <p:nvPr/>
        </p:nvSpPr>
        <p:spPr>
          <a:xfrm>
            <a:off x="3749040" y="192024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29000" y="2057400"/>
            <a:ext cx="2377440" cy="365760"/>
          </a:xfrm>
          <a:prstGeom prst="rect">
            <a:avLst/>
          </a:prstGeom>
          <a:noFill/>
        </p:spPr>
        <p:txBody>
          <a:bodyPr wrap="square"/>
          <a:lstStyle/>
          <a:p>
            <a:pPr algn="l">
              <a:defRPr sz="1100" b="0">
                <a:solidFill>
                  <a:srgbClr val="333333"/>
                </a:solidFill>
                <a:latin typeface="Calibri"/>
              </a:defRPr>
            </a:pPr>
            <a:r>
              <a:t>  オープンキャンパスに参加</a:t>
            </a:r>
          </a:p>
        </p:txBody>
      </p:sp>
      <p:sp>
        <p:nvSpPr>
          <p:cNvPr id="22" name="TextBox 21"/>
          <p:cNvSpPr txBox="1"/>
          <p:nvPr/>
        </p:nvSpPr>
        <p:spPr>
          <a:xfrm>
            <a:off x="3429000" y="2423160"/>
            <a:ext cx="2377440" cy="365760"/>
          </a:xfrm>
          <a:prstGeom prst="rect">
            <a:avLst/>
          </a:prstGeom>
          <a:noFill/>
        </p:spPr>
        <p:txBody>
          <a:bodyPr wrap="square"/>
          <a:lstStyle/>
          <a:p>
            <a:pPr algn="l">
              <a:defRPr sz="1100" b="0">
                <a:solidFill>
                  <a:srgbClr val="333333"/>
                </a:solidFill>
                <a:latin typeface="Calibri"/>
              </a:defRPr>
            </a:pPr>
            <a:r>
              <a:t>  個別相談で本音を聞く</a:t>
            </a:r>
          </a:p>
        </p:txBody>
      </p:sp>
      <p:sp>
        <p:nvSpPr>
          <p:cNvPr id="23" name="TextBox 22"/>
          <p:cNvSpPr txBox="1"/>
          <p:nvPr/>
        </p:nvSpPr>
        <p:spPr>
          <a:xfrm>
            <a:off x="3429000" y="2788920"/>
            <a:ext cx="2377440" cy="365760"/>
          </a:xfrm>
          <a:prstGeom prst="rect">
            <a:avLst/>
          </a:prstGeom>
          <a:noFill/>
        </p:spPr>
        <p:txBody>
          <a:bodyPr wrap="square"/>
          <a:lstStyle/>
          <a:p>
            <a:pPr algn="l">
              <a:defRPr sz="1100" b="0">
                <a:solidFill>
                  <a:srgbClr val="333333"/>
                </a:solidFill>
                <a:latin typeface="Calibri"/>
              </a:defRPr>
            </a:pPr>
            <a:r>
              <a:t>  3校以上を比較検討する</a:t>
            </a:r>
          </a:p>
        </p:txBody>
      </p:sp>
      <p:sp>
        <p:nvSpPr>
          <p:cNvPr id="24" name="Rounded Rectangle 23"/>
          <p:cNvSpPr/>
          <p:nvPr/>
        </p:nvSpPr>
        <p:spPr>
          <a:xfrm>
            <a:off x="6126480" y="1005840"/>
            <a:ext cx="265176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17920" y="1097280"/>
            <a:ext cx="914400" cy="320040"/>
          </a:xfrm>
          <a:prstGeom prst="round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1097280"/>
            <a:ext cx="914400" cy="320040"/>
          </a:xfrm>
          <a:prstGeom prst="rect">
            <a:avLst/>
          </a:prstGeom>
          <a:noFill/>
        </p:spPr>
        <p:txBody>
          <a:bodyPr wrap="square"/>
          <a:lstStyle/>
          <a:p>
            <a:pPr algn="ctr">
              <a:defRPr sz="1100" b="1">
                <a:solidFill>
                  <a:srgbClr val="FFFFFF"/>
                </a:solidFill>
                <a:latin typeface="Calibri"/>
              </a:defRPr>
            </a:pPr>
            <a:r>
              <a:t>STEP 3</a:t>
            </a:r>
          </a:p>
        </p:txBody>
      </p:sp>
      <p:sp>
        <p:nvSpPr>
          <p:cNvPr id="27" name="TextBox 26"/>
          <p:cNvSpPr txBox="1"/>
          <p:nvPr/>
        </p:nvSpPr>
        <p:spPr>
          <a:xfrm>
            <a:off x="6217920" y="1508760"/>
            <a:ext cx="2468880" cy="411480"/>
          </a:xfrm>
          <a:prstGeom prst="rect">
            <a:avLst/>
          </a:prstGeom>
          <a:noFill/>
        </p:spPr>
        <p:txBody>
          <a:bodyPr wrap="square"/>
          <a:lstStyle/>
          <a:p>
            <a:pPr algn="ctr">
              <a:defRPr sz="1800" b="1">
                <a:solidFill>
                  <a:srgbClr val="333333"/>
                </a:solidFill>
                <a:latin typeface="Calibri"/>
              </a:defRPr>
            </a:pPr>
            <a:r>
              <a:t>家族で対話</a:t>
            </a:r>
          </a:p>
        </p:txBody>
      </p:sp>
      <p:sp>
        <p:nvSpPr>
          <p:cNvPr id="28" name="Rectangle 27"/>
          <p:cNvSpPr/>
          <p:nvPr/>
        </p:nvSpPr>
        <p:spPr>
          <a:xfrm>
            <a:off x="6583680" y="1920240"/>
            <a:ext cx="173736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057400"/>
            <a:ext cx="2377440" cy="365760"/>
          </a:xfrm>
          <a:prstGeom prst="rect">
            <a:avLst/>
          </a:prstGeom>
          <a:noFill/>
        </p:spPr>
        <p:txBody>
          <a:bodyPr wrap="square"/>
          <a:lstStyle/>
          <a:p>
            <a:pPr algn="l">
              <a:defRPr sz="1100" b="0">
                <a:solidFill>
                  <a:srgbClr val="333333"/>
                </a:solidFill>
                <a:latin typeface="Calibri"/>
              </a:defRPr>
            </a:pPr>
            <a:r>
              <a:t>  親子で本音を共有する</a:t>
            </a:r>
          </a:p>
        </p:txBody>
      </p:sp>
      <p:sp>
        <p:nvSpPr>
          <p:cNvPr id="30" name="TextBox 29"/>
          <p:cNvSpPr txBox="1"/>
          <p:nvPr/>
        </p:nvSpPr>
        <p:spPr>
          <a:xfrm>
            <a:off x="6263640" y="2423160"/>
            <a:ext cx="2377440" cy="365760"/>
          </a:xfrm>
          <a:prstGeom prst="rect">
            <a:avLst/>
          </a:prstGeom>
          <a:noFill/>
        </p:spPr>
        <p:txBody>
          <a:bodyPr wrap="square"/>
          <a:lstStyle/>
          <a:p>
            <a:pPr algn="l">
              <a:defRPr sz="1100" b="0">
                <a:solidFill>
                  <a:srgbClr val="333333"/>
                </a:solidFill>
                <a:latin typeface="Calibri"/>
              </a:defRPr>
            </a:pPr>
            <a:r>
              <a:t>  費用・通学・将来を話し合う</a:t>
            </a:r>
          </a:p>
        </p:txBody>
      </p:sp>
      <p:sp>
        <p:nvSpPr>
          <p:cNvPr id="31" name="TextBox 30"/>
          <p:cNvSpPr txBox="1"/>
          <p:nvPr/>
        </p:nvSpPr>
        <p:spPr>
          <a:xfrm>
            <a:off x="6263640" y="2788920"/>
            <a:ext cx="2377440" cy="365760"/>
          </a:xfrm>
          <a:prstGeom prst="rect">
            <a:avLst/>
          </a:prstGeom>
          <a:noFill/>
        </p:spPr>
        <p:txBody>
          <a:bodyPr wrap="square"/>
          <a:lstStyle/>
          <a:p>
            <a:pPr algn="l">
              <a:defRPr sz="1100" b="0">
                <a:solidFill>
                  <a:srgbClr val="333333"/>
                </a:solidFill>
                <a:latin typeface="Calibri"/>
              </a:defRPr>
            </a:pPr>
            <a:r>
              <a:t>  「自分で決めた」実感を大切に</a:t>
            </a:r>
          </a:p>
        </p:txBody>
      </p:sp>
      <p:sp>
        <p:nvSpPr>
          <p:cNvPr id="32" name="Rounded Rectangle 31"/>
          <p:cNvSpPr/>
          <p:nvPr/>
        </p:nvSpPr>
        <p:spPr>
          <a:xfrm>
            <a:off x="457200" y="4297680"/>
            <a:ext cx="8229600" cy="36576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297680"/>
            <a:ext cx="8046720" cy="365760"/>
          </a:xfrm>
          <a:prstGeom prst="rect">
            <a:avLst/>
          </a:prstGeom>
          <a:noFill/>
        </p:spPr>
        <p:txBody>
          <a:bodyPr wrap="square"/>
          <a:lstStyle/>
          <a:p>
            <a:pPr algn="l">
              <a:defRPr sz="1100" b="1">
                <a:solidFill>
                  <a:srgbClr val="C46B2B"/>
                </a:solidFill>
                <a:latin typeface="Calibri"/>
              </a:defRPr>
            </a:pPr>
            <a:r>
              <a:t>注意：「〇〇ランキング」だけで学校を決めないこと。自分の目で確かめよう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先輩たちの選択とその後の人生</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通信制高校から広がる多様な未来</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11</a:t>
            </a:r>
          </a:p>
        </p:txBody>
      </p:sp>
      <p:sp>
        <p:nvSpPr>
          <p:cNvPr id="8" name="Rounded Rectangle 7"/>
          <p:cNvSpPr/>
          <p:nvPr/>
        </p:nvSpPr>
        <p:spPr>
          <a:xfrm>
            <a:off x="457200" y="1005840"/>
            <a:ext cx="19664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05840"/>
            <a:ext cx="1966440" cy="54864"/>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66100" y="1143000"/>
            <a:ext cx="548640" cy="548640"/>
          </a:xfrm>
          <a:prstGeom prst="ellipse">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6100" y="1188720"/>
            <a:ext cx="548640" cy="457200"/>
          </a:xfrm>
          <a:prstGeom prst="rect">
            <a:avLst/>
          </a:prstGeom>
          <a:noFill/>
        </p:spPr>
        <p:txBody>
          <a:bodyPr wrap="square"/>
          <a:lstStyle/>
          <a:p>
            <a:pPr algn="ctr">
              <a:defRPr sz="800" b="1">
                <a:solidFill>
                  <a:srgbClr val="FFFFFF"/>
                </a:solidFill>
                <a:latin typeface="Calibri"/>
              </a:defRPr>
            </a:pPr>
            <a:r>
              <a:t>心のケアが</a:t>
            </a:r>
            <a:br/>
            <a:r>
              <a:t>充実</a:t>
            </a:r>
          </a:p>
        </p:txBody>
      </p:sp>
      <p:sp>
        <p:nvSpPr>
          <p:cNvPr id="12" name="TextBox 11"/>
          <p:cNvSpPr txBox="1"/>
          <p:nvPr/>
        </p:nvSpPr>
        <p:spPr>
          <a:xfrm>
            <a:off x="502920" y="1783080"/>
            <a:ext cx="1875000" cy="365760"/>
          </a:xfrm>
          <a:prstGeom prst="rect">
            <a:avLst/>
          </a:prstGeom>
          <a:noFill/>
        </p:spPr>
        <p:txBody>
          <a:bodyPr wrap="square"/>
          <a:lstStyle/>
          <a:p>
            <a:pPr algn="ctr">
              <a:defRPr sz="1300" b="1">
                <a:solidFill>
                  <a:srgbClr val="333333"/>
                </a:solidFill>
                <a:latin typeface="Calibri"/>
              </a:defRPr>
            </a:pPr>
            <a:r>
              <a:t>不登校→再起</a:t>
            </a:r>
          </a:p>
        </p:txBody>
      </p:sp>
      <p:sp>
        <p:nvSpPr>
          <p:cNvPr id="13" name="TextBox 12"/>
          <p:cNvSpPr txBox="1"/>
          <p:nvPr/>
        </p:nvSpPr>
        <p:spPr>
          <a:xfrm>
            <a:off x="502920" y="2194560"/>
            <a:ext cx="1875000" cy="914400"/>
          </a:xfrm>
          <a:prstGeom prst="rect">
            <a:avLst/>
          </a:prstGeom>
          <a:noFill/>
        </p:spPr>
        <p:txBody>
          <a:bodyPr wrap="square"/>
          <a:lstStyle/>
          <a:p>
            <a:pPr algn="ctr">
              <a:defRPr sz="1000" b="0">
                <a:solidFill>
                  <a:srgbClr val="666666"/>
                </a:solidFill>
                <a:latin typeface="Calibri"/>
              </a:defRPr>
            </a:pPr>
            <a:r>
              <a:t>通信制で心身を立て直し</a:t>
            </a:r>
            <a:br/>
            <a:r>
              <a:t>新たな興味を発見して活躍</a:t>
            </a:r>
          </a:p>
        </p:txBody>
      </p:sp>
      <p:sp>
        <p:nvSpPr>
          <p:cNvPr id="14" name="Rounded Rectangle 13"/>
          <p:cNvSpPr/>
          <p:nvPr/>
        </p:nvSpPr>
        <p:spPr>
          <a:xfrm>
            <a:off x="2560800" y="1005840"/>
            <a:ext cx="19664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800" y="1005840"/>
            <a:ext cx="196644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69700" y="1143000"/>
            <a:ext cx="548640" cy="548640"/>
          </a:xfrm>
          <a:prstGeom prst="ellipse">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69700" y="1188720"/>
            <a:ext cx="548640" cy="457200"/>
          </a:xfrm>
          <a:prstGeom prst="rect">
            <a:avLst/>
          </a:prstGeom>
          <a:noFill/>
        </p:spPr>
        <p:txBody>
          <a:bodyPr wrap="square"/>
          <a:lstStyle/>
          <a:p>
            <a:pPr algn="ctr">
              <a:defRPr sz="800" b="1">
                <a:solidFill>
                  <a:srgbClr val="FFFFFF"/>
                </a:solidFill>
                <a:latin typeface="Calibri"/>
              </a:defRPr>
            </a:pPr>
            <a:r>
              <a:t>実践力が</a:t>
            </a:r>
            <a:br/>
            <a:r>
              <a:t>武器に</a:t>
            </a:r>
          </a:p>
        </p:txBody>
      </p:sp>
      <p:sp>
        <p:nvSpPr>
          <p:cNvPr id="18" name="TextBox 17"/>
          <p:cNvSpPr txBox="1"/>
          <p:nvPr/>
        </p:nvSpPr>
        <p:spPr>
          <a:xfrm>
            <a:off x="2606520" y="1783080"/>
            <a:ext cx="1875000" cy="365760"/>
          </a:xfrm>
          <a:prstGeom prst="rect">
            <a:avLst/>
          </a:prstGeom>
          <a:noFill/>
        </p:spPr>
        <p:txBody>
          <a:bodyPr wrap="square"/>
          <a:lstStyle/>
          <a:p>
            <a:pPr algn="ctr">
              <a:defRPr sz="1300" b="1">
                <a:solidFill>
                  <a:srgbClr val="333333"/>
                </a:solidFill>
                <a:latin typeface="Calibri"/>
              </a:defRPr>
            </a:pPr>
            <a:r>
              <a:t>好き→プロへ</a:t>
            </a:r>
          </a:p>
        </p:txBody>
      </p:sp>
      <p:sp>
        <p:nvSpPr>
          <p:cNvPr id="19" name="TextBox 18"/>
          <p:cNvSpPr txBox="1"/>
          <p:nvPr/>
        </p:nvSpPr>
        <p:spPr>
          <a:xfrm>
            <a:off x="2606520" y="2194560"/>
            <a:ext cx="1875000" cy="914400"/>
          </a:xfrm>
          <a:prstGeom prst="rect">
            <a:avLst/>
          </a:prstGeom>
          <a:noFill/>
        </p:spPr>
        <p:txBody>
          <a:bodyPr wrap="square"/>
          <a:lstStyle/>
          <a:p>
            <a:pPr algn="ctr">
              <a:defRPr sz="1000" b="0">
                <a:solidFill>
                  <a:srgbClr val="666666"/>
                </a:solidFill>
                <a:latin typeface="Calibri"/>
              </a:defRPr>
            </a:pPr>
            <a:r>
              <a:t>eスポーツ・動画編集など</a:t>
            </a:r>
            <a:br/>
            <a:r>
              <a:t>在学中にスキルを磨きプロに</a:t>
            </a:r>
          </a:p>
        </p:txBody>
      </p:sp>
      <p:sp>
        <p:nvSpPr>
          <p:cNvPr id="20" name="Rounded Rectangle 19"/>
          <p:cNvSpPr/>
          <p:nvPr/>
        </p:nvSpPr>
        <p:spPr>
          <a:xfrm>
            <a:off x="4664400" y="1005840"/>
            <a:ext cx="19664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4400" y="1005840"/>
            <a:ext cx="1966440" cy="54864"/>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373300" y="1143000"/>
            <a:ext cx="548640" cy="548640"/>
          </a:xfrm>
          <a:prstGeom prst="ellipse">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73300" y="1188720"/>
            <a:ext cx="548640" cy="457200"/>
          </a:xfrm>
          <a:prstGeom prst="rect">
            <a:avLst/>
          </a:prstGeom>
          <a:noFill/>
        </p:spPr>
        <p:txBody>
          <a:bodyPr wrap="square"/>
          <a:lstStyle/>
          <a:p>
            <a:pPr algn="ctr">
              <a:defRPr sz="800" b="1">
                <a:solidFill>
                  <a:srgbClr val="FFFFFF"/>
                </a:solidFill>
                <a:latin typeface="Calibri"/>
              </a:defRPr>
            </a:pPr>
            <a:r>
              <a:t>戦略的</a:t>
            </a:r>
            <a:br/>
            <a:r>
              <a:t>進学</a:t>
            </a:r>
          </a:p>
        </p:txBody>
      </p:sp>
      <p:sp>
        <p:nvSpPr>
          <p:cNvPr id="24" name="TextBox 23"/>
          <p:cNvSpPr txBox="1"/>
          <p:nvPr/>
        </p:nvSpPr>
        <p:spPr>
          <a:xfrm>
            <a:off x="4710120" y="1783080"/>
            <a:ext cx="1875000" cy="365760"/>
          </a:xfrm>
          <a:prstGeom prst="rect">
            <a:avLst/>
          </a:prstGeom>
          <a:noFill/>
        </p:spPr>
        <p:txBody>
          <a:bodyPr wrap="square"/>
          <a:lstStyle/>
          <a:p>
            <a:pPr algn="ctr">
              <a:defRPr sz="1300" b="1">
                <a:solidFill>
                  <a:srgbClr val="333333"/>
                </a:solidFill>
                <a:latin typeface="Calibri"/>
              </a:defRPr>
            </a:pPr>
            <a:r>
              <a:t>通信制→難関大</a:t>
            </a:r>
          </a:p>
        </p:txBody>
      </p:sp>
      <p:sp>
        <p:nvSpPr>
          <p:cNvPr id="25" name="TextBox 24"/>
          <p:cNvSpPr txBox="1"/>
          <p:nvPr/>
        </p:nvSpPr>
        <p:spPr>
          <a:xfrm>
            <a:off x="4710120" y="2194560"/>
            <a:ext cx="1875000" cy="914400"/>
          </a:xfrm>
          <a:prstGeom prst="rect">
            <a:avLst/>
          </a:prstGeom>
          <a:noFill/>
        </p:spPr>
        <p:txBody>
          <a:bodyPr wrap="square"/>
          <a:lstStyle/>
          <a:p>
            <a:pPr algn="ctr">
              <a:defRPr sz="1000" b="0">
                <a:solidFill>
                  <a:srgbClr val="666666"/>
                </a:solidFill>
                <a:latin typeface="Calibri"/>
              </a:defRPr>
            </a:pPr>
            <a:r>
              <a:t>自分のペースで学習し</a:t>
            </a:r>
            <a:br/>
            <a:r>
              <a:t>難関国立大学に現役合格</a:t>
            </a:r>
          </a:p>
        </p:txBody>
      </p:sp>
      <p:sp>
        <p:nvSpPr>
          <p:cNvPr id="26" name="Rounded Rectangle 25"/>
          <p:cNvSpPr/>
          <p:nvPr/>
        </p:nvSpPr>
        <p:spPr>
          <a:xfrm>
            <a:off x="6768000" y="1005840"/>
            <a:ext cx="19664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768000" y="1005840"/>
            <a:ext cx="196644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76900" y="1143000"/>
            <a:ext cx="548640" cy="548640"/>
          </a:xfrm>
          <a:prstGeom prst="ellipse">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6900" y="1188720"/>
            <a:ext cx="548640" cy="457200"/>
          </a:xfrm>
          <a:prstGeom prst="rect">
            <a:avLst/>
          </a:prstGeom>
          <a:noFill/>
        </p:spPr>
        <p:txBody>
          <a:bodyPr wrap="square"/>
          <a:lstStyle/>
          <a:p>
            <a:pPr algn="ctr">
              <a:defRPr sz="800" b="1">
                <a:solidFill>
                  <a:srgbClr val="FFFFFF"/>
                </a:solidFill>
                <a:latin typeface="Calibri"/>
              </a:defRPr>
            </a:pPr>
            <a:r>
              <a:t>行動力が</a:t>
            </a:r>
            <a:br/>
            <a:r>
              <a:t>未来を拓く</a:t>
            </a:r>
          </a:p>
        </p:txBody>
      </p:sp>
      <p:sp>
        <p:nvSpPr>
          <p:cNvPr id="30" name="TextBox 29"/>
          <p:cNvSpPr txBox="1"/>
          <p:nvPr/>
        </p:nvSpPr>
        <p:spPr>
          <a:xfrm>
            <a:off x="6813720" y="1783080"/>
            <a:ext cx="1875000" cy="365760"/>
          </a:xfrm>
          <a:prstGeom prst="rect">
            <a:avLst/>
          </a:prstGeom>
          <a:noFill/>
        </p:spPr>
        <p:txBody>
          <a:bodyPr wrap="square"/>
          <a:lstStyle/>
          <a:p>
            <a:pPr algn="ctr">
              <a:defRPr sz="1300" b="1">
                <a:solidFill>
                  <a:srgbClr val="333333"/>
                </a:solidFill>
                <a:latin typeface="Calibri"/>
              </a:defRPr>
            </a:pPr>
            <a:r>
              <a:t>起業・フリーランス</a:t>
            </a:r>
          </a:p>
        </p:txBody>
      </p:sp>
      <p:sp>
        <p:nvSpPr>
          <p:cNvPr id="31" name="TextBox 30"/>
          <p:cNvSpPr txBox="1"/>
          <p:nvPr/>
        </p:nvSpPr>
        <p:spPr>
          <a:xfrm>
            <a:off x="6813720" y="2194560"/>
            <a:ext cx="1875000" cy="914400"/>
          </a:xfrm>
          <a:prstGeom prst="rect">
            <a:avLst/>
          </a:prstGeom>
          <a:noFill/>
        </p:spPr>
        <p:txBody>
          <a:bodyPr wrap="square"/>
          <a:lstStyle/>
          <a:p>
            <a:pPr algn="ctr">
              <a:defRPr sz="1000" b="0">
                <a:solidFill>
                  <a:srgbClr val="666666"/>
                </a:solidFill>
                <a:latin typeface="Calibri"/>
              </a:defRPr>
            </a:pPr>
            <a:r>
              <a:t>高校在学中にビジネスを</a:t>
            </a:r>
            <a:br/>
            <a:r>
              <a:t>立ち上げて成功</a:t>
            </a:r>
          </a:p>
        </p:txBody>
      </p:sp>
      <p:sp>
        <p:nvSpPr>
          <p:cNvPr id="32" name="Rounded Rectangle 31"/>
          <p:cNvSpPr/>
          <p:nvPr/>
        </p:nvSpPr>
        <p:spPr>
          <a:xfrm>
            <a:off x="457200" y="3886200"/>
            <a:ext cx="8229600" cy="54864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931920"/>
            <a:ext cx="8046720" cy="411480"/>
          </a:xfrm>
          <a:prstGeom prst="rect">
            <a:avLst/>
          </a:prstGeom>
          <a:noFill/>
        </p:spPr>
        <p:txBody>
          <a:bodyPr wrap="square"/>
          <a:lstStyle/>
          <a:p>
            <a:pPr algn="ctr">
              <a:defRPr sz="1300" b="1">
                <a:solidFill>
                  <a:srgbClr val="8B7536"/>
                </a:solidFill>
                <a:latin typeface="Calibri"/>
              </a:defRPr>
            </a:pPr>
            <a:r>
              <a:t>「やり直し」や「回り道」もポジティブな選択肢。あなたの未来は、あなたが創る。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今すぐ始める！行動プラン</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最初の一歩を踏み出そう</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5486400" cy="342900"/>
          </a:xfrm>
          <a:prstGeom prst="rect">
            <a:avLst/>
          </a:prstGeom>
          <a:noFill/>
        </p:spPr>
        <p:txBody>
          <a:bodyPr wrap="square"/>
          <a:lstStyle/>
          <a:p>
            <a:pPr algn="l">
              <a:defRPr sz="800" b="0">
                <a:solidFill>
                  <a:srgbClr val="FFFFFF"/>
                </a:solidFill>
                <a:latin typeface="Calibri"/>
              </a:defRPr>
            </a:pPr>
            <a:r>
              <a:t>H A R M O N I C   i n s i g h t</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12</a:t>
            </a:r>
          </a:p>
        </p:txBody>
      </p:sp>
      <p:sp>
        <p:nvSpPr>
          <p:cNvPr id="8" name="Rounded Rectangle 7"/>
          <p:cNvSpPr/>
          <p:nvPr/>
        </p:nvSpPr>
        <p:spPr>
          <a:xfrm>
            <a:off x="457200" y="1005840"/>
            <a:ext cx="19664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143000"/>
            <a:ext cx="1600680" cy="45720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188720"/>
            <a:ext cx="1600680" cy="365760"/>
          </a:xfrm>
          <a:prstGeom prst="rect">
            <a:avLst/>
          </a:prstGeom>
          <a:noFill/>
        </p:spPr>
        <p:txBody>
          <a:bodyPr wrap="square"/>
          <a:lstStyle/>
          <a:p>
            <a:pPr algn="ctr">
              <a:defRPr sz="1800" b="1">
                <a:solidFill>
                  <a:srgbClr val="FFFFFF"/>
                </a:solidFill>
                <a:latin typeface="Calibri"/>
              </a:defRPr>
            </a:pPr>
            <a:r>
              <a:t>今日</a:t>
            </a:r>
          </a:p>
        </p:txBody>
      </p:sp>
      <p:sp>
        <p:nvSpPr>
          <p:cNvPr id="11" name="TextBox 10"/>
          <p:cNvSpPr txBox="1"/>
          <p:nvPr/>
        </p:nvSpPr>
        <p:spPr>
          <a:xfrm>
            <a:off x="457200" y="1645920"/>
            <a:ext cx="1966440" cy="274320"/>
          </a:xfrm>
          <a:prstGeom prst="rect">
            <a:avLst/>
          </a:prstGeom>
          <a:noFill/>
        </p:spPr>
        <p:txBody>
          <a:bodyPr wrap="square"/>
          <a:lstStyle/>
          <a:p>
            <a:pPr algn="ctr">
              <a:defRPr sz="1400" b="0">
                <a:solidFill>
                  <a:srgbClr val="3A7D5E"/>
                </a:solidFill>
                <a:latin typeface="Calibri"/>
              </a:defRPr>
            </a:pPr>
            <a:r>
              <a:t>▼</a:t>
            </a:r>
          </a:p>
        </p:txBody>
      </p:sp>
      <p:sp>
        <p:nvSpPr>
          <p:cNvPr id="12" name="TextBox 11"/>
          <p:cNvSpPr txBox="1"/>
          <p:nvPr/>
        </p:nvSpPr>
        <p:spPr>
          <a:xfrm>
            <a:off x="548640" y="1965960"/>
            <a:ext cx="1783560" cy="1554480"/>
          </a:xfrm>
          <a:prstGeom prst="rect">
            <a:avLst/>
          </a:prstGeom>
          <a:noFill/>
        </p:spPr>
        <p:txBody>
          <a:bodyPr wrap="square"/>
          <a:lstStyle/>
          <a:p>
            <a:pPr algn="l">
              <a:defRPr sz="1100" b="0">
                <a:solidFill>
                  <a:srgbClr val="333333"/>
                </a:solidFill>
                <a:latin typeface="Calibri"/>
              </a:defRPr>
            </a:pPr>
            <a:r>
              <a:t>気になる学校を3つリストアップ</a:t>
            </a:r>
            <a:br/>
            <a:r>
              <a:t>公式サイトとパンフレットをチェック</a:t>
            </a:r>
          </a:p>
        </p:txBody>
      </p:sp>
      <p:sp>
        <p:nvSpPr>
          <p:cNvPr id="13" name="Rounded Rectangle 12"/>
          <p:cNvSpPr/>
          <p:nvPr/>
        </p:nvSpPr>
        <p:spPr>
          <a:xfrm>
            <a:off x="2560800" y="1005840"/>
            <a:ext cx="19664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43680" y="1143000"/>
            <a:ext cx="1600680" cy="45720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680" y="1188720"/>
            <a:ext cx="1600680" cy="365760"/>
          </a:xfrm>
          <a:prstGeom prst="rect">
            <a:avLst/>
          </a:prstGeom>
          <a:noFill/>
        </p:spPr>
        <p:txBody>
          <a:bodyPr wrap="square"/>
          <a:lstStyle/>
          <a:p>
            <a:pPr algn="ctr">
              <a:defRPr sz="1800" b="1">
                <a:solidFill>
                  <a:srgbClr val="FFFFFF"/>
                </a:solidFill>
                <a:latin typeface="Calibri"/>
              </a:defRPr>
            </a:pPr>
            <a:r>
              <a:t>今週中</a:t>
            </a:r>
          </a:p>
        </p:txBody>
      </p:sp>
      <p:sp>
        <p:nvSpPr>
          <p:cNvPr id="16" name="TextBox 15"/>
          <p:cNvSpPr txBox="1"/>
          <p:nvPr/>
        </p:nvSpPr>
        <p:spPr>
          <a:xfrm>
            <a:off x="2560800" y="1645920"/>
            <a:ext cx="1966440" cy="274320"/>
          </a:xfrm>
          <a:prstGeom prst="rect">
            <a:avLst/>
          </a:prstGeom>
          <a:noFill/>
        </p:spPr>
        <p:txBody>
          <a:bodyPr wrap="square"/>
          <a:lstStyle/>
          <a:p>
            <a:pPr algn="ctr">
              <a:defRPr sz="1400" b="0">
                <a:solidFill>
                  <a:srgbClr val="2B5C8A"/>
                </a:solidFill>
                <a:latin typeface="Calibri"/>
              </a:defRPr>
            </a:pPr>
            <a:r>
              <a:t>▼</a:t>
            </a:r>
          </a:p>
        </p:txBody>
      </p:sp>
      <p:sp>
        <p:nvSpPr>
          <p:cNvPr id="17" name="TextBox 16"/>
          <p:cNvSpPr txBox="1"/>
          <p:nvPr/>
        </p:nvSpPr>
        <p:spPr>
          <a:xfrm>
            <a:off x="2652240" y="1965960"/>
            <a:ext cx="1783560" cy="1554480"/>
          </a:xfrm>
          <a:prstGeom prst="rect">
            <a:avLst/>
          </a:prstGeom>
          <a:noFill/>
        </p:spPr>
        <p:txBody>
          <a:bodyPr wrap="square"/>
          <a:lstStyle/>
          <a:p>
            <a:pPr algn="l">
              <a:defRPr sz="1100" b="0">
                <a:solidFill>
                  <a:srgbClr val="333333"/>
                </a:solidFill>
                <a:latin typeface="Calibri"/>
              </a:defRPr>
            </a:pPr>
            <a:r>
              <a:t>オープンキャンパスや説明会に申し込む</a:t>
            </a:r>
            <a:br/>
            <a:r>
              <a:t>支援制度を調べる（自治体HPも確認）</a:t>
            </a:r>
          </a:p>
        </p:txBody>
      </p:sp>
      <p:sp>
        <p:nvSpPr>
          <p:cNvPr id="18" name="Rounded Rectangle 17"/>
          <p:cNvSpPr/>
          <p:nvPr/>
        </p:nvSpPr>
        <p:spPr>
          <a:xfrm>
            <a:off x="4664400" y="1005840"/>
            <a:ext cx="19664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847280" y="1143000"/>
            <a:ext cx="1600680" cy="457200"/>
          </a:xfrm>
          <a:prstGeom prst="round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7280" y="1188720"/>
            <a:ext cx="1600680" cy="365760"/>
          </a:xfrm>
          <a:prstGeom prst="rect">
            <a:avLst/>
          </a:prstGeom>
          <a:noFill/>
        </p:spPr>
        <p:txBody>
          <a:bodyPr wrap="square"/>
          <a:lstStyle/>
          <a:p>
            <a:pPr algn="ctr">
              <a:defRPr sz="1800" b="1">
                <a:solidFill>
                  <a:srgbClr val="FFFFFF"/>
                </a:solidFill>
                <a:latin typeface="Calibri"/>
              </a:defRPr>
            </a:pPr>
            <a:r>
              <a:t>今月中</a:t>
            </a:r>
          </a:p>
        </p:txBody>
      </p:sp>
      <p:sp>
        <p:nvSpPr>
          <p:cNvPr id="21" name="TextBox 20"/>
          <p:cNvSpPr txBox="1"/>
          <p:nvPr/>
        </p:nvSpPr>
        <p:spPr>
          <a:xfrm>
            <a:off x="4664400" y="1645920"/>
            <a:ext cx="1966440" cy="274320"/>
          </a:xfrm>
          <a:prstGeom prst="rect">
            <a:avLst/>
          </a:prstGeom>
          <a:noFill/>
        </p:spPr>
        <p:txBody>
          <a:bodyPr wrap="square"/>
          <a:lstStyle/>
          <a:p>
            <a:pPr algn="ctr">
              <a:defRPr sz="1400" b="0">
                <a:solidFill>
                  <a:srgbClr val="6B4C9A"/>
                </a:solidFill>
                <a:latin typeface="Calibri"/>
              </a:defRPr>
            </a:pPr>
            <a:r>
              <a:t>▼</a:t>
            </a:r>
          </a:p>
        </p:txBody>
      </p:sp>
      <p:sp>
        <p:nvSpPr>
          <p:cNvPr id="22" name="TextBox 21"/>
          <p:cNvSpPr txBox="1"/>
          <p:nvPr/>
        </p:nvSpPr>
        <p:spPr>
          <a:xfrm>
            <a:off x="4755840" y="1965960"/>
            <a:ext cx="1783560" cy="1554480"/>
          </a:xfrm>
          <a:prstGeom prst="rect">
            <a:avLst/>
          </a:prstGeom>
          <a:noFill/>
        </p:spPr>
        <p:txBody>
          <a:bodyPr wrap="square"/>
          <a:lstStyle/>
          <a:p>
            <a:pPr algn="l">
              <a:defRPr sz="1100" b="0">
                <a:solidFill>
                  <a:srgbClr val="333333"/>
                </a:solidFill>
                <a:latin typeface="Calibri"/>
              </a:defRPr>
            </a:pPr>
            <a:r>
              <a:t>実際にオープンキャンパスに参加</a:t>
            </a:r>
            <a:br/>
            <a:r>
              <a:t>個別相談で直接質問する</a:t>
            </a:r>
          </a:p>
        </p:txBody>
      </p:sp>
      <p:sp>
        <p:nvSpPr>
          <p:cNvPr id="23" name="Rounded Rectangle 22"/>
          <p:cNvSpPr/>
          <p:nvPr/>
        </p:nvSpPr>
        <p:spPr>
          <a:xfrm>
            <a:off x="6768000" y="1005840"/>
            <a:ext cx="1966440" cy="2743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950880" y="1143000"/>
            <a:ext cx="1600680" cy="457200"/>
          </a:xfrm>
          <a:prstGeom prst="round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50880" y="1188720"/>
            <a:ext cx="1600680" cy="365760"/>
          </a:xfrm>
          <a:prstGeom prst="rect">
            <a:avLst/>
          </a:prstGeom>
          <a:noFill/>
        </p:spPr>
        <p:txBody>
          <a:bodyPr wrap="square"/>
          <a:lstStyle/>
          <a:p>
            <a:pPr algn="ctr">
              <a:defRPr sz="1800" b="1">
                <a:solidFill>
                  <a:srgbClr val="FFFFFF"/>
                </a:solidFill>
                <a:latin typeface="Calibri"/>
              </a:defRPr>
            </a:pPr>
            <a:r>
              <a:t>来月まで</a:t>
            </a:r>
          </a:p>
        </p:txBody>
      </p:sp>
      <p:sp>
        <p:nvSpPr>
          <p:cNvPr id="26" name="TextBox 25"/>
          <p:cNvSpPr txBox="1"/>
          <p:nvPr/>
        </p:nvSpPr>
        <p:spPr>
          <a:xfrm>
            <a:off x="6768000" y="1645920"/>
            <a:ext cx="1966440" cy="274320"/>
          </a:xfrm>
          <a:prstGeom prst="rect">
            <a:avLst/>
          </a:prstGeom>
          <a:noFill/>
        </p:spPr>
        <p:txBody>
          <a:bodyPr wrap="square"/>
          <a:lstStyle/>
          <a:p>
            <a:pPr algn="ctr">
              <a:defRPr sz="1400" b="0">
                <a:solidFill>
                  <a:srgbClr val="C46B2B"/>
                </a:solidFill>
                <a:latin typeface="Calibri"/>
              </a:defRPr>
            </a:pPr>
            <a:r>
              <a:t>▼</a:t>
            </a:r>
          </a:p>
        </p:txBody>
      </p:sp>
      <p:sp>
        <p:nvSpPr>
          <p:cNvPr id="27" name="TextBox 26"/>
          <p:cNvSpPr txBox="1"/>
          <p:nvPr/>
        </p:nvSpPr>
        <p:spPr>
          <a:xfrm>
            <a:off x="6859440" y="1965960"/>
            <a:ext cx="1783560" cy="1554480"/>
          </a:xfrm>
          <a:prstGeom prst="rect">
            <a:avLst/>
          </a:prstGeom>
          <a:noFill/>
        </p:spPr>
        <p:txBody>
          <a:bodyPr wrap="square"/>
          <a:lstStyle/>
          <a:p>
            <a:pPr algn="l">
              <a:defRPr sz="1100" b="0">
                <a:solidFill>
                  <a:srgbClr val="333333"/>
                </a:solidFill>
                <a:latin typeface="Calibri"/>
              </a:defRPr>
            </a:pPr>
            <a:r>
              <a:t>親子で話し合い、比較表を作成</a:t>
            </a:r>
            <a:br/>
            <a:r>
              <a:t>志望校を絞り込む</a:t>
            </a:r>
          </a:p>
        </p:txBody>
      </p:sp>
      <p:sp>
        <p:nvSpPr>
          <p:cNvPr id="28" name="Rounded Rectangle 27"/>
          <p:cNvSpPr/>
          <p:nvPr/>
        </p:nvSpPr>
        <p:spPr>
          <a:xfrm>
            <a:off x="457200" y="3886200"/>
            <a:ext cx="8229600" cy="548640"/>
          </a:xfrm>
          <a:prstGeom prst="round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931920"/>
            <a:ext cx="8046720" cy="411480"/>
          </a:xfrm>
          <a:prstGeom prst="rect">
            <a:avLst/>
          </a:prstGeom>
          <a:noFill/>
        </p:spPr>
        <p:txBody>
          <a:bodyPr wrap="square"/>
          <a:lstStyle/>
          <a:p>
            <a:pPr algn="ctr">
              <a:defRPr sz="1300" b="1">
                <a:solidFill>
                  <a:srgbClr val="FFFFFF"/>
                </a:solidFill>
                <a:latin typeface="Calibri"/>
              </a:defRPr>
            </a:pPr>
            <a:r>
              <a:t>大切なのは「完璧な選択」ではなく「自分で選ぶ」こと。今日がその第一歩！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88636"/>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502920"/>
          </a:xfrm>
          <a:prstGeom prst="rect">
            <a:avLst/>
          </a:prstGeom>
          <a:noFill/>
        </p:spPr>
        <p:txBody>
          <a:bodyPr wrap="square"/>
          <a:lstStyle/>
          <a:p>
            <a:pPr algn="ctr">
              <a:defRPr sz="2800" b="1">
                <a:solidFill>
                  <a:srgbClr val="3C2F1E"/>
                </a:solidFill>
                <a:latin typeface="Calibri"/>
              </a:defRPr>
            </a:pPr>
            <a:r>
              <a:t>まとめ</a:t>
            </a:r>
          </a:p>
        </p:txBody>
      </p:sp>
      <p:sp>
        <p:nvSpPr>
          <p:cNvPr id="5" name="Oval 4"/>
          <p:cNvSpPr/>
          <p:nvPr/>
        </p:nvSpPr>
        <p:spPr>
          <a:xfrm>
            <a:off x="2286000" y="1097280"/>
            <a:ext cx="365760" cy="36576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1143000"/>
            <a:ext cx="365760" cy="274320"/>
          </a:xfrm>
          <a:prstGeom prst="rect">
            <a:avLst/>
          </a:prstGeom>
          <a:noFill/>
        </p:spPr>
        <p:txBody>
          <a:bodyPr wrap="square"/>
          <a:lstStyle/>
          <a:p>
            <a:pPr algn="ctr">
              <a:defRPr sz="1400" b="1">
                <a:solidFill>
                  <a:srgbClr val="FFFFFF"/>
                </a:solidFill>
                <a:latin typeface="Calibri"/>
              </a:defRPr>
            </a:pPr>
            <a:r>
              <a:t>1</a:t>
            </a:r>
          </a:p>
        </p:txBody>
      </p:sp>
      <p:sp>
        <p:nvSpPr>
          <p:cNvPr id="7" name="TextBox 6"/>
          <p:cNvSpPr txBox="1"/>
          <p:nvPr/>
        </p:nvSpPr>
        <p:spPr>
          <a:xfrm>
            <a:off x="2834640" y="1097280"/>
            <a:ext cx="5486400" cy="365760"/>
          </a:xfrm>
          <a:prstGeom prst="rect">
            <a:avLst/>
          </a:prstGeom>
          <a:noFill/>
        </p:spPr>
        <p:txBody>
          <a:bodyPr wrap="square"/>
          <a:lstStyle/>
          <a:p>
            <a:pPr algn="l">
              <a:defRPr sz="1500" b="0">
                <a:solidFill>
                  <a:srgbClr val="333333"/>
                </a:solidFill>
                <a:latin typeface="Calibri"/>
              </a:defRPr>
            </a:pPr>
            <a:r>
              <a:t>N高・ゼロ高だけが通信制高校ではない</a:t>
            </a:r>
          </a:p>
        </p:txBody>
      </p:sp>
      <p:sp>
        <p:nvSpPr>
          <p:cNvPr id="8" name="Oval 7"/>
          <p:cNvSpPr/>
          <p:nvPr/>
        </p:nvSpPr>
        <p:spPr>
          <a:xfrm>
            <a:off x="2286000" y="1554480"/>
            <a:ext cx="365760" cy="36576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0" y="1600200"/>
            <a:ext cx="365760" cy="274320"/>
          </a:xfrm>
          <a:prstGeom prst="rect">
            <a:avLst/>
          </a:prstGeom>
          <a:noFill/>
        </p:spPr>
        <p:txBody>
          <a:bodyPr wrap="square"/>
          <a:lstStyle/>
          <a:p>
            <a:pPr algn="ctr">
              <a:defRPr sz="1400" b="1">
                <a:solidFill>
                  <a:srgbClr val="FFFFFF"/>
                </a:solidFill>
                <a:latin typeface="Calibri"/>
              </a:defRPr>
            </a:pPr>
            <a:r>
              <a:t>2</a:t>
            </a:r>
          </a:p>
        </p:txBody>
      </p:sp>
      <p:sp>
        <p:nvSpPr>
          <p:cNvPr id="10" name="TextBox 9"/>
          <p:cNvSpPr txBox="1"/>
          <p:nvPr/>
        </p:nvSpPr>
        <p:spPr>
          <a:xfrm>
            <a:off x="2834640" y="1554480"/>
            <a:ext cx="5486400" cy="365760"/>
          </a:xfrm>
          <a:prstGeom prst="rect">
            <a:avLst/>
          </a:prstGeom>
          <a:noFill/>
        </p:spPr>
        <p:txBody>
          <a:bodyPr wrap="square"/>
          <a:lstStyle/>
          <a:p>
            <a:pPr algn="l">
              <a:defRPr sz="1500" b="0">
                <a:solidFill>
                  <a:srgbClr val="333333"/>
                </a:solidFill>
                <a:latin typeface="Calibri"/>
              </a:defRPr>
            </a:pPr>
            <a:r>
              <a:t>あなたのタイプに合った学校が必ずある</a:t>
            </a:r>
          </a:p>
        </p:txBody>
      </p:sp>
      <p:sp>
        <p:nvSpPr>
          <p:cNvPr id="11" name="Oval 10"/>
          <p:cNvSpPr/>
          <p:nvPr/>
        </p:nvSpPr>
        <p:spPr>
          <a:xfrm>
            <a:off x="2286000" y="2011680"/>
            <a:ext cx="365760" cy="36576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2057400"/>
            <a:ext cx="365760" cy="274320"/>
          </a:xfrm>
          <a:prstGeom prst="rect">
            <a:avLst/>
          </a:prstGeom>
          <a:noFill/>
        </p:spPr>
        <p:txBody>
          <a:bodyPr wrap="square"/>
          <a:lstStyle/>
          <a:p>
            <a:pPr algn="ctr">
              <a:defRPr sz="1400" b="1">
                <a:solidFill>
                  <a:srgbClr val="FFFFFF"/>
                </a:solidFill>
                <a:latin typeface="Calibri"/>
              </a:defRPr>
            </a:pPr>
            <a:r>
              <a:t>3</a:t>
            </a:r>
          </a:p>
        </p:txBody>
      </p:sp>
      <p:sp>
        <p:nvSpPr>
          <p:cNvPr id="13" name="TextBox 12"/>
          <p:cNvSpPr txBox="1"/>
          <p:nvPr/>
        </p:nvSpPr>
        <p:spPr>
          <a:xfrm>
            <a:off x="2834640" y="2011680"/>
            <a:ext cx="5486400" cy="365760"/>
          </a:xfrm>
          <a:prstGeom prst="rect">
            <a:avLst/>
          </a:prstGeom>
          <a:noFill/>
        </p:spPr>
        <p:txBody>
          <a:bodyPr wrap="square"/>
          <a:lstStyle/>
          <a:p>
            <a:pPr algn="l">
              <a:defRPr sz="1500" b="0">
                <a:solidFill>
                  <a:srgbClr val="333333"/>
                </a:solidFill>
                <a:latin typeface="Calibri"/>
              </a:defRPr>
            </a:pPr>
            <a:r>
              <a:t>学費の不安は支援制度で解消できる</a:t>
            </a:r>
          </a:p>
        </p:txBody>
      </p:sp>
      <p:sp>
        <p:nvSpPr>
          <p:cNvPr id="14" name="Oval 13"/>
          <p:cNvSpPr/>
          <p:nvPr/>
        </p:nvSpPr>
        <p:spPr>
          <a:xfrm>
            <a:off x="2286000" y="2468880"/>
            <a:ext cx="365760" cy="36576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0" y="2514600"/>
            <a:ext cx="365760" cy="274320"/>
          </a:xfrm>
          <a:prstGeom prst="rect">
            <a:avLst/>
          </a:prstGeom>
          <a:noFill/>
        </p:spPr>
        <p:txBody>
          <a:bodyPr wrap="square"/>
          <a:lstStyle/>
          <a:p>
            <a:pPr algn="ctr">
              <a:defRPr sz="1400" b="1">
                <a:solidFill>
                  <a:srgbClr val="FFFFFF"/>
                </a:solidFill>
                <a:latin typeface="Calibri"/>
              </a:defRPr>
            </a:pPr>
            <a:r>
              <a:t>4</a:t>
            </a:r>
          </a:p>
        </p:txBody>
      </p:sp>
      <p:sp>
        <p:nvSpPr>
          <p:cNvPr id="16" name="TextBox 15"/>
          <p:cNvSpPr txBox="1"/>
          <p:nvPr/>
        </p:nvSpPr>
        <p:spPr>
          <a:xfrm>
            <a:off x="2834640" y="2468880"/>
            <a:ext cx="5486400" cy="365760"/>
          </a:xfrm>
          <a:prstGeom prst="rect">
            <a:avLst/>
          </a:prstGeom>
          <a:noFill/>
        </p:spPr>
        <p:txBody>
          <a:bodyPr wrap="square"/>
          <a:lstStyle/>
          <a:p>
            <a:pPr algn="l">
              <a:defRPr sz="1500" b="0">
                <a:solidFill>
                  <a:srgbClr val="333333"/>
                </a:solidFill>
                <a:latin typeface="Calibri"/>
              </a:defRPr>
            </a:pPr>
            <a:r>
              <a:t>自分の目で見て、自分で決めることが大切</a:t>
            </a:r>
          </a:p>
        </p:txBody>
      </p:sp>
      <p:sp>
        <p:nvSpPr>
          <p:cNvPr id="17" name="Oval 16"/>
          <p:cNvSpPr/>
          <p:nvPr/>
        </p:nvSpPr>
        <p:spPr>
          <a:xfrm>
            <a:off x="2286000" y="2926080"/>
            <a:ext cx="365760" cy="36576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0" y="2971800"/>
            <a:ext cx="365760" cy="274320"/>
          </a:xfrm>
          <a:prstGeom prst="rect">
            <a:avLst/>
          </a:prstGeom>
          <a:noFill/>
        </p:spPr>
        <p:txBody>
          <a:bodyPr wrap="square"/>
          <a:lstStyle/>
          <a:p>
            <a:pPr algn="ctr">
              <a:defRPr sz="1400" b="1">
                <a:solidFill>
                  <a:srgbClr val="FFFFFF"/>
                </a:solidFill>
                <a:latin typeface="Calibri"/>
              </a:defRPr>
            </a:pPr>
            <a:r>
              <a:t>5</a:t>
            </a:r>
          </a:p>
        </p:txBody>
      </p:sp>
      <p:sp>
        <p:nvSpPr>
          <p:cNvPr id="19" name="TextBox 18"/>
          <p:cNvSpPr txBox="1"/>
          <p:nvPr/>
        </p:nvSpPr>
        <p:spPr>
          <a:xfrm>
            <a:off x="2834640" y="2926080"/>
            <a:ext cx="5486400" cy="365760"/>
          </a:xfrm>
          <a:prstGeom prst="rect">
            <a:avLst/>
          </a:prstGeom>
          <a:noFill/>
        </p:spPr>
        <p:txBody>
          <a:bodyPr wrap="square"/>
          <a:lstStyle/>
          <a:p>
            <a:pPr algn="l">
              <a:defRPr sz="1500" b="0">
                <a:solidFill>
                  <a:srgbClr val="333333"/>
                </a:solidFill>
                <a:latin typeface="Calibri"/>
              </a:defRPr>
            </a:pPr>
            <a:r>
              <a:t>「回り道」も立派な選択肢</a:t>
            </a:r>
          </a:p>
        </p:txBody>
      </p:sp>
      <p:sp>
        <p:nvSpPr>
          <p:cNvPr id="20" name="Rectangle 19"/>
          <p:cNvSpPr/>
          <p:nvPr/>
        </p:nvSpPr>
        <p:spPr>
          <a:xfrm>
            <a:off x="2286000" y="3520440"/>
            <a:ext cx="457200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749040"/>
            <a:ext cx="8229600" cy="411480"/>
          </a:xfrm>
          <a:prstGeom prst="rect">
            <a:avLst/>
          </a:prstGeom>
          <a:noFill/>
        </p:spPr>
        <p:txBody>
          <a:bodyPr wrap="square"/>
          <a:lstStyle/>
          <a:p>
            <a:pPr algn="ctr">
              <a:defRPr sz="1600" b="1">
                <a:solidFill>
                  <a:srgbClr val="8B7536"/>
                </a:solidFill>
                <a:latin typeface="Calibri"/>
              </a:defRPr>
            </a:pPr>
            <a:r>
              <a:t>チャンネル登録・高評価お願いします！</a:t>
            </a:r>
          </a:p>
        </p:txBody>
      </p:sp>
      <p:sp>
        <p:nvSpPr>
          <p:cNvPr id="22" name="TextBox 21"/>
          <p:cNvSpPr txBox="1"/>
          <p:nvPr/>
        </p:nvSpPr>
        <p:spPr>
          <a:xfrm>
            <a:off x="457200" y="4160520"/>
            <a:ext cx="8229600" cy="320040"/>
          </a:xfrm>
          <a:prstGeom prst="rect">
            <a:avLst/>
          </a:prstGeom>
          <a:noFill/>
        </p:spPr>
        <p:txBody>
          <a:bodyPr wrap="square"/>
          <a:lstStyle/>
          <a:p>
            <a:pPr algn="ctr">
              <a:defRPr sz="1200" b="0">
                <a:solidFill>
                  <a:srgbClr val="666666"/>
                </a:solidFill>
                <a:latin typeface="Calibri"/>
              </a:defRPr>
            </a:pPr>
            <a:r>
              <a:t>コメント欄であなたの気になる通信制高校を教えてください</a:t>
            </a:r>
          </a:p>
        </p:txBody>
      </p:sp>
      <p:sp>
        <p:nvSpPr>
          <p:cNvPr id="23" name="TextBox 22"/>
          <p:cNvSpPr txBox="1"/>
          <p:nvPr/>
        </p:nvSpPr>
        <p:spPr>
          <a:xfrm>
            <a:off x="457200" y="4206240"/>
            <a:ext cx="8229600" cy="274320"/>
          </a:xfrm>
          <a:prstGeom prst="rect">
            <a:avLst/>
          </a:prstGeom>
          <a:noFill/>
        </p:spPr>
        <p:txBody>
          <a:bodyPr wrap="square"/>
          <a:lstStyle/>
          <a:p>
            <a:pPr algn="ctr">
              <a:defRPr sz="1200" b="0">
                <a:solidFill>
                  <a:srgbClr val="3C2F1E"/>
                </a:solidFill>
                <a:latin typeface="Calibri"/>
              </a:defRPr>
            </a:pPr>
            <a:r>
              <a:t>H A R M O N I C   i n s i g h 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